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</p:sldIdLst>
  <p:sldSz cy="5143500" cx="9144000"/>
  <p:notesSz cx="6858000" cy="9144000"/>
  <p:embeddedFontLst>
    <p:embeddedFont>
      <p:font typeface="Roboto"/>
      <p:regular r:id="rId57"/>
      <p:bold r:id="rId58"/>
      <p:italic r:id="rId59"/>
      <p:boldItalic r:id="rId60"/>
    </p:embeddedFont>
    <p:embeddedFont>
      <p:font typeface="Lato"/>
      <p:regular r:id="rId61"/>
      <p:bold r:id="rId62"/>
      <p:italic r:id="rId63"/>
      <p:boldItalic r:id="rId64"/>
    </p:embeddedFont>
    <p:embeddedFont>
      <p:font typeface="Mali"/>
      <p:regular r:id="rId65"/>
      <p:bold r:id="rId66"/>
      <p:italic r:id="rId67"/>
      <p:boldItalic r:id="rId68"/>
    </p:embeddedFont>
    <p:embeddedFont>
      <p:font typeface="Manrope ExtraBold"/>
      <p:bold r:id="rId69"/>
    </p:embeddedFont>
    <p:embeddedFont>
      <p:font typeface="Albert Sans"/>
      <p:regular r:id="rId70"/>
      <p:bold r:id="rId71"/>
      <p:italic r:id="rId72"/>
      <p:boldItalic r:id="rId73"/>
    </p:embeddedFont>
    <p:embeddedFont>
      <p:font typeface="Open Sans"/>
      <p:regular r:id="rId74"/>
      <p:bold r:id="rId75"/>
      <p:italic r:id="rId76"/>
      <p:boldItalic r:id="rId7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375267D-77E2-4C77-8B8E-80A76CB7C8AF}">
  <a:tblStyle styleId="{2375267D-77E2-4C77-8B8E-80A76CB7C8AF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font" Target="fonts/AlbertSans-boldItalic.fntdata"/><Relationship Id="rId72" Type="http://schemas.openxmlformats.org/officeDocument/2006/relationships/font" Target="fonts/AlbertSans-italic.fntdata"/><Relationship Id="rId31" Type="http://schemas.openxmlformats.org/officeDocument/2006/relationships/slide" Target="slides/slide25.xml"/><Relationship Id="rId75" Type="http://schemas.openxmlformats.org/officeDocument/2006/relationships/font" Target="fonts/OpenSans-bold.fntdata"/><Relationship Id="rId30" Type="http://schemas.openxmlformats.org/officeDocument/2006/relationships/slide" Target="slides/slide24.xml"/><Relationship Id="rId74" Type="http://schemas.openxmlformats.org/officeDocument/2006/relationships/font" Target="fonts/OpenSans-regular.fntdata"/><Relationship Id="rId33" Type="http://schemas.openxmlformats.org/officeDocument/2006/relationships/slide" Target="slides/slide27.xml"/><Relationship Id="rId77" Type="http://schemas.openxmlformats.org/officeDocument/2006/relationships/font" Target="fonts/OpenSans-boldItalic.fntdata"/><Relationship Id="rId32" Type="http://schemas.openxmlformats.org/officeDocument/2006/relationships/slide" Target="slides/slide26.xml"/><Relationship Id="rId76" Type="http://schemas.openxmlformats.org/officeDocument/2006/relationships/font" Target="fonts/OpenSans-italic.fntdata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71" Type="http://schemas.openxmlformats.org/officeDocument/2006/relationships/font" Target="fonts/AlbertSans-bold.fntdata"/><Relationship Id="rId70" Type="http://schemas.openxmlformats.org/officeDocument/2006/relationships/font" Target="fonts/AlbertSans-regular.fntdata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font" Target="fonts/Lato-bold.fntdata"/><Relationship Id="rId61" Type="http://schemas.openxmlformats.org/officeDocument/2006/relationships/font" Target="fonts/Lato-regular.fntdata"/><Relationship Id="rId20" Type="http://schemas.openxmlformats.org/officeDocument/2006/relationships/slide" Target="slides/slide14.xml"/><Relationship Id="rId64" Type="http://schemas.openxmlformats.org/officeDocument/2006/relationships/font" Target="fonts/Lato-boldItalic.fntdata"/><Relationship Id="rId63" Type="http://schemas.openxmlformats.org/officeDocument/2006/relationships/font" Target="fonts/Lato-italic.fntdata"/><Relationship Id="rId22" Type="http://schemas.openxmlformats.org/officeDocument/2006/relationships/slide" Target="slides/slide16.xml"/><Relationship Id="rId66" Type="http://schemas.openxmlformats.org/officeDocument/2006/relationships/font" Target="fonts/Mali-bold.fntdata"/><Relationship Id="rId21" Type="http://schemas.openxmlformats.org/officeDocument/2006/relationships/slide" Target="slides/slide15.xml"/><Relationship Id="rId65" Type="http://schemas.openxmlformats.org/officeDocument/2006/relationships/font" Target="fonts/Mali-regular.fntdata"/><Relationship Id="rId24" Type="http://schemas.openxmlformats.org/officeDocument/2006/relationships/slide" Target="slides/slide18.xml"/><Relationship Id="rId68" Type="http://schemas.openxmlformats.org/officeDocument/2006/relationships/font" Target="fonts/Mali-boldItalic.fntdata"/><Relationship Id="rId23" Type="http://schemas.openxmlformats.org/officeDocument/2006/relationships/slide" Target="slides/slide17.xml"/><Relationship Id="rId67" Type="http://schemas.openxmlformats.org/officeDocument/2006/relationships/font" Target="fonts/Mali-italic.fntdata"/><Relationship Id="rId60" Type="http://schemas.openxmlformats.org/officeDocument/2006/relationships/font" Target="fonts/Roboto-boldItalic.fntdata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font" Target="fonts/ManropeExtraBold-bold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font" Target="fonts/Roboto-regular.fntdata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font" Target="fonts/Roboto-italic.fntdata"/><Relationship Id="rId14" Type="http://schemas.openxmlformats.org/officeDocument/2006/relationships/slide" Target="slides/slide8.xml"/><Relationship Id="rId58" Type="http://schemas.openxmlformats.org/officeDocument/2006/relationships/font" Target="fonts/Roboto-bold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71096f3a80_0_10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g371096f3a80_0_10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71096f3a80_0_4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71096f3a80_0_4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7200e5657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7200e5657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83d033bf91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83d033bf91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71096f3a80_0_6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71096f3a80_0_6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83d033bf91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83d033bf91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83d033bf91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83d033bf91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83d033bf91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83d033bf91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83d033bf91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83d033bf91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83d033bf91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83d033bf91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83d033bf91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83d033bf91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83d033bf91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83d033bf91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83d033bf91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83d033bf91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83d033bf91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83d033bf91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83d033bf91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83d033bf91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83d033bf91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83d033bf91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83d033bf91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83d033bf91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83d033bf91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83d033bf91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83d033bf91_0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83d033bf91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83d033bf91_0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383d033bf91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83d033bf91_0_2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383d033bf91_0_2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83d033bf91_0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83d033bf91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83d033bf91_0_2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383d033bf91_0_2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83d033bf91_0_2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383d033bf91_0_2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83d033bf91_0_2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383d033bf91_0_2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8d11204cd5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38d11204cd5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83d033bf91_0_2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383d033bf91_0_2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83d033bf91_0_2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383d033bf91_0_2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83d033bf91_0_2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383d033bf91_0_2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83d033bf91_0_2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383d033bf91_0_2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83d033bf91_0_2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383d033bf91_0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8d11204cd5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38d11204cd5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8d11204cd5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38d11204cd5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8d11204cd5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38d11204cd5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8d11204cd5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38d11204cd5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8d11204cd5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g38d11204cd5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8d11204cd5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38d11204cd5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8d11204cd5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38d11204cd5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8d11204cd5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38d11204cd5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8d11204cd5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38d11204cd5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8d11204cd5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38d11204cd5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8d11204cd5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g38d11204cd5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8d11204cd5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38d11204cd5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83d033bf91_0_2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1" name="Google Shape;421;g383d033bf91_0_2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83d033bf91_0_3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383d033bf91_0_3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83d033bf91_0_3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1" name="Google Shape;431;g383d033bf91_0_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383d033bf91_0_3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2" name="Google Shape;442;g383d033bf91_0_3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383d033bf91_0_3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383d033bf91_0_3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83d033bf91_0_3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383d033bf91_0_3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383d033bf91_0_3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3" name="Google Shape;473;g383d033bf91_0_3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-48150" y="5252875"/>
            <a:ext cx="8520600" cy="251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0" y="505682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-48150" y="5252875"/>
            <a:ext cx="8520600" cy="251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-48150" y="5252875"/>
            <a:ext cx="8520600" cy="251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talog Slide" showMasterSp="0">
  <p:cSld name="Catalog Slide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>
            <a:off x="0" y="3283436"/>
            <a:ext cx="1863699" cy="1860064"/>
          </a:xfrm>
          <a:custGeom>
            <a:rect b="b" l="l" r="r" t="t"/>
            <a:pathLst>
              <a:path extrusionOk="0" h="2480085" w="2484932">
                <a:moveTo>
                  <a:pt x="309827" y="0"/>
                </a:moveTo>
                <a:cubicBezTo>
                  <a:pt x="1511104" y="0"/>
                  <a:pt x="2484932" y="974408"/>
                  <a:pt x="2484932" y="2176401"/>
                </a:cubicBezTo>
                <a:cubicBezTo>
                  <a:pt x="2484932" y="2251526"/>
                  <a:pt x="2481128" y="2325761"/>
                  <a:pt x="2473703" y="2398926"/>
                </a:cubicBezTo>
                <a:lnTo>
                  <a:pt x="2461324" y="2480085"/>
                </a:lnTo>
                <a:lnTo>
                  <a:pt x="0" y="2480085"/>
                </a:lnTo>
                <a:lnTo>
                  <a:pt x="0" y="24589"/>
                </a:lnTo>
                <a:lnTo>
                  <a:pt x="87435" y="11237"/>
                </a:lnTo>
                <a:cubicBezTo>
                  <a:pt x="160556" y="3807"/>
                  <a:pt x="234747" y="0"/>
                  <a:pt x="309827" y="0"/>
                </a:cubicBezTo>
                <a:close/>
              </a:path>
            </a:pathLst>
          </a:custGeom>
          <a:solidFill>
            <a:srgbClr val="FED48D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52" name="Google Shape;52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05256" y="3086100"/>
            <a:ext cx="1604772" cy="1604772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3"/>
          <p:cNvSpPr txBox="1"/>
          <p:nvPr>
            <p:ph type="title"/>
          </p:nvPr>
        </p:nvSpPr>
        <p:spPr>
          <a:xfrm>
            <a:off x="1337310" y="1373029"/>
            <a:ext cx="2513400" cy="24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Manrope ExtraBold"/>
              <a:buChar char="●"/>
              <a:defRPr b="1" sz="35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4" name="Google Shape;54;p13"/>
          <p:cNvSpPr/>
          <p:nvPr/>
        </p:nvSpPr>
        <p:spPr>
          <a:xfrm>
            <a:off x="1932597" y="4402044"/>
            <a:ext cx="152295" cy="741456"/>
          </a:xfrm>
          <a:custGeom>
            <a:rect b="b" l="l" r="r" t="t"/>
            <a:pathLst>
              <a:path extrusionOk="0" h="988608" w="203060">
                <a:moveTo>
                  <a:pt x="42778" y="0"/>
                </a:moveTo>
                <a:cubicBezTo>
                  <a:pt x="66188" y="0"/>
                  <a:pt x="85165" y="18977"/>
                  <a:pt x="85165" y="42387"/>
                </a:cubicBezTo>
                <a:lnTo>
                  <a:pt x="84788" y="43297"/>
                </a:lnTo>
                <a:lnTo>
                  <a:pt x="86463" y="43297"/>
                </a:lnTo>
                <a:lnTo>
                  <a:pt x="138259" y="244742"/>
                </a:lnTo>
                <a:cubicBezTo>
                  <a:pt x="180747" y="452376"/>
                  <a:pt x="203060" y="667360"/>
                  <a:pt x="203060" y="887555"/>
                </a:cubicBezTo>
                <a:lnTo>
                  <a:pt x="197958" y="988608"/>
                </a:lnTo>
                <a:lnTo>
                  <a:pt x="114136" y="988608"/>
                </a:lnTo>
                <a:lnTo>
                  <a:pt x="119238" y="887555"/>
                </a:lnTo>
                <a:cubicBezTo>
                  <a:pt x="119238" y="673147"/>
                  <a:pt x="97512" y="463813"/>
                  <a:pt x="56140" y="261635"/>
                </a:cubicBezTo>
                <a:lnTo>
                  <a:pt x="0" y="43297"/>
                </a:lnTo>
                <a:lnTo>
                  <a:pt x="768" y="43297"/>
                </a:lnTo>
                <a:lnTo>
                  <a:pt x="391" y="42387"/>
                </a:lnTo>
                <a:cubicBezTo>
                  <a:pt x="391" y="18977"/>
                  <a:pt x="19368" y="0"/>
                  <a:pt x="42778" y="0"/>
                </a:cubicBezTo>
                <a:close/>
              </a:path>
            </a:pathLst>
          </a:custGeom>
          <a:solidFill>
            <a:srgbClr val="FFD48A">
              <a:alpha val="4000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3"/>
          <p:cNvSpPr/>
          <p:nvPr/>
        </p:nvSpPr>
        <p:spPr>
          <a:xfrm>
            <a:off x="0" y="3040893"/>
            <a:ext cx="1167066" cy="348629"/>
          </a:xfrm>
          <a:custGeom>
            <a:rect b="b" l="l" r="r" t="t"/>
            <a:pathLst>
              <a:path extrusionOk="0" h="464839" w="1556088">
                <a:moveTo>
                  <a:pt x="138304" y="0"/>
                </a:moveTo>
                <a:cubicBezTo>
                  <a:pt x="609550" y="0"/>
                  <a:pt x="1052913" y="119382"/>
                  <a:pt x="1439800" y="329551"/>
                </a:cubicBezTo>
                <a:lnTo>
                  <a:pt x="1530165" y="384449"/>
                </a:lnTo>
                <a:lnTo>
                  <a:pt x="1529608" y="385365"/>
                </a:lnTo>
                <a:lnTo>
                  <a:pt x="1543435" y="391092"/>
                </a:lnTo>
                <a:cubicBezTo>
                  <a:pt x="1551253" y="398910"/>
                  <a:pt x="1556088" y="409710"/>
                  <a:pt x="1556088" y="421639"/>
                </a:cubicBezTo>
                <a:cubicBezTo>
                  <a:pt x="1556088" y="445498"/>
                  <a:pt x="1536747" y="464839"/>
                  <a:pt x="1512888" y="464839"/>
                </a:cubicBezTo>
                <a:cubicBezTo>
                  <a:pt x="1500959" y="464839"/>
                  <a:pt x="1490159" y="460004"/>
                  <a:pt x="1482341" y="452186"/>
                </a:cubicBezTo>
                <a:lnTo>
                  <a:pt x="1481940" y="451219"/>
                </a:lnTo>
                <a:lnTo>
                  <a:pt x="1400624" y="401819"/>
                </a:lnTo>
                <a:cubicBezTo>
                  <a:pt x="1025383" y="197975"/>
                  <a:pt x="595365" y="82187"/>
                  <a:pt x="138304" y="82187"/>
                </a:cubicBezTo>
                <a:lnTo>
                  <a:pt x="0" y="89171"/>
                </a:lnTo>
                <a:lnTo>
                  <a:pt x="0" y="6984"/>
                </a:lnTo>
                <a:close/>
              </a:path>
            </a:pathLst>
          </a:custGeom>
          <a:solidFill>
            <a:srgbClr val="FFD48A">
              <a:alpha val="3373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13"/>
          <p:cNvSpPr txBox="1"/>
          <p:nvPr>
            <p:ph idx="10" type="dt"/>
          </p:nvPr>
        </p:nvSpPr>
        <p:spPr>
          <a:xfrm>
            <a:off x="52197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7" name="Google Shape;57;p1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8" name="Google Shape;58;p13"/>
          <p:cNvSpPr txBox="1"/>
          <p:nvPr>
            <p:ph idx="12" type="sldNum"/>
          </p:nvPr>
        </p:nvSpPr>
        <p:spPr>
          <a:xfrm>
            <a:off x="6565487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CA2F47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  <p:sp>
        <p:nvSpPr>
          <p:cNvPr id="7" name="Google Shape;7;p1"/>
          <p:cNvSpPr txBox="1"/>
          <p:nvPr/>
        </p:nvSpPr>
        <p:spPr>
          <a:xfrm>
            <a:off x="907521" y="4522151"/>
            <a:ext cx="1839900" cy="4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19950" lIns="19950" spcFirstLastPara="1" rIns="19950" wrap="square" tIns="199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200">
                <a:solidFill>
                  <a:srgbClr val="CA2F47"/>
                </a:solidFill>
              </a:rPr>
              <a:t>Quỳnh Nga IT</a:t>
            </a:r>
            <a:br>
              <a:rPr b="1" lang="vi" sz="1200">
                <a:solidFill>
                  <a:srgbClr val="CA2F47"/>
                </a:solidFill>
              </a:rPr>
            </a:br>
            <a:r>
              <a:rPr b="1" lang="vi" sz="1200">
                <a:solidFill>
                  <a:srgbClr val="CA2F47"/>
                </a:solidFill>
              </a:rPr>
              <a:t>Đồng hành cùng bạn !</a:t>
            </a:r>
            <a:endParaRPr b="1" sz="1200">
              <a:solidFill>
                <a:srgbClr val="CA2F47"/>
              </a:solidFill>
            </a:endParaRPr>
          </a:p>
        </p:txBody>
      </p:sp>
      <p:sp>
        <p:nvSpPr>
          <p:cNvPr id="8" name="Google Shape;8;p1"/>
          <p:cNvSpPr/>
          <p:nvPr/>
        </p:nvSpPr>
        <p:spPr>
          <a:xfrm>
            <a:off x="162600" y="140100"/>
            <a:ext cx="8818800" cy="4863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" name="Google Shape;9;p1" title="Logo trong suốt.png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253938" y="4274776"/>
            <a:ext cx="653575" cy="6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1"/>
          <p:cNvSpPr txBox="1"/>
          <p:nvPr/>
        </p:nvSpPr>
        <p:spPr>
          <a:xfrm>
            <a:off x="850825" y="4449988"/>
            <a:ext cx="1839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200">
                <a:solidFill>
                  <a:srgbClr val="CA2F47"/>
                </a:solidFill>
              </a:rPr>
              <a:t>Quỳnh Nga IT</a:t>
            </a:r>
            <a:endParaRPr b="1" sz="1200">
              <a:solidFill>
                <a:srgbClr val="CA2F4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200">
                <a:solidFill>
                  <a:srgbClr val="CA2F47"/>
                </a:solidFill>
              </a:rPr>
              <a:t>Đồng hành cùng bạn</a:t>
            </a:r>
            <a:endParaRPr b="1" sz="1200">
              <a:solidFill>
                <a:srgbClr val="CA2F47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jpg"/><Relationship Id="rId4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10.png"/><Relationship Id="rId9" Type="http://schemas.openxmlformats.org/officeDocument/2006/relationships/image" Target="../media/image17.png"/><Relationship Id="rId5" Type="http://schemas.openxmlformats.org/officeDocument/2006/relationships/image" Target="../media/image13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jpg"/><Relationship Id="rId4" Type="http://schemas.openxmlformats.org/officeDocument/2006/relationships/image" Target="../media/image16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hyperlink" Target="https://docs.google.com/spreadsheets/d/1-plLk7BqRHbHQjQZfG5ts_DViXgewozz/edit?usp=sharing&amp;ouid=104416917441975431198&amp;rtpof=true&amp;sd=true" TargetMode="External"/><Relationship Id="rId4" Type="http://schemas.openxmlformats.org/officeDocument/2006/relationships/hyperlink" Target="https://docs.google.com/spreadsheets/d/1YYWdursZ26ftn7RyM5RO0ge4UZjYWczD/edit?usp=sharing&amp;ouid=104416917441975431198&amp;rtpof=true&amp;sd=true" TargetMode="Externa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2.jp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9.jp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23.jp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rgbClr val="CA2F47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title"/>
          </p:nvPr>
        </p:nvSpPr>
        <p:spPr>
          <a:xfrm>
            <a:off x="106250" y="125569"/>
            <a:ext cx="8915400" cy="489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Manrope ExtraBold"/>
              <a:buNone/>
            </a:pPr>
            <a:r>
              <a:rPr lang="vi">
                <a:solidFill>
                  <a:schemeClr val="dk2"/>
                </a:solidFill>
              </a:rPr>
              <a:t>                             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4289100" y="3587125"/>
            <a:ext cx="42117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200">
                <a:solidFill>
                  <a:srgbClr val="351C75"/>
                </a:solidFill>
              </a:rPr>
              <a:t>Dành cho người thông thoại ngoại ngữ: </a:t>
            </a:r>
            <a:endParaRPr b="1" sz="1200">
              <a:solidFill>
                <a:srgbClr val="351C7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200">
                <a:solidFill>
                  <a:srgbClr val="351C75"/>
                </a:solidFill>
              </a:rPr>
              <a:t>tiếng Anh, tiếng Trung, tiếng Nhật, tiếng Hàn, tiếng Thái…</a:t>
            </a:r>
            <a:endParaRPr b="1" sz="1200">
              <a:solidFill>
                <a:srgbClr val="351C7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200">
                <a:solidFill>
                  <a:srgbClr val="351C75"/>
                </a:solidFill>
              </a:rPr>
              <a:t>Mọi tài liệu trong khóa đều là tài liệu giả lập.</a:t>
            </a:r>
            <a:endParaRPr b="1" sz="1200">
              <a:solidFill>
                <a:srgbClr val="351C75"/>
              </a:solidFill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4297688" y="1849277"/>
            <a:ext cx="4801800" cy="12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3600">
                <a:solidFill>
                  <a:srgbClr val="351C75"/>
                </a:solidFill>
              </a:rPr>
              <a:t>IT Comtor</a:t>
            </a:r>
            <a:endParaRPr b="1" sz="3600">
              <a:solidFill>
                <a:srgbClr val="351C7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3600">
                <a:solidFill>
                  <a:srgbClr val="351C75"/>
                </a:solidFill>
              </a:rPr>
              <a:t>Lý Thuyết Nghề</a:t>
            </a:r>
            <a:endParaRPr b="1" sz="3600">
              <a:solidFill>
                <a:srgbClr val="351C75"/>
              </a:solidFill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4297680" y="668884"/>
            <a:ext cx="4389000" cy="729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800">
                <a:solidFill>
                  <a:srgbClr val="CC0000"/>
                </a:solidFill>
              </a:rPr>
              <a:t>Quỳnh Nga IT</a:t>
            </a:r>
            <a:endParaRPr b="1" sz="1800">
              <a:solidFill>
                <a:srgbClr val="CC0000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vi" sz="1800">
                <a:solidFill>
                  <a:srgbClr val="CC0000"/>
                </a:solidFill>
              </a:rPr>
              <a:t>Khởi động hành trình của bạn!</a:t>
            </a:r>
            <a:endParaRPr b="1" sz="1800">
              <a:solidFill>
                <a:srgbClr val="CC0000"/>
              </a:solidFill>
            </a:endParaRPr>
          </a:p>
        </p:txBody>
      </p:sp>
      <p:pic>
        <p:nvPicPr>
          <p:cNvPr id="67" name="Google Shape;6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7813" y="752888"/>
            <a:ext cx="3345568" cy="328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/>
        </p:nvSpPr>
        <p:spPr>
          <a:xfrm>
            <a:off x="160950" y="1934500"/>
            <a:ext cx="8822100" cy="661200"/>
          </a:xfrm>
          <a:prstGeom prst="rect">
            <a:avLst/>
          </a:prstGeom>
          <a:solidFill>
            <a:srgbClr val="CA2F47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3600">
                <a:solidFill>
                  <a:schemeClr val="lt1"/>
                </a:solidFill>
              </a:rPr>
              <a:t>Hiểu về Phát triển phần mềm</a:t>
            </a:r>
            <a:endParaRPr b="1" sz="36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/>
        </p:nvSpPr>
        <p:spPr>
          <a:xfrm>
            <a:off x="1669425" y="450343"/>
            <a:ext cx="5553600" cy="5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26285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2300">
                <a:solidFill>
                  <a:srgbClr val="351C75"/>
                </a:solidFill>
              </a:rPr>
              <a:t>P</a:t>
            </a:r>
            <a:r>
              <a:rPr b="1" i="0" lang="vi" sz="2300" u="none" cap="none" strike="noStrike">
                <a:solidFill>
                  <a:srgbClr val="351C75"/>
                </a:solidFill>
                <a:latin typeface="Arial"/>
                <a:ea typeface="Arial"/>
                <a:cs typeface="Arial"/>
                <a:sym typeface="Arial"/>
              </a:rPr>
              <a:t>hát triển phần mềm l</a:t>
            </a:r>
            <a:r>
              <a:rPr b="1" lang="vi" sz="2300">
                <a:solidFill>
                  <a:srgbClr val="351C75"/>
                </a:solidFill>
              </a:rPr>
              <a:t>à gì?</a:t>
            </a:r>
            <a:endParaRPr b="1" i="0" sz="2300" u="none" cap="none" strike="noStrike">
              <a:solidFill>
                <a:srgbClr val="351C7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097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80"/>
              <a:buFont typeface="Arial"/>
              <a:buNone/>
            </a:pPr>
            <a:r>
              <a:t/>
            </a:r>
            <a:endParaRPr b="1" i="0" sz="1380" u="none" cap="none" strike="noStrike">
              <a:solidFill>
                <a:srgbClr val="19191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16"/>
          <p:cNvSpPr txBox="1"/>
          <p:nvPr/>
        </p:nvSpPr>
        <p:spPr>
          <a:xfrm>
            <a:off x="1034425" y="1242600"/>
            <a:ext cx="727620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52575" lIns="52575" spcFirstLastPara="1" rIns="52575" wrap="square" tIns="52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z="1725">
                <a:solidFill>
                  <a:srgbClr val="351C75"/>
                </a:solidFill>
                <a:highlight>
                  <a:srgbClr val="FFFFFF"/>
                </a:highlight>
              </a:rPr>
              <a:t>Phát triển phần mềm = là hoạt động chuyển nhu cầu của người dùng thành một sản phẩm phần mềm thông qua lập trình máy tính.</a:t>
            </a:r>
            <a:endParaRPr sz="1725">
              <a:solidFill>
                <a:srgbClr val="351C75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2"/>
              <a:buFont typeface="Arial"/>
              <a:buNone/>
            </a:pPr>
            <a:r>
              <a:t/>
            </a:r>
            <a:endParaRPr sz="1725">
              <a:solidFill>
                <a:srgbClr val="351C75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2"/>
              <a:buFont typeface="Arial"/>
              <a:buNone/>
            </a:pPr>
            <a:r>
              <a:rPr lang="vi" sz="1725">
                <a:solidFill>
                  <a:srgbClr val="351C75"/>
                </a:solidFill>
                <a:highlight>
                  <a:srgbClr val="FFFFFF"/>
                </a:highlight>
              </a:rPr>
              <a:t>📱 Ví dụ:</a:t>
            </a:r>
            <a:endParaRPr sz="1725">
              <a:solidFill>
                <a:srgbClr val="351C75"/>
              </a:solidFill>
              <a:highlight>
                <a:srgbClr val="FFFFFF"/>
              </a:highlight>
            </a:endParaRPr>
          </a:p>
          <a:p>
            <a:pPr indent="-240951" lvl="0" marL="262856" rtl="0" algn="l">
              <a:lnSpc>
                <a:spcPct val="115000"/>
              </a:lnSpc>
              <a:spcBef>
                <a:spcPts val="345"/>
              </a:spcBef>
              <a:spcAft>
                <a:spcPts val="0"/>
              </a:spcAft>
              <a:buClr>
                <a:srgbClr val="351C75"/>
              </a:buClr>
              <a:buSzPts val="1725"/>
              <a:buChar char="●"/>
            </a:pPr>
            <a:r>
              <a:rPr lang="vi" sz="1725">
                <a:solidFill>
                  <a:srgbClr val="351C75"/>
                </a:solidFill>
                <a:highlight>
                  <a:srgbClr val="FFFFFF"/>
                </a:highlight>
              </a:rPr>
              <a:t>App đặt đồ ăn (Now, GrabFood)</a:t>
            </a:r>
            <a:endParaRPr sz="1725">
              <a:solidFill>
                <a:srgbClr val="351C75"/>
              </a:solidFill>
              <a:highlight>
                <a:srgbClr val="FFFFFF"/>
              </a:highlight>
            </a:endParaRPr>
          </a:p>
          <a:p>
            <a:pPr indent="-240951" lvl="0" marL="26285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1725"/>
              <a:buChar char="●"/>
            </a:pPr>
            <a:r>
              <a:rPr lang="vi" sz="1725">
                <a:solidFill>
                  <a:srgbClr val="351C75"/>
                </a:solidFill>
                <a:highlight>
                  <a:srgbClr val="FFFFFF"/>
                </a:highlight>
              </a:rPr>
              <a:t>Phần mềm học tiếng Anh</a:t>
            </a:r>
            <a:endParaRPr sz="1725">
              <a:solidFill>
                <a:srgbClr val="351C75"/>
              </a:solidFill>
              <a:highlight>
                <a:srgbClr val="FFFFFF"/>
              </a:highlight>
            </a:endParaRPr>
          </a:p>
          <a:p>
            <a:pPr indent="-240951" lvl="0" marL="26285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1725"/>
              <a:buChar char="●"/>
            </a:pPr>
            <a:r>
              <a:rPr lang="vi" sz="1725">
                <a:solidFill>
                  <a:srgbClr val="351C75"/>
                </a:solidFill>
                <a:highlight>
                  <a:srgbClr val="FFFFFF"/>
                </a:highlight>
              </a:rPr>
              <a:t>Game chơi trên điện thoại</a:t>
            </a:r>
            <a:endParaRPr sz="1725">
              <a:solidFill>
                <a:srgbClr val="351C75"/>
              </a:solidFill>
              <a:highlight>
                <a:srgbClr val="FFFFFF"/>
              </a:highlight>
            </a:endParaRPr>
          </a:p>
          <a:p>
            <a:pPr indent="0" lvl="0" marL="262856" rtl="0" algn="l">
              <a:lnSpc>
                <a:spcPct val="115000"/>
              </a:lnSpc>
              <a:spcBef>
                <a:spcPts val="345"/>
              </a:spcBef>
              <a:spcAft>
                <a:spcPts val="0"/>
              </a:spcAft>
              <a:buNone/>
            </a:pPr>
            <a:r>
              <a:t/>
            </a:r>
            <a:endParaRPr sz="1725">
              <a:solidFill>
                <a:srgbClr val="351C75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2"/>
              <a:buFont typeface="Arial"/>
              <a:buNone/>
            </a:pPr>
            <a:r>
              <a:rPr lang="vi" sz="1725">
                <a:solidFill>
                  <a:srgbClr val="351C75"/>
                </a:solidFill>
                <a:highlight>
                  <a:srgbClr val="FFFFFF"/>
                </a:highlight>
              </a:rPr>
              <a:t>Tất cả đều là phần mềm do con người tạo ra bằng cách viết mã lệnh.</a:t>
            </a:r>
            <a:endParaRPr sz="1725">
              <a:solidFill>
                <a:srgbClr val="351C75"/>
              </a:solidFill>
              <a:highlight>
                <a:srgbClr val="FFFFFF"/>
              </a:highlight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/>
        </p:nvSpPr>
        <p:spPr>
          <a:xfrm>
            <a:off x="1669425" y="450343"/>
            <a:ext cx="5553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26285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2300">
                <a:solidFill>
                  <a:srgbClr val="351C75"/>
                </a:solidFill>
              </a:rPr>
              <a:t>Các loại ứng dụng phần mềm</a:t>
            </a:r>
            <a:endParaRPr b="1" i="0" sz="1380" u="none" cap="none" strike="noStrike">
              <a:solidFill>
                <a:srgbClr val="19191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4" name="Google Shape;84;p17" title="web app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06963" y="1695649"/>
            <a:ext cx="1604650" cy="1604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 title="Mobile app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87525" y="1247750"/>
            <a:ext cx="2052550" cy="205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7" title="Destop app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36726" y="1545474"/>
            <a:ext cx="190500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7"/>
          <p:cNvSpPr txBox="1"/>
          <p:nvPr/>
        </p:nvSpPr>
        <p:spPr>
          <a:xfrm>
            <a:off x="1907075" y="3450475"/>
            <a:ext cx="1164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vi">
                <a:solidFill>
                  <a:srgbClr val="351C75"/>
                </a:solidFill>
              </a:rPr>
              <a:t>Destop app</a:t>
            </a:r>
            <a:endParaRPr b="1">
              <a:solidFill>
                <a:srgbClr val="351C75"/>
              </a:solidFill>
            </a:endParaRPr>
          </a:p>
        </p:txBody>
      </p:sp>
      <p:sp>
        <p:nvSpPr>
          <p:cNvPr id="88" name="Google Shape;88;p17"/>
          <p:cNvSpPr txBox="1"/>
          <p:nvPr/>
        </p:nvSpPr>
        <p:spPr>
          <a:xfrm>
            <a:off x="4082475" y="3450475"/>
            <a:ext cx="1164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vi">
                <a:solidFill>
                  <a:srgbClr val="351C75"/>
                </a:solidFill>
              </a:rPr>
              <a:t>Web app</a:t>
            </a:r>
            <a:endParaRPr b="1">
              <a:solidFill>
                <a:srgbClr val="351C75"/>
              </a:solidFill>
            </a:endParaRPr>
          </a:p>
        </p:txBody>
      </p:sp>
      <p:sp>
        <p:nvSpPr>
          <p:cNvPr id="89" name="Google Shape;89;p17"/>
          <p:cNvSpPr txBox="1"/>
          <p:nvPr/>
        </p:nvSpPr>
        <p:spPr>
          <a:xfrm>
            <a:off x="6440175" y="3450475"/>
            <a:ext cx="1164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vi">
                <a:solidFill>
                  <a:srgbClr val="351C75"/>
                </a:solidFill>
              </a:rPr>
              <a:t>Mobile app</a:t>
            </a:r>
            <a:endParaRPr b="1">
              <a:solidFill>
                <a:srgbClr val="351C75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/>
        </p:nvSpPr>
        <p:spPr>
          <a:xfrm>
            <a:off x="-107275" y="388825"/>
            <a:ext cx="8796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3600">
                <a:solidFill>
                  <a:srgbClr val="351C75"/>
                </a:solidFill>
              </a:rPr>
              <a:t>Quy trình phát triển phần mềm</a:t>
            </a:r>
            <a:endParaRPr b="1" sz="3600">
              <a:solidFill>
                <a:srgbClr val="351C75"/>
              </a:solidFill>
            </a:endParaRPr>
          </a:p>
        </p:txBody>
      </p:sp>
      <p:sp>
        <p:nvSpPr>
          <p:cNvPr id="95" name="Google Shape;95;p18"/>
          <p:cNvSpPr/>
          <p:nvPr/>
        </p:nvSpPr>
        <p:spPr>
          <a:xfrm>
            <a:off x="1853491" y="2146791"/>
            <a:ext cx="340500" cy="34500"/>
          </a:xfrm>
          <a:prstGeom prst="roundRect">
            <a:avLst>
              <a:gd fmla="val 50000" name="adj"/>
            </a:avLst>
          </a:prstGeom>
          <a:solidFill>
            <a:srgbClr val="A7291E"/>
          </a:solidFill>
          <a:ln>
            <a:noFill/>
          </a:ln>
        </p:spPr>
        <p:txBody>
          <a:bodyPr anchorCtr="0" anchor="ctr" bIns="89275" lIns="89275" spcFirstLastPara="1" rIns="89275" wrap="square" tIns="89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6" name="Google Shape;96;p18"/>
          <p:cNvGrpSpPr/>
          <p:nvPr/>
        </p:nvGrpSpPr>
        <p:grpSpPr>
          <a:xfrm>
            <a:off x="586892" y="1861577"/>
            <a:ext cx="1375884" cy="1785045"/>
            <a:chOff x="519875" y="1948510"/>
            <a:chExt cx="1376710" cy="1897975"/>
          </a:xfrm>
        </p:grpSpPr>
        <p:sp>
          <p:nvSpPr>
            <p:cNvPr id="97" name="Google Shape;97;p18"/>
            <p:cNvSpPr/>
            <p:nvPr/>
          </p:nvSpPr>
          <p:spPr>
            <a:xfrm>
              <a:off x="877947" y="1948510"/>
              <a:ext cx="594300" cy="594300"/>
            </a:xfrm>
            <a:prstGeom prst="ellipse">
              <a:avLst/>
            </a:prstGeom>
            <a:noFill/>
            <a:ln cap="flat" cmpd="sng" w="27900">
              <a:solidFill>
                <a:srgbClr val="A7291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9275" lIns="89275" spcFirstLastPara="1" rIns="89275" wrap="square" tIns="89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65"/>
            </a:p>
          </p:txBody>
        </p:sp>
        <p:sp>
          <p:nvSpPr>
            <p:cNvPr id="98" name="Google Shape;98;p18"/>
            <p:cNvSpPr txBox="1"/>
            <p:nvPr/>
          </p:nvSpPr>
          <p:spPr>
            <a:xfrm>
              <a:off x="956697" y="2109685"/>
              <a:ext cx="436800" cy="32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9275" lIns="89275" spcFirstLastPara="1" rIns="89275" wrap="square" tIns="8927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538"/>
                </a:spcAft>
                <a:buNone/>
              </a:pPr>
              <a:r>
                <a:rPr b="1" lang="vi" sz="1465">
                  <a:solidFill>
                    <a:srgbClr val="A7291E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b="1" sz="1465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9" name="Google Shape;99;p18"/>
            <p:cNvSpPr txBox="1"/>
            <p:nvPr/>
          </p:nvSpPr>
          <p:spPr>
            <a:xfrm>
              <a:off x="519885" y="2652294"/>
              <a:ext cx="13767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89275" lIns="89275" spcFirstLastPara="1" rIns="89275" wrap="square" tIns="8927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vi" sz="1465">
                  <a:solidFill>
                    <a:srgbClr val="A7291E"/>
                  </a:solidFill>
                  <a:latin typeface="Roboto"/>
                  <a:ea typeface="Roboto"/>
                  <a:cs typeface="Roboto"/>
                  <a:sym typeface="Roboto"/>
                </a:rPr>
                <a:t>Requirements</a:t>
              </a:r>
              <a:endParaRPr b="1" sz="1465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0" name="Google Shape;100;p18"/>
            <p:cNvSpPr txBox="1"/>
            <p:nvPr/>
          </p:nvSpPr>
          <p:spPr>
            <a:xfrm>
              <a:off x="519875" y="3109085"/>
              <a:ext cx="1310400" cy="73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9275" lIns="89275" spcFirstLastPara="1" rIns="89275" wrap="square" tIns="8927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538"/>
                </a:spcAft>
                <a:buNone/>
              </a:pPr>
              <a:r>
                <a:rPr lang="vi" sz="1465">
                  <a:solidFill>
                    <a:srgbClr val="A7291E"/>
                  </a:solidFill>
                  <a:latin typeface="Roboto"/>
                  <a:ea typeface="Roboto"/>
                  <a:cs typeface="Roboto"/>
                  <a:sym typeface="Roboto"/>
                </a:rPr>
                <a:t>Thu Thập Yêu cầu</a:t>
              </a:r>
              <a:endParaRPr sz="1465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01" name="Google Shape;101;p18"/>
          <p:cNvGrpSpPr/>
          <p:nvPr/>
        </p:nvGrpSpPr>
        <p:grpSpPr>
          <a:xfrm>
            <a:off x="2032605" y="1861580"/>
            <a:ext cx="1261915" cy="1785045"/>
            <a:chOff x="1848940" y="1948510"/>
            <a:chExt cx="1310400" cy="1897975"/>
          </a:xfrm>
        </p:grpSpPr>
        <p:sp>
          <p:nvSpPr>
            <p:cNvPr id="102" name="Google Shape;102;p18"/>
            <p:cNvSpPr/>
            <p:nvPr/>
          </p:nvSpPr>
          <p:spPr>
            <a:xfrm>
              <a:off x="2206990" y="1948510"/>
              <a:ext cx="594300" cy="594300"/>
            </a:xfrm>
            <a:prstGeom prst="ellipse">
              <a:avLst/>
            </a:prstGeom>
            <a:noFill/>
            <a:ln cap="flat" cmpd="sng" w="27900">
              <a:solidFill>
                <a:srgbClr val="A7291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9275" lIns="89275" spcFirstLastPara="1" rIns="89275" wrap="square" tIns="89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65"/>
            </a:p>
          </p:txBody>
        </p:sp>
        <p:sp>
          <p:nvSpPr>
            <p:cNvPr id="103" name="Google Shape;103;p18"/>
            <p:cNvSpPr txBox="1"/>
            <p:nvPr/>
          </p:nvSpPr>
          <p:spPr>
            <a:xfrm>
              <a:off x="1848940" y="2652285"/>
              <a:ext cx="13104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89275" lIns="89275" spcFirstLastPara="1" rIns="89275" wrap="square" tIns="8927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vi" sz="1465">
                  <a:solidFill>
                    <a:srgbClr val="A7291E"/>
                  </a:solidFill>
                  <a:latin typeface="Roboto"/>
                  <a:ea typeface="Roboto"/>
                  <a:cs typeface="Roboto"/>
                  <a:sym typeface="Roboto"/>
                </a:rPr>
                <a:t>Design</a:t>
              </a:r>
              <a:endParaRPr b="1" sz="1465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4" name="Google Shape;104;p18"/>
            <p:cNvSpPr txBox="1"/>
            <p:nvPr/>
          </p:nvSpPr>
          <p:spPr>
            <a:xfrm>
              <a:off x="1848940" y="3109085"/>
              <a:ext cx="1310400" cy="73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9275" lIns="89275" spcFirstLastPara="1" rIns="89275" wrap="square" tIns="8927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538"/>
                </a:spcAft>
                <a:buNone/>
              </a:pPr>
              <a:r>
                <a:rPr lang="vi" sz="1465">
                  <a:solidFill>
                    <a:srgbClr val="A7291E"/>
                  </a:solidFill>
                  <a:latin typeface="Roboto"/>
                  <a:ea typeface="Roboto"/>
                  <a:cs typeface="Roboto"/>
                  <a:sym typeface="Roboto"/>
                </a:rPr>
                <a:t> Phân Tích Và Thiết Kế</a:t>
              </a:r>
              <a:endParaRPr sz="1465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5" name="Google Shape;105;p18"/>
            <p:cNvSpPr txBox="1"/>
            <p:nvPr/>
          </p:nvSpPr>
          <p:spPr>
            <a:xfrm>
              <a:off x="2285740" y="2109685"/>
              <a:ext cx="436800" cy="32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9275" lIns="89275" spcFirstLastPara="1" rIns="89275" wrap="square" tIns="8927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538"/>
                </a:spcAft>
                <a:buNone/>
              </a:pPr>
              <a:r>
                <a:rPr b="1" lang="vi" sz="1465">
                  <a:solidFill>
                    <a:srgbClr val="A7291E"/>
                  </a:solidFill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b="1" sz="1465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06" name="Google Shape;106;p18"/>
          <p:cNvGrpSpPr/>
          <p:nvPr/>
        </p:nvGrpSpPr>
        <p:grpSpPr>
          <a:xfrm>
            <a:off x="3312523" y="1861580"/>
            <a:ext cx="1309585" cy="1785045"/>
            <a:chOff x="3178034" y="1948510"/>
            <a:chExt cx="1359902" cy="1897974"/>
          </a:xfrm>
        </p:grpSpPr>
        <p:sp>
          <p:nvSpPr>
            <p:cNvPr id="107" name="Google Shape;107;p18"/>
            <p:cNvSpPr/>
            <p:nvPr/>
          </p:nvSpPr>
          <p:spPr>
            <a:xfrm>
              <a:off x="3560827" y="1948510"/>
              <a:ext cx="594300" cy="594300"/>
            </a:xfrm>
            <a:prstGeom prst="ellipse">
              <a:avLst/>
            </a:prstGeom>
            <a:noFill/>
            <a:ln cap="flat" cmpd="sng" w="27900">
              <a:solidFill>
                <a:srgbClr val="85858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9275" lIns="89275" spcFirstLastPara="1" rIns="89275" wrap="square" tIns="89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65">
                <a:solidFill>
                  <a:srgbClr val="A64D79"/>
                </a:solidFill>
              </a:endParaRPr>
            </a:p>
          </p:txBody>
        </p:sp>
        <p:sp>
          <p:nvSpPr>
            <p:cNvPr id="108" name="Google Shape;108;p18"/>
            <p:cNvSpPr txBox="1"/>
            <p:nvPr/>
          </p:nvSpPr>
          <p:spPr>
            <a:xfrm>
              <a:off x="3178034" y="2652285"/>
              <a:ext cx="13599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89275" lIns="89275" spcFirstLastPara="1" rIns="89275" wrap="square" tIns="8927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vi" sz="1465">
                  <a:solidFill>
                    <a:srgbClr val="A64D79"/>
                  </a:solidFill>
                  <a:latin typeface="Roboto"/>
                  <a:ea typeface="Roboto"/>
                  <a:cs typeface="Roboto"/>
                  <a:sym typeface="Roboto"/>
                </a:rPr>
                <a:t>Development</a:t>
              </a:r>
              <a:endParaRPr b="1" sz="1465">
                <a:solidFill>
                  <a:srgbClr val="A64D79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9" name="Google Shape;109;p18"/>
            <p:cNvSpPr txBox="1"/>
            <p:nvPr/>
          </p:nvSpPr>
          <p:spPr>
            <a:xfrm>
              <a:off x="3178036" y="3109084"/>
              <a:ext cx="1359900" cy="73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9275" lIns="89275" spcFirstLastPara="1" rIns="89275" wrap="square" tIns="8927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z="1465">
                  <a:solidFill>
                    <a:srgbClr val="A64D79"/>
                  </a:solidFill>
                  <a:latin typeface="Roboto"/>
                  <a:ea typeface="Roboto"/>
                  <a:cs typeface="Roboto"/>
                  <a:sym typeface="Roboto"/>
                </a:rPr>
                <a:t> Phát Triển</a:t>
              </a:r>
              <a:endParaRPr sz="1465">
                <a:solidFill>
                  <a:srgbClr val="A64D79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lnSpc>
                  <a:spcPct val="115000"/>
                </a:lnSpc>
                <a:spcBef>
                  <a:spcPts val="1538"/>
                </a:spcBef>
                <a:spcAft>
                  <a:spcPts val="1538"/>
                </a:spcAft>
                <a:buNone/>
              </a:pPr>
              <a:r>
                <a:rPr lang="vi" sz="1465">
                  <a:solidFill>
                    <a:srgbClr val="A64D79"/>
                  </a:solidFill>
                  <a:latin typeface="Roboto"/>
                  <a:ea typeface="Roboto"/>
                  <a:cs typeface="Roboto"/>
                  <a:sym typeface="Roboto"/>
                </a:rPr>
                <a:t>(Lập trình) </a:t>
              </a:r>
              <a:endParaRPr sz="1465">
                <a:solidFill>
                  <a:srgbClr val="A64D79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0" name="Google Shape;110;p18"/>
            <p:cNvSpPr txBox="1"/>
            <p:nvPr/>
          </p:nvSpPr>
          <p:spPr>
            <a:xfrm>
              <a:off x="3639577" y="2109685"/>
              <a:ext cx="436800" cy="32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9275" lIns="89275" spcFirstLastPara="1" rIns="89275" wrap="square" tIns="8927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538"/>
                </a:spcAft>
                <a:buNone/>
              </a:pPr>
              <a:r>
                <a:rPr b="1" lang="vi" sz="1465">
                  <a:solidFill>
                    <a:srgbClr val="A64D79"/>
                  </a:solidFill>
                  <a:latin typeface="Roboto"/>
                  <a:ea typeface="Roboto"/>
                  <a:cs typeface="Roboto"/>
                  <a:sym typeface="Roboto"/>
                </a:rPr>
                <a:t>3</a:t>
              </a:r>
              <a:endParaRPr b="1" sz="1465">
                <a:solidFill>
                  <a:srgbClr val="A64D79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11" name="Google Shape;111;p18"/>
          <p:cNvGrpSpPr/>
          <p:nvPr/>
        </p:nvGrpSpPr>
        <p:grpSpPr>
          <a:xfrm>
            <a:off x="4641092" y="1861580"/>
            <a:ext cx="1261918" cy="1785045"/>
            <a:chOff x="4557650" y="1948510"/>
            <a:chExt cx="1310403" cy="1897975"/>
          </a:xfrm>
        </p:grpSpPr>
        <p:sp>
          <p:nvSpPr>
            <p:cNvPr id="112" name="Google Shape;112;p18"/>
            <p:cNvSpPr/>
            <p:nvPr/>
          </p:nvSpPr>
          <p:spPr>
            <a:xfrm>
              <a:off x="4915703" y="1948510"/>
              <a:ext cx="594300" cy="594300"/>
            </a:xfrm>
            <a:prstGeom prst="ellipse">
              <a:avLst/>
            </a:prstGeom>
            <a:noFill/>
            <a:ln cap="flat" cmpd="sng" w="27900">
              <a:solidFill>
                <a:srgbClr val="85858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9275" lIns="89275" spcFirstLastPara="1" rIns="89275" wrap="square" tIns="89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65">
                <a:solidFill>
                  <a:srgbClr val="A64D79"/>
                </a:solidFill>
              </a:endParaRPr>
            </a:p>
          </p:txBody>
        </p:sp>
        <p:sp>
          <p:nvSpPr>
            <p:cNvPr id="113" name="Google Shape;113;p18"/>
            <p:cNvSpPr txBox="1"/>
            <p:nvPr/>
          </p:nvSpPr>
          <p:spPr>
            <a:xfrm>
              <a:off x="4557650" y="2652285"/>
              <a:ext cx="13104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89275" lIns="89275" spcFirstLastPara="1" rIns="89275" wrap="square" tIns="8927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vi" sz="1465">
                  <a:solidFill>
                    <a:srgbClr val="A64D79"/>
                  </a:solidFill>
                  <a:latin typeface="Roboto"/>
                  <a:ea typeface="Roboto"/>
                  <a:cs typeface="Roboto"/>
                  <a:sym typeface="Roboto"/>
                </a:rPr>
                <a:t>Testing</a:t>
              </a:r>
              <a:endParaRPr b="1" sz="1465">
                <a:solidFill>
                  <a:srgbClr val="A64D79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4" name="Google Shape;114;p18"/>
            <p:cNvSpPr txBox="1"/>
            <p:nvPr/>
          </p:nvSpPr>
          <p:spPr>
            <a:xfrm>
              <a:off x="4557653" y="3109085"/>
              <a:ext cx="1310400" cy="73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9275" lIns="89275" spcFirstLastPara="1" rIns="89275" wrap="square" tIns="8927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538"/>
                </a:spcAft>
                <a:buNone/>
              </a:pPr>
              <a:r>
                <a:rPr lang="vi" sz="1465">
                  <a:solidFill>
                    <a:srgbClr val="A64D79"/>
                  </a:solidFill>
                  <a:latin typeface="Roboto"/>
                  <a:ea typeface="Roboto"/>
                  <a:cs typeface="Roboto"/>
                  <a:sym typeface="Roboto"/>
                </a:rPr>
                <a:t>Kiểm Thử</a:t>
              </a:r>
              <a:endParaRPr sz="1465">
                <a:solidFill>
                  <a:srgbClr val="A64D79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5" name="Google Shape;115;p18"/>
            <p:cNvSpPr txBox="1"/>
            <p:nvPr/>
          </p:nvSpPr>
          <p:spPr>
            <a:xfrm>
              <a:off x="4994453" y="2109685"/>
              <a:ext cx="436800" cy="32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9275" lIns="89275" spcFirstLastPara="1" rIns="89275" wrap="square" tIns="8927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538"/>
                </a:spcAft>
                <a:buNone/>
              </a:pPr>
              <a:r>
                <a:rPr b="1" lang="vi" sz="1465">
                  <a:solidFill>
                    <a:srgbClr val="A64D79"/>
                  </a:solidFill>
                  <a:latin typeface="Roboto"/>
                  <a:ea typeface="Roboto"/>
                  <a:cs typeface="Roboto"/>
                  <a:sym typeface="Roboto"/>
                </a:rPr>
                <a:t>4</a:t>
              </a:r>
              <a:endParaRPr b="1" sz="1465">
                <a:solidFill>
                  <a:srgbClr val="A64D79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16" name="Google Shape;116;p18"/>
          <p:cNvGrpSpPr/>
          <p:nvPr/>
        </p:nvGrpSpPr>
        <p:grpSpPr>
          <a:xfrm>
            <a:off x="5922027" y="1861580"/>
            <a:ext cx="1309589" cy="1785045"/>
            <a:chOff x="5887800" y="1948510"/>
            <a:chExt cx="1359905" cy="1897975"/>
          </a:xfrm>
        </p:grpSpPr>
        <p:sp>
          <p:nvSpPr>
            <p:cNvPr id="117" name="Google Shape;117;p18"/>
            <p:cNvSpPr/>
            <p:nvPr/>
          </p:nvSpPr>
          <p:spPr>
            <a:xfrm>
              <a:off x="6270606" y="1948510"/>
              <a:ext cx="594300" cy="594300"/>
            </a:xfrm>
            <a:prstGeom prst="ellipse">
              <a:avLst/>
            </a:prstGeom>
            <a:noFill/>
            <a:ln cap="flat" cmpd="sng" w="27900">
              <a:solidFill>
                <a:srgbClr val="85858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9275" lIns="89275" spcFirstLastPara="1" rIns="89275" wrap="square" tIns="89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65">
                <a:solidFill>
                  <a:srgbClr val="1155CC"/>
                </a:solidFill>
              </a:endParaRPr>
            </a:p>
          </p:txBody>
        </p:sp>
        <p:sp>
          <p:nvSpPr>
            <p:cNvPr id="118" name="Google Shape;118;p18"/>
            <p:cNvSpPr txBox="1"/>
            <p:nvPr/>
          </p:nvSpPr>
          <p:spPr>
            <a:xfrm>
              <a:off x="5887800" y="2652285"/>
              <a:ext cx="13599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89275" lIns="89275" spcFirstLastPara="1" rIns="89275" wrap="square" tIns="8927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vi" sz="1465">
                  <a:solidFill>
                    <a:srgbClr val="1155CC"/>
                  </a:solidFill>
                  <a:latin typeface="Roboto"/>
                  <a:ea typeface="Roboto"/>
                  <a:cs typeface="Roboto"/>
                  <a:sym typeface="Roboto"/>
                </a:rPr>
                <a:t>Deployment</a:t>
              </a:r>
              <a:endParaRPr b="1" sz="1465">
                <a:solidFill>
                  <a:srgbClr val="1155CC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9" name="Google Shape;119;p18"/>
            <p:cNvSpPr txBox="1"/>
            <p:nvPr/>
          </p:nvSpPr>
          <p:spPr>
            <a:xfrm>
              <a:off x="5887806" y="3109085"/>
              <a:ext cx="1359900" cy="73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9275" lIns="89275" spcFirstLastPara="1" rIns="89275" wrap="square" tIns="8927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538"/>
                </a:spcAft>
                <a:buNone/>
              </a:pPr>
              <a:r>
                <a:rPr lang="vi" sz="1465">
                  <a:solidFill>
                    <a:srgbClr val="1155CC"/>
                  </a:solidFill>
                  <a:latin typeface="Roboto"/>
                  <a:ea typeface="Roboto"/>
                  <a:cs typeface="Roboto"/>
                  <a:sym typeface="Roboto"/>
                </a:rPr>
                <a:t>Triển Khai</a:t>
              </a:r>
              <a:endParaRPr sz="1465">
                <a:solidFill>
                  <a:srgbClr val="1155CC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0" name="Google Shape;120;p18"/>
            <p:cNvSpPr txBox="1"/>
            <p:nvPr/>
          </p:nvSpPr>
          <p:spPr>
            <a:xfrm>
              <a:off x="6349356" y="2109685"/>
              <a:ext cx="436800" cy="32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9275" lIns="89275" spcFirstLastPara="1" rIns="89275" wrap="square" tIns="8927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538"/>
                </a:spcAft>
                <a:buNone/>
              </a:pPr>
              <a:r>
                <a:rPr b="1" lang="vi" sz="1465">
                  <a:solidFill>
                    <a:srgbClr val="1155CC"/>
                  </a:solidFill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 b="1" sz="1465">
                <a:solidFill>
                  <a:srgbClr val="1155CC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21" name="Google Shape;121;p18"/>
          <p:cNvGrpSpPr/>
          <p:nvPr/>
        </p:nvGrpSpPr>
        <p:grpSpPr>
          <a:xfrm>
            <a:off x="7247512" y="1861580"/>
            <a:ext cx="1309589" cy="1785045"/>
            <a:chOff x="7264213" y="1948510"/>
            <a:chExt cx="1359905" cy="1897975"/>
          </a:xfrm>
        </p:grpSpPr>
        <p:sp>
          <p:nvSpPr>
            <p:cNvPr id="122" name="Google Shape;122;p18"/>
            <p:cNvSpPr/>
            <p:nvPr/>
          </p:nvSpPr>
          <p:spPr>
            <a:xfrm>
              <a:off x="7647018" y="1948510"/>
              <a:ext cx="594300" cy="594300"/>
            </a:xfrm>
            <a:prstGeom prst="ellipse">
              <a:avLst/>
            </a:prstGeom>
            <a:noFill/>
            <a:ln cap="flat" cmpd="sng" w="27900">
              <a:solidFill>
                <a:srgbClr val="85858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9275" lIns="89275" spcFirstLastPara="1" rIns="89275" wrap="square" tIns="89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65">
                <a:solidFill>
                  <a:srgbClr val="1155CC"/>
                </a:solidFill>
              </a:endParaRPr>
            </a:p>
          </p:txBody>
        </p:sp>
        <p:sp>
          <p:nvSpPr>
            <p:cNvPr id="123" name="Google Shape;123;p18"/>
            <p:cNvSpPr txBox="1"/>
            <p:nvPr/>
          </p:nvSpPr>
          <p:spPr>
            <a:xfrm>
              <a:off x="7264213" y="2652285"/>
              <a:ext cx="13599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89275" lIns="89275" spcFirstLastPara="1" rIns="89275" wrap="square" tIns="8927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vi" sz="1465">
                  <a:solidFill>
                    <a:srgbClr val="1155CC"/>
                  </a:solidFill>
                  <a:latin typeface="Roboto"/>
                  <a:ea typeface="Roboto"/>
                  <a:cs typeface="Roboto"/>
                  <a:sym typeface="Roboto"/>
                </a:rPr>
                <a:t>Maintenance</a:t>
              </a:r>
              <a:endParaRPr b="1" sz="1465">
                <a:solidFill>
                  <a:srgbClr val="1155CC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4" name="Google Shape;124;p18"/>
            <p:cNvSpPr txBox="1"/>
            <p:nvPr/>
          </p:nvSpPr>
          <p:spPr>
            <a:xfrm>
              <a:off x="7264218" y="3109085"/>
              <a:ext cx="1359900" cy="73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9275" lIns="89275" spcFirstLastPara="1" rIns="89275" wrap="square" tIns="8927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538"/>
                </a:spcAft>
                <a:buNone/>
              </a:pPr>
              <a:r>
                <a:rPr lang="vi" sz="1465">
                  <a:solidFill>
                    <a:srgbClr val="1155CC"/>
                  </a:solidFill>
                  <a:latin typeface="Roboto"/>
                  <a:ea typeface="Roboto"/>
                  <a:cs typeface="Roboto"/>
                  <a:sym typeface="Roboto"/>
                </a:rPr>
                <a:t>Bảo Trì</a:t>
              </a:r>
              <a:endParaRPr sz="1465">
                <a:solidFill>
                  <a:srgbClr val="1155CC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5" name="Google Shape;125;p18"/>
            <p:cNvSpPr txBox="1"/>
            <p:nvPr/>
          </p:nvSpPr>
          <p:spPr>
            <a:xfrm>
              <a:off x="7725768" y="2109685"/>
              <a:ext cx="436800" cy="32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9275" lIns="89275" spcFirstLastPara="1" rIns="89275" wrap="square" tIns="8927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538"/>
                </a:spcAft>
                <a:buNone/>
              </a:pPr>
              <a:r>
                <a:rPr b="1" lang="vi" sz="1465">
                  <a:solidFill>
                    <a:srgbClr val="1155CC"/>
                  </a:solidFill>
                  <a:latin typeface="Roboto"/>
                  <a:ea typeface="Roboto"/>
                  <a:cs typeface="Roboto"/>
                  <a:sym typeface="Roboto"/>
                </a:rPr>
                <a:t>6</a:t>
              </a:r>
              <a:endParaRPr b="1" sz="1465">
                <a:solidFill>
                  <a:srgbClr val="1155CC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26" name="Google Shape;126;p18"/>
          <p:cNvSpPr/>
          <p:nvPr/>
        </p:nvSpPr>
        <p:spPr>
          <a:xfrm>
            <a:off x="3145314" y="2146791"/>
            <a:ext cx="340500" cy="34500"/>
          </a:xfrm>
          <a:prstGeom prst="roundRect">
            <a:avLst>
              <a:gd fmla="val 50000" name="adj"/>
            </a:avLst>
          </a:prstGeom>
          <a:solidFill>
            <a:srgbClr val="858585"/>
          </a:solidFill>
          <a:ln>
            <a:noFill/>
          </a:ln>
        </p:spPr>
        <p:txBody>
          <a:bodyPr anchorCtr="0" anchor="ctr" bIns="89275" lIns="89275" spcFirstLastPara="1" rIns="89275" wrap="square" tIns="89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8"/>
          <p:cNvSpPr/>
          <p:nvPr/>
        </p:nvSpPr>
        <p:spPr>
          <a:xfrm>
            <a:off x="4449584" y="2146791"/>
            <a:ext cx="340500" cy="34500"/>
          </a:xfrm>
          <a:prstGeom prst="roundRect">
            <a:avLst>
              <a:gd fmla="val 50000" name="adj"/>
            </a:avLst>
          </a:prstGeom>
          <a:solidFill>
            <a:srgbClr val="858585"/>
          </a:solidFill>
          <a:ln>
            <a:noFill/>
          </a:ln>
        </p:spPr>
        <p:txBody>
          <a:bodyPr anchorCtr="0" anchor="ctr" bIns="89275" lIns="89275" spcFirstLastPara="1" rIns="89275" wrap="square" tIns="89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5">
              <a:solidFill>
                <a:srgbClr val="A64D79"/>
              </a:solidFill>
            </a:endParaRPr>
          </a:p>
        </p:txBody>
      </p:sp>
      <p:sp>
        <p:nvSpPr>
          <p:cNvPr id="128" name="Google Shape;128;p18"/>
          <p:cNvSpPr/>
          <p:nvPr/>
        </p:nvSpPr>
        <p:spPr>
          <a:xfrm>
            <a:off x="5754347" y="2146791"/>
            <a:ext cx="340500" cy="34500"/>
          </a:xfrm>
          <a:prstGeom prst="roundRect">
            <a:avLst>
              <a:gd fmla="val 50000" name="adj"/>
            </a:avLst>
          </a:prstGeom>
          <a:solidFill>
            <a:srgbClr val="858585"/>
          </a:solidFill>
          <a:ln>
            <a:noFill/>
          </a:ln>
        </p:spPr>
        <p:txBody>
          <a:bodyPr anchorCtr="0" anchor="ctr" bIns="89275" lIns="89275" spcFirstLastPara="1" rIns="89275" wrap="square" tIns="89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5">
              <a:solidFill>
                <a:srgbClr val="1155CC"/>
              </a:solidFill>
            </a:endParaRPr>
          </a:p>
        </p:txBody>
      </p:sp>
      <p:sp>
        <p:nvSpPr>
          <p:cNvPr id="129" name="Google Shape;129;p18"/>
          <p:cNvSpPr/>
          <p:nvPr/>
        </p:nvSpPr>
        <p:spPr>
          <a:xfrm>
            <a:off x="7069499" y="2146791"/>
            <a:ext cx="340500" cy="34500"/>
          </a:xfrm>
          <a:prstGeom prst="roundRect">
            <a:avLst>
              <a:gd fmla="val 50000" name="adj"/>
            </a:avLst>
          </a:prstGeom>
          <a:solidFill>
            <a:srgbClr val="858585"/>
          </a:solidFill>
          <a:ln>
            <a:noFill/>
          </a:ln>
        </p:spPr>
        <p:txBody>
          <a:bodyPr anchorCtr="0" anchor="ctr" bIns="89275" lIns="89275" spcFirstLastPara="1" rIns="89275" wrap="square" tIns="89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5">
              <a:solidFill>
                <a:srgbClr val="1155CC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9"/>
          <p:cNvSpPr txBox="1"/>
          <p:nvPr/>
        </p:nvSpPr>
        <p:spPr>
          <a:xfrm>
            <a:off x="2122055" y="513224"/>
            <a:ext cx="4886400" cy="7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2591">
                <a:solidFill>
                  <a:srgbClr val="351C75"/>
                </a:solidFill>
              </a:rPr>
              <a:t>Mô hình phát triển phần mềm</a:t>
            </a:r>
            <a:endParaRPr b="1" sz="2591">
              <a:solidFill>
                <a:srgbClr val="351C75"/>
              </a:solidFill>
            </a:endParaRPr>
          </a:p>
        </p:txBody>
      </p:sp>
      <p:pic>
        <p:nvPicPr>
          <p:cNvPr descr="Agile-model" id="135" name="Google Shape;13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95799" y="1554797"/>
            <a:ext cx="3169721" cy="2103219"/>
          </a:xfrm>
          <a:prstGeom prst="rect">
            <a:avLst/>
          </a:prstGeom>
          <a:noFill/>
          <a:ln cap="flat" cmpd="sng" w="12350">
            <a:solidFill>
              <a:srgbClr val="0A485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waterfall" id="136" name="Google Shape;136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1451" y="1586816"/>
            <a:ext cx="3169719" cy="2103219"/>
          </a:xfrm>
          <a:prstGeom prst="rect">
            <a:avLst/>
          </a:prstGeom>
          <a:noFill/>
          <a:ln cap="flat" cmpd="sng" w="12350">
            <a:solidFill>
              <a:srgbClr val="0A485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37" name="Google Shape;137;p19"/>
          <p:cNvSpPr txBox="1"/>
          <p:nvPr/>
        </p:nvSpPr>
        <p:spPr>
          <a:xfrm>
            <a:off x="4702956" y="1109529"/>
            <a:ext cx="31698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9600" lIns="59225" spcFirstLastPara="1" rIns="59225" wrap="square" tIns="296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91"/>
              <a:buFont typeface="Arial"/>
              <a:buNone/>
            </a:pPr>
            <a:r>
              <a:rPr b="1" i="0" lang="vi" sz="1554" u="none" cap="none" strike="noStrike">
                <a:solidFill>
                  <a:srgbClr val="351C75"/>
                </a:solidFill>
                <a:latin typeface="Arial"/>
                <a:ea typeface="Arial"/>
                <a:cs typeface="Arial"/>
                <a:sym typeface="Arial"/>
              </a:rPr>
              <a:t>Agile Scrum</a:t>
            </a:r>
            <a:endParaRPr b="0" i="0" sz="1554" u="none" cap="none" strike="noStrike">
              <a:solidFill>
                <a:srgbClr val="351C7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9"/>
          <p:cNvSpPr txBox="1"/>
          <p:nvPr/>
        </p:nvSpPr>
        <p:spPr>
          <a:xfrm>
            <a:off x="1158875" y="1109529"/>
            <a:ext cx="31698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9600" lIns="59225" spcFirstLastPara="1" rIns="59225" wrap="square" tIns="296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91"/>
              <a:buFont typeface="Arial"/>
              <a:buNone/>
            </a:pPr>
            <a:r>
              <a:rPr b="1" i="0" lang="vi" sz="1554" u="none" cap="none" strike="noStrike">
                <a:solidFill>
                  <a:srgbClr val="351C75"/>
                </a:solidFill>
                <a:latin typeface="Arial"/>
                <a:ea typeface="Arial"/>
                <a:cs typeface="Arial"/>
                <a:sym typeface="Arial"/>
              </a:rPr>
              <a:t>Waterfall </a:t>
            </a:r>
            <a:endParaRPr b="0" i="0" sz="1554" u="none" cap="none" strike="noStrike">
              <a:solidFill>
                <a:srgbClr val="351C7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9"/>
          <p:cNvSpPr txBox="1"/>
          <p:nvPr/>
        </p:nvSpPr>
        <p:spPr>
          <a:xfrm>
            <a:off x="1151694" y="3868296"/>
            <a:ext cx="3169800" cy="4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29600" lIns="59225" spcFirstLastPara="1" rIns="59225" wrap="square" tIns="296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4"/>
              <a:buFont typeface="Arial"/>
              <a:buNone/>
            </a:pPr>
            <a:r>
              <a:rPr b="0" i="0" lang="vi" sz="1166" u="none" cap="none" strike="noStrike">
                <a:solidFill>
                  <a:srgbClr val="351C75"/>
                </a:solidFill>
                <a:latin typeface="Arial"/>
                <a:ea typeface="Arial"/>
                <a:cs typeface="Arial"/>
                <a:sym typeface="Arial"/>
              </a:rPr>
              <a:t>Phát triển tuần tự theo từng giai đoạn cố định</a:t>
            </a:r>
            <a:endParaRPr b="0" i="0" sz="1166" u="none" cap="none" strike="noStrike">
              <a:solidFill>
                <a:srgbClr val="351C7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4"/>
              <a:buFont typeface="Arial"/>
              <a:buNone/>
            </a:pPr>
            <a:r>
              <a:rPr b="0" i="0" lang="vi" sz="1166" u="none" cap="none" strike="noStrike">
                <a:solidFill>
                  <a:srgbClr val="351C75"/>
                </a:solidFill>
                <a:latin typeface="Arial"/>
                <a:ea typeface="Arial"/>
                <a:cs typeface="Arial"/>
                <a:sym typeface="Arial"/>
              </a:rPr>
              <a:t>Khó thay đổi khi đã hoàn tất một giai đoạn</a:t>
            </a:r>
            <a:endParaRPr b="0" i="0" sz="1166" u="none" cap="none" strike="noStrike">
              <a:solidFill>
                <a:srgbClr val="351C7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9"/>
          <p:cNvSpPr txBox="1"/>
          <p:nvPr/>
        </p:nvSpPr>
        <p:spPr>
          <a:xfrm>
            <a:off x="4702956" y="3868296"/>
            <a:ext cx="3339600" cy="4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29600" lIns="59225" spcFirstLastPara="1" rIns="59225" wrap="square" tIns="296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4"/>
              <a:buFont typeface="Arial"/>
              <a:buNone/>
            </a:pPr>
            <a:r>
              <a:rPr b="0" i="0" lang="vi" sz="1166" u="none" cap="none" strike="noStrike">
                <a:solidFill>
                  <a:srgbClr val="351C75"/>
                </a:solidFill>
                <a:latin typeface="Arial"/>
                <a:ea typeface="Arial"/>
                <a:cs typeface="Arial"/>
                <a:sym typeface="Arial"/>
              </a:rPr>
              <a:t>Phát triển linh hoạt theo từng vòng lặp.</a:t>
            </a:r>
            <a:endParaRPr b="0" i="0" sz="1166" u="none" cap="none" strike="noStrike">
              <a:solidFill>
                <a:srgbClr val="351C7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4"/>
              <a:buFont typeface="Arial"/>
              <a:buNone/>
            </a:pPr>
            <a:r>
              <a:rPr b="0" i="0" lang="vi" sz="1166" u="none" cap="none" strike="noStrike">
                <a:solidFill>
                  <a:srgbClr val="351C75"/>
                </a:solidFill>
                <a:latin typeface="Arial"/>
                <a:ea typeface="Arial"/>
                <a:cs typeface="Arial"/>
                <a:sym typeface="Arial"/>
              </a:rPr>
              <a:t>Dễ dàng thay đổi theo phản hồi thực tế.</a:t>
            </a:r>
            <a:endParaRPr b="0" i="0" sz="1166" u="none" cap="none" strike="noStrike">
              <a:solidFill>
                <a:srgbClr val="351C7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0"/>
          <p:cNvSpPr/>
          <p:nvPr/>
        </p:nvSpPr>
        <p:spPr>
          <a:xfrm>
            <a:off x="5043666" y="1280859"/>
            <a:ext cx="803652" cy="683165"/>
          </a:xfrm>
          <a:custGeom>
            <a:rect b="b" l="l" r="r" t="t"/>
            <a:pathLst>
              <a:path extrusionOk="0" h="2705602" w="2571686">
                <a:moveTo>
                  <a:pt x="0" y="0"/>
                </a:moveTo>
                <a:lnTo>
                  <a:pt x="2571686" y="0"/>
                </a:lnTo>
                <a:lnTo>
                  <a:pt x="2571686" y="2705602"/>
                </a:lnTo>
                <a:lnTo>
                  <a:pt x="0" y="27056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6" name="Google Shape;146;p20"/>
          <p:cNvSpPr/>
          <p:nvPr/>
        </p:nvSpPr>
        <p:spPr>
          <a:xfrm>
            <a:off x="3425889" y="1280706"/>
            <a:ext cx="804154" cy="689954"/>
          </a:xfrm>
          <a:custGeom>
            <a:rect b="b" l="l" r="r" t="t"/>
            <a:pathLst>
              <a:path extrusionOk="0" h="2280841" w="2188175">
                <a:moveTo>
                  <a:pt x="0" y="0"/>
                </a:moveTo>
                <a:lnTo>
                  <a:pt x="2188175" y="0"/>
                </a:lnTo>
                <a:lnTo>
                  <a:pt x="2188175" y="2280841"/>
                </a:lnTo>
                <a:lnTo>
                  <a:pt x="0" y="22808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7" name="Google Shape;147;p20"/>
          <p:cNvSpPr/>
          <p:nvPr/>
        </p:nvSpPr>
        <p:spPr>
          <a:xfrm>
            <a:off x="6561239" y="1281539"/>
            <a:ext cx="806281" cy="688277"/>
          </a:xfrm>
          <a:custGeom>
            <a:rect b="b" l="l" r="r" t="t"/>
            <a:pathLst>
              <a:path extrusionOk="0" h="2275297" w="2193961">
                <a:moveTo>
                  <a:pt x="0" y="0"/>
                </a:moveTo>
                <a:lnTo>
                  <a:pt x="2193962" y="0"/>
                </a:lnTo>
                <a:lnTo>
                  <a:pt x="2193962" y="2275297"/>
                </a:lnTo>
                <a:lnTo>
                  <a:pt x="0" y="22752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8" name="Google Shape;148;p20"/>
          <p:cNvSpPr/>
          <p:nvPr/>
        </p:nvSpPr>
        <p:spPr>
          <a:xfrm>
            <a:off x="1830155" y="1359239"/>
            <a:ext cx="1013274" cy="1643905"/>
          </a:xfrm>
          <a:custGeom>
            <a:rect b="b" l="l" r="r" t="t"/>
            <a:pathLst>
              <a:path extrusionOk="0" h="3321020" w="2342829">
                <a:moveTo>
                  <a:pt x="0" y="0"/>
                </a:moveTo>
                <a:lnTo>
                  <a:pt x="2342829" y="0"/>
                </a:lnTo>
                <a:lnTo>
                  <a:pt x="2342829" y="3321020"/>
                </a:lnTo>
                <a:lnTo>
                  <a:pt x="0" y="33210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9" name="Google Shape;149;p20"/>
          <p:cNvSpPr/>
          <p:nvPr/>
        </p:nvSpPr>
        <p:spPr>
          <a:xfrm>
            <a:off x="3457070" y="2919149"/>
            <a:ext cx="807583" cy="683354"/>
          </a:xfrm>
          <a:custGeom>
            <a:rect b="b" l="l" r="r" t="t"/>
            <a:pathLst>
              <a:path extrusionOk="0" h="2653803" w="1981800">
                <a:moveTo>
                  <a:pt x="0" y="0"/>
                </a:moveTo>
                <a:lnTo>
                  <a:pt x="1981800" y="0"/>
                </a:lnTo>
                <a:lnTo>
                  <a:pt x="1981800" y="2653803"/>
                </a:lnTo>
                <a:lnTo>
                  <a:pt x="0" y="26538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0" name="Google Shape;150;p20"/>
          <p:cNvSpPr/>
          <p:nvPr/>
        </p:nvSpPr>
        <p:spPr>
          <a:xfrm>
            <a:off x="6640525" y="2896294"/>
            <a:ext cx="708688" cy="689881"/>
          </a:xfrm>
          <a:custGeom>
            <a:rect b="b" l="l" r="r" t="t"/>
            <a:pathLst>
              <a:path extrusionOk="0" h="2935665" w="1889835">
                <a:moveTo>
                  <a:pt x="0" y="0"/>
                </a:moveTo>
                <a:lnTo>
                  <a:pt x="1889835" y="0"/>
                </a:lnTo>
                <a:lnTo>
                  <a:pt x="1889835" y="2935665"/>
                </a:lnTo>
                <a:lnTo>
                  <a:pt x="0" y="29356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1" name="Google Shape;151;p20"/>
          <p:cNvSpPr/>
          <p:nvPr/>
        </p:nvSpPr>
        <p:spPr>
          <a:xfrm>
            <a:off x="5043319" y="2870197"/>
            <a:ext cx="709600" cy="685063"/>
          </a:xfrm>
          <a:custGeom>
            <a:rect b="b" l="l" r="r" t="t"/>
            <a:pathLst>
              <a:path extrusionOk="0" h="2713121" w="1631264">
                <a:moveTo>
                  <a:pt x="0" y="0"/>
                </a:moveTo>
                <a:lnTo>
                  <a:pt x="1631264" y="0"/>
                </a:lnTo>
                <a:lnTo>
                  <a:pt x="1631264" y="2713121"/>
                </a:lnTo>
                <a:lnTo>
                  <a:pt x="0" y="27131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2" name="Google Shape;152;p20"/>
          <p:cNvSpPr txBox="1"/>
          <p:nvPr/>
        </p:nvSpPr>
        <p:spPr>
          <a:xfrm>
            <a:off x="1135500" y="492774"/>
            <a:ext cx="6873000" cy="4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57"/>
              <a:buFont typeface="Arial"/>
              <a:buNone/>
            </a:pPr>
            <a:r>
              <a:rPr b="1" i="0" lang="vi" sz="2757" u="none" cap="none" strike="noStrike">
                <a:solidFill>
                  <a:srgbClr val="351C75"/>
                </a:solidFill>
                <a:latin typeface="Arial"/>
                <a:ea typeface="Arial"/>
                <a:cs typeface="Arial"/>
                <a:sym typeface="Arial"/>
              </a:rPr>
              <a:t>Các vai trò “tiêu biểu” trong dự án</a:t>
            </a:r>
            <a:endParaRPr b="0" i="0" sz="117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20"/>
          <p:cNvSpPr txBox="1"/>
          <p:nvPr/>
        </p:nvSpPr>
        <p:spPr>
          <a:xfrm>
            <a:off x="2088174" y="3176386"/>
            <a:ext cx="497700" cy="3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63000" lIns="63000" spcFirstLastPara="1" rIns="63000" wrap="square" tIns="63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4"/>
              <a:buFont typeface="Arial"/>
              <a:buNone/>
            </a:pPr>
            <a:r>
              <a:rPr b="1" i="0" lang="vi" sz="1654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PM</a:t>
            </a:r>
            <a:endParaRPr b="1" i="0" sz="1654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4" name="Google Shape;154;p20"/>
          <p:cNvSpPr txBox="1"/>
          <p:nvPr/>
        </p:nvSpPr>
        <p:spPr>
          <a:xfrm>
            <a:off x="3527324" y="1967714"/>
            <a:ext cx="603300" cy="3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63000" lIns="63000" spcFirstLastPara="1" rIns="63000" wrap="square" tIns="63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4"/>
              <a:buFont typeface="Arial"/>
              <a:buNone/>
            </a:pPr>
            <a:r>
              <a:rPr b="1" i="0" lang="vi" sz="1654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BrSE</a:t>
            </a:r>
            <a:endParaRPr b="1" i="0" sz="1654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5" name="Google Shape;155;p20"/>
          <p:cNvSpPr txBox="1"/>
          <p:nvPr/>
        </p:nvSpPr>
        <p:spPr>
          <a:xfrm>
            <a:off x="5226146" y="1967714"/>
            <a:ext cx="497700" cy="3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63000" lIns="63000" spcFirstLastPara="1" rIns="63000" wrap="square" tIns="63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4"/>
              <a:buFont typeface="Arial"/>
              <a:buNone/>
            </a:pPr>
            <a:r>
              <a:rPr b="1" i="0" lang="vi" sz="1654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BA</a:t>
            </a:r>
            <a:endParaRPr b="1" i="0" sz="1654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6" name="Google Shape;156;p20"/>
          <p:cNvSpPr txBox="1"/>
          <p:nvPr/>
        </p:nvSpPr>
        <p:spPr>
          <a:xfrm>
            <a:off x="6410915" y="1967715"/>
            <a:ext cx="1253100" cy="3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63000" lIns="63000" spcFirstLastPara="1" rIns="63000" wrap="square" tIns="63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4"/>
              <a:buFont typeface="Arial"/>
              <a:buNone/>
            </a:pPr>
            <a:r>
              <a:rPr b="1" i="0" lang="vi" sz="1654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DESIGNER </a:t>
            </a:r>
            <a:endParaRPr b="1" i="0" sz="1654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7" name="Google Shape;157;p20"/>
          <p:cNvSpPr txBox="1"/>
          <p:nvPr/>
        </p:nvSpPr>
        <p:spPr>
          <a:xfrm>
            <a:off x="4953108" y="3582346"/>
            <a:ext cx="862500" cy="3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63000" lIns="63000" spcFirstLastPara="1" rIns="63000" wrap="square" tIns="63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4"/>
              <a:buFont typeface="Arial"/>
              <a:buNone/>
            </a:pPr>
            <a:r>
              <a:rPr b="1" i="0" lang="vi" sz="1654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TESTER</a:t>
            </a:r>
            <a:endParaRPr b="1" i="0" sz="1654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8" name="Google Shape;158;p20"/>
          <p:cNvSpPr txBox="1"/>
          <p:nvPr/>
        </p:nvSpPr>
        <p:spPr>
          <a:xfrm>
            <a:off x="6508721" y="3582343"/>
            <a:ext cx="1253100" cy="3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63000" lIns="63000" spcFirstLastPara="1" rIns="63000" wrap="square" tIns="63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4"/>
              <a:buFont typeface="Arial"/>
              <a:buNone/>
            </a:pPr>
            <a:r>
              <a:rPr b="1" i="0" lang="vi" sz="1654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COMTOR</a:t>
            </a:r>
            <a:endParaRPr b="1" i="0" sz="1654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9" name="Google Shape;159;p20"/>
          <p:cNvSpPr txBox="1"/>
          <p:nvPr/>
        </p:nvSpPr>
        <p:spPr>
          <a:xfrm>
            <a:off x="3602948" y="3604693"/>
            <a:ext cx="603300" cy="3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63000" lIns="63000" spcFirstLastPara="1" rIns="63000" wrap="square" tIns="63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4"/>
              <a:buFont typeface="Arial"/>
              <a:buNone/>
            </a:pPr>
            <a:r>
              <a:rPr b="1" i="0" lang="vi" sz="1654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DEV</a:t>
            </a:r>
            <a:endParaRPr b="1" i="0" sz="1654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0" name="Google Shape;160;p20"/>
          <p:cNvSpPr/>
          <p:nvPr/>
        </p:nvSpPr>
        <p:spPr>
          <a:xfrm>
            <a:off x="1628673" y="3484040"/>
            <a:ext cx="1416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5"/>
              <a:buFont typeface="Arial"/>
              <a:buNone/>
            </a:pPr>
            <a:r>
              <a:rPr b="0" i="0" lang="vi" sz="1240" u="none" cap="none" strike="noStrike">
                <a:solidFill>
                  <a:srgbClr val="351C75"/>
                </a:solidFill>
                <a:latin typeface="Arial"/>
                <a:ea typeface="Arial"/>
                <a:cs typeface="Arial"/>
                <a:sym typeface="Arial"/>
              </a:rPr>
              <a:t>Quản lý dự án</a:t>
            </a:r>
            <a:endParaRPr b="0" i="0" sz="1240" u="none" cap="none" strike="noStrike">
              <a:solidFill>
                <a:srgbClr val="351C7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5"/>
              <a:buFont typeface="Arial"/>
              <a:buNone/>
            </a:pPr>
            <a:r>
              <a:rPr b="0" i="0" lang="vi" sz="1240" u="none" cap="none" strike="noStrike">
                <a:solidFill>
                  <a:srgbClr val="351C75"/>
                </a:solidFill>
                <a:latin typeface="Arial"/>
                <a:ea typeface="Arial"/>
                <a:cs typeface="Arial"/>
                <a:sym typeface="Arial"/>
              </a:rPr>
              <a:t>(Project Manager)</a:t>
            </a:r>
            <a:endParaRPr b="0" i="0" sz="1240" u="none" cap="none" strike="noStrike">
              <a:solidFill>
                <a:srgbClr val="351C7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5"/>
              <a:buFont typeface="Arial"/>
              <a:buNone/>
            </a:pPr>
            <a:r>
              <a:t/>
            </a:r>
            <a:endParaRPr b="0" i="0" sz="1240" u="none" cap="none" strike="noStrike">
              <a:solidFill>
                <a:srgbClr val="351C7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20"/>
          <p:cNvSpPr txBox="1"/>
          <p:nvPr/>
        </p:nvSpPr>
        <p:spPr>
          <a:xfrm>
            <a:off x="3427048" y="3842727"/>
            <a:ext cx="862500" cy="4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63000" lIns="63000" spcFirstLastPara="1" rIns="63000" wrap="square" tIns="630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7"/>
              <a:buFont typeface="Arial"/>
              <a:buNone/>
            </a:pPr>
            <a:r>
              <a:rPr b="0" i="0" lang="vi" sz="827" u="none" cap="none" strike="noStrike">
                <a:solidFill>
                  <a:srgbClr val="351C75"/>
                </a:solidFill>
                <a:latin typeface="Arial"/>
                <a:ea typeface="Arial"/>
                <a:cs typeface="Arial"/>
                <a:sym typeface="Arial"/>
              </a:rPr>
              <a:t>Lập trình viên </a:t>
            </a:r>
            <a:endParaRPr b="0" i="0" sz="827" u="none" cap="none" strike="noStrike">
              <a:solidFill>
                <a:srgbClr val="351C7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7"/>
              <a:buFont typeface="Arial"/>
              <a:buNone/>
            </a:pPr>
            <a:r>
              <a:rPr b="0" i="0" lang="vi" sz="827" u="none" cap="none" strike="noStrike">
                <a:solidFill>
                  <a:srgbClr val="351C75"/>
                </a:solidFill>
                <a:latin typeface="Arial"/>
                <a:ea typeface="Arial"/>
                <a:cs typeface="Arial"/>
                <a:sym typeface="Arial"/>
              </a:rPr>
              <a:t>(Developer)</a:t>
            </a:r>
            <a:endParaRPr b="0" i="0" sz="82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20"/>
          <p:cNvSpPr txBox="1"/>
          <p:nvPr/>
        </p:nvSpPr>
        <p:spPr>
          <a:xfrm>
            <a:off x="4872415" y="2221038"/>
            <a:ext cx="1108800" cy="4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63000" lIns="63000" spcFirstLastPara="1" rIns="63000" wrap="square" tIns="630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5"/>
              <a:buFont typeface="Arial"/>
              <a:buNone/>
            </a:pPr>
            <a:r>
              <a:rPr b="0" i="0" lang="vi" sz="827" u="none" cap="none" strike="noStrike">
                <a:solidFill>
                  <a:srgbClr val="351C75"/>
                </a:solidFill>
                <a:latin typeface="Arial"/>
                <a:ea typeface="Arial"/>
                <a:cs typeface="Arial"/>
                <a:sym typeface="Arial"/>
              </a:rPr>
              <a:t>Phân tích nghiệp vụ</a:t>
            </a:r>
            <a:endParaRPr b="0" i="0" sz="827" u="none" cap="none" strike="noStrike">
              <a:solidFill>
                <a:srgbClr val="351C7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7"/>
              <a:buFont typeface="Arial"/>
              <a:buNone/>
            </a:pPr>
            <a:r>
              <a:rPr b="0" i="0" lang="vi" sz="827" u="none" cap="none" strike="noStrike">
                <a:solidFill>
                  <a:srgbClr val="351C75"/>
                </a:solidFill>
                <a:latin typeface="Arial"/>
                <a:ea typeface="Arial"/>
                <a:cs typeface="Arial"/>
                <a:sym typeface="Arial"/>
              </a:rPr>
              <a:t>(Business Analyst)</a:t>
            </a:r>
            <a:endParaRPr b="0" i="0" sz="827" u="none" cap="none" strike="noStrike">
              <a:solidFill>
                <a:srgbClr val="351C7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20"/>
          <p:cNvSpPr txBox="1"/>
          <p:nvPr/>
        </p:nvSpPr>
        <p:spPr>
          <a:xfrm>
            <a:off x="3427048" y="2221038"/>
            <a:ext cx="862500" cy="2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63000" lIns="63000" spcFirstLastPara="1" rIns="63000" wrap="square" tIns="630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7"/>
              <a:buFont typeface="Arial"/>
              <a:buNone/>
            </a:pPr>
            <a:r>
              <a:rPr b="0" i="0" lang="vi" sz="827" u="none" cap="none" strike="noStrike">
                <a:solidFill>
                  <a:srgbClr val="351C75"/>
                </a:solidFill>
                <a:latin typeface="Arial"/>
                <a:ea typeface="Arial"/>
                <a:cs typeface="Arial"/>
                <a:sym typeface="Arial"/>
              </a:rPr>
              <a:t>Kỹ sư cầu nối</a:t>
            </a:r>
            <a:endParaRPr b="0" i="0" sz="82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4872415" y="3820381"/>
            <a:ext cx="1108800" cy="4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63000" lIns="63000" spcFirstLastPara="1" rIns="63000" wrap="square" tIns="630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7"/>
              <a:buFont typeface="Arial"/>
              <a:buNone/>
            </a:pPr>
            <a:r>
              <a:rPr b="0" i="0" lang="vi" sz="827" u="none" cap="none" strike="noStrike">
                <a:solidFill>
                  <a:srgbClr val="351C75"/>
                </a:solidFill>
                <a:latin typeface="Arial"/>
                <a:ea typeface="Arial"/>
                <a:cs typeface="Arial"/>
                <a:sym typeface="Arial"/>
              </a:rPr>
              <a:t>Nhân viên kiểm thử</a:t>
            </a:r>
            <a:endParaRPr b="0" i="0" sz="827" u="none" cap="none" strike="noStrike">
              <a:solidFill>
                <a:srgbClr val="351C7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7"/>
              <a:buFont typeface="Arial"/>
              <a:buNone/>
            </a:pPr>
            <a:r>
              <a:rPr b="0" i="0" lang="vi" sz="827" u="none" cap="none" strike="noStrike">
                <a:solidFill>
                  <a:srgbClr val="351C75"/>
                </a:solidFill>
                <a:latin typeface="Arial"/>
                <a:ea typeface="Arial"/>
                <a:cs typeface="Arial"/>
                <a:sym typeface="Arial"/>
              </a:rPr>
              <a:t>(QA, QC)</a:t>
            </a:r>
            <a:endParaRPr b="0" i="0" sz="827" u="none" cap="none" strike="noStrike">
              <a:solidFill>
                <a:srgbClr val="351C7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20"/>
          <p:cNvSpPr txBox="1"/>
          <p:nvPr/>
        </p:nvSpPr>
        <p:spPr>
          <a:xfrm>
            <a:off x="6425988" y="3820381"/>
            <a:ext cx="1108800" cy="4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63000" lIns="63000" spcFirstLastPara="1" rIns="63000" wrap="square" tIns="630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5"/>
              <a:buFont typeface="Arial"/>
              <a:buNone/>
            </a:pPr>
            <a:r>
              <a:rPr b="0" i="0" lang="vi" sz="827" u="none" cap="none" strike="noStrike">
                <a:solidFill>
                  <a:srgbClr val="351C75"/>
                </a:solidFill>
                <a:latin typeface="Arial"/>
                <a:ea typeface="Arial"/>
                <a:cs typeface="Arial"/>
                <a:sym typeface="Arial"/>
              </a:rPr>
              <a:t>Phiên dịch viên</a:t>
            </a:r>
            <a:endParaRPr b="0" i="0" sz="827" u="none" cap="none" strike="noStrike">
              <a:solidFill>
                <a:srgbClr val="351C7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5"/>
              <a:buFont typeface="Arial"/>
              <a:buNone/>
            </a:pPr>
            <a:r>
              <a:rPr b="0" i="0" lang="vi" sz="827" u="none" cap="none" strike="noStrike">
                <a:solidFill>
                  <a:srgbClr val="351C75"/>
                </a:solidFill>
                <a:latin typeface="Arial"/>
                <a:ea typeface="Arial"/>
                <a:cs typeface="Arial"/>
                <a:sym typeface="Arial"/>
              </a:rPr>
              <a:t>(Communicator)</a:t>
            </a:r>
            <a:endParaRPr b="0" i="0" sz="827" u="none" cap="none" strike="noStrike">
              <a:solidFill>
                <a:srgbClr val="351C7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20"/>
          <p:cNvSpPr txBox="1"/>
          <p:nvPr/>
        </p:nvSpPr>
        <p:spPr>
          <a:xfrm>
            <a:off x="6410921" y="2221030"/>
            <a:ext cx="1108800" cy="4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63000" lIns="63000" spcFirstLastPara="1" rIns="63000" wrap="square" tIns="630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7"/>
              <a:buFont typeface="Arial"/>
              <a:buNone/>
            </a:pPr>
            <a:r>
              <a:rPr b="0" i="0" lang="vi" sz="827" u="none" cap="none" strike="noStrike">
                <a:solidFill>
                  <a:srgbClr val="351C75"/>
                </a:solidFill>
                <a:latin typeface="Arial"/>
                <a:ea typeface="Arial"/>
                <a:cs typeface="Arial"/>
                <a:sym typeface="Arial"/>
              </a:rPr>
              <a:t>Phụ trách thiết kế</a:t>
            </a:r>
            <a:endParaRPr b="0" i="0" sz="827" u="none" cap="none" strike="noStrike">
              <a:solidFill>
                <a:srgbClr val="351C7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7"/>
              <a:buFont typeface="Arial"/>
              <a:buNone/>
            </a:pPr>
            <a:r>
              <a:rPr b="0" i="0" lang="vi" sz="827" u="none" cap="none" strike="noStrike">
                <a:solidFill>
                  <a:srgbClr val="351C75"/>
                </a:solidFill>
                <a:latin typeface="Arial"/>
                <a:ea typeface="Arial"/>
                <a:cs typeface="Arial"/>
                <a:sym typeface="Arial"/>
              </a:rPr>
              <a:t>UI UX</a:t>
            </a:r>
            <a:endParaRPr b="0" i="0" sz="827" u="none" cap="none" strike="noStrike">
              <a:solidFill>
                <a:srgbClr val="351C7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1"/>
          <p:cNvSpPr txBox="1"/>
          <p:nvPr/>
        </p:nvSpPr>
        <p:spPr>
          <a:xfrm>
            <a:off x="160950" y="1934500"/>
            <a:ext cx="8822100" cy="661200"/>
          </a:xfrm>
          <a:prstGeom prst="rect">
            <a:avLst/>
          </a:prstGeom>
          <a:solidFill>
            <a:srgbClr val="CA2F47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3600">
                <a:solidFill>
                  <a:schemeClr val="lt1"/>
                </a:solidFill>
              </a:rPr>
              <a:t>Công việc của IT Comtor</a:t>
            </a:r>
            <a:endParaRPr b="1" sz="36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2"/>
          <p:cNvSpPr/>
          <p:nvPr/>
        </p:nvSpPr>
        <p:spPr>
          <a:xfrm>
            <a:off x="1876124" y="3861719"/>
            <a:ext cx="19773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89"/>
              <a:buFont typeface="Arial"/>
              <a:buNone/>
            </a:pPr>
            <a:r>
              <a:rPr b="1" i="0" lang="vi" sz="1533" u="none" cap="none" strike="noStrike">
                <a:solidFill>
                  <a:srgbClr val="351C75"/>
                </a:solidFill>
                <a:latin typeface="Arial"/>
                <a:ea typeface="Arial"/>
                <a:cs typeface="Arial"/>
                <a:sym typeface="Arial"/>
              </a:rPr>
              <a:t>Giao tiếp khách hàng</a:t>
            </a:r>
            <a:endParaRPr b="1" i="0" sz="1533" u="none" cap="none" strike="noStrike">
              <a:solidFill>
                <a:srgbClr val="351C7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2"/>
          <p:cNvSpPr/>
          <p:nvPr/>
        </p:nvSpPr>
        <p:spPr>
          <a:xfrm>
            <a:off x="5589814" y="3881362"/>
            <a:ext cx="15864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89"/>
              <a:buFont typeface="Arial"/>
              <a:buNone/>
            </a:pPr>
            <a:r>
              <a:rPr b="1" i="0" lang="vi" sz="1533" u="none" cap="none" strike="noStrike">
                <a:solidFill>
                  <a:srgbClr val="351C75"/>
                </a:solidFill>
                <a:latin typeface="Arial"/>
                <a:ea typeface="Arial"/>
                <a:cs typeface="Arial"/>
                <a:sym typeface="Arial"/>
              </a:rPr>
              <a:t>Biên dịch tài liệu</a:t>
            </a:r>
            <a:endParaRPr b="1" i="0" sz="1533" u="none" cap="none" strike="noStrike">
              <a:solidFill>
                <a:srgbClr val="351C7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2"/>
          <p:cNvSpPr txBox="1"/>
          <p:nvPr/>
        </p:nvSpPr>
        <p:spPr>
          <a:xfrm>
            <a:off x="989100" y="639125"/>
            <a:ext cx="71658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3386">
                <a:solidFill>
                  <a:srgbClr val="08005F"/>
                </a:solidFill>
              </a:rPr>
              <a:t>Công việc của IT Comtor</a:t>
            </a:r>
            <a:endParaRPr b="1" sz="3194">
              <a:solidFill>
                <a:srgbClr val="351C75"/>
              </a:solidFill>
            </a:endParaRPr>
          </a:p>
        </p:txBody>
      </p:sp>
      <p:pic>
        <p:nvPicPr>
          <p:cNvPr id="179" name="Google Shape;179;p22" title="Người phiên dịch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12809" y="1432884"/>
            <a:ext cx="2903785" cy="21778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2" title="dịch tài liệu.jp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31115" y="1432889"/>
            <a:ext cx="2903786" cy="21778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3"/>
          <p:cNvSpPr/>
          <p:nvPr/>
        </p:nvSpPr>
        <p:spPr>
          <a:xfrm>
            <a:off x="1115728" y="1566506"/>
            <a:ext cx="6427500" cy="24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73870" lvl="0" marL="298768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1960"/>
              <a:buFont typeface="Arial"/>
              <a:buChar char="-"/>
            </a:pPr>
            <a:r>
              <a:rPr b="0" i="0" lang="vi" sz="1960" u="none" cap="none" strike="noStrike">
                <a:solidFill>
                  <a:srgbClr val="351C75"/>
                </a:solidFill>
                <a:latin typeface="Arial"/>
                <a:ea typeface="Arial"/>
                <a:cs typeface="Arial"/>
                <a:sym typeface="Arial"/>
              </a:rPr>
              <a:t>Giao tiếp trực tiếp (</a:t>
            </a:r>
            <a:r>
              <a:rPr lang="vi" sz="1960">
                <a:solidFill>
                  <a:srgbClr val="351C75"/>
                </a:solidFill>
              </a:rPr>
              <a:t>họp trực tiếp, mặt đối mặt, customer care…</a:t>
            </a:r>
            <a:r>
              <a:rPr b="0" i="0" lang="vi" sz="1960" u="none" cap="none" strike="noStrike">
                <a:solidFill>
                  <a:srgbClr val="351C75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960" u="none" cap="none" strike="noStrike">
              <a:solidFill>
                <a:srgbClr val="351C7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3870" lvl="0" marL="298768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1960"/>
              <a:buFont typeface="Arial"/>
              <a:buChar char="-"/>
            </a:pPr>
            <a:r>
              <a:rPr b="0" i="0" lang="vi" sz="1960" u="none" cap="none" strike="noStrike">
                <a:solidFill>
                  <a:srgbClr val="351C75"/>
                </a:solidFill>
                <a:latin typeface="Arial"/>
                <a:ea typeface="Arial"/>
                <a:cs typeface="Arial"/>
                <a:sym typeface="Arial"/>
              </a:rPr>
              <a:t>Giao tiếp qua Video (</a:t>
            </a:r>
            <a:r>
              <a:rPr lang="vi" sz="1960">
                <a:solidFill>
                  <a:srgbClr val="351C75"/>
                </a:solidFill>
              </a:rPr>
              <a:t>họp online qua Googlemeet, zoom…)</a:t>
            </a:r>
            <a:endParaRPr b="0" i="0" sz="1960" u="none" cap="none" strike="noStrike">
              <a:solidFill>
                <a:srgbClr val="351C7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3870" lvl="0" marL="298768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1960"/>
              <a:buFont typeface="Arial"/>
              <a:buChar char="-"/>
            </a:pPr>
            <a:r>
              <a:rPr b="0" i="0" lang="vi" sz="1960" u="none" cap="none" strike="noStrike">
                <a:solidFill>
                  <a:srgbClr val="351C75"/>
                </a:solidFill>
                <a:latin typeface="Arial"/>
                <a:ea typeface="Arial"/>
                <a:cs typeface="Arial"/>
                <a:sym typeface="Arial"/>
              </a:rPr>
              <a:t>Giao tiếp qua </a:t>
            </a:r>
            <a:r>
              <a:rPr lang="vi" sz="1960">
                <a:solidFill>
                  <a:srgbClr val="351C75"/>
                </a:solidFill>
              </a:rPr>
              <a:t>c</a:t>
            </a:r>
            <a:r>
              <a:rPr b="0" i="0" lang="vi" sz="1960" u="none" cap="none" strike="noStrike">
                <a:solidFill>
                  <a:srgbClr val="351C75"/>
                </a:solidFill>
                <a:latin typeface="Arial"/>
                <a:ea typeface="Arial"/>
                <a:cs typeface="Arial"/>
                <a:sym typeface="Arial"/>
              </a:rPr>
              <a:t>hat</a:t>
            </a:r>
            <a:r>
              <a:rPr lang="vi" sz="1960">
                <a:solidFill>
                  <a:srgbClr val="351C75"/>
                </a:solidFill>
              </a:rPr>
              <a:t> (Slack, Teams, Chatwork…)</a:t>
            </a:r>
            <a:endParaRPr b="0" i="0" sz="1960" u="none" cap="none" strike="noStrike">
              <a:solidFill>
                <a:srgbClr val="351C7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3870" lvl="0" marL="298768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1960"/>
              <a:buFont typeface="Arial"/>
              <a:buChar char="-"/>
            </a:pPr>
            <a:r>
              <a:rPr b="0" i="0" lang="vi" sz="1960" u="none" cap="none" strike="noStrike">
                <a:solidFill>
                  <a:srgbClr val="351C75"/>
                </a:solidFill>
                <a:latin typeface="Arial"/>
                <a:ea typeface="Arial"/>
                <a:cs typeface="Arial"/>
                <a:sym typeface="Arial"/>
              </a:rPr>
              <a:t>Giao tiếp qua email (g</a:t>
            </a:r>
            <a:r>
              <a:rPr lang="vi" sz="1960">
                <a:solidFill>
                  <a:srgbClr val="351C75"/>
                </a:solidFill>
              </a:rPr>
              <a:t>ửi thư điện tử)</a:t>
            </a:r>
            <a:endParaRPr b="0" i="0" sz="1960" u="none" cap="none" strike="noStrike">
              <a:solidFill>
                <a:srgbClr val="351C7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23"/>
          <p:cNvSpPr/>
          <p:nvPr/>
        </p:nvSpPr>
        <p:spPr>
          <a:xfrm>
            <a:off x="737025" y="549084"/>
            <a:ext cx="4736700" cy="719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30"/>
              <a:buFont typeface="Arial"/>
              <a:buNone/>
            </a:pPr>
            <a:r>
              <a:rPr b="1" i="0" lang="vi" sz="2614" u="none" cap="none" strike="noStrike">
                <a:solidFill>
                  <a:srgbClr val="351C75"/>
                </a:solidFill>
                <a:latin typeface="Arial"/>
                <a:ea typeface="Arial"/>
                <a:cs typeface="Arial"/>
                <a:sym typeface="Arial"/>
              </a:rPr>
              <a:t>Giao tiếp khách hàng</a:t>
            </a:r>
            <a:endParaRPr b="1" i="0" sz="2614" u="none" cap="none" strike="noStrike">
              <a:solidFill>
                <a:srgbClr val="351C7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4"/>
          <p:cNvSpPr txBox="1"/>
          <p:nvPr/>
        </p:nvSpPr>
        <p:spPr>
          <a:xfrm>
            <a:off x="816582" y="699022"/>
            <a:ext cx="7118100" cy="4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37"/>
              <a:buFont typeface="Manrope ExtraBold"/>
              <a:buNone/>
            </a:pPr>
            <a:r>
              <a:rPr b="1" lang="vi" sz="2690">
                <a:solidFill>
                  <a:srgbClr val="351C75"/>
                </a:solidFill>
              </a:rPr>
              <a:t>Biên dịch tài liệu</a:t>
            </a:r>
            <a:endParaRPr b="1" i="0" sz="1681" u="none" cap="none" strike="noStrike">
              <a:solidFill>
                <a:srgbClr val="19191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24"/>
          <p:cNvSpPr/>
          <p:nvPr/>
        </p:nvSpPr>
        <p:spPr>
          <a:xfrm>
            <a:off x="1891067" y="1889875"/>
            <a:ext cx="312600" cy="31800"/>
          </a:xfrm>
          <a:prstGeom prst="roundRect">
            <a:avLst>
              <a:gd fmla="val 50000" name="adj"/>
            </a:avLst>
          </a:prstGeom>
          <a:solidFill>
            <a:srgbClr val="A7291E"/>
          </a:solidFill>
          <a:ln>
            <a:noFill/>
          </a:ln>
        </p:spPr>
        <p:txBody>
          <a:bodyPr anchorCtr="0" anchor="ctr" bIns="81975" lIns="81975" spcFirstLastPara="1" rIns="81975" wrap="square" tIns="81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3" name="Google Shape;193;p24"/>
          <p:cNvGrpSpPr/>
          <p:nvPr/>
        </p:nvGrpSpPr>
        <p:grpSpPr>
          <a:xfrm>
            <a:off x="727823" y="1627856"/>
            <a:ext cx="1263544" cy="1639281"/>
            <a:chOff x="519875" y="1948510"/>
            <a:chExt cx="1376710" cy="1897975"/>
          </a:xfrm>
        </p:grpSpPr>
        <p:sp>
          <p:nvSpPr>
            <p:cNvPr id="194" name="Google Shape;194;p24"/>
            <p:cNvSpPr/>
            <p:nvPr/>
          </p:nvSpPr>
          <p:spPr>
            <a:xfrm>
              <a:off x="877947" y="1948510"/>
              <a:ext cx="594300" cy="594300"/>
            </a:xfrm>
            <a:prstGeom prst="ellipse">
              <a:avLst/>
            </a:prstGeom>
            <a:noFill/>
            <a:ln cap="flat" cmpd="sng" w="25625">
              <a:solidFill>
                <a:srgbClr val="A7291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1975" lIns="81975" spcFirstLastPara="1" rIns="81975" wrap="square" tIns="81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45"/>
            </a:p>
          </p:txBody>
        </p:sp>
        <p:sp>
          <p:nvSpPr>
            <p:cNvPr id="195" name="Google Shape;195;p24"/>
            <p:cNvSpPr txBox="1"/>
            <p:nvPr/>
          </p:nvSpPr>
          <p:spPr>
            <a:xfrm>
              <a:off x="956697" y="2109685"/>
              <a:ext cx="436800" cy="32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1975" lIns="81975" spcFirstLastPara="1" rIns="81975" wrap="square" tIns="8197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412"/>
                </a:spcAft>
                <a:buNone/>
              </a:pPr>
              <a:r>
                <a:rPr b="1" lang="vi" sz="1345">
                  <a:solidFill>
                    <a:srgbClr val="A7291E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b="1" sz="1345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6" name="Google Shape;196;p24"/>
            <p:cNvSpPr txBox="1"/>
            <p:nvPr/>
          </p:nvSpPr>
          <p:spPr>
            <a:xfrm>
              <a:off x="519885" y="2652294"/>
              <a:ext cx="13767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81975" lIns="81975" spcFirstLastPara="1" rIns="81975" wrap="square" tIns="8197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vi" sz="1345">
                  <a:solidFill>
                    <a:srgbClr val="A7291E"/>
                  </a:solidFill>
                  <a:latin typeface="Roboto"/>
                  <a:ea typeface="Roboto"/>
                  <a:cs typeface="Roboto"/>
                  <a:sym typeface="Roboto"/>
                </a:rPr>
                <a:t>Requirements</a:t>
              </a:r>
              <a:endParaRPr b="1" sz="1345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7" name="Google Shape;197;p24"/>
            <p:cNvSpPr txBox="1"/>
            <p:nvPr/>
          </p:nvSpPr>
          <p:spPr>
            <a:xfrm>
              <a:off x="519875" y="3109085"/>
              <a:ext cx="1310400" cy="73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1975" lIns="81975" spcFirstLastPara="1" rIns="81975" wrap="square" tIns="81975">
              <a:noAutofit/>
            </a:bodyPr>
            <a:lstStyle/>
            <a:p>
              <a:pPr indent="-213538" lvl="0" marL="307495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51C75"/>
                </a:buClr>
                <a:buSzPts val="942"/>
                <a:buChar char="-"/>
              </a:pPr>
              <a:r>
                <a:rPr lang="vi" sz="942">
                  <a:solidFill>
                    <a:srgbClr val="351C75"/>
                  </a:solidFill>
                </a:rPr>
                <a:t>Tài liệu yêu cầu</a:t>
              </a:r>
              <a:endParaRPr sz="942">
                <a:solidFill>
                  <a:srgbClr val="351C75"/>
                </a:solidFill>
              </a:endParaRPr>
            </a:p>
            <a:p>
              <a:pPr indent="-213538" lvl="0" marL="307495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51C75"/>
                </a:buClr>
                <a:buSzPts val="942"/>
                <a:buChar char="-"/>
              </a:pPr>
              <a:r>
                <a:rPr lang="vi" sz="942">
                  <a:solidFill>
                    <a:srgbClr val="351C75"/>
                  </a:solidFill>
                </a:rPr>
                <a:t>Q&amp;A (file, chát, meeting)...</a:t>
              </a:r>
              <a:endParaRPr sz="1345">
                <a:solidFill>
                  <a:srgbClr val="351C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98" name="Google Shape;198;p24"/>
          <p:cNvGrpSpPr/>
          <p:nvPr/>
        </p:nvGrpSpPr>
        <p:grpSpPr>
          <a:xfrm>
            <a:off x="2055554" y="1627858"/>
            <a:ext cx="1158918" cy="1639281"/>
            <a:chOff x="1848940" y="1948510"/>
            <a:chExt cx="1310400" cy="1897975"/>
          </a:xfrm>
        </p:grpSpPr>
        <p:sp>
          <p:nvSpPr>
            <p:cNvPr id="199" name="Google Shape;199;p24"/>
            <p:cNvSpPr/>
            <p:nvPr/>
          </p:nvSpPr>
          <p:spPr>
            <a:xfrm>
              <a:off x="2206990" y="1948510"/>
              <a:ext cx="594300" cy="594300"/>
            </a:xfrm>
            <a:prstGeom prst="ellipse">
              <a:avLst/>
            </a:prstGeom>
            <a:noFill/>
            <a:ln cap="flat" cmpd="sng" w="25625">
              <a:solidFill>
                <a:srgbClr val="A7291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1975" lIns="81975" spcFirstLastPara="1" rIns="81975" wrap="square" tIns="81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45"/>
            </a:p>
          </p:txBody>
        </p:sp>
        <p:sp>
          <p:nvSpPr>
            <p:cNvPr id="200" name="Google Shape;200;p24"/>
            <p:cNvSpPr txBox="1"/>
            <p:nvPr/>
          </p:nvSpPr>
          <p:spPr>
            <a:xfrm>
              <a:off x="1848940" y="2652285"/>
              <a:ext cx="13104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81975" lIns="81975" spcFirstLastPara="1" rIns="81975" wrap="square" tIns="8197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vi" sz="1345">
                  <a:solidFill>
                    <a:srgbClr val="A7291E"/>
                  </a:solidFill>
                  <a:latin typeface="Roboto"/>
                  <a:ea typeface="Roboto"/>
                  <a:cs typeface="Roboto"/>
                  <a:sym typeface="Roboto"/>
                </a:rPr>
                <a:t>Design</a:t>
              </a:r>
              <a:endParaRPr b="1" sz="1345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01" name="Google Shape;201;p24"/>
            <p:cNvSpPr txBox="1"/>
            <p:nvPr/>
          </p:nvSpPr>
          <p:spPr>
            <a:xfrm>
              <a:off x="1848940" y="3109085"/>
              <a:ext cx="1310400" cy="73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1975" lIns="81975" spcFirstLastPara="1" rIns="81975" wrap="square" tIns="81975">
              <a:noAutofit/>
            </a:bodyPr>
            <a:lstStyle/>
            <a:p>
              <a:pPr indent="-213538" lvl="0" marL="307495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51C75"/>
                </a:buClr>
                <a:buSzPts val="942"/>
                <a:buChar char="-"/>
              </a:pPr>
              <a:r>
                <a:rPr lang="vi" sz="942">
                  <a:solidFill>
                    <a:srgbClr val="351C75"/>
                  </a:solidFill>
                  <a:latin typeface="Roboto"/>
                  <a:ea typeface="Roboto"/>
                  <a:cs typeface="Roboto"/>
                  <a:sym typeface="Roboto"/>
                </a:rPr>
                <a:t>T</a:t>
              </a:r>
              <a:r>
                <a:rPr lang="vi" sz="942">
                  <a:solidFill>
                    <a:srgbClr val="351C75"/>
                  </a:solidFill>
                </a:rPr>
                <a:t>ài liệu thiết kế (hệ thống, DB, UI…)</a:t>
              </a:r>
              <a:endParaRPr sz="942">
                <a:solidFill>
                  <a:srgbClr val="351C75"/>
                </a:solidFill>
              </a:endParaRPr>
            </a:p>
            <a:p>
              <a:pPr indent="-213538" lvl="0" marL="307495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51C75"/>
                </a:buClr>
                <a:buSzPts val="942"/>
                <a:buChar char="-"/>
              </a:pPr>
              <a:r>
                <a:rPr lang="vi" sz="942">
                  <a:solidFill>
                    <a:srgbClr val="351C75"/>
                  </a:solidFill>
                </a:rPr>
                <a:t>Q&amp;A…</a:t>
              </a:r>
              <a:endParaRPr sz="942">
                <a:solidFill>
                  <a:srgbClr val="351C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02" name="Google Shape;202;p24"/>
            <p:cNvSpPr txBox="1"/>
            <p:nvPr/>
          </p:nvSpPr>
          <p:spPr>
            <a:xfrm>
              <a:off x="2285740" y="2109685"/>
              <a:ext cx="436800" cy="32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1975" lIns="81975" spcFirstLastPara="1" rIns="81975" wrap="square" tIns="8197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412"/>
                </a:spcAft>
                <a:buNone/>
              </a:pPr>
              <a:r>
                <a:rPr b="1" lang="vi" sz="1345">
                  <a:solidFill>
                    <a:srgbClr val="A7291E"/>
                  </a:solidFill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b="1" sz="1345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03" name="Google Shape;203;p24"/>
          <p:cNvGrpSpPr/>
          <p:nvPr/>
        </p:nvGrpSpPr>
        <p:grpSpPr>
          <a:xfrm>
            <a:off x="3231005" y="1627858"/>
            <a:ext cx="1202697" cy="1639280"/>
            <a:chOff x="3178034" y="1948510"/>
            <a:chExt cx="1359902" cy="1897974"/>
          </a:xfrm>
        </p:grpSpPr>
        <p:sp>
          <p:nvSpPr>
            <p:cNvPr id="204" name="Google Shape;204;p24"/>
            <p:cNvSpPr/>
            <p:nvPr/>
          </p:nvSpPr>
          <p:spPr>
            <a:xfrm>
              <a:off x="3560827" y="1948510"/>
              <a:ext cx="594300" cy="594300"/>
            </a:xfrm>
            <a:prstGeom prst="ellipse">
              <a:avLst/>
            </a:prstGeom>
            <a:noFill/>
            <a:ln cap="flat" cmpd="sng" w="25625">
              <a:solidFill>
                <a:srgbClr val="85858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1975" lIns="81975" spcFirstLastPara="1" rIns="81975" wrap="square" tIns="81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45">
                <a:solidFill>
                  <a:srgbClr val="A64D79"/>
                </a:solidFill>
              </a:endParaRPr>
            </a:p>
          </p:txBody>
        </p:sp>
        <p:sp>
          <p:nvSpPr>
            <p:cNvPr id="205" name="Google Shape;205;p24"/>
            <p:cNvSpPr txBox="1"/>
            <p:nvPr/>
          </p:nvSpPr>
          <p:spPr>
            <a:xfrm>
              <a:off x="3178034" y="2652285"/>
              <a:ext cx="13599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81975" lIns="81975" spcFirstLastPara="1" rIns="81975" wrap="square" tIns="8197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vi" sz="1345">
                  <a:solidFill>
                    <a:srgbClr val="A64D79"/>
                  </a:solidFill>
                  <a:latin typeface="Roboto"/>
                  <a:ea typeface="Roboto"/>
                  <a:cs typeface="Roboto"/>
                  <a:sym typeface="Roboto"/>
                </a:rPr>
                <a:t>Development</a:t>
              </a:r>
              <a:endParaRPr b="1" sz="1345">
                <a:solidFill>
                  <a:srgbClr val="A64D79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06" name="Google Shape;206;p24"/>
            <p:cNvSpPr txBox="1"/>
            <p:nvPr/>
          </p:nvSpPr>
          <p:spPr>
            <a:xfrm>
              <a:off x="3178036" y="3109084"/>
              <a:ext cx="1359900" cy="73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1975" lIns="81975" spcFirstLastPara="1" rIns="81975" wrap="square" tIns="81975">
              <a:noAutofit/>
            </a:bodyPr>
            <a:lstStyle/>
            <a:p>
              <a:pPr indent="-213538" lvl="0" marL="307495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51C75"/>
                </a:buClr>
                <a:buSzPts val="942"/>
                <a:buChar char="-"/>
              </a:pPr>
              <a:r>
                <a:rPr lang="vi" sz="942">
                  <a:solidFill>
                    <a:srgbClr val="351C75"/>
                  </a:solidFill>
                </a:rPr>
                <a:t>Report</a:t>
              </a:r>
              <a:endParaRPr sz="942">
                <a:solidFill>
                  <a:srgbClr val="351C75"/>
                </a:solidFill>
              </a:endParaRPr>
            </a:p>
            <a:p>
              <a:pPr indent="-213538" lvl="0" marL="307495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51C75"/>
                </a:buClr>
                <a:buSzPts val="942"/>
                <a:buChar char="-"/>
              </a:pPr>
              <a:r>
                <a:rPr lang="vi" sz="942">
                  <a:solidFill>
                    <a:srgbClr val="351C75"/>
                  </a:solidFill>
                </a:rPr>
                <a:t>Q&amp;A</a:t>
              </a:r>
              <a:endParaRPr sz="942">
                <a:solidFill>
                  <a:srgbClr val="351C75"/>
                </a:solidFill>
              </a:endParaRPr>
            </a:p>
            <a:p>
              <a:pPr indent="-213538" lvl="0" marL="307495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51C75"/>
                </a:buClr>
                <a:buSzPts val="942"/>
                <a:buChar char="-"/>
              </a:pPr>
              <a:r>
                <a:rPr lang="vi" sz="942">
                  <a:solidFill>
                    <a:srgbClr val="351C75"/>
                  </a:solidFill>
                </a:rPr>
                <a:t>Issue</a:t>
              </a:r>
              <a:endParaRPr sz="942">
                <a:solidFill>
                  <a:srgbClr val="351C75"/>
                </a:solidFill>
              </a:endParaRPr>
            </a:p>
            <a:p>
              <a:pPr indent="-213538" lvl="0" marL="307495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51C75"/>
                </a:buClr>
                <a:buSzPts val="942"/>
                <a:buChar char="-"/>
              </a:pPr>
              <a:r>
                <a:rPr lang="vi" sz="942">
                  <a:solidFill>
                    <a:srgbClr val="351C75"/>
                  </a:solidFill>
                </a:rPr>
                <a:t>Update document</a:t>
              </a:r>
              <a:endParaRPr sz="942">
                <a:solidFill>
                  <a:srgbClr val="351C75"/>
                </a:solidFill>
              </a:endParaRPr>
            </a:p>
            <a:p>
              <a:pPr indent="-213538" lvl="0" marL="307495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51C75"/>
                </a:buClr>
                <a:buSzPts val="942"/>
                <a:buChar char="-"/>
              </a:pPr>
              <a:r>
                <a:rPr lang="vi" sz="942">
                  <a:solidFill>
                    <a:srgbClr val="351C75"/>
                  </a:solidFill>
                </a:rPr>
                <a:t>Change request…</a:t>
              </a:r>
              <a:endParaRPr sz="1345">
                <a:solidFill>
                  <a:srgbClr val="A64D79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07" name="Google Shape;207;p24"/>
            <p:cNvSpPr txBox="1"/>
            <p:nvPr/>
          </p:nvSpPr>
          <p:spPr>
            <a:xfrm>
              <a:off x="3639577" y="2109685"/>
              <a:ext cx="436800" cy="32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1975" lIns="81975" spcFirstLastPara="1" rIns="81975" wrap="square" tIns="8197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412"/>
                </a:spcAft>
                <a:buNone/>
              </a:pPr>
              <a:r>
                <a:rPr b="1" lang="vi" sz="1345">
                  <a:solidFill>
                    <a:srgbClr val="A64D79"/>
                  </a:solidFill>
                  <a:latin typeface="Roboto"/>
                  <a:ea typeface="Roboto"/>
                  <a:cs typeface="Roboto"/>
                  <a:sym typeface="Roboto"/>
                </a:rPr>
                <a:t>3</a:t>
              </a:r>
              <a:endParaRPr b="1" sz="1345">
                <a:solidFill>
                  <a:srgbClr val="A64D79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08" name="Google Shape;208;p24"/>
          <p:cNvGrpSpPr/>
          <p:nvPr/>
        </p:nvGrpSpPr>
        <p:grpSpPr>
          <a:xfrm>
            <a:off x="4451137" y="1627858"/>
            <a:ext cx="1158920" cy="1639281"/>
            <a:chOff x="4557650" y="1948510"/>
            <a:chExt cx="1310403" cy="1897975"/>
          </a:xfrm>
        </p:grpSpPr>
        <p:sp>
          <p:nvSpPr>
            <p:cNvPr id="209" name="Google Shape;209;p24"/>
            <p:cNvSpPr/>
            <p:nvPr/>
          </p:nvSpPr>
          <p:spPr>
            <a:xfrm>
              <a:off x="4915703" y="1948510"/>
              <a:ext cx="594300" cy="594300"/>
            </a:xfrm>
            <a:prstGeom prst="ellipse">
              <a:avLst/>
            </a:prstGeom>
            <a:noFill/>
            <a:ln cap="flat" cmpd="sng" w="25625">
              <a:solidFill>
                <a:srgbClr val="85858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1975" lIns="81975" spcFirstLastPara="1" rIns="81975" wrap="square" tIns="81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45">
                <a:solidFill>
                  <a:srgbClr val="A64D79"/>
                </a:solidFill>
              </a:endParaRPr>
            </a:p>
          </p:txBody>
        </p:sp>
        <p:sp>
          <p:nvSpPr>
            <p:cNvPr id="210" name="Google Shape;210;p24"/>
            <p:cNvSpPr txBox="1"/>
            <p:nvPr/>
          </p:nvSpPr>
          <p:spPr>
            <a:xfrm>
              <a:off x="4557650" y="2652285"/>
              <a:ext cx="13104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81975" lIns="81975" spcFirstLastPara="1" rIns="81975" wrap="square" tIns="8197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vi" sz="1345">
                  <a:solidFill>
                    <a:srgbClr val="A64D79"/>
                  </a:solidFill>
                  <a:latin typeface="Roboto"/>
                  <a:ea typeface="Roboto"/>
                  <a:cs typeface="Roboto"/>
                  <a:sym typeface="Roboto"/>
                </a:rPr>
                <a:t>Testing</a:t>
              </a:r>
              <a:endParaRPr b="1" sz="1345">
                <a:solidFill>
                  <a:srgbClr val="A64D79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1" name="Google Shape;211;p24"/>
            <p:cNvSpPr txBox="1"/>
            <p:nvPr/>
          </p:nvSpPr>
          <p:spPr>
            <a:xfrm>
              <a:off x="4557653" y="3109085"/>
              <a:ext cx="1310400" cy="73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1975" lIns="81975" spcFirstLastPara="1" rIns="81975" wrap="square" tIns="81975">
              <a:noAutofit/>
            </a:bodyPr>
            <a:lstStyle/>
            <a:p>
              <a:pPr indent="-213538" lvl="0" marL="307495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51C75"/>
                </a:buClr>
                <a:buSzPts val="942"/>
                <a:buChar char="-"/>
              </a:pPr>
              <a:r>
                <a:rPr lang="vi" sz="942">
                  <a:solidFill>
                    <a:srgbClr val="351C75"/>
                  </a:solidFill>
                </a:rPr>
                <a:t>Test plan, test specs, test case, </a:t>
              </a:r>
              <a:endParaRPr sz="942">
                <a:solidFill>
                  <a:srgbClr val="351C75"/>
                </a:solidFill>
              </a:endParaRPr>
            </a:p>
            <a:p>
              <a:pPr indent="-213538" lvl="0" marL="307495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51C75"/>
                </a:buClr>
                <a:buSzPts val="942"/>
                <a:buChar char="-"/>
              </a:pPr>
              <a:r>
                <a:rPr lang="vi" sz="942">
                  <a:solidFill>
                    <a:srgbClr val="351C75"/>
                  </a:solidFill>
                </a:rPr>
                <a:t>Bug list, bug report, test result, log lỗi, </a:t>
              </a:r>
              <a:endParaRPr sz="942">
                <a:solidFill>
                  <a:srgbClr val="351C75"/>
                </a:solidFill>
              </a:endParaRPr>
            </a:p>
            <a:p>
              <a:pPr indent="-213538" lvl="0" marL="307495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51C75"/>
                </a:buClr>
                <a:buSzPts val="942"/>
                <a:buChar char="-"/>
              </a:pPr>
              <a:r>
                <a:rPr lang="vi" sz="942">
                  <a:solidFill>
                    <a:srgbClr val="351C75"/>
                  </a:solidFill>
                </a:rPr>
                <a:t>Q&amp;A…</a:t>
              </a:r>
              <a:endParaRPr sz="1345">
                <a:solidFill>
                  <a:srgbClr val="A64D79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2" name="Google Shape;212;p24"/>
            <p:cNvSpPr txBox="1"/>
            <p:nvPr/>
          </p:nvSpPr>
          <p:spPr>
            <a:xfrm>
              <a:off x="4994453" y="2109685"/>
              <a:ext cx="436800" cy="32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1975" lIns="81975" spcFirstLastPara="1" rIns="81975" wrap="square" tIns="8197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412"/>
                </a:spcAft>
                <a:buNone/>
              </a:pPr>
              <a:r>
                <a:rPr b="1" lang="vi" sz="1345">
                  <a:solidFill>
                    <a:srgbClr val="A64D79"/>
                  </a:solidFill>
                  <a:latin typeface="Roboto"/>
                  <a:ea typeface="Roboto"/>
                  <a:cs typeface="Roboto"/>
                  <a:sym typeface="Roboto"/>
                </a:rPr>
                <a:t>4</a:t>
              </a:r>
              <a:endParaRPr b="1" sz="1345">
                <a:solidFill>
                  <a:srgbClr val="A64D79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13" name="Google Shape;213;p24"/>
          <p:cNvGrpSpPr/>
          <p:nvPr/>
        </p:nvGrpSpPr>
        <p:grpSpPr>
          <a:xfrm>
            <a:off x="5627521" y="1627858"/>
            <a:ext cx="1202700" cy="1639281"/>
            <a:chOff x="5887800" y="1948510"/>
            <a:chExt cx="1359905" cy="1897975"/>
          </a:xfrm>
        </p:grpSpPr>
        <p:sp>
          <p:nvSpPr>
            <p:cNvPr id="214" name="Google Shape;214;p24"/>
            <p:cNvSpPr/>
            <p:nvPr/>
          </p:nvSpPr>
          <p:spPr>
            <a:xfrm>
              <a:off x="6270606" y="1948510"/>
              <a:ext cx="594300" cy="594300"/>
            </a:xfrm>
            <a:prstGeom prst="ellipse">
              <a:avLst/>
            </a:prstGeom>
            <a:noFill/>
            <a:ln cap="flat" cmpd="sng" w="25625">
              <a:solidFill>
                <a:srgbClr val="85858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1975" lIns="81975" spcFirstLastPara="1" rIns="81975" wrap="square" tIns="81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45">
                <a:solidFill>
                  <a:srgbClr val="1155CC"/>
                </a:solidFill>
              </a:endParaRPr>
            </a:p>
          </p:txBody>
        </p:sp>
        <p:sp>
          <p:nvSpPr>
            <p:cNvPr id="215" name="Google Shape;215;p24"/>
            <p:cNvSpPr txBox="1"/>
            <p:nvPr/>
          </p:nvSpPr>
          <p:spPr>
            <a:xfrm>
              <a:off x="5887800" y="2652285"/>
              <a:ext cx="13599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81975" lIns="81975" spcFirstLastPara="1" rIns="81975" wrap="square" tIns="8197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vi" sz="1345">
                  <a:solidFill>
                    <a:srgbClr val="1155CC"/>
                  </a:solidFill>
                  <a:latin typeface="Roboto"/>
                  <a:ea typeface="Roboto"/>
                  <a:cs typeface="Roboto"/>
                  <a:sym typeface="Roboto"/>
                </a:rPr>
                <a:t>Deployment</a:t>
              </a:r>
              <a:endParaRPr b="1" sz="1345">
                <a:solidFill>
                  <a:srgbClr val="1155CC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6" name="Google Shape;216;p24"/>
            <p:cNvSpPr txBox="1"/>
            <p:nvPr/>
          </p:nvSpPr>
          <p:spPr>
            <a:xfrm>
              <a:off x="5887806" y="3109085"/>
              <a:ext cx="1359900" cy="73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1975" lIns="81975" spcFirstLastPara="1" rIns="81975" wrap="square" tIns="81975">
              <a:noAutofit/>
            </a:bodyPr>
            <a:lstStyle/>
            <a:p>
              <a:pPr indent="-213538" lvl="0" marL="307495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51C75"/>
                </a:buClr>
                <a:buSzPts val="942"/>
                <a:buChar char="-"/>
              </a:pPr>
              <a:r>
                <a:rPr lang="vi" sz="942">
                  <a:solidFill>
                    <a:srgbClr val="351C75"/>
                  </a:solidFill>
                </a:rPr>
                <a:t>Demo case</a:t>
              </a:r>
              <a:endParaRPr sz="942">
                <a:solidFill>
                  <a:srgbClr val="351C75"/>
                </a:solidFill>
              </a:endParaRPr>
            </a:p>
            <a:p>
              <a:pPr indent="-213538" lvl="0" marL="307495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51C75"/>
                </a:buClr>
                <a:buSzPts val="942"/>
                <a:buChar char="-"/>
              </a:pPr>
              <a:r>
                <a:rPr lang="vi" sz="942">
                  <a:solidFill>
                    <a:srgbClr val="351C75"/>
                  </a:solidFill>
                </a:rPr>
                <a:t>User manual</a:t>
              </a:r>
              <a:endParaRPr sz="942">
                <a:solidFill>
                  <a:srgbClr val="351C75"/>
                </a:solidFill>
              </a:endParaRPr>
            </a:p>
            <a:p>
              <a:pPr indent="-213538" lvl="0" marL="307495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51C75"/>
                </a:buClr>
                <a:buSzPts val="942"/>
                <a:buChar char="-"/>
              </a:pPr>
              <a:r>
                <a:rPr lang="vi" sz="942">
                  <a:solidFill>
                    <a:srgbClr val="351C75"/>
                  </a:solidFill>
                </a:rPr>
                <a:t>Guideline…</a:t>
              </a:r>
              <a:endParaRPr sz="942">
                <a:solidFill>
                  <a:srgbClr val="351C75"/>
                </a:solidFill>
              </a:endParaRPr>
            </a:p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412"/>
                </a:spcAft>
                <a:buNone/>
              </a:pPr>
              <a:r>
                <a:t/>
              </a:r>
              <a:endParaRPr sz="1345">
                <a:solidFill>
                  <a:srgbClr val="1155CC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7" name="Google Shape;217;p24"/>
            <p:cNvSpPr txBox="1"/>
            <p:nvPr/>
          </p:nvSpPr>
          <p:spPr>
            <a:xfrm>
              <a:off x="6349356" y="2109685"/>
              <a:ext cx="436800" cy="32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1975" lIns="81975" spcFirstLastPara="1" rIns="81975" wrap="square" tIns="8197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412"/>
                </a:spcAft>
                <a:buNone/>
              </a:pPr>
              <a:r>
                <a:rPr b="1" lang="vi" sz="1345">
                  <a:solidFill>
                    <a:srgbClr val="1155CC"/>
                  </a:solidFill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 b="1" sz="1345">
                <a:solidFill>
                  <a:srgbClr val="1155CC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18" name="Google Shape;218;p24"/>
          <p:cNvGrpSpPr/>
          <p:nvPr/>
        </p:nvGrpSpPr>
        <p:grpSpPr>
          <a:xfrm>
            <a:off x="6844821" y="1627858"/>
            <a:ext cx="1202700" cy="1639281"/>
            <a:chOff x="7264213" y="1948510"/>
            <a:chExt cx="1359905" cy="1897975"/>
          </a:xfrm>
        </p:grpSpPr>
        <p:sp>
          <p:nvSpPr>
            <p:cNvPr id="219" name="Google Shape;219;p24"/>
            <p:cNvSpPr/>
            <p:nvPr/>
          </p:nvSpPr>
          <p:spPr>
            <a:xfrm>
              <a:off x="7647018" y="1948510"/>
              <a:ext cx="594300" cy="594300"/>
            </a:xfrm>
            <a:prstGeom prst="ellipse">
              <a:avLst/>
            </a:prstGeom>
            <a:noFill/>
            <a:ln cap="flat" cmpd="sng" w="25625">
              <a:solidFill>
                <a:srgbClr val="85858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1975" lIns="81975" spcFirstLastPara="1" rIns="81975" wrap="square" tIns="81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45">
                <a:solidFill>
                  <a:srgbClr val="1155CC"/>
                </a:solidFill>
              </a:endParaRPr>
            </a:p>
          </p:txBody>
        </p:sp>
        <p:sp>
          <p:nvSpPr>
            <p:cNvPr id="220" name="Google Shape;220;p24"/>
            <p:cNvSpPr txBox="1"/>
            <p:nvPr/>
          </p:nvSpPr>
          <p:spPr>
            <a:xfrm>
              <a:off x="7264213" y="2652285"/>
              <a:ext cx="13599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81975" lIns="81975" spcFirstLastPara="1" rIns="81975" wrap="square" tIns="8197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vi" sz="1345">
                  <a:solidFill>
                    <a:srgbClr val="1155CC"/>
                  </a:solidFill>
                  <a:latin typeface="Roboto"/>
                  <a:ea typeface="Roboto"/>
                  <a:cs typeface="Roboto"/>
                  <a:sym typeface="Roboto"/>
                </a:rPr>
                <a:t>Maintenance</a:t>
              </a:r>
              <a:endParaRPr b="1" sz="1345">
                <a:solidFill>
                  <a:srgbClr val="1155CC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21" name="Google Shape;221;p24"/>
            <p:cNvSpPr txBox="1"/>
            <p:nvPr/>
          </p:nvSpPr>
          <p:spPr>
            <a:xfrm>
              <a:off x="7264218" y="3109085"/>
              <a:ext cx="1359900" cy="73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1975" lIns="81975" spcFirstLastPara="1" rIns="81975" wrap="square" tIns="81975">
              <a:noAutofit/>
            </a:bodyPr>
            <a:lstStyle/>
            <a:p>
              <a:pPr indent="-213538" lvl="0" marL="307495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51C75"/>
                </a:buClr>
                <a:buSzPts val="942"/>
                <a:buChar char="-"/>
              </a:pPr>
              <a:r>
                <a:rPr lang="vi" sz="942">
                  <a:solidFill>
                    <a:srgbClr val="351C75"/>
                  </a:solidFill>
                </a:rPr>
                <a:t>Change request, issue sau triển khai</a:t>
              </a:r>
              <a:endParaRPr sz="942">
                <a:solidFill>
                  <a:srgbClr val="351C75"/>
                </a:solidFill>
              </a:endParaRPr>
            </a:p>
            <a:p>
              <a:pPr indent="-213538" lvl="0" marL="307495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51C75"/>
                </a:buClr>
                <a:buSzPts val="942"/>
                <a:buChar char="-"/>
              </a:pPr>
              <a:r>
                <a:rPr lang="vi" sz="942">
                  <a:solidFill>
                    <a:srgbClr val="351C75"/>
                  </a:solidFill>
                </a:rPr>
                <a:t>Yêu cầu trong giai đoạn bảo trì…</a:t>
              </a:r>
              <a:endParaRPr sz="942">
                <a:solidFill>
                  <a:srgbClr val="351C75"/>
                </a:solidFill>
              </a:endParaRPr>
            </a:p>
          </p:txBody>
        </p:sp>
        <p:sp>
          <p:nvSpPr>
            <p:cNvPr id="222" name="Google Shape;222;p24"/>
            <p:cNvSpPr txBox="1"/>
            <p:nvPr/>
          </p:nvSpPr>
          <p:spPr>
            <a:xfrm>
              <a:off x="7725768" y="2109685"/>
              <a:ext cx="436800" cy="32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1975" lIns="81975" spcFirstLastPara="1" rIns="81975" wrap="square" tIns="8197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412"/>
                </a:spcAft>
                <a:buNone/>
              </a:pPr>
              <a:r>
                <a:rPr b="1" lang="vi" sz="1345">
                  <a:solidFill>
                    <a:srgbClr val="1155CC"/>
                  </a:solidFill>
                  <a:latin typeface="Roboto"/>
                  <a:ea typeface="Roboto"/>
                  <a:cs typeface="Roboto"/>
                  <a:sym typeface="Roboto"/>
                </a:rPr>
                <a:t>6</a:t>
              </a:r>
              <a:endParaRPr b="1" sz="1345">
                <a:solidFill>
                  <a:srgbClr val="1155CC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223" name="Google Shape;223;p24"/>
          <p:cNvSpPr/>
          <p:nvPr/>
        </p:nvSpPr>
        <p:spPr>
          <a:xfrm>
            <a:off x="3077458" y="1889875"/>
            <a:ext cx="312600" cy="31800"/>
          </a:xfrm>
          <a:prstGeom prst="roundRect">
            <a:avLst>
              <a:gd fmla="val 50000" name="adj"/>
            </a:avLst>
          </a:prstGeom>
          <a:solidFill>
            <a:srgbClr val="858585"/>
          </a:solidFill>
          <a:ln>
            <a:noFill/>
          </a:ln>
        </p:spPr>
        <p:txBody>
          <a:bodyPr anchorCtr="0" anchor="ctr" bIns="81975" lIns="81975" spcFirstLastPara="1" rIns="81975" wrap="square" tIns="81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24"/>
          <p:cNvSpPr/>
          <p:nvPr/>
        </p:nvSpPr>
        <p:spPr>
          <a:xfrm>
            <a:off x="4275281" y="1889875"/>
            <a:ext cx="312600" cy="31800"/>
          </a:xfrm>
          <a:prstGeom prst="roundRect">
            <a:avLst>
              <a:gd fmla="val 50000" name="adj"/>
            </a:avLst>
          </a:prstGeom>
          <a:solidFill>
            <a:srgbClr val="858585"/>
          </a:solidFill>
          <a:ln>
            <a:noFill/>
          </a:ln>
        </p:spPr>
        <p:txBody>
          <a:bodyPr anchorCtr="0" anchor="ctr" bIns="81975" lIns="81975" spcFirstLastPara="1" rIns="81975" wrap="square" tIns="81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42">
              <a:solidFill>
                <a:srgbClr val="A64D79"/>
              </a:solidFill>
            </a:endParaRPr>
          </a:p>
        </p:txBody>
      </p:sp>
      <p:sp>
        <p:nvSpPr>
          <p:cNvPr id="225" name="Google Shape;225;p24"/>
          <p:cNvSpPr/>
          <p:nvPr/>
        </p:nvSpPr>
        <p:spPr>
          <a:xfrm>
            <a:off x="5473556" y="1889875"/>
            <a:ext cx="312600" cy="31800"/>
          </a:xfrm>
          <a:prstGeom prst="roundRect">
            <a:avLst>
              <a:gd fmla="val 50000" name="adj"/>
            </a:avLst>
          </a:prstGeom>
          <a:solidFill>
            <a:srgbClr val="858585"/>
          </a:solidFill>
          <a:ln>
            <a:noFill/>
          </a:ln>
        </p:spPr>
        <p:txBody>
          <a:bodyPr anchorCtr="0" anchor="ctr" bIns="81975" lIns="81975" spcFirstLastPara="1" rIns="81975" wrap="square" tIns="81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42">
              <a:solidFill>
                <a:srgbClr val="1155CC"/>
              </a:solidFill>
            </a:endParaRPr>
          </a:p>
        </p:txBody>
      </p:sp>
      <p:sp>
        <p:nvSpPr>
          <p:cNvPr id="226" name="Google Shape;226;p24"/>
          <p:cNvSpPr/>
          <p:nvPr/>
        </p:nvSpPr>
        <p:spPr>
          <a:xfrm>
            <a:off x="6681372" y="1889875"/>
            <a:ext cx="312600" cy="31800"/>
          </a:xfrm>
          <a:prstGeom prst="roundRect">
            <a:avLst>
              <a:gd fmla="val 50000" name="adj"/>
            </a:avLst>
          </a:prstGeom>
          <a:solidFill>
            <a:srgbClr val="858585"/>
          </a:solidFill>
          <a:ln>
            <a:noFill/>
          </a:ln>
        </p:spPr>
        <p:txBody>
          <a:bodyPr anchorCtr="0" anchor="ctr" bIns="81975" lIns="81975" spcFirstLastPara="1" rIns="81975" wrap="square" tIns="81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42">
              <a:solidFill>
                <a:srgbClr val="1155CC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5"/>
          <p:cNvSpPr txBox="1"/>
          <p:nvPr/>
        </p:nvSpPr>
        <p:spPr>
          <a:xfrm>
            <a:off x="755963" y="330425"/>
            <a:ext cx="5323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2400">
                <a:solidFill>
                  <a:srgbClr val="351C75"/>
                </a:solidFill>
              </a:rPr>
              <a:t>Một số c</a:t>
            </a:r>
            <a:r>
              <a:rPr b="1" lang="vi" sz="2400">
                <a:solidFill>
                  <a:srgbClr val="351C75"/>
                </a:solidFill>
              </a:rPr>
              <a:t>ông việc khác   </a:t>
            </a:r>
            <a:endParaRPr b="1" sz="2400">
              <a:solidFill>
                <a:srgbClr val="351C75"/>
              </a:solidFill>
            </a:endParaRPr>
          </a:p>
        </p:txBody>
      </p:sp>
      <p:graphicFrame>
        <p:nvGraphicFramePr>
          <p:cNvPr id="232" name="Google Shape;232;p25"/>
          <p:cNvGraphicFramePr/>
          <p:nvPr/>
        </p:nvGraphicFramePr>
        <p:xfrm>
          <a:off x="755963" y="971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{2375267D-77E2-4C77-8B8E-80A76CB7C8AF}</a:tableStyleId>
              </a:tblPr>
              <a:tblGrid>
                <a:gridCol w="2544025"/>
                <a:gridCol w="2544025"/>
                <a:gridCol w="2544025"/>
              </a:tblGrid>
              <a:tr h="598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vi" u="none" cap="none" strike="noStrike">
                          <a:solidFill>
                            <a:srgbClr val="351C75"/>
                          </a:solidFill>
                        </a:rPr>
                        <a:t>Quản lý Báo cáo Tiến độ</a:t>
                      </a:r>
                      <a:endParaRPr u="none" cap="none" strike="noStrike">
                        <a:solidFill>
                          <a:srgbClr val="351C75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vi" u="none" cap="none" strike="noStrike">
                          <a:solidFill>
                            <a:srgbClr val="351C75"/>
                          </a:solidFill>
                        </a:rPr>
                        <a:t>Hỗ trợ kiểm thử</a:t>
                      </a:r>
                      <a:endParaRPr u="none" cap="none" strike="noStrike">
                        <a:solidFill>
                          <a:srgbClr val="351C75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6EA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vi" u="none" cap="none" strike="noStrike">
                          <a:solidFill>
                            <a:srgbClr val="351C75"/>
                          </a:solidFill>
                        </a:rPr>
                        <a:t>Thực hiện công việc theo yêu cầu của quản lý</a:t>
                      </a:r>
                      <a:endParaRPr u="none" cap="none" strike="noStrike">
                        <a:solidFill>
                          <a:srgbClr val="351C75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6666"/>
                    </a:solidFill>
                  </a:tcPr>
                </a:tc>
              </a:tr>
              <a:tr h="778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vi" sz="1000" u="none" cap="none" strike="noStrike">
                          <a:solidFill>
                            <a:srgbClr val="351C75"/>
                          </a:solidFill>
                        </a:rPr>
                        <a:t>Giám sát tình hình dự án (member, trạng thái làm việc, task phụ trách, tiến độ, risk…)</a:t>
                      </a:r>
                      <a:endParaRPr sz="1000" u="none" cap="none" strike="noStrike">
                        <a:solidFill>
                          <a:srgbClr val="351C75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vi" sz="1000" u="none" cap="none" strike="noStrike">
                          <a:solidFill>
                            <a:srgbClr val="351C75"/>
                          </a:solidFill>
                        </a:rPr>
                        <a:t>Viết testcase</a:t>
                      </a:r>
                      <a:endParaRPr sz="1000" u="none" cap="none" strike="noStrike">
                        <a:solidFill>
                          <a:srgbClr val="351C75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vi" sz="1000" u="none" cap="none" strike="noStrike">
                          <a:solidFill>
                            <a:srgbClr val="351C75"/>
                          </a:solidFill>
                        </a:rPr>
                        <a:t>Hỗ trợ comtor dự án khác khi cần.</a:t>
                      </a:r>
                      <a:endParaRPr sz="1000" u="none" cap="none" strike="noStrike">
                        <a:solidFill>
                          <a:srgbClr val="351C75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003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vi" sz="1000" u="none" cap="none" strike="noStrike">
                          <a:solidFill>
                            <a:srgbClr val="351C75"/>
                          </a:solidFill>
                        </a:rPr>
                        <a:t>Thực hiện báo cáo tiến độ, issue, risk với quản lý hai bên.</a:t>
                      </a:r>
                      <a:endParaRPr sz="1000" u="none" cap="none" strike="noStrike">
                        <a:solidFill>
                          <a:srgbClr val="351C75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vi" sz="1000" u="none" cap="none" strike="noStrike">
                          <a:solidFill>
                            <a:srgbClr val="351C75"/>
                          </a:solidFill>
                        </a:rPr>
                        <a:t>Thực hiện test</a:t>
                      </a:r>
                      <a:endParaRPr sz="1000" u="none" cap="none" strike="noStrike">
                        <a:solidFill>
                          <a:srgbClr val="351C75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vi" sz="1000" u="none" cap="none" strike="noStrike">
                          <a:solidFill>
                            <a:srgbClr val="351C75"/>
                          </a:solidFill>
                        </a:rPr>
                        <a:t>Hỗ trợ các team khác khi cần, ví dụ: hỗ trợ phỏng vấn ứng viên, biên dịch CV, hỗ trợ làm tài liệu tiếp cận khách hàng mới v.v.</a:t>
                      </a:r>
                      <a:endParaRPr sz="1000" u="none" cap="none" strike="noStrike">
                        <a:solidFill>
                          <a:srgbClr val="351C75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003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vi" sz="1000" u="none" cap="none" strike="noStrike">
                          <a:solidFill>
                            <a:srgbClr val="351C75"/>
                          </a:solidFill>
                        </a:rPr>
                        <a:t>Đầu mối contactpoint mọi trao đổi giữa site VN và NB</a:t>
                      </a:r>
                      <a:endParaRPr sz="1000" u="none" cap="none" strike="noStrike">
                        <a:solidFill>
                          <a:srgbClr val="351C75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vi" sz="1000" u="none" cap="none" strike="noStrike">
                          <a:solidFill>
                            <a:srgbClr val="351C75"/>
                          </a:solidFill>
                        </a:rPr>
                        <a:t>Log bug</a:t>
                      </a:r>
                      <a:endParaRPr sz="1000" u="none" cap="none" strike="noStrike">
                        <a:solidFill>
                          <a:srgbClr val="351C75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vi" sz="1000" u="none" cap="none" strike="noStrike">
                          <a:solidFill>
                            <a:srgbClr val="351C75"/>
                          </a:solidFill>
                        </a:rPr>
                        <a:t>Chăm sóc khách hàng: Đón tiếp khách hàng sang công tác, khách đến công ty: đón sân bay, họp, đi ăn trưa ăn tối, tham quan.</a:t>
                      </a:r>
                      <a:endParaRPr sz="1000" u="none" cap="none" strike="noStrike">
                        <a:solidFill>
                          <a:srgbClr val="351C75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6"/>
          <p:cNvSpPr txBox="1"/>
          <p:nvPr/>
        </p:nvSpPr>
        <p:spPr>
          <a:xfrm>
            <a:off x="552200" y="243625"/>
            <a:ext cx="97839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2400">
                <a:solidFill>
                  <a:srgbClr val="351C75"/>
                </a:solidFill>
              </a:rPr>
              <a:t>Quản Lý Đào Tạo (Senior Comtor, Comtor Leader)</a:t>
            </a:r>
            <a:endParaRPr b="1" sz="2400">
              <a:solidFill>
                <a:srgbClr val="351C75"/>
              </a:solidFill>
            </a:endParaRPr>
          </a:p>
        </p:txBody>
      </p:sp>
      <p:graphicFrame>
        <p:nvGraphicFramePr>
          <p:cNvPr id="238" name="Google Shape;238;p26"/>
          <p:cNvGraphicFramePr/>
          <p:nvPr/>
        </p:nvGraphicFramePr>
        <p:xfrm>
          <a:off x="707100" y="963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{2375267D-77E2-4C77-8B8E-80A76CB7C8AF}</a:tableStyleId>
              </a:tblPr>
              <a:tblGrid>
                <a:gridCol w="3864900"/>
                <a:gridCol w="3864900"/>
              </a:tblGrid>
              <a:tr h="770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vi" sz="1800" u="none" cap="none" strike="noStrike">
                          <a:solidFill>
                            <a:srgbClr val="351C75"/>
                          </a:solidFill>
                        </a:rPr>
                        <a:t>Quản lý</a:t>
                      </a:r>
                      <a:endParaRPr sz="1800" u="none" cap="none" strike="noStrike">
                        <a:solidFill>
                          <a:srgbClr val="351C75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vi" sz="1800" u="none" cap="none" strike="noStrike">
                          <a:solidFill>
                            <a:srgbClr val="351C75"/>
                          </a:solidFill>
                        </a:rPr>
                        <a:t>Đào tạo và xây dựng đội nhóm</a:t>
                      </a:r>
                      <a:endParaRPr sz="1800" u="none" cap="none" strike="noStrike">
                        <a:solidFill>
                          <a:srgbClr val="351C75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6EAE9"/>
                    </a:solidFill>
                  </a:tcPr>
                </a:tc>
              </a:tr>
              <a:tr h="649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vi" u="none" cap="none" strike="noStrike">
                          <a:solidFill>
                            <a:srgbClr val="351C75"/>
                          </a:solidFill>
                        </a:rPr>
                        <a:t>Quản lý</a:t>
                      </a:r>
                      <a:r>
                        <a:rPr lang="vi">
                          <a:solidFill>
                            <a:srgbClr val="351C75"/>
                          </a:solidFill>
                        </a:rPr>
                        <a:t>, </a:t>
                      </a:r>
                      <a:r>
                        <a:rPr lang="vi" u="none" cap="none" strike="noStrike">
                          <a:solidFill>
                            <a:srgbClr val="351C75"/>
                          </a:solidFill>
                        </a:rPr>
                        <a:t>đánh giá nhân sự trong team comtor.</a:t>
                      </a:r>
                      <a:endParaRPr u="none" cap="none" strike="noStrike">
                        <a:solidFill>
                          <a:srgbClr val="351C75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vi" u="none" cap="none" strike="noStrike">
                          <a:solidFill>
                            <a:srgbClr val="351C75"/>
                          </a:solidFill>
                        </a:rPr>
                        <a:t>Tạo lớp học nội bộ cho comtor phát triển kỹ năng ch</a:t>
                      </a:r>
                      <a:r>
                        <a:rPr lang="vi">
                          <a:solidFill>
                            <a:srgbClr val="351C75"/>
                          </a:solidFill>
                        </a:rPr>
                        <a:t>ính</a:t>
                      </a:r>
                      <a:r>
                        <a:rPr lang="vi" u="none" cap="none" strike="noStrike">
                          <a:solidFill>
                            <a:srgbClr val="351C75"/>
                          </a:solidFill>
                        </a:rPr>
                        <a:t>: tiếng Nhật, </a:t>
                      </a:r>
                      <a:endParaRPr u="none" cap="none" strike="noStrike">
                        <a:solidFill>
                          <a:srgbClr val="351C75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vi">
                          <a:solidFill>
                            <a:srgbClr val="351C75"/>
                          </a:solidFill>
                        </a:rPr>
                        <a:t>Phối hợp với các nhóm BA, tester, PM đào tạo định kỳ các kỹ năng khác: quản lý, </a:t>
                      </a:r>
                      <a:r>
                        <a:rPr lang="vi" u="none" cap="none" strike="noStrike">
                          <a:solidFill>
                            <a:srgbClr val="351C75"/>
                          </a:solidFill>
                        </a:rPr>
                        <a:t>test, </a:t>
                      </a:r>
                      <a:r>
                        <a:rPr lang="vi">
                          <a:solidFill>
                            <a:srgbClr val="351C75"/>
                          </a:solidFill>
                        </a:rPr>
                        <a:t>phân tích nghiệp vụ</a:t>
                      </a:r>
                      <a:endParaRPr>
                        <a:solidFill>
                          <a:srgbClr val="351C75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946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vi" u="none" cap="none" strike="noStrike">
                          <a:solidFill>
                            <a:srgbClr val="351C75"/>
                          </a:solidFill>
                        </a:rPr>
                        <a:t>Điều phối comtor </a:t>
                      </a:r>
                      <a:r>
                        <a:rPr lang="vi">
                          <a:solidFill>
                            <a:srgbClr val="351C75"/>
                          </a:solidFill>
                        </a:rPr>
                        <a:t>vào dự án, điều phối </a:t>
                      </a:r>
                      <a:r>
                        <a:rPr lang="vi" u="none" cap="none" strike="noStrike">
                          <a:solidFill>
                            <a:srgbClr val="351C75"/>
                          </a:solidFill>
                        </a:rPr>
                        <a:t>khi có biến động về nhân sự.</a:t>
                      </a:r>
                      <a:endParaRPr u="none" cap="none" strike="noStrike">
                        <a:solidFill>
                          <a:srgbClr val="351C75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vi" u="none" cap="none" strike="noStrike">
                          <a:solidFill>
                            <a:srgbClr val="351C75"/>
                          </a:solidFill>
                        </a:rPr>
                        <a:t>Phỏng vấn và đánh giá nhân sự sử dụng tiếng Nhật như Comtor, JBA, BrSE, JTester.</a:t>
                      </a:r>
                      <a:endParaRPr u="none" cap="none" strike="noStrike">
                        <a:solidFill>
                          <a:srgbClr val="351C75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7"/>
          <p:cNvSpPr txBox="1"/>
          <p:nvPr/>
        </p:nvSpPr>
        <p:spPr>
          <a:xfrm>
            <a:off x="160950" y="1934500"/>
            <a:ext cx="8822100" cy="661200"/>
          </a:xfrm>
          <a:prstGeom prst="rect">
            <a:avLst/>
          </a:prstGeom>
          <a:solidFill>
            <a:srgbClr val="CA2F47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3600">
                <a:solidFill>
                  <a:schemeClr val="lt1"/>
                </a:solidFill>
              </a:rPr>
              <a:t>Giao tiếp với khách hàng</a:t>
            </a:r>
            <a:endParaRPr b="1" sz="36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8"/>
          <p:cNvSpPr txBox="1"/>
          <p:nvPr/>
        </p:nvSpPr>
        <p:spPr>
          <a:xfrm>
            <a:off x="1028250" y="90975"/>
            <a:ext cx="7087500" cy="6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87175" lIns="87175" spcFirstLastPara="1" rIns="87175" wrap="square" tIns="87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vi" sz="3000">
                <a:solidFill>
                  <a:srgbClr val="351C75"/>
                </a:solidFill>
              </a:rPr>
              <a:t>Giao tiếp trực tiếp - phiên dịch</a:t>
            </a:r>
            <a:endParaRPr sz="3000">
              <a:solidFill>
                <a:srgbClr val="351C7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33">
              <a:solidFill>
                <a:srgbClr val="351C75"/>
              </a:solidFill>
            </a:endParaRPr>
          </a:p>
        </p:txBody>
      </p:sp>
      <p:sp>
        <p:nvSpPr>
          <p:cNvPr id="249" name="Google Shape;249;p28"/>
          <p:cNvSpPr txBox="1"/>
          <p:nvPr/>
        </p:nvSpPr>
        <p:spPr>
          <a:xfrm>
            <a:off x="1593150" y="673650"/>
            <a:ext cx="6247200" cy="379620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txBody>
          <a:bodyPr anchorCtr="0" anchor="t" bIns="65400" lIns="65400" spcFirstLastPara="1" rIns="65400" wrap="square" tIns="654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vi" sz="1000">
                <a:solidFill>
                  <a:srgbClr val="351C75"/>
                </a:solidFill>
              </a:rPr>
              <a:t>1. Chuẩn bị trước buổi gặp</a:t>
            </a:r>
            <a:endParaRPr b="1" sz="1000">
              <a:solidFill>
                <a:srgbClr val="351C75"/>
              </a:solidFill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51C75"/>
              </a:buClr>
              <a:buSzPts val="900"/>
              <a:buChar char="●"/>
            </a:pPr>
            <a:r>
              <a:rPr b="1" lang="vi" sz="900">
                <a:solidFill>
                  <a:srgbClr val="351C75"/>
                </a:solidFill>
              </a:rPr>
              <a:t>Trang phục</a:t>
            </a:r>
            <a:r>
              <a:rPr lang="vi" sz="900">
                <a:solidFill>
                  <a:srgbClr val="351C75"/>
                </a:solidFill>
              </a:rPr>
              <a:t>: Lịch sự, trang nhã, phù hợp hoàn cảnh (không quá xuề xòa, cũng không quá phô trương).</a:t>
            </a:r>
            <a:endParaRPr sz="900">
              <a:solidFill>
                <a:srgbClr val="351C75"/>
              </a:solidFill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900"/>
              <a:buChar char="●"/>
            </a:pPr>
            <a:r>
              <a:rPr b="1" lang="vi" sz="900">
                <a:solidFill>
                  <a:srgbClr val="351C75"/>
                </a:solidFill>
              </a:rPr>
              <a:t>Đến sớm</a:t>
            </a:r>
            <a:r>
              <a:rPr lang="vi" sz="900">
                <a:solidFill>
                  <a:srgbClr val="351C75"/>
                </a:solidFill>
              </a:rPr>
              <a:t>: Có mặt trước 5–10 phút để ổn định, tránh vội vã.</a:t>
            </a:r>
            <a:endParaRPr sz="900">
              <a:solidFill>
                <a:srgbClr val="351C75"/>
              </a:solidFill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900"/>
              <a:buChar char="●"/>
            </a:pPr>
            <a:r>
              <a:rPr b="1" lang="vi" sz="900">
                <a:solidFill>
                  <a:srgbClr val="351C75"/>
                </a:solidFill>
              </a:rPr>
              <a:t>Dụng cụ</a:t>
            </a:r>
            <a:r>
              <a:rPr lang="vi" sz="900">
                <a:solidFill>
                  <a:srgbClr val="351C75"/>
                </a:solidFill>
              </a:rPr>
              <a:t>: Mang theo sổ, bút, laptop nếu cần để ghi chép. Chuẩn bị danh thiếp để trao đổi.</a:t>
            </a:r>
            <a:endParaRPr sz="900">
              <a:solidFill>
                <a:srgbClr val="351C75"/>
              </a:solidFill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900"/>
              <a:buChar char="●"/>
            </a:pPr>
            <a:r>
              <a:rPr b="1" lang="vi" sz="900">
                <a:solidFill>
                  <a:srgbClr val="351C75"/>
                </a:solidFill>
              </a:rPr>
              <a:t>Tìm hiểu khách hàng</a:t>
            </a:r>
            <a:r>
              <a:rPr lang="vi" sz="900">
                <a:solidFill>
                  <a:srgbClr val="351C75"/>
                </a:solidFill>
              </a:rPr>
              <a:t>: Nắm sơ lược về công ty, dự án, người tham gia trước khi gặp.</a:t>
            </a:r>
            <a:endParaRPr sz="900">
              <a:solidFill>
                <a:srgbClr val="351C7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vi" sz="1000">
                <a:solidFill>
                  <a:srgbClr val="351C75"/>
                </a:solidFill>
              </a:rPr>
              <a:t>2. Trong khi giao tiếp</a:t>
            </a:r>
            <a:endParaRPr b="1" sz="1000">
              <a:solidFill>
                <a:srgbClr val="351C75"/>
              </a:solidFill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51C75"/>
              </a:buClr>
              <a:buSzPts val="900"/>
              <a:buChar char="●"/>
            </a:pPr>
            <a:r>
              <a:rPr b="1" lang="vi" sz="900">
                <a:solidFill>
                  <a:srgbClr val="351C75"/>
                </a:solidFill>
              </a:rPr>
              <a:t>Vị trí ngồi/đứng</a:t>
            </a:r>
            <a:r>
              <a:rPr lang="vi" sz="900">
                <a:solidFill>
                  <a:srgbClr val="351C75"/>
                </a:solidFill>
              </a:rPr>
              <a:t>: Gần đối tượng dịch/chủ trì, giữ vị thế thuận lợi để trao đổi.</a:t>
            </a:r>
            <a:endParaRPr sz="900">
              <a:solidFill>
                <a:srgbClr val="351C75"/>
              </a:solidFill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900"/>
              <a:buChar char="●"/>
            </a:pPr>
            <a:r>
              <a:rPr b="1" lang="vi" sz="900">
                <a:solidFill>
                  <a:srgbClr val="351C75"/>
                </a:solidFill>
              </a:rPr>
              <a:t>Giới thiệu</a:t>
            </a:r>
            <a:r>
              <a:rPr lang="vi" sz="900">
                <a:solidFill>
                  <a:srgbClr val="351C75"/>
                </a:solidFill>
              </a:rPr>
              <a:t>: Giới thiệu bản thân và team dự án, nhất là lần gặp đầu tiên.</a:t>
            </a:r>
            <a:endParaRPr sz="900">
              <a:solidFill>
                <a:srgbClr val="351C75"/>
              </a:solidFill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900"/>
              <a:buChar char="●"/>
            </a:pPr>
            <a:r>
              <a:rPr b="1" lang="vi" sz="900">
                <a:solidFill>
                  <a:srgbClr val="351C75"/>
                </a:solidFill>
              </a:rPr>
              <a:t>Thái độ</a:t>
            </a:r>
            <a:r>
              <a:rPr lang="vi" sz="900">
                <a:solidFill>
                  <a:srgbClr val="351C75"/>
                </a:solidFill>
              </a:rPr>
              <a:t>: Vui vẻ, thân thiện, ánh mắt tập trung vào đối phương.</a:t>
            </a:r>
            <a:endParaRPr sz="900">
              <a:solidFill>
                <a:srgbClr val="351C75"/>
              </a:solidFill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900"/>
              <a:buChar char="●"/>
            </a:pPr>
            <a:r>
              <a:rPr b="1" lang="vi" sz="900">
                <a:solidFill>
                  <a:srgbClr val="351C75"/>
                </a:solidFill>
              </a:rPr>
              <a:t>Chú ý lắng nghe</a:t>
            </a:r>
            <a:r>
              <a:rPr lang="vi" sz="900">
                <a:solidFill>
                  <a:srgbClr val="351C75"/>
                </a:solidFill>
              </a:rPr>
              <a:t>: Không ngắt lời, nhắc lại ý chính để xác nhận.</a:t>
            </a:r>
            <a:endParaRPr sz="900">
              <a:solidFill>
                <a:srgbClr val="351C75"/>
              </a:solidFill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900"/>
              <a:buChar char="●"/>
            </a:pPr>
            <a:r>
              <a:rPr b="1" lang="vi" sz="900">
                <a:solidFill>
                  <a:srgbClr val="351C75"/>
                </a:solidFill>
              </a:rPr>
              <a:t>Tránh làm việc riêng</a:t>
            </a:r>
            <a:r>
              <a:rPr lang="vi" sz="900">
                <a:solidFill>
                  <a:srgbClr val="351C75"/>
                </a:solidFill>
              </a:rPr>
              <a:t>: Không sử dụng điện thoại, laptop khi chưa được phép.</a:t>
            </a:r>
            <a:endParaRPr sz="900">
              <a:solidFill>
                <a:srgbClr val="351C75"/>
              </a:solidFill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900"/>
              <a:buChar char="●"/>
            </a:pPr>
            <a:r>
              <a:rPr b="1" lang="vi" sz="900">
                <a:solidFill>
                  <a:srgbClr val="351C75"/>
                </a:solidFill>
              </a:rPr>
              <a:t>Ngôn ngữ cơ thể</a:t>
            </a:r>
            <a:r>
              <a:rPr lang="vi" sz="900">
                <a:solidFill>
                  <a:srgbClr val="351C75"/>
                </a:solidFill>
              </a:rPr>
              <a:t>: Tư thế thẳng, gật đầu khi lắng nghe, không khoanh tay hoặc nhìn quanh.</a:t>
            </a:r>
            <a:endParaRPr sz="900">
              <a:solidFill>
                <a:srgbClr val="351C75"/>
              </a:solidFill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900"/>
              <a:buChar char="●"/>
            </a:pPr>
            <a:r>
              <a:rPr b="1" lang="vi" sz="900">
                <a:solidFill>
                  <a:srgbClr val="351C75"/>
                </a:solidFill>
              </a:rPr>
              <a:t>Khi phiên dịch: </a:t>
            </a:r>
            <a:r>
              <a:rPr lang="vi" sz="900">
                <a:solidFill>
                  <a:srgbClr val="351C75"/>
                </a:solidFill>
              </a:rPr>
              <a:t>giữ giọng rõ ràng, trung lập, không thêm/bớt nội dung.</a:t>
            </a:r>
            <a:endParaRPr sz="900">
              <a:solidFill>
                <a:srgbClr val="351C7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vi" sz="1000">
                <a:solidFill>
                  <a:srgbClr val="351C75"/>
                </a:solidFill>
              </a:rPr>
              <a:t>3. Sau buổi gặp</a:t>
            </a:r>
            <a:endParaRPr b="1" sz="1000">
              <a:solidFill>
                <a:srgbClr val="351C75"/>
              </a:solidFill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51C75"/>
              </a:buClr>
              <a:buSzPts val="900"/>
              <a:buChar char="●"/>
            </a:pPr>
            <a:r>
              <a:rPr b="1" lang="vi" sz="900">
                <a:solidFill>
                  <a:srgbClr val="351C75"/>
                </a:solidFill>
              </a:rPr>
              <a:t>Tóm tắt lại nội dung chính</a:t>
            </a:r>
            <a:r>
              <a:rPr lang="vi" sz="900">
                <a:solidFill>
                  <a:srgbClr val="351C75"/>
                </a:solidFill>
              </a:rPr>
              <a:t>: Ghi chú ngay khi xong buổi họp để tránh quên</a:t>
            </a:r>
            <a:r>
              <a:rPr lang="vi" sz="900">
                <a:solidFill>
                  <a:srgbClr val="351C75"/>
                </a:solidFill>
              </a:rPr>
              <a:t>.</a:t>
            </a:r>
            <a:endParaRPr sz="900">
              <a:solidFill>
                <a:srgbClr val="351C75"/>
              </a:solidFill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900"/>
              <a:buChar char="●"/>
            </a:pPr>
            <a:r>
              <a:rPr b="1" lang="vi" sz="900">
                <a:solidFill>
                  <a:srgbClr val="351C75"/>
                </a:solidFill>
              </a:rPr>
              <a:t>Xác nhận thông tin</a:t>
            </a:r>
            <a:r>
              <a:rPr lang="vi" sz="900">
                <a:solidFill>
                  <a:srgbClr val="351C75"/>
                </a:solidFill>
              </a:rPr>
              <a:t>: Gửi lại email recap (minutes of meeting) để khách hàng xác nhận.</a:t>
            </a:r>
            <a:endParaRPr sz="900">
              <a:solidFill>
                <a:srgbClr val="351C75"/>
              </a:solidFill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900"/>
              <a:buChar char="●"/>
            </a:pPr>
            <a:r>
              <a:rPr b="1" lang="vi" sz="900">
                <a:solidFill>
                  <a:srgbClr val="351C75"/>
                </a:solidFill>
              </a:rPr>
              <a:t>Theo dõi hành động tiếp theo</a:t>
            </a:r>
            <a:r>
              <a:rPr lang="vi" sz="900">
                <a:solidFill>
                  <a:srgbClr val="351C75"/>
                </a:solidFill>
              </a:rPr>
              <a:t>: Thống nhất ai làm gì, deadline bao giờ.</a:t>
            </a:r>
            <a:endParaRPr sz="900">
              <a:solidFill>
                <a:srgbClr val="351C75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9"/>
          <p:cNvSpPr txBox="1"/>
          <p:nvPr/>
        </p:nvSpPr>
        <p:spPr>
          <a:xfrm>
            <a:off x="743050" y="294275"/>
            <a:ext cx="7478400" cy="4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86000" lIns="86000" spcFirstLastPara="1" rIns="86000" wrap="square" tIns="8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vi" sz="3000">
                <a:solidFill>
                  <a:srgbClr val="351C75"/>
                </a:solidFill>
              </a:rPr>
              <a:t>Giao tiếp qua video</a:t>
            </a:r>
            <a:endParaRPr sz="3000">
              <a:solidFill>
                <a:srgbClr val="351C75"/>
              </a:solidFill>
            </a:endParaRPr>
          </a:p>
        </p:txBody>
      </p:sp>
      <p:sp>
        <p:nvSpPr>
          <p:cNvPr id="255" name="Google Shape;255;p29"/>
          <p:cNvSpPr txBox="1"/>
          <p:nvPr/>
        </p:nvSpPr>
        <p:spPr>
          <a:xfrm>
            <a:off x="912050" y="949000"/>
            <a:ext cx="7478400" cy="347580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txBody>
          <a:bodyPr anchorCtr="0" anchor="t" bIns="64475" lIns="64475" spcFirstLastPara="1" rIns="64475" wrap="square" tIns="6447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vi" sz="1000">
                <a:solidFill>
                  <a:srgbClr val="351C75"/>
                </a:solidFill>
              </a:rPr>
              <a:t>1. Chuẩn bị trước buổi họp</a:t>
            </a:r>
            <a:endParaRPr b="1" sz="1000">
              <a:solidFill>
                <a:srgbClr val="351C75"/>
              </a:solidFill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51C75"/>
              </a:buClr>
              <a:buSzPts val="900"/>
              <a:buChar char="●"/>
            </a:pPr>
            <a:r>
              <a:rPr b="1" lang="vi" sz="900">
                <a:solidFill>
                  <a:srgbClr val="351C75"/>
                </a:solidFill>
              </a:rPr>
              <a:t>Lên lịch rõ ràng</a:t>
            </a:r>
            <a:r>
              <a:rPr lang="vi" sz="900">
                <a:solidFill>
                  <a:srgbClr val="351C75"/>
                </a:solidFill>
              </a:rPr>
              <a:t>: Thống nhất thời gian, gửi link meeting, đặt phòng họp (nếu cần), mời đúng người tham gia.</a:t>
            </a:r>
            <a:endParaRPr sz="900">
              <a:solidFill>
                <a:srgbClr val="351C75"/>
              </a:solidFill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900"/>
              <a:buChar char="●"/>
            </a:pPr>
            <a:r>
              <a:rPr b="1" lang="vi" sz="900">
                <a:solidFill>
                  <a:srgbClr val="351C75"/>
                </a:solidFill>
              </a:rPr>
              <a:t>Chuẩn bị nội dung</a:t>
            </a:r>
            <a:r>
              <a:rPr lang="vi" sz="900">
                <a:solidFill>
                  <a:srgbClr val="351C75"/>
                </a:solidFill>
              </a:rPr>
              <a:t>: Đọc trước tài liệu, trao đổi trước với team, list câu hỏi &amp; câu trả lời.</a:t>
            </a:r>
            <a:endParaRPr sz="900">
              <a:solidFill>
                <a:srgbClr val="351C75"/>
              </a:solidFill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900"/>
              <a:buChar char="●"/>
            </a:pPr>
            <a:r>
              <a:rPr b="1" lang="vi" sz="900">
                <a:solidFill>
                  <a:srgbClr val="351C75"/>
                </a:solidFill>
              </a:rPr>
              <a:t>Tham gia sớm</a:t>
            </a:r>
            <a:r>
              <a:rPr lang="vi" sz="900">
                <a:solidFill>
                  <a:srgbClr val="351C75"/>
                </a:solidFill>
              </a:rPr>
              <a:t>: Vào phòng họp trước 5–10 phút, mang theo sổ, bút để ghi chú.</a:t>
            </a:r>
            <a:endParaRPr sz="900">
              <a:solidFill>
                <a:srgbClr val="351C75"/>
              </a:solidFill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900"/>
              <a:buChar char="●"/>
            </a:pPr>
            <a:r>
              <a:rPr b="1" lang="vi" sz="900">
                <a:solidFill>
                  <a:srgbClr val="351C75"/>
                </a:solidFill>
              </a:rPr>
              <a:t>Mở sẵn tài liệu cần chia sẻ</a:t>
            </a:r>
            <a:r>
              <a:rPr lang="vi" sz="900">
                <a:solidFill>
                  <a:srgbClr val="351C75"/>
                </a:solidFill>
              </a:rPr>
              <a:t>: Đặt ở chế độ dễ truy cập để tránh mất thời gian tìm kiếm trong buổi họp, chỉ mở đúng tài liệu cần thiết, tránh lộ file nội bộ.</a:t>
            </a:r>
            <a:endParaRPr sz="900">
              <a:solidFill>
                <a:srgbClr val="351C7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vi" sz="1000">
                <a:solidFill>
                  <a:srgbClr val="351C75"/>
                </a:solidFill>
              </a:rPr>
              <a:t>2. Trong khi họp</a:t>
            </a:r>
            <a:endParaRPr b="1" sz="1000">
              <a:solidFill>
                <a:srgbClr val="351C75"/>
              </a:solidFill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51C75"/>
              </a:buClr>
              <a:buSzPts val="900"/>
              <a:buChar char="●"/>
            </a:pPr>
            <a:r>
              <a:rPr b="1" lang="vi" sz="900">
                <a:solidFill>
                  <a:srgbClr val="351C75"/>
                </a:solidFill>
              </a:rPr>
              <a:t>Không gian họp</a:t>
            </a:r>
            <a:r>
              <a:rPr lang="vi" sz="900">
                <a:solidFill>
                  <a:srgbClr val="351C75"/>
                </a:solidFill>
              </a:rPr>
              <a:t>: Chọn nơi yên tĩnh, ánh sáng đủ, nền gọn gàng (tránh hình ảnh gây phân tâm).</a:t>
            </a:r>
            <a:endParaRPr sz="900">
              <a:solidFill>
                <a:srgbClr val="351C75"/>
              </a:solidFill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900"/>
              <a:buChar char="●"/>
            </a:pPr>
            <a:r>
              <a:rPr b="1" lang="vi" sz="900">
                <a:solidFill>
                  <a:srgbClr val="351C75"/>
                </a:solidFill>
              </a:rPr>
              <a:t>Kiểm tra thiết bị</a:t>
            </a:r>
            <a:r>
              <a:rPr lang="vi" sz="900">
                <a:solidFill>
                  <a:srgbClr val="351C75"/>
                </a:solidFill>
              </a:rPr>
              <a:t>: Đảm bảo mạng ổn định, webcam rõ, mic và tai nghe hoạt động tốt.</a:t>
            </a:r>
            <a:endParaRPr sz="900">
              <a:solidFill>
                <a:srgbClr val="351C75"/>
              </a:solidFill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900"/>
              <a:buChar char="●"/>
            </a:pPr>
            <a:r>
              <a:rPr b="1" lang="vi" sz="900">
                <a:solidFill>
                  <a:srgbClr val="351C75"/>
                </a:solidFill>
              </a:rPr>
              <a:t>Bật camera</a:t>
            </a:r>
            <a:r>
              <a:rPr lang="vi" sz="900">
                <a:solidFill>
                  <a:srgbClr val="351C75"/>
                </a:solidFill>
              </a:rPr>
              <a:t>: Giúp khách hàng thấy thái độ chuyên nghiệp, thân thiện.</a:t>
            </a:r>
            <a:endParaRPr sz="900">
              <a:solidFill>
                <a:srgbClr val="351C75"/>
              </a:solidFill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900"/>
              <a:buChar char="●"/>
            </a:pPr>
            <a:r>
              <a:rPr b="1" lang="vi" sz="900">
                <a:solidFill>
                  <a:srgbClr val="351C75"/>
                </a:solidFill>
              </a:rPr>
              <a:t>Ghi âm/Ghi hình (nếu được phép)</a:t>
            </a:r>
            <a:r>
              <a:rPr lang="vi" sz="900">
                <a:solidFill>
                  <a:srgbClr val="351C75"/>
                </a:solidFill>
              </a:rPr>
              <a:t>: Để tiện tổng hợp nội dung sau buổi họp.</a:t>
            </a:r>
            <a:endParaRPr sz="900">
              <a:solidFill>
                <a:srgbClr val="351C75"/>
              </a:solidFill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900"/>
              <a:buChar char="●"/>
            </a:pPr>
            <a:r>
              <a:rPr b="1" lang="vi" sz="900">
                <a:solidFill>
                  <a:srgbClr val="351C75"/>
                </a:solidFill>
              </a:rPr>
              <a:t>Thái độ giao tiếp</a:t>
            </a:r>
            <a:r>
              <a:rPr lang="vi" sz="900">
                <a:solidFill>
                  <a:srgbClr val="351C75"/>
                </a:solidFill>
              </a:rPr>
              <a:t>: Nhìn vào camera khi nói, gật đầu, mỉm cười thể hiện sự tập trung.</a:t>
            </a:r>
            <a:endParaRPr sz="900">
              <a:solidFill>
                <a:srgbClr val="351C7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vi" sz="1000">
                <a:solidFill>
                  <a:srgbClr val="351C75"/>
                </a:solidFill>
              </a:rPr>
              <a:t>3. Sau buổi họp</a:t>
            </a:r>
            <a:endParaRPr b="1" sz="1000">
              <a:solidFill>
                <a:srgbClr val="351C75"/>
              </a:solidFill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51C75"/>
              </a:buClr>
              <a:buSzPts val="900"/>
              <a:buChar char="●"/>
            </a:pPr>
            <a:r>
              <a:rPr b="1" lang="vi" sz="900">
                <a:solidFill>
                  <a:srgbClr val="351C75"/>
                </a:solidFill>
              </a:rPr>
              <a:t>Gửi recap ngay</a:t>
            </a:r>
            <a:r>
              <a:rPr lang="vi" sz="900">
                <a:solidFill>
                  <a:srgbClr val="351C75"/>
                </a:solidFill>
              </a:rPr>
              <a:t>: Tóm tắt nội dung, các điểm đã thống nhất, công việc tiếp theo và deadline.</a:t>
            </a:r>
            <a:endParaRPr sz="900">
              <a:solidFill>
                <a:srgbClr val="351C75"/>
              </a:solidFill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900"/>
              <a:buChar char="●"/>
            </a:pPr>
            <a:r>
              <a:rPr b="1" lang="vi" sz="900">
                <a:solidFill>
                  <a:srgbClr val="351C75"/>
                </a:solidFill>
              </a:rPr>
              <a:t>Theo dõi action items</a:t>
            </a:r>
            <a:r>
              <a:rPr lang="vi" sz="900">
                <a:solidFill>
                  <a:srgbClr val="351C75"/>
                </a:solidFill>
              </a:rPr>
              <a:t>: Đảm bảo có người chịu trách nhiệm từng đầu việc.</a:t>
            </a:r>
            <a:endParaRPr sz="900">
              <a:solidFill>
                <a:srgbClr val="351C75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0"/>
          <p:cNvSpPr txBox="1"/>
          <p:nvPr/>
        </p:nvSpPr>
        <p:spPr>
          <a:xfrm>
            <a:off x="1775700" y="163350"/>
            <a:ext cx="5592600" cy="37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vi" sz="3000">
                <a:solidFill>
                  <a:srgbClr val="351C75"/>
                </a:solidFill>
              </a:rPr>
              <a:t>Giao tiếp qua email</a:t>
            </a:r>
            <a:endParaRPr sz="3000">
              <a:solidFill>
                <a:srgbClr val="351C75"/>
              </a:solidFill>
            </a:endParaRPr>
          </a:p>
        </p:txBody>
      </p:sp>
      <p:sp>
        <p:nvSpPr>
          <p:cNvPr id="261" name="Google Shape;261;p30"/>
          <p:cNvSpPr txBox="1"/>
          <p:nvPr/>
        </p:nvSpPr>
        <p:spPr>
          <a:xfrm>
            <a:off x="1019100" y="543150"/>
            <a:ext cx="7227000" cy="397110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txBody>
          <a:bodyPr anchorCtr="0" anchor="t" bIns="68525" lIns="68525" spcFirstLastPara="1" rIns="68525" wrap="square" tIns="685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vi" sz="900">
                <a:solidFill>
                  <a:srgbClr val="351C75"/>
                </a:solidFill>
              </a:rPr>
              <a:t>1. </a:t>
            </a:r>
            <a:r>
              <a:rPr b="1" lang="vi" sz="900">
                <a:solidFill>
                  <a:srgbClr val="351C75"/>
                </a:solidFill>
              </a:rPr>
              <a:t>Khi viết email</a:t>
            </a:r>
            <a:endParaRPr b="1" sz="900">
              <a:solidFill>
                <a:srgbClr val="351C75"/>
              </a:solidFill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51C75"/>
              </a:buClr>
              <a:buSzPts val="800"/>
              <a:buChar char="●"/>
            </a:pPr>
            <a:r>
              <a:rPr b="1" lang="vi" sz="800">
                <a:solidFill>
                  <a:srgbClr val="351C75"/>
                </a:solidFill>
              </a:rPr>
              <a:t>Lời chào</a:t>
            </a:r>
            <a:r>
              <a:rPr lang="vi" sz="800">
                <a:solidFill>
                  <a:srgbClr val="351C75"/>
                </a:solidFill>
              </a:rPr>
              <a:t>: Luôn chào hỏi mở đầu (ví dụ: </a:t>
            </a:r>
            <a:r>
              <a:rPr i="1" lang="vi" sz="800">
                <a:solidFill>
                  <a:srgbClr val="351C75"/>
                </a:solidFill>
              </a:rPr>
              <a:t>Dear Mr. Tanaka,</a:t>
            </a:r>
            <a:r>
              <a:rPr lang="vi" sz="800">
                <a:solidFill>
                  <a:srgbClr val="351C75"/>
                </a:solidFill>
              </a:rPr>
              <a:t> hoặc </a:t>
            </a:r>
            <a:r>
              <a:rPr i="1" lang="vi" sz="800">
                <a:solidFill>
                  <a:srgbClr val="351C75"/>
                </a:solidFill>
              </a:rPr>
              <a:t>Kính gửi Anh Nam,</a:t>
            </a:r>
            <a:r>
              <a:rPr lang="vi" sz="800">
                <a:solidFill>
                  <a:srgbClr val="351C75"/>
                </a:solidFill>
              </a:rPr>
              <a:t>).</a:t>
            </a:r>
            <a:endParaRPr sz="800">
              <a:solidFill>
                <a:srgbClr val="351C75"/>
              </a:solidFill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800"/>
              <a:buChar char="●"/>
            </a:pPr>
            <a:r>
              <a:rPr b="1" lang="vi" sz="800">
                <a:solidFill>
                  <a:srgbClr val="351C75"/>
                </a:solidFill>
              </a:rPr>
              <a:t>Thời gian phản hồi</a:t>
            </a:r>
            <a:r>
              <a:rPr lang="vi" sz="800">
                <a:solidFill>
                  <a:srgbClr val="351C75"/>
                </a:solidFill>
              </a:rPr>
              <a:t>: Trả lời trong vòng 24h. Nếu chưa có câu trả lời chính thức, phản hồi tạm: </a:t>
            </a:r>
            <a:r>
              <a:rPr i="1" lang="vi" sz="800">
                <a:solidFill>
                  <a:srgbClr val="351C75"/>
                </a:solidFill>
              </a:rPr>
              <a:t>“Chúng tôi đã nhận được email và sẽ phản hồi chi tiết trước 10h sáng mai”</a:t>
            </a:r>
            <a:r>
              <a:rPr lang="vi" sz="800">
                <a:solidFill>
                  <a:srgbClr val="351C75"/>
                </a:solidFill>
              </a:rPr>
              <a:t>.</a:t>
            </a:r>
            <a:endParaRPr sz="800">
              <a:solidFill>
                <a:srgbClr val="351C75"/>
              </a:solidFill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800"/>
              <a:buChar char="●"/>
            </a:pPr>
            <a:r>
              <a:rPr b="1" lang="vi" sz="800">
                <a:solidFill>
                  <a:srgbClr val="351C75"/>
                </a:solidFill>
              </a:rPr>
              <a:t>Ngắn gọn, rõ ràng</a:t>
            </a:r>
            <a:r>
              <a:rPr lang="vi" sz="800">
                <a:solidFill>
                  <a:srgbClr val="351C75"/>
                </a:solidFill>
              </a:rPr>
              <a:t>: Viết đoạn dễ đọc, nội dung chính trong khoảng 1/3 màn hình (dễ theo dõi trên desktop/mobile).</a:t>
            </a:r>
            <a:endParaRPr sz="800">
              <a:solidFill>
                <a:srgbClr val="351C75"/>
              </a:solidFill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800"/>
              <a:buChar char="●"/>
            </a:pPr>
            <a:r>
              <a:rPr b="1" lang="vi" sz="800">
                <a:solidFill>
                  <a:srgbClr val="351C75"/>
                </a:solidFill>
              </a:rPr>
              <a:t>Phong cách</a:t>
            </a:r>
            <a:r>
              <a:rPr lang="vi" sz="800">
                <a:solidFill>
                  <a:srgbClr val="351C75"/>
                </a:solidFill>
              </a:rPr>
              <a:t>: Lịch sự, khiêm nhường, tránh từ ngữ suồng sã.</a:t>
            </a:r>
            <a:endParaRPr sz="800">
              <a:solidFill>
                <a:srgbClr val="351C7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vi" sz="900">
                <a:solidFill>
                  <a:srgbClr val="351C75"/>
                </a:solidFill>
              </a:rPr>
              <a:t>2.  Đính kèm file</a:t>
            </a:r>
            <a:endParaRPr b="1" sz="900">
              <a:solidFill>
                <a:srgbClr val="351C75"/>
              </a:solidFill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51C75"/>
              </a:buClr>
              <a:buSzPts val="800"/>
              <a:buChar char="●"/>
            </a:pPr>
            <a:r>
              <a:rPr b="1" lang="vi" sz="800">
                <a:solidFill>
                  <a:srgbClr val="351C75"/>
                </a:solidFill>
              </a:rPr>
              <a:t>Kích thước file</a:t>
            </a:r>
            <a:r>
              <a:rPr lang="vi" sz="800">
                <a:solidFill>
                  <a:srgbClr val="351C75"/>
                </a:solidFill>
              </a:rPr>
              <a:t>: Không vượt quá 20MB.</a:t>
            </a:r>
            <a:endParaRPr sz="800">
              <a:solidFill>
                <a:srgbClr val="351C75"/>
              </a:solidFill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800"/>
              <a:buChar char="●"/>
            </a:pPr>
            <a:r>
              <a:rPr b="1" lang="vi" sz="800">
                <a:solidFill>
                  <a:srgbClr val="351C75"/>
                </a:solidFill>
              </a:rPr>
              <a:t>Nếu file lớn</a:t>
            </a:r>
            <a:r>
              <a:rPr lang="vi" sz="800">
                <a:solidFill>
                  <a:srgbClr val="351C75"/>
                </a:solidFill>
              </a:rPr>
              <a:t>: Sử dụng dịch vụ chia sẻ file (Google Drive, OneDrive, Dropbox…).</a:t>
            </a:r>
            <a:endParaRPr sz="800">
              <a:solidFill>
                <a:srgbClr val="351C75"/>
              </a:solidFill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800"/>
              <a:buChar char="●"/>
            </a:pPr>
            <a:r>
              <a:rPr b="1" lang="vi" sz="800">
                <a:solidFill>
                  <a:srgbClr val="351C75"/>
                </a:solidFill>
              </a:rPr>
              <a:t>Bảo mật</a:t>
            </a:r>
            <a:r>
              <a:rPr lang="vi" sz="800">
                <a:solidFill>
                  <a:srgbClr val="351C75"/>
                </a:solidFill>
              </a:rPr>
              <a:t>: Với tài liệu quan trọng, cần mã hóa/đặt mật khẩu và gửi mật khẩu qua kênh khác (chat/phone).</a:t>
            </a:r>
            <a:endParaRPr sz="800">
              <a:solidFill>
                <a:srgbClr val="351C7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vi" sz="900">
                <a:solidFill>
                  <a:srgbClr val="351C75"/>
                </a:solidFill>
              </a:rPr>
              <a:t>3. </a:t>
            </a:r>
            <a:r>
              <a:rPr b="1" lang="vi" sz="900">
                <a:solidFill>
                  <a:srgbClr val="351C75"/>
                </a:solidFill>
              </a:rPr>
              <a:t>Trước khi gửi email</a:t>
            </a:r>
            <a:endParaRPr b="1" sz="900">
              <a:solidFill>
                <a:srgbClr val="351C75"/>
              </a:solidFill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51C75"/>
              </a:buClr>
              <a:buSzPts val="800"/>
              <a:buChar char="●"/>
            </a:pPr>
            <a:r>
              <a:rPr b="1" lang="vi" sz="800">
                <a:solidFill>
                  <a:srgbClr val="351C75"/>
                </a:solidFill>
              </a:rPr>
              <a:t>Kiểm tra địa chỉ người nhận</a:t>
            </a:r>
            <a:r>
              <a:rPr lang="vi" sz="800">
                <a:solidFill>
                  <a:srgbClr val="351C75"/>
                </a:solidFill>
              </a:rPr>
              <a:t>: TO, CC, BCC đúng đối tượng.</a:t>
            </a:r>
            <a:endParaRPr sz="800">
              <a:solidFill>
                <a:srgbClr val="351C75"/>
              </a:solidFill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800"/>
              <a:buChar char="●"/>
            </a:pPr>
            <a:r>
              <a:rPr b="1" lang="vi" sz="800">
                <a:solidFill>
                  <a:srgbClr val="351C75"/>
                </a:solidFill>
              </a:rPr>
              <a:t>Tiêu đề email rõ ràng</a:t>
            </a:r>
            <a:r>
              <a:rPr lang="vi" sz="800">
                <a:solidFill>
                  <a:srgbClr val="351C75"/>
                </a:solidFill>
              </a:rPr>
              <a:t>: Nêu đúng nội dung/chủ đề chính (ví dụ: </a:t>
            </a:r>
            <a:r>
              <a:rPr i="1" lang="vi" sz="800">
                <a:solidFill>
                  <a:srgbClr val="351C75"/>
                </a:solidFill>
              </a:rPr>
              <a:t>[Project A] Biên bản họp ngày 29/9/2025</a:t>
            </a:r>
            <a:r>
              <a:rPr lang="vi" sz="800">
                <a:solidFill>
                  <a:srgbClr val="351C75"/>
                </a:solidFill>
              </a:rPr>
              <a:t>).</a:t>
            </a:r>
            <a:endParaRPr sz="800">
              <a:solidFill>
                <a:srgbClr val="351C75"/>
              </a:solidFill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800"/>
              <a:buChar char="●"/>
            </a:pPr>
            <a:r>
              <a:rPr b="1" lang="vi" sz="800">
                <a:solidFill>
                  <a:srgbClr val="351C75"/>
                </a:solidFill>
              </a:rPr>
              <a:t>Chuẩn bị nội dung</a:t>
            </a:r>
            <a:r>
              <a:rPr lang="vi" sz="800">
                <a:solidFill>
                  <a:srgbClr val="351C75"/>
                </a:solidFill>
              </a:rPr>
              <a:t>: Sắp xếp ý theo trình tự logic</a:t>
            </a:r>
            <a:endParaRPr sz="800">
              <a:solidFill>
                <a:srgbClr val="351C75"/>
              </a:solidFill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800"/>
              <a:buChar char="●"/>
            </a:pPr>
            <a:r>
              <a:rPr b="1" lang="vi" sz="800">
                <a:solidFill>
                  <a:srgbClr val="351C75"/>
                </a:solidFill>
              </a:rPr>
              <a:t>Kiểm tra chính tả</a:t>
            </a:r>
            <a:r>
              <a:rPr lang="vi" sz="800">
                <a:solidFill>
                  <a:srgbClr val="351C75"/>
                </a:solidFill>
              </a:rPr>
              <a:t>: Đặc biệt là tên khách hàng, công ty khách.</a:t>
            </a:r>
            <a:endParaRPr sz="800">
              <a:solidFill>
                <a:srgbClr val="351C7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vi" sz="900">
                <a:solidFill>
                  <a:srgbClr val="351C75"/>
                </a:solidFill>
              </a:rPr>
              <a:t>4. Sau khi gửi email</a:t>
            </a:r>
            <a:endParaRPr b="1" sz="900">
              <a:solidFill>
                <a:srgbClr val="351C75"/>
              </a:solidFill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51C75"/>
              </a:buClr>
              <a:buSzPts val="800"/>
              <a:buChar char="●"/>
            </a:pPr>
            <a:r>
              <a:rPr b="1" lang="vi" sz="800">
                <a:solidFill>
                  <a:srgbClr val="351C75"/>
                </a:solidFill>
              </a:rPr>
              <a:t>Theo dõi phản hồi</a:t>
            </a:r>
            <a:r>
              <a:rPr lang="vi" sz="800">
                <a:solidFill>
                  <a:srgbClr val="351C75"/>
                </a:solidFill>
              </a:rPr>
              <a:t>: Nếu sau 1–2 ngày chưa có trả lời, cần follow-up nhắc nhở lịch sự.</a:t>
            </a:r>
            <a:endParaRPr sz="800">
              <a:solidFill>
                <a:srgbClr val="351C75"/>
              </a:solidFill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800"/>
              <a:buChar char="●"/>
            </a:pPr>
            <a:r>
              <a:rPr b="1" lang="vi" sz="800">
                <a:solidFill>
                  <a:srgbClr val="351C75"/>
                </a:solidFill>
              </a:rPr>
              <a:t>Lưu trữ email</a:t>
            </a:r>
            <a:r>
              <a:rPr lang="vi" sz="800">
                <a:solidFill>
                  <a:srgbClr val="351C75"/>
                </a:solidFill>
              </a:rPr>
              <a:t>: Đặt nhãn (label) hoặc lưu trong thư mục dự án để tiện tra cứu sau này.</a:t>
            </a:r>
            <a:endParaRPr sz="800">
              <a:solidFill>
                <a:srgbClr val="351C75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1"/>
          <p:cNvSpPr txBox="1"/>
          <p:nvPr/>
        </p:nvSpPr>
        <p:spPr>
          <a:xfrm>
            <a:off x="174000" y="76050"/>
            <a:ext cx="8781600" cy="8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vi" sz="3000">
                <a:solidFill>
                  <a:srgbClr val="351C75"/>
                </a:solidFill>
              </a:rPr>
              <a:t>Giao tiếp qua chát (Slack, Teams, Chatwork …)</a:t>
            </a:r>
            <a:endParaRPr sz="3000">
              <a:solidFill>
                <a:srgbClr val="351C75"/>
              </a:solidFill>
            </a:endParaRPr>
          </a:p>
        </p:txBody>
      </p:sp>
      <p:sp>
        <p:nvSpPr>
          <p:cNvPr id="267" name="Google Shape;267;p31"/>
          <p:cNvSpPr txBox="1"/>
          <p:nvPr/>
        </p:nvSpPr>
        <p:spPr>
          <a:xfrm>
            <a:off x="832975" y="655050"/>
            <a:ext cx="7912200" cy="383340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vi" sz="900">
                <a:solidFill>
                  <a:srgbClr val="351C75"/>
                </a:solidFill>
              </a:rPr>
              <a:t>1. Khi gửi tin nhắn</a:t>
            </a:r>
            <a:endParaRPr b="1" sz="900">
              <a:solidFill>
                <a:srgbClr val="351C75"/>
              </a:solidFill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51C75"/>
              </a:buClr>
              <a:buSzPts val="800"/>
              <a:buChar char="●"/>
            </a:pPr>
            <a:r>
              <a:rPr b="1" lang="vi" sz="800">
                <a:solidFill>
                  <a:srgbClr val="351C75"/>
                </a:solidFill>
              </a:rPr>
              <a:t>Xác định đúng người nhận</a:t>
            </a:r>
            <a:r>
              <a:rPr lang="vi" sz="800">
                <a:solidFill>
                  <a:srgbClr val="351C75"/>
                </a:solidFill>
              </a:rPr>
              <a:t>: Mention đúng người, CC thêm người liên quan nếu cần. Viết đúng tên khách hàng.</a:t>
            </a:r>
            <a:endParaRPr sz="800">
              <a:solidFill>
                <a:srgbClr val="351C75"/>
              </a:solidFill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800"/>
              <a:buChar char="●"/>
            </a:pPr>
            <a:r>
              <a:rPr b="1" lang="vi" sz="800">
                <a:solidFill>
                  <a:srgbClr val="351C75"/>
                </a:solidFill>
              </a:rPr>
              <a:t>Chuẩn bị nội dung</a:t>
            </a:r>
            <a:r>
              <a:rPr lang="vi" sz="800">
                <a:solidFill>
                  <a:srgbClr val="351C75"/>
                </a:solidFill>
              </a:rPr>
              <a:t>: Nghĩ kỹ thông tin cần truyền đạt, viết rõ ràng, tránh gửi dồn dập nhiều tin ngắn gây khó đọc.</a:t>
            </a:r>
            <a:endParaRPr sz="800">
              <a:solidFill>
                <a:srgbClr val="351C75"/>
              </a:solidFill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800"/>
              <a:buChar char="●"/>
            </a:pPr>
            <a:r>
              <a:rPr b="1" lang="vi" sz="800">
                <a:solidFill>
                  <a:srgbClr val="351C75"/>
                </a:solidFill>
              </a:rPr>
              <a:t>Trả lời đúng luồng (thread)</a:t>
            </a:r>
            <a:r>
              <a:rPr lang="vi" sz="800">
                <a:solidFill>
                  <a:srgbClr val="351C75"/>
                </a:solidFill>
              </a:rPr>
              <a:t>: Để nội dung dễ theo dõi, tránh thất lạc thông tin.</a:t>
            </a:r>
            <a:endParaRPr sz="800">
              <a:solidFill>
                <a:srgbClr val="351C75"/>
              </a:solidFill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800"/>
              <a:buChar char="●"/>
            </a:pPr>
            <a:r>
              <a:rPr b="1" lang="vi" sz="800">
                <a:solidFill>
                  <a:srgbClr val="351C75"/>
                </a:solidFill>
              </a:rPr>
              <a:t>Nội dung ngắn gọn, súc tích</a:t>
            </a:r>
            <a:r>
              <a:rPr lang="vi" sz="800">
                <a:solidFill>
                  <a:srgbClr val="351C75"/>
                </a:solidFill>
              </a:rPr>
              <a:t>: Nếu thông tin dài, nên chia thành từng đoạn, có bullet point, đánh số.</a:t>
            </a:r>
            <a:endParaRPr sz="800">
              <a:solidFill>
                <a:srgbClr val="351C75"/>
              </a:solidFill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800"/>
              <a:buChar char="●"/>
            </a:pPr>
            <a:r>
              <a:rPr b="1" lang="vi" sz="800">
                <a:solidFill>
                  <a:srgbClr val="351C75"/>
                </a:solidFill>
              </a:rPr>
              <a:t>Chiều dài tin nhắn</a:t>
            </a:r>
            <a:r>
              <a:rPr lang="vi" sz="800">
                <a:solidFill>
                  <a:srgbClr val="351C75"/>
                </a:solidFill>
              </a:rPr>
              <a:t>: Nên giới hạn trong khoảng 1/3 màn hình. Tránh viết dàn trải hết chiều ngang.</a:t>
            </a:r>
            <a:endParaRPr sz="800">
              <a:solidFill>
                <a:srgbClr val="351C75"/>
              </a:solidFill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800"/>
              <a:buChar char="●"/>
            </a:pPr>
            <a:r>
              <a:rPr b="1" lang="vi" sz="800">
                <a:solidFill>
                  <a:srgbClr val="351C75"/>
                </a:solidFill>
              </a:rPr>
              <a:t>Phong cách lịch sự, khiêm nhường</a:t>
            </a:r>
            <a:r>
              <a:rPr lang="vi" sz="800">
                <a:solidFill>
                  <a:srgbClr val="351C75"/>
                </a:solidFill>
              </a:rPr>
              <a:t>: Dù là chat nhanh, vẫn cần giữ ngôn ngữ chuẩn mực.</a:t>
            </a:r>
            <a:endParaRPr sz="800">
              <a:solidFill>
                <a:srgbClr val="351C7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vi" sz="900">
                <a:solidFill>
                  <a:srgbClr val="351C75"/>
                </a:solidFill>
              </a:rPr>
              <a:t>2. Khi nhận tin nhắn từ khách hàng</a:t>
            </a:r>
            <a:endParaRPr b="1" sz="900">
              <a:solidFill>
                <a:srgbClr val="351C75"/>
              </a:solidFill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51C75"/>
              </a:buClr>
              <a:buSzPts val="800"/>
              <a:buChar char="●"/>
            </a:pPr>
            <a:r>
              <a:rPr b="1" lang="vi" sz="800">
                <a:solidFill>
                  <a:srgbClr val="351C75"/>
                </a:solidFill>
              </a:rPr>
              <a:t>Luôn phản hồi xác nhận</a:t>
            </a:r>
            <a:r>
              <a:rPr lang="vi" sz="800">
                <a:solidFill>
                  <a:srgbClr val="351C75"/>
                </a:solidFill>
              </a:rPr>
              <a:t>:</a:t>
            </a:r>
            <a:endParaRPr sz="800">
              <a:solidFill>
                <a:srgbClr val="351C75"/>
              </a:solidFill>
            </a:endParaRPr>
          </a:p>
          <a:p>
            <a:pPr indent="-279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800"/>
              <a:buChar char="○"/>
            </a:pPr>
            <a:r>
              <a:rPr b="1" lang="vi" sz="800">
                <a:solidFill>
                  <a:srgbClr val="351C75"/>
                </a:solidFill>
              </a:rPr>
              <a:t>Lần 1</a:t>
            </a:r>
            <a:r>
              <a:rPr lang="vi" sz="800">
                <a:solidFill>
                  <a:srgbClr val="351C75"/>
                </a:solidFill>
              </a:rPr>
              <a:t>: Thông báo đã tiếp nhận thông tin: </a:t>
            </a:r>
            <a:r>
              <a:rPr i="1" lang="vi" sz="800">
                <a:solidFill>
                  <a:srgbClr val="351C75"/>
                </a:solidFill>
              </a:rPr>
              <a:t>“Đã nhận được yêu cầu, chúng tôi sẽ xử lý và phản hồi sau”</a:t>
            </a:r>
            <a:r>
              <a:rPr lang="vi" sz="800">
                <a:solidFill>
                  <a:srgbClr val="351C75"/>
                </a:solidFill>
              </a:rPr>
              <a:t>.</a:t>
            </a:r>
            <a:endParaRPr sz="800">
              <a:solidFill>
                <a:srgbClr val="351C75"/>
              </a:solidFill>
            </a:endParaRPr>
          </a:p>
          <a:p>
            <a:pPr indent="-279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800"/>
              <a:buChar char="○"/>
            </a:pPr>
            <a:r>
              <a:rPr b="1" lang="vi" sz="800">
                <a:solidFill>
                  <a:srgbClr val="351C75"/>
                </a:solidFill>
              </a:rPr>
              <a:t>Lần 2</a:t>
            </a:r>
            <a:r>
              <a:rPr lang="vi" sz="800">
                <a:solidFill>
                  <a:srgbClr val="351C75"/>
                </a:solidFill>
              </a:rPr>
              <a:t>: Trả lời chính thức sau khi đã xử lý xong.</a:t>
            </a:r>
            <a:endParaRPr sz="800">
              <a:solidFill>
                <a:srgbClr val="351C75"/>
              </a:solidFill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800"/>
              <a:buChar char="●"/>
            </a:pPr>
            <a:r>
              <a:rPr b="1" lang="vi" sz="800">
                <a:solidFill>
                  <a:srgbClr val="351C75"/>
                </a:solidFill>
              </a:rPr>
              <a:t>Giữ tương tác kịp thời</a:t>
            </a:r>
            <a:r>
              <a:rPr lang="vi" sz="800">
                <a:solidFill>
                  <a:srgbClr val="351C75"/>
                </a:solidFill>
              </a:rPr>
              <a:t>: Không để khách hàng chờ quá lâu mà không có phản hồi.</a:t>
            </a:r>
            <a:endParaRPr sz="800">
              <a:solidFill>
                <a:srgbClr val="351C75"/>
              </a:solidFill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800"/>
              <a:buChar char="●"/>
            </a:pPr>
            <a:r>
              <a:rPr lang="vi" sz="800">
                <a:solidFill>
                  <a:srgbClr val="351C75"/>
                </a:solidFill>
              </a:rPr>
              <a:t>Tránh spam emoji hoặc reaction không phù hợp.</a:t>
            </a:r>
            <a:endParaRPr sz="800">
              <a:solidFill>
                <a:srgbClr val="351C75"/>
              </a:solidFill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800"/>
              <a:buChar char="●"/>
            </a:pPr>
            <a:r>
              <a:rPr lang="vi" sz="800">
                <a:solidFill>
                  <a:srgbClr val="351C75"/>
                </a:solidFill>
              </a:rPr>
              <a:t>Nếu thảo luận vấn đề phức tạp, nên đề xuất chuyển sang </a:t>
            </a:r>
            <a:r>
              <a:rPr b="1" lang="vi" sz="800">
                <a:solidFill>
                  <a:srgbClr val="351C75"/>
                </a:solidFill>
              </a:rPr>
              <a:t>video call</a:t>
            </a:r>
            <a:r>
              <a:rPr lang="vi" sz="800">
                <a:solidFill>
                  <a:srgbClr val="351C75"/>
                </a:solidFill>
              </a:rPr>
              <a:t> để xử lý nhanh.</a:t>
            </a:r>
            <a:endParaRPr sz="800">
              <a:solidFill>
                <a:srgbClr val="351C75"/>
              </a:solidFill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800"/>
              <a:buChar char="●"/>
            </a:pPr>
            <a:r>
              <a:rPr lang="vi" sz="800">
                <a:solidFill>
                  <a:srgbClr val="351C75"/>
                </a:solidFill>
              </a:rPr>
              <a:t>Không gửi file quan trọng trực tiếp trong chat (dễ trôi), nên upload lên drive và gửi link.</a:t>
            </a:r>
            <a:endParaRPr sz="800">
              <a:solidFill>
                <a:srgbClr val="351C7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vi" sz="900">
                <a:solidFill>
                  <a:srgbClr val="351C75"/>
                </a:solidFill>
              </a:rPr>
              <a:t>3. Sau khi trao đổi</a:t>
            </a:r>
            <a:endParaRPr sz="900">
              <a:solidFill>
                <a:srgbClr val="351C75"/>
              </a:solidFill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51C75"/>
              </a:buClr>
              <a:buSzPts val="800"/>
              <a:buChar char="●"/>
            </a:pPr>
            <a:r>
              <a:rPr b="1" lang="vi" sz="800">
                <a:solidFill>
                  <a:srgbClr val="351C75"/>
                </a:solidFill>
              </a:rPr>
              <a:t>Lưu lại thông tin quan trọng</a:t>
            </a:r>
            <a:r>
              <a:rPr lang="vi" sz="800">
                <a:solidFill>
                  <a:srgbClr val="351C75"/>
                </a:solidFill>
              </a:rPr>
              <a:t>: Pin hoặc copy vào task tracker (Jira, Trello, Backlog…) để quản lý.</a:t>
            </a:r>
            <a:endParaRPr sz="800">
              <a:solidFill>
                <a:srgbClr val="351C75"/>
              </a:solidFill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800"/>
              <a:buChar char="●"/>
            </a:pPr>
            <a:r>
              <a:rPr b="1" lang="vi" sz="800">
                <a:solidFill>
                  <a:srgbClr val="351C75"/>
                </a:solidFill>
              </a:rPr>
              <a:t>Follow-up</a:t>
            </a:r>
            <a:r>
              <a:rPr lang="vi" sz="800">
                <a:solidFill>
                  <a:srgbClr val="351C75"/>
                </a:solidFill>
              </a:rPr>
              <a:t>: Nếu khách hàng chưa trả lời, có thể nhắc lại lịch sự sau một khoảng thời gian hợp lý.</a:t>
            </a:r>
            <a:endParaRPr sz="800">
              <a:solidFill>
                <a:srgbClr val="351C75"/>
              </a:solidFill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800"/>
              <a:buChar char="●"/>
            </a:pPr>
            <a:r>
              <a:rPr lang="vi" sz="800">
                <a:solidFill>
                  <a:srgbClr val="351C75"/>
                </a:solidFill>
              </a:rPr>
              <a:t>Đặt </a:t>
            </a:r>
            <a:r>
              <a:rPr b="1" lang="vi" sz="800">
                <a:solidFill>
                  <a:srgbClr val="351C75"/>
                </a:solidFill>
              </a:rPr>
              <a:t>status/availability</a:t>
            </a:r>
            <a:r>
              <a:rPr lang="vi" sz="800">
                <a:solidFill>
                  <a:srgbClr val="351C75"/>
                </a:solidFill>
              </a:rPr>
              <a:t> rõ ràng (online, offline, in meeting…) để khách hàng biết khi nào liên hệ.</a:t>
            </a:r>
            <a:endParaRPr sz="800">
              <a:solidFill>
                <a:srgbClr val="351C75"/>
              </a:solidFill>
              <a:highlight>
                <a:srgbClr val="F0FDF4"/>
              </a:highlight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2"/>
          <p:cNvSpPr txBox="1"/>
          <p:nvPr/>
        </p:nvSpPr>
        <p:spPr>
          <a:xfrm>
            <a:off x="613054" y="601387"/>
            <a:ext cx="78594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050" lIns="86050" spcFirstLastPara="1" rIns="86050" wrap="square" tIns="86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z="3388">
                <a:solidFill>
                  <a:srgbClr val="351C75"/>
                </a:solidFill>
              </a:rPr>
              <a:t>Ví dụ không nên</a:t>
            </a:r>
            <a:endParaRPr sz="1765">
              <a:solidFill>
                <a:srgbClr val="351C75"/>
              </a:solidFill>
            </a:endParaRPr>
          </a:p>
        </p:txBody>
      </p:sp>
      <p:pic>
        <p:nvPicPr>
          <p:cNvPr id="273" name="Google Shape;273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4821" y="1731548"/>
            <a:ext cx="7980193" cy="2100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3"/>
          <p:cNvSpPr txBox="1"/>
          <p:nvPr>
            <p:ph type="title"/>
          </p:nvPr>
        </p:nvSpPr>
        <p:spPr>
          <a:xfrm>
            <a:off x="-48150" y="5252875"/>
            <a:ext cx="8520600" cy="25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33"/>
          <p:cNvSpPr txBox="1"/>
          <p:nvPr>
            <p:ph idx="1" type="body"/>
          </p:nvPr>
        </p:nvSpPr>
        <p:spPr>
          <a:xfrm>
            <a:off x="0" y="505682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33"/>
          <p:cNvSpPr txBox="1"/>
          <p:nvPr/>
        </p:nvSpPr>
        <p:spPr>
          <a:xfrm>
            <a:off x="895703" y="531775"/>
            <a:ext cx="7624800" cy="5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78550" lIns="78550" spcFirstLastPara="1" rIns="78550" wrap="square" tIns="78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vi" sz="3600">
                <a:solidFill>
                  <a:srgbClr val="351C75"/>
                </a:solidFill>
              </a:rPr>
              <a:t>Ví dụ sửa</a:t>
            </a:r>
            <a:endParaRPr sz="3600">
              <a:solidFill>
                <a:srgbClr val="351C75"/>
              </a:solidFill>
            </a:endParaRPr>
          </a:p>
        </p:txBody>
      </p:sp>
      <p:pic>
        <p:nvPicPr>
          <p:cNvPr id="281" name="Google Shape;281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0375" y="1460775"/>
            <a:ext cx="7624950" cy="2804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4"/>
          <p:cNvSpPr txBox="1"/>
          <p:nvPr/>
        </p:nvSpPr>
        <p:spPr>
          <a:xfrm>
            <a:off x="160950" y="1934500"/>
            <a:ext cx="8822100" cy="661200"/>
          </a:xfrm>
          <a:prstGeom prst="rect">
            <a:avLst/>
          </a:prstGeom>
          <a:solidFill>
            <a:srgbClr val="CA2F47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3600">
                <a:solidFill>
                  <a:srgbClr val="FFFFFF"/>
                </a:solidFill>
              </a:rPr>
              <a:t>Biên dịch tài liệu</a:t>
            </a:r>
            <a:endParaRPr b="1" sz="36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5"/>
          <p:cNvSpPr txBox="1"/>
          <p:nvPr/>
        </p:nvSpPr>
        <p:spPr>
          <a:xfrm>
            <a:off x="880500" y="490700"/>
            <a:ext cx="5053200" cy="5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82550" lIns="82550" spcFirstLastPara="1" rIns="82550" wrap="square" tIns="82550">
            <a:noAutofit/>
          </a:bodyPr>
          <a:lstStyle/>
          <a:p>
            <a:pPr indent="0" lvl="0" marL="309656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z="3251">
                <a:solidFill>
                  <a:srgbClr val="351C75"/>
                </a:solidFill>
              </a:rPr>
              <a:t>Quy tắc dịch chung</a:t>
            </a:r>
            <a:endParaRPr sz="3251">
              <a:solidFill>
                <a:srgbClr val="351C75"/>
              </a:solidFill>
            </a:endParaRPr>
          </a:p>
        </p:txBody>
      </p:sp>
      <p:sp>
        <p:nvSpPr>
          <p:cNvPr id="292" name="Google Shape;292;p35"/>
          <p:cNvSpPr txBox="1"/>
          <p:nvPr/>
        </p:nvSpPr>
        <p:spPr>
          <a:xfrm>
            <a:off x="1223106" y="1255642"/>
            <a:ext cx="6838800" cy="30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61900" lIns="61900" spcFirstLastPara="1" rIns="61900" wrap="square" tIns="6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90"/>
              <a:buFont typeface="Arial"/>
              <a:buNone/>
            </a:pPr>
            <a:r>
              <a:rPr b="0" i="0" lang="vi" sz="1693" u="none" cap="none" strike="noStrike">
                <a:solidFill>
                  <a:srgbClr val="08005F"/>
                </a:solidFill>
                <a:latin typeface="Arial"/>
                <a:ea typeface="Arial"/>
                <a:cs typeface="Arial"/>
                <a:sym typeface="Arial"/>
              </a:rPr>
              <a:t>Đảm bảo các yếu tố sau: </a:t>
            </a:r>
            <a:endParaRPr b="0" i="0" sz="1693" u="none" cap="none" strike="noStrike">
              <a:solidFill>
                <a:srgbClr val="08005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90"/>
              <a:buFont typeface="Arial"/>
              <a:buNone/>
            </a:pPr>
            <a:r>
              <a:t/>
            </a:r>
            <a:endParaRPr sz="1693">
              <a:solidFill>
                <a:srgbClr val="08005F"/>
              </a:solidFill>
            </a:endParaRPr>
          </a:p>
          <a:p>
            <a:pPr indent="0" lvl="0" marL="309656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4"/>
              <a:buFont typeface="Arial"/>
              <a:buNone/>
            </a:pPr>
            <a:r>
              <a:rPr b="1" lang="vi" sz="1693">
                <a:solidFill>
                  <a:srgbClr val="351C75"/>
                </a:solidFill>
              </a:rPr>
              <a:t>Tính</a:t>
            </a:r>
            <a:r>
              <a:rPr b="1" i="0" lang="vi" sz="1693" u="none" cap="none" strike="noStrike">
                <a:solidFill>
                  <a:srgbClr val="351C75"/>
                </a:solidFill>
              </a:rPr>
              <a:t> chính xác (t</a:t>
            </a:r>
            <a:r>
              <a:rPr b="1" lang="vi" sz="1693">
                <a:solidFill>
                  <a:srgbClr val="351C75"/>
                </a:solidFill>
              </a:rPr>
              <a:t>ính đúng và tính đủ)</a:t>
            </a:r>
            <a:r>
              <a:rPr b="0" i="0" lang="vi" sz="1693" u="none" cap="none" strike="noStrike">
                <a:solidFill>
                  <a:srgbClr val="351C75"/>
                </a:solidFill>
                <a:latin typeface="Arial"/>
                <a:ea typeface="Arial"/>
                <a:cs typeface="Arial"/>
                <a:sym typeface="Arial"/>
              </a:rPr>
              <a:t>: Đảm bảo ý nghĩa được truyền tải chính xác từ bản gốc sang bản dịch.</a:t>
            </a:r>
            <a:endParaRPr b="0" i="0" sz="1693" u="none" cap="none" strike="noStrike">
              <a:solidFill>
                <a:srgbClr val="351C7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309656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4"/>
              <a:buFont typeface="Arial"/>
              <a:buNone/>
            </a:pPr>
            <a:r>
              <a:t/>
            </a:r>
            <a:endParaRPr sz="1693">
              <a:solidFill>
                <a:srgbClr val="351C75"/>
              </a:solidFill>
            </a:endParaRPr>
          </a:p>
          <a:p>
            <a:pPr indent="0" lvl="0" marL="309656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4"/>
              <a:buFont typeface="Arial"/>
              <a:buNone/>
            </a:pPr>
            <a:r>
              <a:rPr b="1" i="0" lang="vi" sz="1693" u="none" cap="none" strike="noStrike">
                <a:solidFill>
                  <a:srgbClr val="351C75"/>
                </a:solidFill>
              </a:rPr>
              <a:t>Tính tự nhiên</a:t>
            </a:r>
            <a:r>
              <a:rPr b="0" i="0" lang="vi" sz="1693" u="none" cap="none" strike="noStrike">
                <a:solidFill>
                  <a:srgbClr val="351C75"/>
                </a:solidFill>
                <a:latin typeface="Arial"/>
                <a:ea typeface="Arial"/>
                <a:cs typeface="Arial"/>
                <a:sym typeface="Arial"/>
              </a:rPr>
              <a:t>: Sử dụng cách diễn đạt tự nhiên trong tiếng Việt, tránh dịch máy móc theo cấu trúc.</a:t>
            </a:r>
            <a:endParaRPr b="0" i="0" sz="1693" u="none" cap="none" strike="noStrike">
              <a:solidFill>
                <a:srgbClr val="351C7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309656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4"/>
              <a:buFont typeface="Arial"/>
              <a:buNone/>
            </a:pPr>
            <a:r>
              <a:t/>
            </a:r>
            <a:endParaRPr sz="1693">
              <a:solidFill>
                <a:srgbClr val="351C75"/>
              </a:solidFill>
            </a:endParaRPr>
          </a:p>
          <a:p>
            <a:pPr indent="0" lvl="0" marL="309656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4"/>
              <a:buFont typeface="Arial"/>
              <a:buNone/>
            </a:pPr>
            <a:r>
              <a:rPr b="1" i="0" lang="vi" sz="1693" u="none" cap="none" strike="noStrike">
                <a:solidFill>
                  <a:srgbClr val="351C75"/>
                </a:solidFill>
              </a:rPr>
              <a:t>Tính nhất quán</a:t>
            </a:r>
            <a:r>
              <a:rPr b="0" i="0" lang="vi" sz="1693" u="none" cap="none" strike="noStrike">
                <a:solidFill>
                  <a:srgbClr val="351C75"/>
                </a:solidFill>
                <a:latin typeface="Arial"/>
                <a:ea typeface="Arial"/>
                <a:cs typeface="Arial"/>
                <a:sym typeface="Arial"/>
              </a:rPr>
              <a:t>: Duy trì sự nhất quán trong việc sử dụng thuật ngữ và phong cách xuyên suốt bản dịch.</a:t>
            </a:r>
            <a:endParaRPr b="0" i="0" sz="1693" u="none" cap="none" strike="noStrike">
              <a:solidFill>
                <a:srgbClr val="08005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6"/>
          <p:cNvSpPr txBox="1"/>
          <p:nvPr/>
        </p:nvSpPr>
        <p:spPr>
          <a:xfrm>
            <a:off x="880488" y="409700"/>
            <a:ext cx="7307100" cy="5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84875" lIns="84875" spcFirstLastPara="1" rIns="84875" wrap="square" tIns="84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z="2400">
                <a:solidFill>
                  <a:srgbClr val="351C75"/>
                </a:solidFill>
              </a:rPr>
              <a:t>Các bước xử lý yêu cầu dịch</a:t>
            </a:r>
            <a:endParaRPr sz="2400">
              <a:solidFill>
                <a:srgbClr val="351C75"/>
              </a:solidFill>
            </a:endParaRPr>
          </a:p>
        </p:txBody>
      </p:sp>
      <p:sp>
        <p:nvSpPr>
          <p:cNvPr id="298" name="Google Shape;298;p36"/>
          <p:cNvSpPr txBox="1"/>
          <p:nvPr/>
        </p:nvSpPr>
        <p:spPr>
          <a:xfrm>
            <a:off x="1232718" y="1196132"/>
            <a:ext cx="7030800" cy="5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63650" lIns="63650" spcFirstLastPara="1" rIns="63650" wrap="square" tIns="6365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253">
                <a:solidFill>
                  <a:srgbClr val="08005F"/>
                </a:solidFill>
              </a:rPr>
              <a:t>Bước 1</a:t>
            </a:r>
            <a:r>
              <a:rPr lang="vi" sz="1253">
                <a:solidFill>
                  <a:srgbClr val="08005F"/>
                </a:solidFill>
              </a:rPr>
              <a:t>: </a:t>
            </a:r>
            <a:r>
              <a:rPr b="1" lang="vi" sz="1253">
                <a:solidFill>
                  <a:srgbClr val="08005F"/>
                </a:solidFill>
              </a:rPr>
              <a:t>Tiếp nhận yêu cầu</a:t>
            </a:r>
            <a:r>
              <a:rPr lang="vi" sz="1253">
                <a:solidFill>
                  <a:srgbClr val="08005F"/>
                </a:solidFill>
              </a:rPr>
              <a:t>. Copy file cần dịch ở thời điểm nhận yêu cầu về folder lưu trữ riêng của Comtor trong dự án.</a:t>
            </a:r>
            <a:endParaRPr sz="1253">
              <a:solidFill>
                <a:srgbClr val="08005F"/>
              </a:solidFill>
            </a:endParaRPr>
          </a:p>
        </p:txBody>
      </p:sp>
      <p:sp>
        <p:nvSpPr>
          <p:cNvPr id="299" name="Google Shape;299;p36"/>
          <p:cNvSpPr txBox="1"/>
          <p:nvPr/>
        </p:nvSpPr>
        <p:spPr>
          <a:xfrm>
            <a:off x="1232725" y="1815825"/>
            <a:ext cx="6807000" cy="5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63650" lIns="63650" spcFirstLastPara="1" rIns="63650" wrap="square" tIns="6365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253">
                <a:solidFill>
                  <a:srgbClr val="08005F"/>
                </a:solidFill>
              </a:rPr>
              <a:t>Bước 2</a:t>
            </a:r>
            <a:r>
              <a:rPr lang="vi" sz="1253">
                <a:solidFill>
                  <a:srgbClr val="08005F"/>
                </a:solidFill>
              </a:rPr>
              <a:t>: </a:t>
            </a:r>
            <a:r>
              <a:rPr b="1" lang="vi" sz="1253">
                <a:solidFill>
                  <a:srgbClr val="08005F"/>
                </a:solidFill>
              </a:rPr>
              <a:t>Tính toán khối lượng</a:t>
            </a:r>
            <a:r>
              <a:rPr lang="vi" sz="1253">
                <a:solidFill>
                  <a:srgbClr val="08005F"/>
                </a:solidFill>
              </a:rPr>
              <a:t> số words. Dùng công cụ đo lường số words chính xác, khi cần. Không ước tính theo cảm tính.</a:t>
            </a:r>
            <a:endParaRPr sz="1253">
              <a:solidFill>
                <a:srgbClr val="08005F"/>
              </a:solidFill>
            </a:endParaRPr>
          </a:p>
        </p:txBody>
      </p:sp>
      <p:sp>
        <p:nvSpPr>
          <p:cNvPr id="300" name="Google Shape;300;p36"/>
          <p:cNvSpPr txBox="1"/>
          <p:nvPr/>
        </p:nvSpPr>
        <p:spPr>
          <a:xfrm>
            <a:off x="1234041" y="2382473"/>
            <a:ext cx="6807000" cy="9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63650" lIns="63650" spcFirstLastPara="1" rIns="63650" wrap="square" tIns="6365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253">
                <a:solidFill>
                  <a:srgbClr val="08005F"/>
                </a:solidFill>
              </a:rPr>
              <a:t>Bước 3</a:t>
            </a:r>
            <a:r>
              <a:rPr lang="vi" sz="1253">
                <a:solidFill>
                  <a:srgbClr val="08005F"/>
                </a:solidFill>
              </a:rPr>
              <a:t>: </a:t>
            </a:r>
            <a:r>
              <a:rPr b="1" lang="vi" sz="1253">
                <a:solidFill>
                  <a:srgbClr val="08005F"/>
                </a:solidFill>
              </a:rPr>
              <a:t>Ước tính thời gian </a:t>
            </a:r>
            <a:endParaRPr b="1" sz="1253">
              <a:solidFill>
                <a:srgbClr val="08005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1253">
                <a:solidFill>
                  <a:srgbClr val="08005F"/>
                </a:solidFill>
              </a:rPr>
              <a:t>Estimate theo công thức tốc độ dịch trung bình:</a:t>
            </a:r>
            <a:endParaRPr sz="1253">
              <a:solidFill>
                <a:srgbClr val="08005F"/>
              </a:solidFill>
            </a:endParaRPr>
          </a:p>
          <a:p>
            <a:pPr indent="0" lvl="0" marL="31835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6"/>
              <a:buFont typeface="Arial"/>
              <a:buNone/>
            </a:pPr>
            <a:r>
              <a:rPr lang="vi" sz="1253">
                <a:solidFill>
                  <a:srgbClr val="08005F"/>
                </a:solidFill>
              </a:rPr>
              <a:t>+ Dịch xuôi (ngôn ngữ khác -&gt; tiếng Việt): 800 words/giờ</a:t>
            </a:r>
            <a:endParaRPr sz="1253">
              <a:solidFill>
                <a:srgbClr val="08005F"/>
              </a:solidFill>
            </a:endParaRPr>
          </a:p>
          <a:p>
            <a:pPr indent="0" lvl="0" marL="31835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6"/>
              <a:buFont typeface="Arial"/>
              <a:buNone/>
            </a:pPr>
            <a:r>
              <a:rPr lang="vi" sz="1253">
                <a:solidFill>
                  <a:srgbClr val="08005F"/>
                </a:solidFill>
              </a:rPr>
              <a:t>+ Dịch ngược (tiếng Việt -&gt; ngôn ngữ khác): 400 words/giờ</a:t>
            </a:r>
            <a:endParaRPr sz="1253">
              <a:solidFill>
                <a:srgbClr val="FFFFFF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01" name="Google Shape;301;p36"/>
          <p:cNvSpPr txBox="1"/>
          <p:nvPr/>
        </p:nvSpPr>
        <p:spPr>
          <a:xfrm>
            <a:off x="1234041" y="3385162"/>
            <a:ext cx="6807000" cy="3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63650" lIns="63650" spcFirstLastPara="1" rIns="63650" wrap="square" tIns="6365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253">
                <a:solidFill>
                  <a:srgbClr val="08005F"/>
                </a:solidFill>
              </a:rPr>
              <a:t>Bước 4</a:t>
            </a:r>
            <a:r>
              <a:rPr lang="vi" sz="1253">
                <a:solidFill>
                  <a:srgbClr val="08005F"/>
                </a:solidFill>
              </a:rPr>
              <a:t>: Thông báo thời gian dự kiến có thể trả file dịch cho team. Sau đó tiến hành dịch.</a:t>
            </a:r>
            <a:endParaRPr sz="1253">
              <a:solidFill>
                <a:srgbClr val="FFFFFF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02" name="Google Shape;302;p36"/>
          <p:cNvSpPr txBox="1"/>
          <p:nvPr/>
        </p:nvSpPr>
        <p:spPr>
          <a:xfrm>
            <a:off x="1234041" y="3800268"/>
            <a:ext cx="6807000" cy="5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63650" lIns="63650" spcFirstLastPara="1" rIns="63650" wrap="square" tIns="6365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253">
                <a:solidFill>
                  <a:srgbClr val="08005F"/>
                </a:solidFill>
              </a:rPr>
              <a:t>Bước 5</a:t>
            </a:r>
            <a:r>
              <a:rPr lang="vi" sz="1253">
                <a:solidFill>
                  <a:srgbClr val="08005F"/>
                </a:solidFill>
              </a:rPr>
              <a:t>: Sau khi hoàn thiện dịch, thực hiện check format file, check hiển thị trước khi gửi cho khách hàng.</a:t>
            </a:r>
            <a:endParaRPr sz="1253">
              <a:solidFill>
                <a:srgbClr val="FFFFFF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7"/>
          <p:cNvSpPr txBox="1"/>
          <p:nvPr/>
        </p:nvSpPr>
        <p:spPr>
          <a:xfrm>
            <a:off x="976700" y="292663"/>
            <a:ext cx="61710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78150" lIns="78150" spcFirstLastPara="1" rIns="78150" wrap="square" tIns="78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z="3077">
                <a:solidFill>
                  <a:srgbClr val="351C75"/>
                </a:solidFill>
              </a:rPr>
              <a:t>X</a:t>
            </a:r>
            <a:r>
              <a:rPr lang="vi" sz="3077">
                <a:solidFill>
                  <a:srgbClr val="351C75"/>
                </a:solidFill>
              </a:rPr>
              <a:t>ử lý dịch</a:t>
            </a:r>
            <a:endParaRPr sz="3077">
              <a:solidFill>
                <a:srgbClr val="351C75"/>
              </a:solidFill>
            </a:endParaRPr>
          </a:p>
        </p:txBody>
      </p:sp>
      <p:sp>
        <p:nvSpPr>
          <p:cNvPr id="308" name="Google Shape;308;p37"/>
          <p:cNvSpPr txBox="1"/>
          <p:nvPr/>
        </p:nvSpPr>
        <p:spPr>
          <a:xfrm>
            <a:off x="1189809" y="987317"/>
            <a:ext cx="6473700" cy="34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58625" lIns="58625" spcFirstLastPara="1" rIns="58625" wrap="square" tIns="58625">
            <a:spAutoFit/>
          </a:bodyPr>
          <a:lstStyle/>
          <a:p>
            <a:pPr indent="0" lvl="0" marL="293122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6"/>
              <a:buFont typeface="Arial"/>
              <a:buNone/>
            </a:pPr>
            <a:r>
              <a:rPr lang="vi" sz="1603">
                <a:solidFill>
                  <a:srgbClr val="08005F"/>
                </a:solidFill>
              </a:rPr>
              <a:t>Xác định khối lượng tài liệu: </a:t>
            </a:r>
            <a:endParaRPr sz="1603">
              <a:solidFill>
                <a:srgbClr val="08005F"/>
              </a:solidFill>
            </a:endParaRPr>
          </a:p>
          <a:p>
            <a:pPr indent="0" lvl="0" marL="293122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6"/>
              <a:buFont typeface="Arial"/>
              <a:buNone/>
            </a:pPr>
            <a:r>
              <a:t/>
            </a:r>
            <a:endParaRPr sz="1603">
              <a:solidFill>
                <a:srgbClr val="08005F"/>
              </a:solidFill>
            </a:endParaRPr>
          </a:p>
          <a:p>
            <a:pPr indent="-248339" lvl="0" marL="293122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8005F"/>
              </a:buClr>
              <a:buSzPts val="1603"/>
              <a:buChar char="-"/>
            </a:pPr>
            <a:r>
              <a:rPr lang="vi" sz="1603">
                <a:solidFill>
                  <a:srgbClr val="08005F"/>
                </a:solidFill>
              </a:rPr>
              <a:t>Trường hợp tài liệu khoảng &lt; 1,5 page, 1~2 sheet: Có thể dịch và trả file hoàn thiện được -&gt; dịch và trả luôn 1 lần. </a:t>
            </a:r>
            <a:endParaRPr sz="1603">
              <a:solidFill>
                <a:srgbClr val="08005F"/>
              </a:solidFill>
            </a:endParaRPr>
          </a:p>
          <a:p>
            <a:pPr indent="0" lvl="0" marL="293122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3">
              <a:solidFill>
                <a:srgbClr val="08005F"/>
              </a:solidFill>
            </a:endParaRPr>
          </a:p>
          <a:p>
            <a:pPr indent="-248339" lvl="0" marL="293122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8005F"/>
              </a:buClr>
              <a:buSzPts val="1603"/>
              <a:buChar char="-"/>
            </a:pPr>
            <a:r>
              <a:rPr lang="vi" sz="1603">
                <a:solidFill>
                  <a:srgbClr val="08005F"/>
                </a:solidFill>
              </a:rPr>
              <a:t>Trường hợp tài liệu dài &gt; 2 pages, &gt; 2 sheets trở lên, tốn thời gian dịch và chờ đợi, có khả năng ảnh hưởng tiến độ phát triển: Dịch và trả file 2 lần.</a:t>
            </a:r>
            <a:endParaRPr sz="1603">
              <a:solidFill>
                <a:srgbClr val="08005F"/>
              </a:solidFill>
            </a:endParaRPr>
          </a:p>
          <a:p>
            <a:pPr indent="0" lvl="0" marL="293122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3">
              <a:solidFill>
                <a:srgbClr val="08005F"/>
              </a:solidFill>
            </a:endParaRPr>
          </a:p>
          <a:p>
            <a:pPr indent="0" lvl="0" marL="293122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1603">
                <a:solidFill>
                  <a:srgbClr val="08005F"/>
                </a:solidFill>
              </a:rPr>
              <a:t>+ Lần 1: Xử lý nhanh tài liệu bằng tool và trả file nhanh chóng. Báo trước là file chưa được review, team đọc tạm trước. </a:t>
            </a:r>
            <a:endParaRPr sz="1603">
              <a:solidFill>
                <a:srgbClr val="08005F"/>
              </a:solidFill>
            </a:endParaRPr>
          </a:p>
          <a:p>
            <a:pPr indent="0" lvl="0" marL="293122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1603">
                <a:solidFill>
                  <a:srgbClr val="08005F"/>
                </a:solidFill>
              </a:rPr>
              <a:t>+ Lần 2: Review và trả team file hoàn thiện. </a:t>
            </a:r>
            <a:endParaRPr sz="1603">
              <a:solidFill>
                <a:srgbClr val="08005F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8"/>
          <p:cNvSpPr txBox="1"/>
          <p:nvPr/>
        </p:nvSpPr>
        <p:spPr>
          <a:xfrm>
            <a:off x="631800" y="429900"/>
            <a:ext cx="7880400" cy="5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84725" lIns="84725" spcFirstLastPara="1" rIns="84725" wrap="square" tIns="84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z="3336">
                <a:solidFill>
                  <a:srgbClr val="351C75"/>
                </a:solidFill>
              </a:rPr>
              <a:t>Ứng dụng AI vào xử lý dịch nhanh</a:t>
            </a:r>
            <a:endParaRPr sz="1668">
              <a:solidFill>
                <a:srgbClr val="351C75"/>
              </a:solidFill>
            </a:endParaRPr>
          </a:p>
        </p:txBody>
      </p:sp>
      <p:sp>
        <p:nvSpPr>
          <p:cNvPr id="314" name="Google Shape;314;p38"/>
          <p:cNvSpPr txBox="1"/>
          <p:nvPr/>
        </p:nvSpPr>
        <p:spPr>
          <a:xfrm>
            <a:off x="949922" y="2862550"/>
            <a:ext cx="4946400" cy="13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63525" lIns="63525" spcFirstLastPara="1" rIns="63525" wrap="square" tIns="63525">
            <a:spAutoFit/>
          </a:bodyPr>
          <a:lstStyle/>
          <a:p>
            <a:pPr indent="0" lvl="0" marL="317751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12"/>
              <a:buFont typeface="Arial"/>
              <a:buNone/>
            </a:pPr>
            <a:r>
              <a:rPr lang="vi" sz="1737">
                <a:solidFill>
                  <a:srgbClr val="CC0000"/>
                </a:solidFill>
              </a:rPr>
              <a:t>Sử dụng Google Dịch</a:t>
            </a:r>
            <a:endParaRPr sz="1737">
              <a:solidFill>
                <a:srgbClr val="CC0000"/>
              </a:solidFill>
            </a:endParaRPr>
          </a:p>
          <a:p>
            <a:pPr indent="0" lvl="0" marL="31775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12"/>
              <a:buFont typeface="Arial"/>
              <a:buNone/>
            </a:pPr>
            <a:r>
              <a:rPr lang="vi" sz="1737">
                <a:solidFill>
                  <a:srgbClr val="CC0000"/>
                </a:solidFill>
              </a:rPr>
              <a:t>Sử dụng ChatGPT, Claude</a:t>
            </a:r>
            <a:endParaRPr sz="1737">
              <a:solidFill>
                <a:srgbClr val="CC0000"/>
              </a:solidFill>
            </a:endParaRPr>
          </a:p>
          <a:p>
            <a:pPr indent="0" lvl="0" marL="31775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12"/>
              <a:buFont typeface="Arial"/>
              <a:buNone/>
            </a:pPr>
            <a:r>
              <a:rPr lang="vi" sz="1737">
                <a:solidFill>
                  <a:srgbClr val="CC0000"/>
                </a:solidFill>
              </a:rPr>
              <a:t>Sử dụng Script dịch</a:t>
            </a:r>
            <a:endParaRPr sz="1737">
              <a:solidFill>
                <a:srgbClr val="CC0000"/>
              </a:solidFill>
            </a:endParaRPr>
          </a:p>
          <a:p>
            <a:pPr indent="0" lvl="0" marL="31775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12"/>
              <a:buFont typeface="Arial"/>
              <a:buNone/>
            </a:pPr>
            <a:r>
              <a:rPr lang="vi" sz="1737">
                <a:solidFill>
                  <a:srgbClr val="CC0000"/>
                </a:solidFill>
              </a:rPr>
              <a:t>Sử dụng dịch trên Google Doc, Google sheet</a:t>
            </a:r>
            <a:endParaRPr sz="1737">
              <a:solidFill>
                <a:srgbClr val="CC0000"/>
              </a:solidFill>
            </a:endParaRPr>
          </a:p>
        </p:txBody>
      </p:sp>
      <p:sp>
        <p:nvSpPr>
          <p:cNvPr id="315" name="Google Shape;315;p38"/>
          <p:cNvSpPr txBox="1"/>
          <p:nvPr/>
        </p:nvSpPr>
        <p:spPr>
          <a:xfrm>
            <a:off x="1256698" y="1214192"/>
            <a:ext cx="6630600" cy="14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63525" lIns="63525" spcFirstLastPara="1" rIns="63525" wrap="square" tIns="635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z="1737">
                <a:solidFill>
                  <a:srgbClr val="08005F"/>
                </a:solidFill>
              </a:rPr>
              <a:t>Trường hợp:</a:t>
            </a:r>
            <a:endParaRPr sz="1737">
              <a:solidFill>
                <a:srgbClr val="08005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z="1737">
                <a:solidFill>
                  <a:srgbClr val="08005F"/>
                </a:solidFill>
              </a:rPr>
              <a:t>Phụ trách nhiều dự án </a:t>
            </a:r>
            <a:endParaRPr sz="1737">
              <a:solidFill>
                <a:srgbClr val="08005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z="1737">
                <a:solidFill>
                  <a:srgbClr val="08005F"/>
                </a:solidFill>
              </a:rPr>
              <a:t>Cần tăng tốc độ dịch thuật gấp 2–3 lần.</a:t>
            </a:r>
            <a:endParaRPr sz="1737">
              <a:solidFill>
                <a:srgbClr val="08005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z="1737">
                <a:solidFill>
                  <a:srgbClr val="08005F"/>
                </a:solidFill>
              </a:rPr>
              <a:t>Duy trì tính nhất quán.</a:t>
            </a:r>
            <a:endParaRPr sz="1737">
              <a:solidFill>
                <a:srgbClr val="08005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z="1737">
                <a:solidFill>
                  <a:srgbClr val="08005F"/>
                </a:solidFill>
              </a:rPr>
              <a:t>Hạn chế lỗi và công sức hiệu đính.</a:t>
            </a:r>
            <a:endParaRPr sz="1737">
              <a:solidFill>
                <a:srgbClr val="08005F"/>
              </a:solidFill>
            </a:endParaRPr>
          </a:p>
        </p:txBody>
      </p:sp>
      <p:sp>
        <p:nvSpPr>
          <p:cNvPr id="316" name="Google Shape;316;p38"/>
          <p:cNvSpPr/>
          <p:nvPr/>
        </p:nvSpPr>
        <p:spPr>
          <a:xfrm>
            <a:off x="5779846" y="1930949"/>
            <a:ext cx="2923800" cy="1281600"/>
          </a:xfrm>
          <a:prstGeom prst="rect">
            <a:avLst/>
          </a:prstGeom>
          <a:solidFill>
            <a:srgbClr val="D1D1EB"/>
          </a:solidFill>
          <a:ln cap="flat" cmpd="sng" w="66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525" lIns="63525" spcFirstLastPara="1" rIns="63525" wrap="square" tIns="63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z="2085">
                <a:solidFill>
                  <a:srgbClr val="FF0000"/>
                </a:solidFill>
              </a:rPr>
              <a:t>Hướng dẫn cụ thể trong khóa Thực Hành Dịch cho BrSE, Comtor</a:t>
            </a:r>
            <a:endParaRPr sz="2085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40"/>
          <p:cNvSpPr txBox="1"/>
          <p:nvPr/>
        </p:nvSpPr>
        <p:spPr>
          <a:xfrm>
            <a:off x="1569651" y="741775"/>
            <a:ext cx="63840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53050" lIns="53050" spcFirstLastPara="1" rIns="53050" wrap="square" tIns="53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7"/>
              <a:buFont typeface="Arial"/>
              <a:buNone/>
            </a:pPr>
            <a:r>
              <a:rPr b="1" lang="vi" sz="1741">
                <a:solidFill>
                  <a:srgbClr val="08005F"/>
                </a:solidFill>
              </a:rPr>
              <a:t>Một số chú ý khi dịch xuôi từ ngôn ngữ khác -&gt; tiếng Việt</a:t>
            </a:r>
            <a:endParaRPr b="1" i="0" sz="1741" u="none" cap="none" strike="noStrike">
              <a:solidFill>
                <a:srgbClr val="08005F"/>
              </a:solidFill>
            </a:endParaRPr>
          </a:p>
        </p:txBody>
      </p:sp>
      <p:sp>
        <p:nvSpPr>
          <p:cNvPr id="326" name="Google Shape;326;p40"/>
          <p:cNvSpPr txBox="1"/>
          <p:nvPr/>
        </p:nvSpPr>
        <p:spPr>
          <a:xfrm>
            <a:off x="1757069" y="1284484"/>
            <a:ext cx="5817300" cy="8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53050" lIns="53050" spcFirstLastPara="1" rIns="53050" wrap="square" tIns="53050">
            <a:spAutoFit/>
          </a:bodyPr>
          <a:lstStyle/>
          <a:p>
            <a:pPr indent="-221123" lvl="0" marL="26534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1393"/>
              <a:buChar char="-"/>
            </a:pPr>
            <a:r>
              <a:rPr lang="vi" sz="1393">
                <a:solidFill>
                  <a:srgbClr val="351C75"/>
                </a:solidFill>
              </a:rPr>
              <a:t>Dịch song ngữ đối với tên item, message, tên button, để lại từ gốc theo công thức </a:t>
            </a:r>
            <a:r>
              <a:rPr b="1" lang="vi" sz="1393">
                <a:solidFill>
                  <a:srgbClr val="351C75"/>
                </a:solidFill>
              </a:rPr>
              <a:t>[ログイン/Login]</a:t>
            </a:r>
            <a:endParaRPr b="1" sz="1393">
              <a:solidFill>
                <a:srgbClr val="351C75"/>
              </a:solidFill>
            </a:endParaRPr>
          </a:p>
          <a:p>
            <a:pPr indent="-221123" lvl="0" marL="26534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1393"/>
              <a:buChar char="-"/>
            </a:pPr>
            <a:r>
              <a:rPr lang="vi" sz="1393">
                <a:solidFill>
                  <a:srgbClr val="351C75"/>
                </a:solidFill>
              </a:rPr>
              <a:t>Đặt các phần cố định như tên item, message vào ngoặc </a:t>
            </a:r>
            <a:r>
              <a:rPr b="1" lang="vi" sz="1393">
                <a:solidFill>
                  <a:srgbClr val="351C75"/>
                </a:solidFill>
              </a:rPr>
              <a:t>“ ”  [ ] </a:t>
            </a:r>
            <a:endParaRPr b="1" sz="1393">
              <a:solidFill>
                <a:srgbClr val="351C75"/>
              </a:solidFill>
            </a:endParaRPr>
          </a:p>
        </p:txBody>
      </p:sp>
      <p:sp>
        <p:nvSpPr>
          <p:cNvPr id="327" name="Google Shape;327;p40"/>
          <p:cNvSpPr txBox="1"/>
          <p:nvPr/>
        </p:nvSpPr>
        <p:spPr>
          <a:xfrm>
            <a:off x="1569650" y="2272750"/>
            <a:ext cx="6315900" cy="1575900"/>
          </a:xfrm>
          <a:prstGeom prst="rect">
            <a:avLst/>
          </a:prstGeom>
          <a:noFill/>
          <a:ln>
            <a:noFill/>
          </a:ln>
        </p:spPr>
        <p:txBody>
          <a:bodyPr anchorCtr="0" anchor="t" bIns="53050" lIns="53050" spcFirstLastPara="1" rIns="53050" wrap="square" tIns="5305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96"/>
              </a:spcBef>
              <a:spcAft>
                <a:spcPts val="0"/>
              </a:spcAft>
              <a:buNone/>
            </a:pPr>
            <a:r>
              <a:rPr lang="vi" sz="1393">
                <a:solidFill>
                  <a:srgbClr val="351C75"/>
                </a:solidFill>
              </a:rPr>
              <a:t>Ví dụ về Message：</a:t>
            </a:r>
            <a:endParaRPr sz="1393">
              <a:solidFill>
                <a:srgbClr val="351C7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96"/>
              </a:spcBef>
              <a:spcAft>
                <a:spcPts val="0"/>
              </a:spcAft>
              <a:buNone/>
            </a:pPr>
            <a:r>
              <a:rPr lang="vi" sz="1393">
                <a:solidFill>
                  <a:srgbClr val="351C75"/>
                </a:solidFill>
              </a:rPr>
              <a:t>パスワードが間違っています。エラーメッセージを確認してください。</a:t>
            </a:r>
            <a:endParaRPr sz="1393">
              <a:solidFill>
                <a:srgbClr val="351C7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96"/>
              </a:spcBef>
              <a:spcAft>
                <a:spcPts val="0"/>
              </a:spcAft>
              <a:buNone/>
            </a:pPr>
            <a:r>
              <a:rPr lang="vi" sz="1393">
                <a:solidFill>
                  <a:srgbClr val="351C75"/>
                </a:solidFill>
              </a:rPr>
              <a:t>Dịch là:</a:t>
            </a:r>
            <a:endParaRPr sz="1393">
              <a:solidFill>
                <a:srgbClr val="351C7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96"/>
              </a:spcBef>
              <a:spcAft>
                <a:spcPts val="696"/>
              </a:spcAft>
              <a:buNone/>
            </a:pPr>
            <a:r>
              <a:rPr lang="vi" sz="1393">
                <a:solidFill>
                  <a:srgbClr val="351C75"/>
                </a:solidFill>
              </a:rPr>
              <a:t>[パスワードが間違っています。エラーメッセージを確認してください。/Mật khẩu không đúng. Vui lòng kiểm tra thông báo lỗi.]</a:t>
            </a:r>
            <a:endParaRPr sz="1393">
              <a:solidFill>
                <a:srgbClr val="351C75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1"/>
          <p:cNvSpPr txBox="1"/>
          <p:nvPr/>
        </p:nvSpPr>
        <p:spPr>
          <a:xfrm>
            <a:off x="890575" y="660200"/>
            <a:ext cx="7521900" cy="39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vi" sz="1800">
                <a:solidFill>
                  <a:srgbClr val="351C75"/>
                </a:solidFill>
              </a:rPr>
              <a:t>Ví dụ về tên Item:</a:t>
            </a:r>
            <a:br>
              <a:rPr b="1" lang="vi" sz="1800">
                <a:solidFill>
                  <a:srgbClr val="351C75"/>
                </a:solidFill>
              </a:rPr>
            </a:br>
            <a:r>
              <a:rPr b="1" lang="vi" sz="1800">
                <a:solidFill>
                  <a:srgbClr val="351C75"/>
                </a:solidFill>
              </a:rPr>
              <a:t>メール配信設定</a:t>
            </a:r>
            <a:r>
              <a:rPr lang="vi" sz="1800">
                <a:solidFill>
                  <a:srgbClr val="351C75"/>
                </a:solidFill>
              </a:rPr>
              <a:t>は有効にしてください。</a:t>
            </a:r>
            <a:endParaRPr sz="1800">
              <a:solidFill>
                <a:srgbClr val="351C7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vi" sz="1800">
                <a:solidFill>
                  <a:srgbClr val="351C75"/>
                </a:solidFill>
              </a:rPr>
              <a:t>Dịch là:</a:t>
            </a:r>
            <a:br>
              <a:rPr b="1" lang="vi" sz="1800">
                <a:solidFill>
                  <a:srgbClr val="351C75"/>
                </a:solidFill>
              </a:rPr>
            </a:br>
            <a:r>
              <a:rPr lang="vi" sz="1800">
                <a:solidFill>
                  <a:srgbClr val="351C75"/>
                </a:solidFill>
              </a:rPr>
              <a:t> Hãy thiết lập [メール配信設定/Email Delivery Settings] thành trạng thái "Enable".  (hoặc [メール配信設定/Cài đặt gửi thư])</a:t>
            </a:r>
            <a:endParaRPr sz="1800">
              <a:solidFill>
                <a:srgbClr val="351C7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rgbClr val="351C7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vi" sz="1800">
                <a:solidFill>
                  <a:srgbClr val="351C75"/>
                </a:solidFill>
              </a:rPr>
              <a:t>→ </a:t>
            </a:r>
            <a:r>
              <a:rPr i="1" lang="vi" sz="1800">
                <a:solidFill>
                  <a:srgbClr val="351C75"/>
                </a:solidFill>
              </a:rPr>
              <a:t>Lý do: khi dịch ngược, nếu không có phần [メール配信設定/Email Delivery Settings] thì có thể không dùng chính xác tên item trong hệ thống. Có thể sẽ dịch là </a:t>
            </a:r>
            <a:r>
              <a:rPr lang="vi" sz="1800">
                <a:solidFill>
                  <a:srgbClr val="351C75"/>
                </a:solidFill>
              </a:rPr>
              <a:t>メール送信設定 chẳng hạn.</a:t>
            </a:r>
            <a:endParaRPr i="1" sz="1800">
              <a:solidFill>
                <a:srgbClr val="351C7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rgbClr val="351C75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42"/>
          <p:cNvSpPr txBox="1"/>
          <p:nvPr/>
        </p:nvSpPr>
        <p:spPr>
          <a:xfrm>
            <a:off x="821400" y="362775"/>
            <a:ext cx="7501200" cy="36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vi" sz="1800">
                <a:solidFill>
                  <a:srgbClr val="351C75"/>
                </a:solidFill>
              </a:rPr>
              <a:t>Ví dụ về Button</a:t>
            </a:r>
            <a:endParaRPr b="1" sz="1800">
              <a:solidFill>
                <a:srgbClr val="351C7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br>
              <a:rPr b="1" lang="vi" sz="1800">
                <a:solidFill>
                  <a:srgbClr val="351C75"/>
                </a:solidFill>
              </a:rPr>
            </a:br>
            <a:r>
              <a:rPr lang="vi" sz="1800">
                <a:solidFill>
                  <a:srgbClr val="351C75"/>
                </a:solidFill>
              </a:rPr>
              <a:t>変更内容を保存するボタンのラベルを「下書きとして保存」にしてください。</a:t>
            </a:r>
            <a:endParaRPr sz="1800">
              <a:solidFill>
                <a:srgbClr val="351C7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vi" sz="1800">
                <a:solidFill>
                  <a:srgbClr val="351C75"/>
                </a:solidFill>
              </a:rPr>
              <a:t>Hãy để lable của button lưu nội dung thay đổi là</a:t>
            </a:r>
            <a:r>
              <a:rPr lang="vi" sz="1800">
                <a:solidFill>
                  <a:srgbClr val="351C75"/>
                </a:solidFill>
              </a:rPr>
              <a:t>「</a:t>
            </a:r>
            <a:r>
              <a:rPr lang="vi" sz="1800">
                <a:solidFill>
                  <a:srgbClr val="351C75"/>
                </a:solidFill>
              </a:rPr>
              <a:t>下書きとして保存/</a:t>
            </a:r>
            <a:r>
              <a:rPr lang="vi" sz="1800">
                <a:solidFill>
                  <a:srgbClr val="351C75"/>
                </a:solidFill>
              </a:rPr>
              <a:t>Lưu nháp」.</a:t>
            </a:r>
            <a:endParaRPr sz="1800">
              <a:solidFill>
                <a:srgbClr val="351C7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rgbClr val="351C7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vi" sz="1800">
                <a:solidFill>
                  <a:srgbClr val="351C75"/>
                </a:solidFill>
              </a:rPr>
              <a:t>→ </a:t>
            </a:r>
            <a:r>
              <a:rPr i="1" lang="vi" sz="1800">
                <a:solidFill>
                  <a:srgbClr val="351C75"/>
                </a:solidFill>
              </a:rPr>
              <a:t>Nếu không giữ song ngữ, khi dịch ngược, team viết là "Lưu nháp" có thể bị dịch nhầm thành 一時保存、下書き保存 chẳng hạn</a:t>
            </a:r>
            <a:endParaRPr sz="1800">
              <a:solidFill>
                <a:srgbClr val="351C75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3"/>
          <p:cNvSpPr txBox="1"/>
          <p:nvPr/>
        </p:nvSpPr>
        <p:spPr>
          <a:xfrm>
            <a:off x="1132650" y="1136800"/>
            <a:ext cx="6878700" cy="24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351C7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vi" sz="1800" u="none" cap="none" strike="noStrike">
                <a:solidFill>
                  <a:srgbClr val="351C75"/>
                </a:solidFill>
                <a:latin typeface="Arial"/>
                <a:ea typeface="Arial"/>
                <a:cs typeface="Arial"/>
                <a:sym typeface="Arial"/>
              </a:rPr>
              <a:t>Giữ nguyên các thuật ngữ tiếng Anh thường dùng, ví dụ như 'class', 'method', 'UT', 'IT', 'file', </a:t>
            </a:r>
            <a:r>
              <a:rPr lang="vi" sz="1800">
                <a:solidFill>
                  <a:srgbClr val="351C75"/>
                </a:solidFill>
              </a:rPr>
              <a:t>“enable” “disable”</a:t>
            </a:r>
            <a:endParaRPr sz="1800">
              <a:solidFill>
                <a:srgbClr val="351C75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800">
              <a:solidFill>
                <a:srgbClr val="351C75"/>
              </a:solidFill>
            </a:endParaRPr>
          </a:p>
          <a:p>
            <a:pPr indent="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1800">
                <a:solidFill>
                  <a:srgbClr val="351C75"/>
                </a:solidFill>
              </a:rPr>
              <a:t>Ví dụ:</a:t>
            </a:r>
            <a:endParaRPr sz="1800">
              <a:solidFill>
                <a:srgbClr val="351C75"/>
              </a:solidFill>
            </a:endParaRPr>
          </a:p>
          <a:p>
            <a:pPr indent="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1800">
                <a:solidFill>
                  <a:srgbClr val="351C75"/>
                </a:solidFill>
              </a:rPr>
              <a:t>生成: Gen, generate            プルダウン: Pulldown </a:t>
            </a:r>
            <a:endParaRPr sz="1800">
              <a:solidFill>
                <a:srgbClr val="351C75"/>
              </a:solidFill>
            </a:endParaRPr>
          </a:p>
          <a:p>
            <a:pPr indent="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1800">
                <a:solidFill>
                  <a:srgbClr val="351C75"/>
                </a:solidFill>
              </a:rPr>
              <a:t>非活性: Inactive                   活性: Active</a:t>
            </a:r>
            <a:endParaRPr sz="1800">
              <a:solidFill>
                <a:srgbClr val="351C75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44"/>
          <p:cNvSpPr txBox="1"/>
          <p:nvPr/>
        </p:nvSpPr>
        <p:spPr>
          <a:xfrm>
            <a:off x="971250" y="867175"/>
            <a:ext cx="7197900" cy="29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77"/>
              <a:buFont typeface="Arial"/>
              <a:buNone/>
            </a:pPr>
            <a:r>
              <a:rPr b="1" lang="vi" sz="1741">
                <a:solidFill>
                  <a:srgbClr val="08005F"/>
                </a:solidFill>
              </a:rPr>
              <a:t>Một số chú ý khi dịch ngược từ tiếng Việt -&gt; ngôn ngữ khác</a:t>
            </a:r>
            <a:endParaRPr sz="1800">
              <a:solidFill>
                <a:srgbClr val="351C75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rgbClr val="351C75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1800"/>
              <a:buChar char="-"/>
            </a:pPr>
            <a:r>
              <a:rPr lang="vi" sz="1800">
                <a:solidFill>
                  <a:srgbClr val="351C75"/>
                </a:solidFill>
              </a:rPr>
              <a:t>Cần giữ nguyên định dạng file gốc, sheet, item, column, không thay đổi thứ tự.  </a:t>
            </a:r>
            <a:endParaRPr sz="1800">
              <a:solidFill>
                <a:srgbClr val="351C75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1800"/>
              <a:buChar char="-"/>
            </a:pPr>
            <a:r>
              <a:rPr lang="vi" sz="1800">
                <a:solidFill>
                  <a:srgbClr val="351C75"/>
                </a:solidFill>
              </a:rPr>
              <a:t>Cần quản lý thống nhất 1 nguồn với khách hàng.</a:t>
            </a:r>
            <a:endParaRPr sz="1800">
              <a:solidFill>
                <a:srgbClr val="351C75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1800"/>
              <a:buChar char="-"/>
            </a:pPr>
            <a:r>
              <a:rPr lang="vi" sz="1800">
                <a:solidFill>
                  <a:srgbClr val="351C75"/>
                </a:solidFill>
              </a:rPr>
              <a:t>Nhất quán trong việc sử dụng thuật ngữ.</a:t>
            </a:r>
            <a:endParaRPr sz="1800">
              <a:solidFill>
                <a:srgbClr val="351C75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1800"/>
              <a:buChar char="-"/>
            </a:pPr>
            <a:r>
              <a:rPr lang="vi" sz="1800">
                <a:solidFill>
                  <a:srgbClr val="351C75"/>
                </a:solidFill>
              </a:rPr>
              <a:t>Chú ý khi dịch con số (hay gặp trong testcase)</a:t>
            </a:r>
            <a:endParaRPr sz="1800">
              <a:solidFill>
                <a:srgbClr val="351C75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vi" sz="1800">
                <a:solidFill>
                  <a:srgbClr val="351C75"/>
                </a:solidFill>
              </a:rPr>
              <a:t>＞＝100      ＜＝100     = 100</a:t>
            </a:r>
            <a:endParaRPr sz="1800">
              <a:solidFill>
                <a:srgbClr val="351C75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vi" sz="1800">
                <a:solidFill>
                  <a:srgbClr val="351C75"/>
                </a:solidFill>
              </a:rPr>
              <a:t>&lt; 100           &gt; 100</a:t>
            </a:r>
            <a:endParaRPr sz="1800">
              <a:solidFill>
                <a:srgbClr val="351C75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45"/>
          <p:cNvSpPr txBox="1"/>
          <p:nvPr/>
        </p:nvSpPr>
        <p:spPr>
          <a:xfrm>
            <a:off x="160950" y="1934500"/>
            <a:ext cx="8822100" cy="661200"/>
          </a:xfrm>
          <a:prstGeom prst="rect">
            <a:avLst/>
          </a:prstGeom>
          <a:solidFill>
            <a:srgbClr val="CA2F47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3600">
                <a:solidFill>
                  <a:srgbClr val="FFFFFF"/>
                </a:solidFill>
              </a:rPr>
              <a:t>Mẫu tài liệu thường gặp</a:t>
            </a:r>
            <a:endParaRPr b="1" sz="36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46"/>
          <p:cNvSpPr txBox="1"/>
          <p:nvPr/>
        </p:nvSpPr>
        <p:spPr>
          <a:xfrm>
            <a:off x="752100" y="596875"/>
            <a:ext cx="28224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z="3000">
                <a:solidFill>
                  <a:srgbClr val="351C75"/>
                </a:solidFill>
              </a:rPr>
              <a:t>Weekly report</a:t>
            </a:r>
            <a:endParaRPr sz="3000">
              <a:solidFill>
                <a:srgbClr val="351C75"/>
              </a:solidFill>
            </a:endParaRPr>
          </a:p>
        </p:txBody>
      </p:sp>
      <p:sp>
        <p:nvSpPr>
          <p:cNvPr id="358" name="Google Shape;358;p46"/>
          <p:cNvSpPr/>
          <p:nvPr/>
        </p:nvSpPr>
        <p:spPr>
          <a:xfrm>
            <a:off x="867600" y="1523725"/>
            <a:ext cx="7320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sz="1800">
              <a:solidFill>
                <a:srgbClr val="151515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47"/>
          <p:cNvSpPr txBox="1"/>
          <p:nvPr/>
        </p:nvSpPr>
        <p:spPr>
          <a:xfrm>
            <a:off x="752100" y="596875"/>
            <a:ext cx="28224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z="3000">
                <a:solidFill>
                  <a:srgbClr val="351C75"/>
                </a:solidFill>
              </a:rPr>
              <a:t>Testcase</a:t>
            </a:r>
            <a:endParaRPr sz="3000">
              <a:solidFill>
                <a:srgbClr val="351C75"/>
              </a:solidFill>
            </a:endParaRPr>
          </a:p>
        </p:txBody>
      </p:sp>
      <p:sp>
        <p:nvSpPr>
          <p:cNvPr id="364" name="Google Shape;364;p47"/>
          <p:cNvSpPr/>
          <p:nvPr/>
        </p:nvSpPr>
        <p:spPr>
          <a:xfrm>
            <a:off x="867600" y="1523725"/>
            <a:ext cx="7320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sz="1800">
              <a:solidFill>
                <a:srgbClr val="151515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48"/>
          <p:cNvSpPr txBox="1"/>
          <p:nvPr/>
        </p:nvSpPr>
        <p:spPr>
          <a:xfrm>
            <a:off x="752100" y="596875"/>
            <a:ext cx="28224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z="3000">
                <a:solidFill>
                  <a:srgbClr val="351C75"/>
                </a:solidFill>
              </a:rPr>
              <a:t>Q&amp;A</a:t>
            </a:r>
            <a:endParaRPr sz="3000">
              <a:solidFill>
                <a:srgbClr val="351C75"/>
              </a:solidFill>
            </a:endParaRPr>
          </a:p>
        </p:txBody>
      </p:sp>
      <p:sp>
        <p:nvSpPr>
          <p:cNvPr id="370" name="Google Shape;370;p48"/>
          <p:cNvSpPr/>
          <p:nvPr/>
        </p:nvSpPr>
        <p:spPr>
          <a:xfrm>
            <a:off x="867600" y="1523725"/>
            <a:ext cx="7320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sz="1800">
              <a:solidFill>
                <a:srgbClr val="151515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49"/>
          <p:cNvSpPr txBox="1"/>
          <p:nvPr/>
        </p:nvSpPr>
        <p:spPr>
          <a:xfrm>
            <a:off x="752100" y="596875"/>
            <a:ext cx="38796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z="3000">
                <a:solidFill>
                  <a:srgbClr val="351C75"/>
                </a:solidFill>
              </a:rPr>
              <a:t>Kickoff meeting</a:t>
            </a:r>
            <a:endParaRPr sz="3000">
              <a:solidFill>
                <a:srgbClr val="351C75"/>
              </a:solidFill>
            </a:endParaRPr>
          </a:p>
        </p:txBody>
      </p:sp>
      <p:sp>
        <p:nvSpPr>
          <p:cNvPr id="376" name="Google Shape;376;p49"/>
          <p:cNvSpPr/>
          <p:nvPr/>
        </p:nvSpPr>
        <p:spPr>
          <a:xfrm>
            <a:off x="867600" y="1523725"/>
            <a:ext cx="7320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sz="1800">
              <a:solidFill>
                <a:srgbClr val="151515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50"/>
          <p:cNvSpPr txBox="1"/>
          <p:nvPr/>
        </p:nvSpPr>
        <p:spPr>
          <a:xfrm>
            <a:off x="752100" y="596875"/>
            <a:ext cx="38796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z="3000">
                <a:solidFill>
                  <a:srgbClr val="351C75"/>
                </a:solidFill>
              </a:rPr>
              <a:t>Closing</a:t>
            </a:r>
            <a:r>
              <a:rPr lang="vi" sz="3000">
                <a:solidFill>
                  <a:srgbClr val="351C75"/>
                </a:solidFill>
              </a:rPr>
              <a:t> meeting</a:t>
            </a:r>
            <a:endParaRPr sz="3000">
              <a:solidFill>
                <a:srgbClr val="351C75"/>
              </a:solidFill>
            </a:endParaRPr>
          </a:p>
        </p:txBody>
      </p:sp>
      <p:sp>
        <p:nvSpPr>
          <p:cNvPr id="382" name="Google Shape;382;p50"/>
          <p:cNvSpPr/>
          <p:nvPr/>
        </p:nvSpPr>
        <p:spPr>
          <a:xfrm>
            <a:off x="867600" y="1523725"/>
            <a:ext cx="7320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sz="1800">
              <a:solidFill>
                <a:srgbClr val="151515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51"/>
          <p:cNvSpPr txBox="1"/>
          <p:nvPr/>
        </p:nvSpPr>
        <p:spPr>
          <a:xfrm>
            <a:off x="752100" y="596875"/>
            <a:ext cx="38796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z="3000">
                <a:solidFill>
                  <a:srgbClr val="351C75"/>
                </a:solidFill>
              </a:rPr>
              <a:t>Mail</a:t>
            </a:r>
            <a:endParaRPr sz="3000">
              <a:solidFill>
                <a:srgbClr val="351C75"/>
              </a:solidFill>
            </a:endParaRPr>
          </a:p>
        </p:txBody>
      </p:sp>
      <p:sp>
        <p:nvSpPr>
          <p:cNvPr id="388" name="Google Shape;388;p51"/>
          <p:cNvSpPr/>
          <p:nvPr/>
        </p:nvSpPr>
        <p:spPr>
          <a:xfrm>
            <a:off x="867600" y="1523725"/>
            <a:ext cx="7320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sz="1800">
              <a:solidFill>
                <a:srgbClr val="151515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52"/>
          <p:cNvSpPr txBox="1"/>
          <p:nvPr/>
        </p:nvSpPr>
        <p:spPr>
          <a:xfrm>
            <a:off x="752100" y="596875"/>
            <a:ext cx="38796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z="3000">
                <a:solidFill>
                  <a:srgbClr val="351C75"/>
                </a:solidFill>
              </a:rPr>
              <a:t>Bug list</a:t>
            </a:r>
            <a:endParaRPr sz="3000">
              <a:solidFill>
                <a:srgbClr val="351C75"/>
              </a:solidFill>
            </a:endParaRPr>
          </a:p>
        </p:txBody>
      </p:sp>
      <p:sp>
        <p:nvSpPr>
          <p:cNvPr id="394" name="Google Shape;394;p52"/>
          <p:cNvSpPr/>
          <p:nvPr/>
        </p:nvSpPr>
        <p:spPr>
          <a:xfrm>
            <a:off x="867600" y="1523725"/>
            <a:ext cx="7320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sz="1800">
              <a:solidFill>
                <a:srgbClr val="151515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53"/>
          <p:cNvSpPr txBox="1"/>
          <p:nvPr/>
        </p:nvSpPr>
        <p:spPr>
          <a:xfrm>
            <a:off x="752125" y="540250"/>
            <a:ext cx="38796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z="3000">
                <a:solidFill>
                  <a:srgbClr val="351C75"/>
                </a:solidFill>
              </a:rPr>
              <a:t>Biên bản họp</a:t>
            </a:r>
            <a:endParaRPr sz="3000">
              <a:solidFill>
                <a:srgbClr val="351C75"/>
              </a:solidFill>
            </a:endParaRPr>
          </a:p>
        </p:txBody>
      </p:sp>
      <p:sp>
        <p:nvSpPr>
          <p:cNvPr id="400" name="Google Shape;400;p53"/>
          <p:cNvSpPr/>
          <p:nvPr/>
        </p:nvSpPr>
        <p:spPr>
          <a:xfrm>
            <a:off x="867600" y="1523725"/>
            <a:ext cx="7320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sz="1800">
              <a:solidFill>
                <a:srgbClr val="151515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54"/>
          <p:cNvSpPr txBox="1"/>
          <p:nvPr/>
        </p:nvSpPr>
        <p:spPr>
          <a:xfrm>
            <a:off x="752125" y="540250"/>
            <a:ext cx="49080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z="3000">
                <a:solidFill>
                  <a:srgbClr val="351C75"/>
                </a:solidFill>
              </a:rPr>
              <a:t>Tài liệu Design</a:t>
            </a:r>
            <a:endParaRPr sz="3000">
              <a:solidFill>
                <a:srgbClr val="351C75"/>
              </a:solidFill>
            </a:endParaRPr>
          </a:p>
        </p:txBody>
      </p:sp>
      <p:sp>
        <p:nvSpPr>
          <p:cNvPr id="406" name="Google Shape;406;p54"/>
          <p:cNvSpPr/>
          <p:nvPr/>
        </p:nvSpPr>
        <p:spPr>
          <a:xfrm>
            <a:off x="867600" y="1523725"/>
            <a:ext cx="7320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sz="1800">
              <a:solidFill>
                <a:srgbClr val="151515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55"/>
          <p:cNvSpPr txBox="1"/>
          <p:nvPr/>
        </p:nvSpPr>
        <p:spPr>
          <a:xfrm>
            <a:off x="752125" y="540250"/>
            <a:ext cx="49080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z="3000">
                <a:solidFill>
                  <a:srgbClr val="351C75"/>
                </a:solidFill>
              </a:rPr>
              <a:t>Tài liệu hợp đồng NDA</a:t>
            </a:r>
            <a:endParaRPr sz="3000">
              <a:solidFill>
                <a:srgbClr val="351C75"/>
              </a:solidFill>
            </a:endParaRPr>
          </a:p>
        </p:txBody>
      </p:sp>
      <p:sp>
        <p:nvSpPr>
          <p:cNvPr id="412" name="Google Shape;412;p55"/>
          <p:cNvSpPr/>
          <p:nvPr/>
        </p:nvSpPr>
        <p:spPr>
          <a:xfrm>
            <a:off x="867600" y="1523725"/>
            <a:ext cx="7320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sz="1800">
              <a:solidFill>
                <a:srgbClr val="151515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56"/>
          <p:cNvSpPr txBox="1"/>
          <p:nvPr/>
        </p:nvSpPr>
        <p:spPr>
          <a:xfrm>
            <a:off x="752100" y="596875"/>
            <a:ext cx="10304400" cy="7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z="3000">
                <a:solidFill>
                  <a:srgbClr val="351C75"/>
                </a:solidFill>
              </a:rPr>
              <a:t>File h</a:t>
            </a:r>
            <a:r>
              <a:rPr lang="vi" sz="3000">
                <a:solidFill>
                  <a:srgbClr val="351C75"/>
                </a:solidFill>
              </a:rPr>
              <a:t>andover dự án</a:t>
            </a:r>
            <a:endParaRPr sz="3000">
              <a:solidFill>
                <a:srgbClr val="351C75"/>
              </a:solidFill>
            </a:endParaRPr>
          </a:p>
        </p:txBody>
      </p:sp>
      <p:sp>
        <p:nvSpPr>
          <p:cNvPr id="418" name="Google Shape;418;p56"/>
          <p:cNvSpPr/>
          <p:nvPr/>
        </p:nvSpPr>
        <p:spPr>
          <a:xfrm>
            <a:off x="867600" y="1523725"/>
            <a:ext cx="7320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vi" sz="1800">
                <a:solidFill>
                  <a:srgbClr val="151515"/>
                </a:solidFill>
              </a:rPr>
              <a:t>File handover: </a:t>
            </a:r>
            <a:r>
              <a:rPr b="1" lang="vi" sz="1800" u="sng">
                <a:solidFill>
                  <a:schemeClr val="hlink"/>
                </a:solidFill>
                <a:hlinkClick r:id="rId3"/>
              </a:rPr>
              <a:t>https://docs.google.com/spreadsheets/d/1-plLk7BqRHbHQjQZfG5ts_DViXgewozz/edit?usp=sharing&amp;ouid=104416917441975431198&amp;rtpof=true&amp;sd=true</a:t>
            </a:r>
            <a:r>
              <a:rPr b="1" lang="vi" sz="1800">
                <a:solidFill>
                  <a:srgbClr val="151515"/>
                </a:solidFill>
              </a:rPr>
              <a:t> </a:t>
            </a:r>
            <a:endParaRPr b="1" sz="1800">
              <a:solidFill>
                <a:srgbClr val="151515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sz="1800">
              <a:solidFill>
                <a:srgbClr val="151515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vi" sz="1800">
                <a:solidFill>
                  <a:srgbClr val="151515"/>
                </a:solidFill>
              </a:rPr>
              <a:t>File sample: </a:t>
            </a:r>
            <a:r>
              <a:rPr b="1" lang="vi" sz="1800" u="sng">
                <a:solidFill>
                  <a:schemeClr val="hlink"/>
                </a:solidFill>
                <a:hlinkClick r:id="rId4"/>
              </a:rPr>
              <a:t>https://docs.google.com/spreadsheets/d/1YYWdursZ26ftn7RyM5RO0ge4UZjYWczD/edit?usp=sharing&amp;ouid=104416917441975431198&amp;rtpof=true&amp;sd=true</a:t>
            </a:r>
            <a:r>
              <a:rPr b="1" lang="vi" sz="1800">
                <a:solidFill>
                  <a:srgbClr val="151515"/>
                </a:solidFill>
              </a:rPr>
              <a:t> </a:t>
            </a:r>
            <a:endParaRPr b="1" sz="1800">
              <a:solidFill>
                <a:srgbClr val="151515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57"/>
          <p:cNvSpPr txBox="1"/>
          <p:nvPr/>
        </p:nvSpPr>
        <p:spPr>
          <a:xfrm>
            <a:off x="752100" y="596875"/>
            <a:ext cx="10304400" cy="7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z="3000">
                <a:solidFill>
                  <a:srgbClr val="351C75"/>
                </a:solidFill>
              </a:rPr>
              <a:t>Xử lý tài liệu dài như pdf, docx, excel, ảnh </a:t>
            </a:r>
            <a:endParaRPr sz="3000">
              <a:solidFill>
                <a:srgbClr val="351C75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58"/>
          <p:cNvSpPr txBox="1"/>
          <p:nvPr/>
        </p:nvSpPr>
        <p:spPr>
          <a:xfrm>
            <a:off x="160950" y="1934500"/>
            <a:ext cx="8822100" cy="661200"/>
          </a:xfrm>
          <a:prstGeom prst="rect">
            <a:avLst/>
          </a:prstGeom>
          <a:solidFill>
            <a:srgbClr val="CA2F47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3600">
                <a:solidFill>
                  <a:srgbClr val="FFFFFF"/>
                </a:solidFill>
              </a:rPr>
              <a:t>Định hướng nghề</a:t>
            </a:r>
            <a:endParaRPr b="1" sz="36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59"/>
          <p:cNvSpPr txBox="1"/>
          <p:nvPr/>
        </p:nvSpPr>
        <p:spPr>
          <a:xfrm>
            <a:off x="664200" y="755697"/>
            <a:ext cx="7815600" cy="39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3600">
                <a:solidFill>
                  <a:srgbClr val="351C75"/>
                </a:solidFill>
              </a:rPr>
              <a:t>Hướng phát triển chính</a:t>
            </a:r>
            <a:endParaRPr b="1" sz="3600">
              <a:solidFill>
                <a:srgbClr val="351C75"/>
              </a:solidFill>
            </a:endParaRPr>
          </a:p>
        </p:txBody>
      </p:sp>
      <p:pic>
        <p:nvPicPr>
          <p:cNvPr descr="templates\picture_hover\&amp;pky310_sjzg_VCG41N1069489894&amp;" id="434" name="Google Shape;434;p59"/>
          <p:cNvPicPr preferRelativeResize="0"/>
          <p:nvPr/>
        </p:nvPicPr>
        <p:blipFill rotWithShape="1">
          <a:blip r:embed="rId3">
            <a:alphaModFix/>
          </a:blip>
          <a:srcRect b="8504" l="473" r="1054" t="8446"/>
          <a:stretch/>
        </p:blipFill>
        <p:spPr>
          <a:xfrm>
            <a:off x="6054867" y="1671892"/>
            <a:ext cx="2401520" cy="2339503"/>
          </a:xfrm>
          <a:custGeom>
            <a:rect b="b" l="l" r="r" t="t"/>
            <a:pathLst>
              <a:path extrusionOk="0" h="6136" w="5142">
                <a:moveTo>
                  <a:pt x="3065" y="0"/>
                </a:moveTo>
                <a:lnTo>
                  <a:pt x="4727" y="0"/>
                </a:lnTo>
                <a:cubicBezTo>
                  <a:pt x="4956" y="0"/>
                  <a:pt x="5142" y="186"/>
                  <a:pt x="5142" y="415"/>
                </a:cubicBezTo>
                <a:lnTo>
                  <a:pt x="5142" y="5721"/>
                </a:lnTo>
                <a:cubicBezTo>
                  <a:pt x="5142" y="5950"/>
                  <a:pt x="4956" y="6136"/>
                  <a:pt x="4727" y="6136"/>
                </a:cubicBezTo>
                <a:lnTo>
                  <a:pt x="3065" y="6136"/>
                </a:lnTo>
                <a:cubicBezTo>
                  <a:pt x="2836" y="6136"/>
                  <a:pt x="2650" y="5950"/>
                  <a:pt x="2650" y="5721"/>
                </a:cubicBezTo>
                <a:lnTo>
                  <a:pt x="2650" y="415"/>
                </a:lnTo>
                <a:cubicBezTo>
                  <a:pt x="2650" y="186"/>
                  <a:pt x="2836" y="0"/>
                  <a:pt x="3065" y="0"/>
                </a:cubicBezTo>
                <a:close/>
                <a:moveTo>
                  <a:pt x="415" y="0"/>
                </a:moveTo>
                <a:lnTo>
                  <a:pt x="2077" y="0"/>
                </a:lnTo>
                <a:cubicBezTo>
                  <a:pt x="2306" y="0"/>
                  <a:pt x="2492" y="186"/>
                  <a:pt x="2492" y="415"/>
                </a:cubicBezTo>
                <a:lnTo>
                  <a:pt x="2492" y="5721"/>
                </a:lnTo>
                <a:cubicBezTo>
                  <a:pt x="2492" y="5950"/>
                  <a:pt x="2306" y="6136"/>
                  <a:pt x="2077" y="6136"/>
                </a:cubicBezTo>
                <a:lnTo>
                  <a:pt x="415" y="6136"/>
                </a:lnTo>
                <a:cubicBezTo>
                  <a:pt x="186" y="6136"/>
                  <a:pt x="0" y="5950"/>
                  <a:pt x="0" y="5721"/>
                </a:cubicBezTo>
                <a:lnTo>
                  <a:pt x="0" y="415"/>
                </a:lnTo>
                <a:cubicBezTo>
                  <a:pt x="0" y="186"/>
                  <a:pt x="186" y="0"/>
                  <a:pt x="415" y="0"/>
                </a:cubicBezTo>
                <a:close/>
              </a:path>
            </a:pathLst>
          </a:custGeom>
          <a:noFill/>
          <a:ln cap="flat" cmpd="sng" w="6900">
            <a:solidFill>
              <a:srgbClr val="999999">
                <a:alpha val="49800"/>
              </a:srgbClr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35" name="Google Shape;435;p59"/>
          <p:cNvSpPr/>
          <p:nvPr/>
        </p:nvSpPr>
        <p:spPr>
          <a:xfrm>
            <a:off x="1742822" y="1876004"/>
            <a:ext cx="3949800" cy="421200"/>
          </a:xfrm>
          <a:prstGeom prst="rect">
            <a:avLst/>
          </a:prstGeom>
          <a:noFill/>
          <a:ln>
            <a:noFill/>
          </a:ln>
        </p:spPr>
        <p:txBody>
          <a:bodyPr anchorCtr="0" anchor="b" bIns="33075" lIns="66150" spcFirstLastPara="1" rIns="66150" wrap="square" tIns="330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1447">
                <a:solidFill>
                  <a:srgbClr val="351C75"/>
                </a:solidFill>
              </a:rPr>
              <a:t>Phát triển theo c</a:t>
            </a:r>
            <a:r>
              <a:rPr lang="vi" sz="1447">
                <a:solidFill>
                  <a:srgbClr val="351C75"/>
                </a:solidFill>
              </a:rPr>
              <a:t>hiều dọc</a:t>
            </a:r>
            <a:endParaRPr sz="1447">
              <a:solidFill>
                <a:srgbClr val="351C75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1447">
                <a:solidFill>
                  <a:srgbClr val="351C75"/>
                </a:solidFill>
              </a:rPr>
              <a:t>C</a:t>
            </a:r>
            <a:r>
              <a:rPr lang="vi" sz="1447">
                <a:solidFill>
                  <a:srgbClr val="351C75"/>
                </a:solidFill>
              </a:rPr>
              <a:t>huy</a:t>
            </a:r>
            <a:r>
              <a:rPr lang="vi" sz="1447">
                <a:solidFill>
                  <a:srgbClr val="351C75"/>
                </a:solidFill>
              </a:rPr>
              <a:t>ên sâu về ngôn ngữ: </a:t>
            </a:r>
            <a:r>
              <a:rPr lang="vi" sz="1447">
                <a:solidFill>
                  <a:srgbClr val="351C75"/>
                </a:solidFill>
              </a:rPr>
              <a:t>Comtor Leader</a:t>
            </a:r>
            <a:endParaRPr sz="1447">
              <a:solidFill>
                <a:srgbClr val="351C75"/>
              </a:solidFill>
            </a:endParaRPr>
          </a:p>
        </p:txBody>
      </p:sp>
      <p:sp>
        <p:nvSpPr>
          <p:cNvPr id="436" name="Google Shape;436;p59"/>
          <p:cNvSpPr/>
          <p:nvPr/>
        </p:nvSpPr>
        <p:spPr>
          <a:xfrm>
            <a:off x="1742822" y="3117678"/>
            <a:ext cx="3949800" cy="421200"/>
          </a:xfrm>
          <a:prstGeom prst="rect">
            <a:avLst/>
          </a:prstGeom>
          <a:noFill/>
          <a:ln>
            <a:noFill/>
          </a:ln>
        </p:spPr>
        <p:txBody>
          <a:bodyPr anchorCtr="0" anchor="b" bIns="33075" lIns="66150" spcFirstLastPara="1" rIns="66150" wrap="square" tIns="330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1447">
                <a:solidFill>
                  <a:srgbClr val="351C75"/>
                </a:solidFill>
              </a:rPr>
              <a:t>Phát triển theo c</a:t>
            </a:r>
            <a:r>
              <a:rPr lang="vi" sz="1447">
                <a:solidFill>
                  <a:srgbClr val="351C75"/>
                </a:solidFill>
              </a:rPr>
              <a:t>hiều ngang</a:t>
            </a:r>
            <a:endParaRPr sz="1447">
              <a:solidFill>
                <a:srgbClr val="351C75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1447">
                <a:solidFill>
                  <a:srgbClr val="351C75"/>
                </a:solidFill>
              </a:rPr>
              <a:t>Mở rộng skills: BrSE, BA, PM</a:t>
            </a:r>
            <a:endParaRPr sz="1447">
              <a:solidFill>
                <a:srgbClr val="351C75"/>
              </a:solidFill>
            </a:endParaRPr>
          </a:p>
        </p:txBody>
      </p:sp>
      <p:sp>
        <p:nvSpPr>
          <p:cNvPr id="437" name="Google Shape;437;p59"/>
          <p:cNvSpPr/>
          <p:nvPr/>
        </p:nvSpPr>
        <p:spPr>
          <a:xfrm>
            <a:off x="681402" y="1677822"/>
            <a:ext cx="585000" cy="2352900"/>
          </a:xfrm>
          <a:prstGeom prst="rect">
            <a:avLst/>
          </a:prstGeom>
          <a:gradFill>
            <a:gsLst>
              <a:gs pos="0">
                <a:srgbClr val="244061">
                  <a:alpha val="20000"/>
                </a:srgbClr>
              </a:gs>
              <a:gs pos="100000">
                <a:srgbClr val="DAE5F1">
                  <a:alpha val="9803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33075" lIns="66150" spcFirstLastPara="1" rIns="66150" wrap="square" tIns="33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77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59"/>
          <p:cNvSpPr/>
          <p:nvPr/>
        </p:nvSpPr>
        <p:spPr>
          <a:xfrm>
            <a:off x="829359" y="1819806"/>
            <a:ext cx="913500" cy="5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3075" lIns="66150" spcFirstLastPara="1" rIns="66150" wrap="square" tIns="33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vi" sz="3257">
                <a:solidFill>
                  <a:srgbClr val="351C75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3257">
              <a:solidFill>
                <a:srgbClr val="351C7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59"/>
          <p:cNvSpPr/>
          <p:nvPr/>
        </p:nvSpPr>
        <p:spPr>
          <a:xfrm>
            <a:off x="829359" y="3061480"/>
            <a:ext cx="913500" cy="5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3075" lIns="66150" spcFirstLastPara="1" rIns="66150" wrap="square" tIns="33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vi" sz="3257">
                <a:solidFill>
                  <a:srgbClr val="351C75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3257">
              <a:solidFill>
                <a:srgbClr val="351C7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60"/>
          <p:cNvSpPr/>
          <p:nvPr/>
        </p:nvSpPr>
        <p:spPr>
          <a:xfrm>
            <a:off x="5396781" y="877753"/>
            <a:ext cx="2427499" cy="2915416"/>
          </a:xfrm>
          <a:custGeom>
            <a:rect b="b" l="l" r="r" t="t"/>
            <a:pathLst>
              <a:path extrusionOk="0" h="10825" w="6760">
                <a:moveTo>
                  <a:pt x="1604" y="0"/>
                </a:moveTo>
                <a:lnTo>
                  <a:pt x="6760" y="0"/>
                </a:lnTo>
                <a:lnTo>
                  <a:pt x="6760" y="10825"/>
                </a:lnTo>
                <a:lnTo>
                  <a:pt x="2785" y="10825"/>
                </a:lnTo>
                <a:lnTo>
                  <a:pt x="2728" y="10776"/>
                </a:lnTo>
                <a:cubicBezTo>
                  <a:pt x="1057" y="9320"/>
                  <a:pt x="0" y="7177"/>
                  <a:pt x="0" y="4786"/>
                </a:cubicBezTo>
                <a:cubicBezTo>
                  <a:pt x="0" y="3005"/>
                  <a:pt x="587" y="1360"/>
                  <a:pt x="1577" y="35"/>
                </a:cubicBezTo>
                <a:lnTo>
                  <a:pt x="1604" y="0"/>
                </a:lnTo>
                <a:close/>
              </a:path>
            </a:pathLst>
          </a:custGeom>
          <a:gradFill>
            <a:gsLst>
              <a:gs pos="0">
                <a:srgbClr val="39E3B3"/>
              </a:gs>
              <a:gs pos="100000">
                <a:srgbClr val="198063"/>
              </a:gs>
            </a:gsLst>
            <a:lin ang="5400012" scaled="0"/>
          </a:gradFill>
          <a:ln>
            <a:noFill/>
          </a:ln>
          <a:effectLst>
            <a:outerShdw blurRad="107729" rotWithShape="0" algn="tl" dir="2700000" dist="35910">
              <a:srgbClr val="A1FF5F">
                <a:alpha val="20000"/>
              </a:srgbClr>
            </a:outerShdw>
          </a:effectLst>
        </p:spPr>
        <p:txBody>
          <a:bodyPr anchorCtr="0" anchor="ctr" bIns="25850" lIns="51700" spcFirstLastPara="1" rIns="51700" wrap="square" tIns="25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63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60"/>
          <p:cNvSpPr txBox="1"/>
          <p:nvPr/>
        </p:nvSpPr>
        <p:spPr>
          <a:xfrm>
            <a:off x="969750" y="792375"/>
            <a:ext cx="47754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3000">
                <a:solidFill>
                  <a:srgbClr val="351C75"/>
                </a:solidFill>
              </a:rPr>
              <a:t>Hướng 1: Comtor Leader</a:t>
            </a:r>
            <a:endParaRPr b="1" sz="3000">
              <a:solidFill>
                <a:srgbClr val="351C75"/>
              </a:solidFill>
            </a:endParaRPr>
          </a:p>
        </p:txBody>
      </p:sp>
      <p:pic>
        <p:nvPicPr>
          <p:cNvPr id="446" name="Google Shape;446;p60"/>
          <p:cNvPicPr preferRelativeResize="0"/>
          <p:nvPr/>
        </p:nvPicPr>
        <p:blipFill rotWithShape="1">
          <a:blip r:embed="rId3">
            <a:alphaModFix/>
          </a:blip>
          <a:srcRect b="0" l="12629" r="10924" t="0"/>
          <a:stretch/>
        </p:blipFill>
        <p:spPr>
          <a:xfrm>
            <a:off x="5638507" y="877752"/>
            <a:ext cx="1642806" cy="2914650"/>
          </a:xfrm>
          <a:custGeom>
            <a:rect b="b" l="l" r="r" t="t"/>
            <a:pathLst>
              <a:path extrusionOk="0" h="6858000" w="3865427">
                <a:moveTo>
                  <a:pt x="842291" y="0"/>
                </a:moveTo>
                <a:lnTo>
                  <a:pt x="3865427" y="0"/>
                </a:lnTo>
                <a:lnTo>
                  <a:pt x="3865427" y="6858000"/>
                </a:lnTo>
                <a:lnTo>
                  <a:pt x="3468900" y="6858000"/>
                </a:lnTo>
                <a:lnTo>
                  <a:pt x="3142970" y="6777914"/>
                </a:lnTo>
                <a:cubicBezTo>
                  <a:pt x="1326609" y="6246203"/>
                  <a:pt x="0" y="4567791"/>
                  <a:pt x="0" y="2579532"/>
                </a:cubicBezTo>
                <a:cubicBezTo>
                  <a:pt x="0" y="1673647"/>
                  <a:pt x="275387" y="832082"/>
                  <a:pt x="747011" y="133987"/>
                </a:cubicBezTo>
                <a:close/>
              </a:path>
            </a:pathLst>
          </a:custGeom>
          <a:noFill/>
          <a:ln cap="flat" cmpd="sng" w="5375">
            <a:solidFill>
              <a:srgbClr val="999999">
                <a:alpha val="49800"/>
              </a:srgbClr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47" name="Google Shape;447;p60"/>
          <p:cNvSpPr/>
          <p:nvPr/>
        </p:nvSpPr>
        <p:spPr>
          <a:xfrm>
            <a:off x="1326905" y="1591259"/>
            <a:ext cx="3635400" cy="138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>
                <a:solidFill>
                  <a:srgbClr val="351C75"/>
                </a:solidFill>
              </a:rPr>
              <a:t>- Trau dồi tiếng Nhật nâng cao</a:t>
            </a:r>
            <a:endParaRPr>
              <a:solidFill>
                <a:srgbClr val="351C75"/>
              </a:solidFill>
            </a:endParaRPr>
          </a:p>
        </p:txBody>
      </p:sp>
      <p:sp>
        <p:nvSpPr>
          <p:cNvPr id="448" name="Google Shape;448;p60"/>
          <p:cNvSpPr/>
          <p:nvPr/>
        </p:nvSpPr>
        <p:spPr>
          <a:xfrm>
            <a:off x="1326905" y="2225770"/>
            <a:ext cx="3635400" cy="138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>
                <a:solidFill>
                  <a:srgbClr val="351C75"/>
                </a:solidFill>
              </a:rPr>
              <a:t>- Học quản lý team dịch, mentoring</a:t>
            </a:r>
            <a:endParaRPr>
              <a:solidFill>
                <a:srgbClr val="351C75"/>
              </a:solidFill>
            </a:endParaRPr>
          </a:p>
        </p:txBody>
      </p:sp>
      <p:sp>
        <p:nvSpPr>
          <p:cNvPr id="449" name="Google Shape;449;p60"/>
          <p:cNvSpPr/>
          <p:nvPr/>
        </p:nvSpPr>
        <p:spPr>
          <a:xfrm>
            <a:off x="1326905" y="2860282"/>
            <a:ext cx="3635400" cy="138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>
                <a:solidFill>
                  <a:srgbClr val="351C75"/>
                </a:solidFill>
              </a:rPr>
              <a:t>- Dẫn dắt dự án, xử lý vấn đề với khách hàng</a:t>
            </a:r>
            <a:endParaRPr>
              <a:solidFill>
                <a:srgbClr val="351C75"/>
              </a:solidFill>
            </a:endParaRPr>
          </a:p>
        </p:txBody>
      </p:sp>
      <p:sp>
        <p:nvSpPr>
          <p:cNvPr id="450" name="Google Shape;450;p60"/>
          <p:cNvSpPr/>
          <p:nvPr/>
        </p:nvSpPr>
        <p:spPr>
          <a:xfrm>
            <a:off x="1319724" y="3469670"/>
            <a:ext cx="3635400" cy="138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>
                <a:solidFill>
                  <a:srgbClr val="351C75"/>
                </a:solidFill>
              </a:rPr>
              <a:t>- Phù hợp với người thích ngôn ngữ, tổ chức</a:t>
            </a:r>
            <a:endParaRPr>
              <a:solidFill>
                <a:srgbClr val="351C75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61"/>
          <p:cNvSpPr txBox="1"/>
          <p:nvPr/>
        </p:nvSpPr>
        <p:spPr>
          <a:xfrm>
            <a:off x="452825" y="965598"/>
            <a:ext cx="7876500" cy="393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3000">
                <a:solidFill>
                  <a:srgbClr val="351C75"/>
                </a:solidFill>
              </a:rPr>
              <a:t>Hướng 2: BrSE / BA / PM</a:t>
            </a:r>
            <a:endParaRPr b="1" sz="3000">
              <a:solidFill>
                <a:srgbClr val="351C75"/>
              </a:solidFill>
            </a:endParaRPr>
          </a:p>
        </p:txBody>
      </p:sp>
      <p:sp>
        <p:nvSpPr>
          <p:cNvPr id="456" name="Google Shape;456;p61"/>
          <p:cNvSpPr/>
          <p:nvPr/>
        </p:nvSpPr>
        <p:spPr>
          <a:xfrm>
            <a:off x="5248753" y="2445955"/>
            <a:ext cx="2411277" cy="964998"/>
          </a:xfrm>
          <a:custGeom>
            <a:rect b="b" l="l" r="r" t="t"/>
            <a:pathLst>
              <a:path extrusionOk="0" h="1920395" w="3545996">
                <a:moveTo>
                  <a:pt x="1772998" y="0"/>
                </a:moveTo>
                <a:cubicBezTo>
                  <a:pt x="2752198" y="0"/>
                  <a:pt x="3545996" y="793798"/>
                  <a:pt x="3545996" y="1772998"/>
                </a:cubicBezTo>
                <a:lnTo>
                  <a:pt x="3538553" y="1920395"/>
                </a:lnTo>
                <a:lnTo>
                  <a:pt x="7443" y="1920395"/>
                </a:lnTo>
                <a:lnTo>
                  <a:pt x="0" y="1772998"/>
                </a:lnTo>
                <a:cubicBezTo>
                  <a:pt x="0" y="793798"/>
                  <a:pt x="793798" y="0"/>
                  <a:pt x="1772998" y="0"/>
                </a:cubicBezTo>
                <a:close/>
              </a:path>
            </a:pathLst>
          </a:custGeom>
          <a:solidFill>
            <a:srgbClr val="999999">
              <a:alpha val="14900"/>
            </a:srgbClr>
          </a:solidFill>
          <a:ln>
            <a:noFill/>
          </a:ln>
        </p:spPr>
        <p:txBody>
          <a:bodyPr anchorCtr="0" anchor="ctr" bIns="33325" lIns="66675" spcFirstLastPara="1" rIns="66675" wrap="square" tIns="333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85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61"/>
          <p:cNvSpPr/>
          <p:nvPr/>
        </p:nvSpPr>
        <p:spPr>
          <a:xfrm>
            <a:off x="1505694" y="2126433"/>
            <a:ext cx="3837300" cy="4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277866" marR="277866" rtl="0" algn="l">
              <a:lnSpc>
                <a:spcPct val="115000"/>
              </a:lnSpc>
              <a:spcBef>
                <a:spcPts val="875"/>
              </a:spcBef>
              <a:spcAft>
                <a:spcPts val="875"/>
              </a:spcAft>
              <a:buClr>
                <a:srgbClr val="08005F"/>
              </a:buClr>
              <a:buSzPts val="802"/>
              <a:buFont typeface="Arial"/>
              <a:buNone/>
            </a:pPr>
            <a:r>
              <a:rPr lang="vi" sz="1459">
                <a:solidFill>
                  <a:srgbClr val="351C75"/>
                </a:solidFill>
              </a:rPr>
              <a:t>👉 Là người giỏi dịch.</a:t>
            </a:r>
            <a:endParaRPr sz="1459">
              <a:solidFill>
                <a:srgbClr val="351C7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61"/>
          <p:cNvSpPr/>
          <p:nvPr/>
        </p:nvSpPr>
        <p:spPr>
          <a:xfrm>
            <a:off x="1505694" y="2623819"/>
            <a:ext cx="3837300" cy="4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277866" marR="277866" rtl="0" algn="l">
              <a:lnSpc>
                <a:spcPct val="115000"/>
              </a:lnSpc>
              <a:spcBef>
                <a:spcPts val="875"/>
              </a:spcBef>
              <a:spcAft>
                <a:spcPts val="875"/>
              </a:spcAft>
              <a:buClr>
                <a:srgbClr val="08005F"/>
              </a:buClr>
              <a:buSzPts val="802"/>
              <a:buFont typeface="Arial"/>
              <a:buNone/>
            </a:pPr>
            <a:r>
              <a:rPr lang="vi" sz="1459">
                <a:solidFill>
                  <a:srgbClr val="351C75"/>
                </a:solidFill>
              </a:rPr>
              <a:t>👉 Là người thích hiểu sâu.</a:t>
            </a:r>
            <a:endParaRPr sz="1459">
              <a:solidFill>
                <a:srgbClr val="351C7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61"/>
          <p:cNvSpPr/>
          <p:nvPr/>
        </p:nvSpPr>
        <p:spPr>
          <a:xfrm>
            <a:off x="1475738" y="3121207"/>
            <a:ext cx="3837300" cy="4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277866" marR="277866" rtl="0" algn="l">
              <a:lnSpc>
                <a:spcPct val="115000"/>
              </a:lnSpc>
              <a:spcBef>
                <a:spcPts val="875"/>
              </a:spcBef>
              <a:spcAft>
                <a:spcPts val="875"/>
              </a:spcAft>
              <a:buSzPts val="802"/>
              <a:buNone/>
            </a:pPr>
            <a:r>
              <a:rPr lang="vi" sz="1459">
                <a:solidFill>
                  <a:srgbClr val="351C75"/>
                </a:solidFill>
              </a:rPr>
              <a:t>👉 Là người có thiên hướng quản lý.</a:t>
            </a:r>
            <a:endParaRPr sz="1459">
              <a:solidFill>
                <a:srgbClr val="351C7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62"/>
          <p:cNvSpPr txBox="1"/>
          <p:nvPr/>
        </p:nvSpPr>
        <p:spPr>
          <a:xfrm>
            <a:off x="1127110" y="885863"/>
            <a:ext cx="3915300" cy="31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146"/>
              </a:spcBef>
              <a:spcAft>
                <a:spcPts val="255"/>
              </a:spcAft>
              <a:buNone/>
            </a:pPr>
            <a:r>
              <a:rPr b="1" lang="vi" sz="2547">
                <a:solidFill>
                  <a:srgbClr val="351C75"/>
                </a:solidFill>
              </a:rPr>
              <a:t>CHỌN HƯỚNG PHÙ HỢP</a:t>
            </a:r>
            <a:endParaRPr sz="2547">
              <a:solidFill>
                <a:srgbClr val="351C75"/>
              </a:solidFill>
            </a:endParaRPr>
          </a:p>
        </p:txBody>
      </p:sp>
      <p:sp>
        <p:nvSpPr>
          <p:cNvPr id="465" name="Google Shape;465;p62"/>
          <p:cNvSpPr/>
          <p:nvPr/>
        </p:nvSpPr>
        <p:spPr>
          <a:xfrm>
            <a:off x="6572134" y="1690276"/>
            <a:ext cx="1191000" cy="893400"/>
          </a:xfrm>
          <a:prstGeom prst="ellipse">
            <a:avLst/>
          </a:prstGeom>
          <a:solidFill>
            <a:srgbClr val="4F81BD"/>
          </a:solidFill>
          <a:ln cap="flat" cmpd="sng" w="6075">
            <a:solidFill>
              <a:srgbClr val="999999">
                <a:alpha val="2000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29100" lIns="58200" spcFirstLastPara="1" rIns="58200" wrap="square" tIns="29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59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62"/>
          <p:cNvSpPr/>
          <p:nvPr/>
        </p:nvSpPr>
        <p:spPr>
          <a:xfrm>
            <a:off x="7224737" y="1241218"/>
            <a:ext cx="1166630" cy="422304"/>
          </a:xfrm>
          <a:custGeom>
            <a:rect b="b" l="l" r="r" t="t"/>
            <a:pathLst>
              <a:path extrusionOk="0" h="884407" w="1830008">
                <a:moveTo>
                  <a:pt x="0" y="0"/>
                </a:moveTo>
                <a:lnTo>
                  <a:pt x="1830008" y="0"/>
                </a:lnTo>
                <a:lnTo>
                  <a:pt x="1826903" y="61496"/>
                </a:lnTo>
                <a:cubicBezTo>
                  <a:pt x="1779962" y="523713"/>
                  <a:pt x="1389605" y="884407"/>
                  <a:pt x="915004" y="884407"/>
                </a:cubicBezTo>
                <a:cubicBezTo>
                  <a:pt x="440403" y="884407"/>
                  <a:pt x="50046" y="523713"/>
                  <a:pt x="3105" y="61496"/>
                </a:cubicBezTo>
                <a:lnTo>
                  <a:pt x="0" y="0"/>
                </a:lnTo>
                <a:close/>
              </a:path>
            </a:pathLst>
          </a:custGeom>
          <a:solidFill>
            <a:srgbClr val="999999">
              <a:alpha val="14900"/>
            </a:srgbClr>
          </a:solidFill>
          <a:ln>
            <a:noFill/>
          </a:ln>
        </p:spPr>
        <p:txBody>
          <a:bodyPr anchorCtr="0" anchor="ctr" bIns="29100" lIns="58200" spcFirstLastPara="1" rIns="58200" wrap="square" tIns="29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59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62"/>
          <p:cNvSpPr/>
          <p:nvPr/>
        </p:nvSpPr>
        <p:spPr>
          <a:xfrm>
            <a:off x="752625" y="1243075"/>
            <a:ext cx="745795" cy="371934"/>
          </a:xfrm>
          <a:custGeom>
            <a:rect b="b" l="l" r="r" t="t"/>
            <a:pathLst>
              <a:path extrusionOk="0" h="778919" w="1169874">
                <a:moveTo>
                  <a:pt x="35505" y="0"/>
                </a:moveTo>
                <a:lnTo>
                  <a:pt x="1134369" y="0"/>
                </a:lnTo>
                <a:lnTo>
                  <a:pt x="1157990" y="76097"/>
                </a:lnTo>
                <a:cubicBezTo>
                  <a:pt x="1165782" y="114175"/>
                  <a:pt x="1169874" y="153601"/>
                  <a:pt x="1169874" y="193982"/>
                </a:cubicBezTo>
                <a:cubicBezTo>
                  <a:pt x="1169874" y="517034"/>
                  <a:pt x="907989" y="778919"/>
                  <a:pt x="584937" y="778919"/>
                </a:cubicBezTo>
                <a:cubicBezTo>
                  <a:pt x="261885" y="778919"/>
                  <a:pt x="0" y="517034"/>
                  <a:pt x="0" y="193982"/>
                </a:cubicBezTo>
                <a:cubicBezTo>
                  <a:pt x="0" y="153601"/>
                  <a:pt x="4092" y="114175"/>
                  <a:pt x="11884" y="76097"/>
                </a:cubicBezTo>
                <a:lnTo>
                  <a:pt x="35505" y="0"/>
                </a:lnTo>
                <a:close/>
              </a:path>
            </a:pathLst>
          </a:custGeom>
          <a:solidFill>
            <a:srgbClr val="999999">
              <a:alpha val="14900"/>
            </a:srgbClr>
          </a:solidFill>
          <a:ln>
            <a:noFill/>
          </a:ln>
        </p:spPr>
        <p:txBody>
          <a:bodyPr anchorCtr="0" anchor="ctr" bIns="29100" lIns="58200" spcFirstLastPara="1" rIns="58200" wrap="square" tIns="29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59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68" name="Google Shape;468;p62"/>
          <p:cNvPicPr preferRelativeResize="0"/>
          <p:nvPr/>
        </p:nvPicPr>
        <p:blipFill rotWithShape="1">
          <a:blip r:embed="rId3">
            <a:alphaModFix/>
          </a:blip>
          <a:srcRect b="150" l="0" r="0" t="160"/>
          <a:stretch/>
        </p:blipFill>
        <p:spPr>
          <a:xfrm>
            <a:off x="5179794" y="1626283"/>
            <a:ext cx="2583699" cy="2575605"/>
          </a:xfrm>
          <a:custGeom>
            <a:rect b="b" l="l" r="r" t="t"/>
            <a:pathLst>
              <a:path extrusionOk="0" h="5393938" w="5410888">
                <a:moveTo>
                  <a:pt x="989815" y="0"/>
                </a:moveTo>
                <a:cubicBezTo>
                  <a:pt x="1502309" y="0"/>
                  <a:pt x="1923831" y="389492"/>
                  <a:pt x="1974519" y="888612"/>
                </a:cubicBezTo>
                <a:lnTo>
                  <a:pt x="1979442" y="986104"/>
                </a:lnTo>
                <a:lnTo>
                  <a:pt x="1980571" y="985995"/>
                </a:lnTo>
                <a:lnTo>
                  <a:pt x="1985485" y="1083303"/>
                </a:lnTo>
                <a:cubicBezTo>
                  <a:pt x="2043557" y="1655129"/>
                  <a:pt x="2526482" y="2101358"/>
                  <a:pt x="3113630" y="2101358"/>
                </a:cubicBezTo>
                <a:cubicBezTo>
                  <a:pt x="3152773" y="2101358"/>
                  <a:pt x="3191453" y="2099375"/>
                  <a:pt x="3229575" y="2095503"/>
                </a:cubicBezTo>
                <a:lnTo>
                  <a:pt x="3269085" y="2089473"/>
                </a:lnTo>
                <a:lnTo>
                  <a:pt x="3272119" y="2092831"/>
                </a:lnTo>
                <a:lnTo>
                  <a:pt x="3389084" y="2062756"/>
                </a:lnTo>
                <a:cubicBezTo>
                  <a:pt x="3498623" y="2040341"/>
                  <a:pt x="3612039" y="2028570"/>
                  <a:pt x="3728204" y="2028570"/>
                </a:cubicBezTo>
                <a:cubicBezTo>
                  <a:pt x="4657525" y="2028570"/>
                  <a:pt x="5410888" y="2781933"/>
                  <a:pt x="5410888" y="3711254"/>
                </a:cubicBezTo>
                <a:cubicBezTo>
                  <a:pt x="5410888" y="4640575"/>
                  <a:pt x="4657525" y="5393938"/>
                  <a:pt x="3728204" y="5393938"/>
                </a:cubicBezTo>
                <a:cubicBezTo>
                  <a:pt x="2798883" y="5393938"/>
                  <a:pt x="2045520" y="4640575"/>
                  <a:pt x="2045520" y="3711254"/>
                </a:cubicBezTo>
                <a:cubicBezTo>
                  <a:pt x="2045520" y="3595089"/>
                  <a:pt x="2057292" y="3481673"/>
                  <a:pt x="2079706" y="3372135"/>
                </a:cubicBezTo>
                <a:lnTo>
                  <a:pt x="2088475" y="3338034"/>
                </a:lnTo>
                <a:lnTo>
                  <a:pt x="2100768" y="3175552"/>
                </a:lnTo>
                <a:cubicBezTo>
                  <a:pt x="2100768" y="2553876"/>
                  <a:pt x="1628299" y="2042552"/>
                  <a:pt x="1022845" y="1981065"/>
                </a:cubicBezTo>
                <a:lnTo>
                  <a:pt x="992119" y="1979514"/>
                </a:lnTo>
                <a:lnTo>
                  <a:pt x="989815" y="1979630"/>
                </a:lnTo>
                <a:cubicBezTo>
                  <a:pt x="443155" y="1979630"/>
                  <a:pt x="0" y="1536475"/>
                  <a:pt x="0" y="989815"/>
                </a:cubicBezTo>
                <a:cubicBezTo>
                  <a:pt x="0" y="443155"/>
                  <a:pt x="443155" y="0"/>
                  <a:pt x="989815" y="0"/>
                </a:cubicBezTo>
                <a:close/>
              </a:path>
            </a:pathLst>
          </a:custGeom>
          <a:noFill/>
          <a:ln cap="flat" cmpd="sng" w="6075">
            <a:solidFill>
              <a:srgbClr val="999999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69" name="Google Shape;469;p62"/>
          <p:cNvSpPr/>
          <p:nvPr/>
        </p:nvSpPr>
        <p:spPr>
          <a:xfrm>
            <a:off x="1153250" y="3602450"/>
            <a:ext cx="3638700" cy="6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26384" lvl="0" marL="291066" rtl="0" algn="l">
              <a:lnSpc>
                <a:spcPct val="115000"/>
              </a:lnSpc>
              <a:spcBef>
                <a:spcPts val="764"/>
              </a:spcBef>
              <a:spcAft>
                <a:spcPts val="0"/>
              </a:spcAft>
              <a:buClr>
                <a:srgbClr val="351C75"/>
              </a:buClr>
              <a:buSzPts val="1273"/>
              <a:buChar char="●"/>
            </a:pPr>
            <a:r>
              <a:rPr lang="vi" sz="1273">
                <a:solidFill>
                  <a:srgbClr val="351C75"/>
                </a:solidFill>
              </a:rPr>
              <a:t>Xác định rõ “mình sẽ đi theo hướng nào”</a:t>
            </a:r>
            <a:r>
              <a:rPr lang="vi" sz="1273">
                <a:solidFill>
                  <a:srgbClr val="351C75"/>
                </a:solidFill>
              </a:rPr>
              <a:t> </a:t>
            </a:r>
            <a:endParaRPr sz="1273">
              <a:solidFill>
                <a:srgbClr val="351C75"/>
              </a:solidFill>
            </a:endParaRPr>
          </a:p>
          <a:p>
            <a:pPr indent="0" lvl="0" marL="291066" rtl="0" algn="l">
              <a:lnSpc>
                <a:spcPct val="115000"/>
              </a:lnSpc>
              <a:spcBef>
                <a:spcPts val="764"/>
              </a:spcBef>
              <a:spcAft>
                <a:spcPts val="764"/>
              </a:spcAft>
              <a:buNone/>
            </a:pPr>
            <a:r>
              <a:rPr lang="vi" sz="1273">
                <a:solidFill>
                  <a:srgbClr val="351C75"/>
                </a:solidFill>
              </a:rPr>
              <a:t>-&gt; </a:t>
            </a:r>
            <a:r>
              <a:rPr lang="vi" sz="1273">
                <a:solidFill>
                  <a:srgbClr val="351C75"/>
                </a:solidFill>
              </a:rPr>
              <a:t> tránh dậm chân tại chỗ sau 2–3 năm.</a:t>
            </a:r>
            <a:endParaRPr sz="1273">
              <a:solidFill>
                <a:srgbClr val="351C75"/>
              </a:solidFill>
            </a:endParaRPr>
          </a:p>
        </p:txBody>
      </p:sp>
      <p:sp>
        <p:nvSpPr>
          <p:cNvPr id="470" name="Google Shape;470;p62"/>
          <p:cNvSpPr/>
          <p:nvPr/>
        </p:nvSpPr>
        <p:spPr>
          <a:xfrm>
            <a:off x="1153259" y="2143449"/>
            <a:ext cx="3349800" cy="89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26384" lvl="0" marL="291066" rtl="0" algn="l">
              <a:lnSpc>
                <a:spcPct val="115000"/>
              </a:lnSpc>
              <a:spcBef>
                <a:spcPts val="764"/>
              </a:spcBef>
              <a:spcAft>
                <a:spcPts val="0"/>
              </a:spcAft>
              <a:buClr>
                <a:srgbClr val="351C75"/>
              </a:buClr>
              <a:buSzPts val="1273"/>
              <a:buChar char="●"/>
            </a:pPr>
            <a:r>
              <a:rPr lang="vi" sz="1273">
                <a:solidFill>
                  <a:srgbClr val="351C75"/>
                </a:solidFill>
              </a:rPr>
              <a:t>Không ai giỏi cả tiếng Nhật + kỹ thuật + quản lý ngay từ đầu</a:t>
            </a:r>
            <a:r>
              <a:rPr lang="vi" sz="1273">
                <a:solidFill>
                  <a:srgbClr val="351C75"/>
                </a:solidFill>
              </a:rPr>
              <a:t>. -&gt; Phải làm.</a:t>
            </a:r>
            <a:endParaRPr sz="1273">
              <a:solidFill>
                <a:srgbClr val="351C75"/>
              </a:solidFill>
            </a:endParaRPr>
          </a:p>
          <a:p>
            <a:pPr indent="0" lvl="0" marL="291066" rtl="0" algn="l">
              <a:lnSpc>
                <a:spcPct val="115000"/>
              </a:lnSpc>
              <a:spcBef>
                <a:spcPts val="764"/>
              </a:spcBef>
              <a:spcAft>
                <a:spcPts val="0"/>
              </a:spcAft>
              <a:buNone/>
            </a:pPr>
            <a:r>
              <a:t/>
            </a:r>
            <a:endParaRPr sz="1273">
              <a:solidFill>
                <a:srgbClr val="351C75"/>
              </a:solidFill>
            </a:endParaRPr>
          </a:p>
          <a:p>
            <a:pPr indent="-226384" lvl="0" marL="291066" rtl="0" algn="l">
              <a:lnSpc>
                <a:spcPct val="115000"/>
              </a:lnSpc>
              <a:spcBef>
                <a:spcPts val="764"/>
              </a:spcBef>
              <a:spcAft>
                <a:spcPts val="0"/>
              </a:spcAft>
              <a:buClr>
                <a:srgbClr val="351C75"/>
              </a:buClr>
              <a:buSzPts val="1273"/>
              <a:buChar char="●"/>
            </a:pPr>
            <a:r>
              <a:rPr lang="vi" sz="1273">
                <a:solidFill>
                  <a:srgbClr val="351C75"/>
                </a:solidFill>
              </a:rPr>
              <a:t>Hành động trước </a:t>
            </a:r>
            <a:endParaRPr sz="1273">
              <a:solidFill>
                <a:srgbClr val="351C75"/>
              </a:solidFill>
            </a:endParaRPr>
          </a:p>
          <a:p>
            <a:pPr indent="0" lvl="0" marL="291066" rtl="0" algn="l">
              <a:lnSpc>
                <a:spcPct val="115000"/>
              </a:lnSpc>
              <a:spcBef>
                <a:spcPts val="764"/>
              </a:spcBef>
              <a:spcAft>
                <a:spcPts val="764"/>
              </a:spcAft>
              <a:buNone/>
            </a:pPr>
            <a:r>
              <a:rPr lang="vi" sz="1273">
                <a:solidFill>
                  <a:srgbClr val="351C75"/>
                </a:solidFill>
              </a:rPr>
              <a:t>-&gt; trở nên đủ trong hành trình đó. </a:t>
            </a:r>
            <a:endParaRPr sz="1273">
              <a:solidFill>
                <a:srgbClr val="351C75"/>
              </a:solidFill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75" name="Google Shape;475;p63"/>
          <p:cNvCxnSpPr/>
          <p:nvPr/>
        </p:nvCxnSpPr>
        <p:spPr>
          <a:xfrm>
            <a:off x="7252000" y="1275991"/>
            <a:ext cx="1097400" cy="0"/>
          </a:xfrm>
          <a:prstGeom prst="straightConnector1">
            <a:avLst/>
          </a:prstGeom>
          <a:noFill/>
          <a:ln cap="rnd" cmpd="sng" w="34275">
            <a:solidFill>
              <a:srgbClr val="70170A"/>
            </a:solidFill>
            <a:prstDash val="dash"/>
            <a:round/>
            <a:headEnd len="sm" w="sm" type="none"/>
            <a:tailEnd len="lg" w="lg" type="oval"/>
          </a:ln>
        </p:spPr>
      </p:cxnSp>
      <p:cxnSp>
        <p:nvCxnSpPr>
          <p:cNvPr id="476" name="Google Shape;476;p63"/>
          <p:cNvCxnSpPr/>
          <p:nvPr/>
        </p:nvCxnSpPr>
        <p:spPr>
          <a:xfrm>
            <a:off x="4400165" y="1275991"/>
            <a:ext cx="1097400" cy="0"/>
          </a:xfrm>
          <a:prstGeom prst="straightConnector1">
            <a:avLst/>
          </a:prstGeom>
          <a:noFill/>
          <a:ln cap="rnd" cmpd="sng" w="34275">
            <a:solidFill>
              <a:srgbClr val="70170A"/>
            </a:solidFill>
            <a:prstDash val="dash"/>
            <a:round/>
            <a:headEnd len="lg" w="lg" type="oval"/>
            <a:tailEnd len="sm" w="sm" type="none"/>
          </a:ln>
        </p:spPr>
      </p:cxnSp>
      <p:grpSp>
        <p:nvGrpSpPr>
          <p:cNvPr id="477" name="Google Shape;477;p63"/>
          <p:cNvGrpSpPr/>
          <p:nvPr/>
        </p:nvGrpSpPr>
        <p:grpSpPr>
          <a:xfrm>
            <a:off x="5582870" y="1073062"/>
            <a:ext cx="1583881" cy="346648"/>
            <a:chOff x="0" y="-47625"/>
            <a:chExt cx="2074500" cy="454025"/>
          </a:xfrm>
        </p:grpSpPr>
        <p:sp>
          <p:nvSpPr>
            <p:cNvPr id="478" name="Google Shape;478;p63"/>
            <p:cNvSpPr/>
            <p:nvPr/>
          </p:nvSpPr>
          <p:spPr>
            <a:xfrm>
              <a:off x="0" y="0"/>
              <a:ext cx="2074482" cy="406400"/>
            </a:xfrm>
            <a:custGeom>
              <a:rect b="b" l="l" r="r" t="t"/>
              <a:pathLst>
                <a:path extrusionOk="0" h="406400" w="2074482">
                  <a:moveTo>
                    <a:pt x="1871282" y="0"/>
                  </a:moveTo>
                  <a:cubicBezTo>
                    <a:pt x="1983506" y="0"/>
                    <a:pt x="2074482" y="90976"/>
                    <a:pt x="2074482" y="203200"/>
                  </a:cubicBezTo>
                  <a:cubicBezTo>
                    <a:pt x="2074482" y="315424"/>
                    <a:pt x="1983506" y="406400"/>
                    <a:pt x="187128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7EC"/>
            </a:solidFill>
            <a:ln cap="sq" cmpd="sng" w="34275">
              <a:solidFill>
                <a:srgbClr val="547D39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65775" lIns="65775" spcFirstLastPara="1" rIns="65775" wrap="square" tIns="657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7"/>
                <a:buFont typeface="Arial"/>
                <a:buNone/>
              </a:pPr>
              <a:r>
                <a:t/>
              </a:r>
              <a:endParaRPr b="0" i="0" sz="100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" name="Google Shape;479;p63"/>
            <p:cNvSpPr txBox="1"/>
            <p:nvPr/>
          </p:nvSpPr>
          <p:spPr>
            <a:xfrm>
              <a:off x="0" y="-47625"/>
              <a:ext cx="2074500" cy="4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4350" lIns="24350" spcFirstLastPara="1" rIns="24350" wrap="square" tIns="24350">
              <a:noAutofit/>
            </a:bodyPr>
            <a:lstStyle/>
            <a:p>
              <a:pPr indent="0" lvl="0" marL="0" marR="0" rtl="0" algn="ctr">
                <a:lnSpc>
                  <a:spcPct val="16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63"/>
                <a:buFont typeface="Arial"/>
                <a:buNone/>
              </a:pPr>
              <a:r>
                <a:t/>
              </a:r>
              <a:endParaRPr b="0" i="0" sz="863" u="none" cap="none" strike="noStrike">
                <a:solidFill>
                  <a:srgbClr val="08005F"/>
                </a:solidFill>
                <a:latin typeface="Mali"/>
                <a:ea typeface="Mali"/>
                <a:cs typeface="Mali"/>
                <a:sym typeface="Mali"/>
              </a:endParaRPr>
            </a:p>
          </p:txBody>
        </p:sp>
      </p:grpSp>
      <p:cxnSp>
        <p:nvCxnSpPr>
          <p:cNvPr id="480" name="Google Shape;480;p63"/>
          <p:cNvCxnSpPr/>
          <p:nvPr/>
        </p:nvCxnSpPr>
        <p:spPr>
          <a:xfrm>
            <a:off x="4400165" y="2918573"/>
            <a:ext cx="3949500" cy="0"/>
          </a:xfrm>
          <a:prstGeom prst="straightConnector1">
            <a:avLst/>
          </a:prstGeom>
          <a:noFill/>
          <a:ln cap="rnd" cmpd="sng" w="34275">
            <a:solidFill>
              <a:srgbClr val="547D39"/>
            </a:solidFill>
            <a:prstDash val="dash"/>
            <a:round/>
            <a:headEnd len="lg" w="lg" type="oval"/>
            <a:tailEnd len="lg" w="lg" type="oval"/>
          </a:ln>
        </p:spPr>
      </p:cxnSp>
      <p:sp>
        <p:nvSpPr>
          <p:cNvPr id="481" name="Google Shape;481;p63"/>
          <p:cNvSpPr txBox="1"/>
          <p:nvPr/>
        </p:nvSpPr>
        <p:spPr>
          <a:xfrm>
            <a:off x="4275177" y="1492661"/>
            <a:ext cx="4415700" cy="9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215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3"/>
              <a:buFont typeface="Arial"/>
              <a:buNone/>
            </a:pPr>
            <a:r>
              <a:t/>
            </a:r>
            <a:endParaRPr b="1" i="0" sz="863" u="none" cap="none" strike="noStrike">
              <a:solidFill>
                <a:srgbClr val="70170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63"/>
          <p:cNvSpPr txBox="1"/>
          <p:nvPr/>
        </p:nvSpPr>
        <p:spPr>
          <a:xfrm>
            <a:off x="4213959" y="1737535"/>
            <a:ext cx="4415700" cy="7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80"/>
              <a:buFont typeface="Arial"/>
              <a:buNone/>
            </a:pPr>
            <a:r>
              <a:rPr b="1" i="0" lang="vi" sz="5180" u="none" cap="none" strike="noStrike">
                <a:solidFill>
                  <a:srgbClr val="547D39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b="1" i="0" sz="5180" u="none" cap="none" strike="noStrike">
              <a:solidFill>
                <a:srgbClr val="547D3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63"/>
          <p:cNvSpPr txBox="1"/>
          <p:nvPr/>
        </p:nvSpPr>
        <p:spPr>
          <a:xfrm>
            <a:off x="5664478" y="1203929"/>
            <a:ext cx="1420800" cy="2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28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1"/>
              <a:buFont typeface="Arial"/>
              <a:buNone/>
            </a:pPr>
            <a:r>
              <a:rPr b="1" i="0" lang="vi" sz="1151" u="none" cap="none" strike="noStrike">
                <a:solidFill>
                  <a:srgbClr val="70170A"/>
                </a:solidFill>
                <a:latin typeface="Arial"/>
                <a:ea typeface="Arial"/>
                <a:cs typeface="Arial"/>
                <a:sym typeface="Arial"/>
              </a:rPr>
              <a:t>QUỲNH NGA IT</a:t>
            </a:r>
            <a:endParaRPr b="1" i="0" sz="1151" u="none" cap="none" strike="noStrike">
              <a:solidFill>
                <a:srgbClr val="70170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63"/>
          <p:cNvSpPr txBox="1"/>
          <p:nvPr/>
        </p:nvSpPr>
        <p:spPr>
          <a:xfrm>
            <a:off x="4400356" y="3127741"/>
            <a:ext cx="3732600" cy="6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2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"/>
              <a:buFont typeface="Arial"/>
              <a:buNone/>
            </a:pPr>
            <a:r>
              <a:rPr b="1" lang="vi" sz="960">
                <a:solidFill>
                  <a:srgbClr val="70170A"/>
                </a:solidFill>
              </a:rPr>
              <a:t>Cảm ơn bạn đã chọn và đồng hành cùng khóa học IT Comtor. </a:t>
            </a:r>
            <a:endParaRPr b="1" sz="960">
              <a:solidFill>
                <a:srgbClr val="70170A"/>
              </a:solidFill>
            </a:endParaRPr>
          </a:p>
          <a:p>
            <a:pPr indent="0" lvl="0" marL="0" marR="0" rtl="0" algn="ctr">
              <a:lnSpc>
                <a:spcPct val="2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"/>
              <a:buFont typeface="Arial"/>
              <a:buNone/>
            </a:pPr>
            <a:r>
              <a:rPr b="1" lang="vi" sz="960">
                <a:solidFill>
                  <a:srgbClr val="70170A"/>
                </a:solidFill>
              </a:rPr>
              <a:t>Mong rằng những kiến thức hôm nay sẽ trở thành hành trang quý giá cho tương lai của bạn!</a:t>
            </a:r>
            <a:endParaRPr b="1" i="0" sz="960" u="none" cap="none" strike="noStrike">
              <a:solidFill>
                <a:srgbClr val="70170A"/>
              </a:solidFill>
            </a:endParaRPr>
          </a:p>
        </p:txBody>
      </p:sp>
      <p:pic>
        <p:nvPicPr>
          <p:cNvPr id="485" name="Google Shape;485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3125" y="1002000"/>
            <a:ext cx="3332749" cy="313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áng nhẹ tự tạ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