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Montserra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w3rmp7GZeNvD+hbfd05Dtxdyz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slide" Target="slides/slide6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0.png"/><Relationship Id="rId4" Type="http://schemas.openxmlformats.org/officeDocument/2006/relationships/image" Target="../media/image19.png"/><Relationship Id="rId9" Type="http://schemas.openxmlformats.org/officeDocument/2006/relationships/image" Target="../media/image33.png"/><Relationship Id="rId5" Type="http://schemas.openxmlformats.org/officeDocument/2006/relationships/image" Target="../media/image4.jpg"/><Relationship Id="rId6" Type="http://schemas.openxmlformats.org/officeDocument/2006/relationships/image" Target="../media/image10.png"/><Relationship Id="rId7" Type="http://schemas.openxmlformats.org/officeDocument/2006/relationships/image" Target="../media/image21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14.png"/><Relationship Id="rId13" Type="http://schemas.openxmlformats.org/officeDocument/2006/relationships/image" Target="../media/image8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0.png"/><Relationship Id="rId4" Type="http://schemas.openxmlformats.org/officeDocument/2006/relationships/image" Target="../media/image1.png"/><Relationship Id="rId9" Type="http://schemas.openxmlformats.org/officeDocument/2006/relationships/image" Target="../media/image18.png"/><Relationship Id="rId15" Type="http://schemas.openxmlformats.org/officeDocument/2006/relationships/image" Target="../media/image11.png"/><Relationship Id="rId14" Type="http://schemas.openxmlformats.org/officeDocument/2006/relationships/image" Target="../media/image15.png"/><Relationship Id="rId17" Type="http://schemas.openxmlformats.org/officeDocument/2006/relationships/image" Target="../media/image5.png"/><Relationship Id="rId16" Type="http://schemas.openxmlformats.org/officeDocument/2006/relationships/image" Target="../media/image21.png"/><Relationship Id="rId5" Type="http://schemas.openxmlformats.org/officeDocument/2006/relationships/image" Target="../media/image4.jpg"/><Relationship Id="rId6" Type="http://schemas.openxmlformats.org/officeDocument/2006/relationships/image" Target="../media/image71.png"/><Relationship Id="rId18" Type="http://schemas.openxmlformats.org/officeDocument/2006/relationships/image" Target="../media/image33.png"/><Relationship Id="rId7" Type="http://schemas.openxmlformats.org/officeDocument/2006/relationships/image" Target="../media/image78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png"/><Relationship Id="rId10" Type="http://schemas.openxmlformats.org/officeDocument/2006/relationships/image" Target="../media/image31.png"/><Relationship Id="rId13" Type="http://schemas.openxmlformats.org/officeDocument/2006/relationships/image" Target="../media/image5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0.png"/><Relationship Id="rId4" Type="http://schemas.openxmlformats.org/officeDocument/2006/relationships/image" Target="../media/image9.png"/><Relationship Id="rId9" Type="http://schemas.openxmlformats.org/officeDocument/2006/relationships/image" Target="../media/image52.png"/><Relationship Id="rId14" Type="http://schemas.openxmlformats.org/officeDocument/2006/relationships/image" Target="../media/image33.png"/><Relationship Id="rId5" Type="http://schemas.openxmlformats.org/officeDocument/2006/relationships/image" Target="../media/image4.jpg"/><Relationship Id="rId6" Type="http://schemas.openxmlformats.org/officeDocument/2006/relationships/image" Target="../media/image53.png"/><Relationship Id="rId7" Type="http://schemas.openxmlformats.org/officeDocument/2006/relationships/image" Target="../media/image45.png"/><Relationship Id="rId8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44.png"/><Relationship Id="rId13" Type="http://schemas.openxmlformats.org/officeDocument/2006/relationships/image" Target="../media/image57.png"/><Relationship Id="rId1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0.png"/><Relationship Id="rId4" Type="http://schemas.openxmlformats.org/officeDocument/2006/relationships/image" Target="../media/image32.png"/><Relationship Id="rId9" Type="http://schemas.openxmlformats.org/officeDocument/2006/relationships/image" Target="../media/image27.png"/><Relationship Id="rId15" Type="http://schemas.openxmlformats.org/officeDocument/2006/relationships/image" Target="../media/image40.png"/><Relationship Id="rId14" Type="http://schemas.openxmlformats.org/officeDocument/2006/relationships/image" Target="../media/image41.png"/><Relationship Id="rId17" Type="http://schemas.openxmlformats.org/officeDocument/2006/relationships/image" Target="../media/image5.png"/><Relationship Id="rId16" Type="http://schemas.openxmlformats.org/officeDocument/2006/relationships/image" Target="../media/image21.png"/><Relationship Id="rId5" Type="http://schemas.openxmlformats.org/officeDocument/2006/relationships/image" Target="../media/image4.jpg"/><Relationship Id="rId6" Type="http://schemas.openxmlformats.org/officeDocument/2006/relationships/image" Target="../media/image81.png"/><Relationship Id="rId18" Type="http://schemas.openxmlformats.org/officeDocument/2006/relationships/image" Target="../media/image33.png"/><Relationship Id="rId7" Type="http://schemas.openxmlformats.org/officeDocument/2006/relationships/image" Target="../media/image25.png"/><Relationship Id="rId8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67.png"/><Relationship Id="rId10" Type="http://schemas.openxmlformats.org/officeDocument/2006/relationships/image" Target="../media/image54.png"/><Relationship Id="rId13" Type="http://schemas.openxmlformats.org/officeDocument/2006/relationships/image" Target="../media/image21.png"/><Relationship Id="rId1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0.png"/><Relationship Id="rId4" Type="http://schemas.openxmlformats.org/officeDocument/2006/relationships/image" Target="../media/image1.png"/><Relationship Id="rId9" Type="http://schemas.openxmlformats.org/officeDocument/2006/relationships/image" Target="../media/image61.png"/><Relationship Id="rId15" Type="http://schemas.openxmlformats.org/officeDocument/2006/relationships/image" Target="../media/image33.png"/><Relationship Id="rId14" Type="http://schemas.openxmlformats.org/officeDocument/2006/relationships/image" Target="../media/image5.png"/><Relationship Id="rId5" Type="http://schemas.openxmlformats.org/officeDocument/2006/relationships/image" Target="../media/image4.jpg"/><Relationship Id="rId6" Type="http://schemas.openxmlformats.org/officeDocument/2006/relationships/image" Target="../media/image46.png"/><Relationship Id="rId7" Type="http://schemas.openxmlformats.org/officeDocument/2006/relationships/image" Target="../media/image58.png"/><Relationship Id="rId8" Type="http://schemas.openxmlformats.org/officeDocument/2006/relationships/image" Target="../media/image62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74.png"/><Relationship Id="rId10" Type="http://schemas.openxmlformats.org/officeDocument/2006/relationships/image" Target="../media/image75.png"/><Relationship Id="rId13" Type="http://schemas.openxmlformats.org/officeDocument/2006/relationships/image" Target="../media/image21.png"/><Relationship Id="rId12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0.png"/><Relationship Id="rId4" Type="http://schemas.openxmlformats.org/officeDocument/2006/relationships/image" Target="../media/image32.png"/><Relationship Id="rId9" Type="http://schemas.openxmlformats.org/officeDocument/2006/relationships/image" Target="../media/image60.png"/><Relationship Id="rId15" Type="http://schemas.openxmlformats.org/officeDocument/2006/relationships/image" Target="../media/image33.png"/><Relationship Id="rId14" Type="http://schemas.openxmlformats.org/officeDocument/2006/relationships/image" Target="../media/image5.png"/><Relationship Id="rId5" Type="http://schemas.openxmlformats.org/officeDocument/2006/relationships/image" Target="../media/image4.jpg"/><Relationship Id="rId6" Type="http://schemas.openxmlformats.org/officeDocument/2006/relationships/image" Target="../media/image70.png"/><Relationship Id="rId7" Type="http://schemas.openxmlformats.org/officeDocument/2006/relationships/image" Target="../media/image69.png"/><Relationship Id="rId8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7429500" y="-1429207"/>
            <a:ext cx="5715000" cy="5715000"/>
          </a:xfrm>
          <a:prstGeom prst="ellipse">
            <a:avLst/>
          </a:prstGeom>
          <a:solidFill>
            <a:srgbClr val="D32F2F">
              <a:alpha val="509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-1429207" y="4000500"/>
            <a:ext cx="4762195" cy="4762195"/>
          </a:xfrm>
          <a:prstGeom prst="ellipse">
            <a:avLst/>
          </a:prstGeom>
          <a:solidFill>
            <a:srgbClr val="FFC107">
              <a:alpha val="7843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 rot="2700000">
            <a:off x="9620402" y="4667098"/>
            <a:ext cx="1429207" cy="1429207"/>
          </a:xfrm>
          <a:prstGeom prst="roundRect">
            <a:avLst>
              <a:gd fmla="val 17061" name="adj"/>
            </a:avLst>
          </a:prstGeom>
          <a:solidFill>
            <a:srgbClr val="D32F2F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695" y="476402"/>
            <a:ext cx="857707" cy="8577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" name="Google Shape;22;p1"/>
          <p:cNvPicPr preferRelativeResize="0"/>
          <p:nvPr/>
        </p:nvPicPr>
        <p:blipFill rotWithShape="1">
          <a:blip r:embed="rId5">
            <a:alphaModFix/>
          </a:blip>
          <a:srcRect b="274" l="0" r="0" t="274"/>
          <a:stretch/>
        </p:blipFill>
        <p:spPr>
          <a:xfrm>
            <a:off x="800100" y="514807"/>
            <a:ext cx="780898" cy="78089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 txBox="1"/>
          <p:nvPr/>
        </p:nvSpPr>
        <p:spPr>
          <a:xfrm>
            <a:off x="1848002" y="544982"/>
            <a:ext cx="2690165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D32F2F"/>
                </a:solidFill>
                <a:latin typeface="Montserrat"/>
                <a:ea typeface="Montserrat"/>
                <a:cs typeface="Montserrat"/>
                <a:sym typeface="Montserrat"/>
              </a:rPr>
              <a:t>Quỳnh Nga IT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1848002" y="979322"/>
            <a:ext cx="2526487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Đồng hành cùng bạn !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761695" y="2354580"/>
            <a:ext cx="868680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D32F2F"/>
                </a:solidFill>
                <a:latin typeface="Montserrat"/>
                <a:ea typeface="Montserrat"/>
                <a:cs typeface="Montserrat"/>
                <a:sym typeface="Montserrat"/>
              </a:rPr>
              <a:t>Bài thuyết trình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761695" y="2830982"/>
            <a:ext cx="8744407" cy="1581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0"/>
              <a:buFont typeface="Montserrat"/>
              <a:buNone/>
            </a:pPr>
            <a:r>
              <a:rPr b="1" i="0" lang="en-US" sz="54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 Hiểu về 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5400"/>
              <a:buFont typeface="Montserrat"/>
              <a:buNone/>
            </a:pPr>
            <a:r>
              <a:rPr b="1" i="0" lang="en-US" sz="5400" u="none" cap="none" strike="noStrike">
                <a:solidFill>
                  <a:srgbClr val="D32F2F"/>
                </a:solidFill>
                <a:latin typeface="Montserrat"/>
                <a:ea typeface="Montserrat"/>
                <a:cs typeface="Montserrat"/>
                <a:sym typeface="Montserrat"/>
              </a:rPr>
              <a:t>Phát triển phần mềm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" name="Google Shape;27;p1"/>
          <p:cNvPicPr preferRelativeResize="0"/>
          <p:nvPr/>
        </p:nvPicPr>
        <p:blipFill rotWithShape="1">
          <a:blip r:embed="rId6">
            <a:alphaModFix/>
          </a:blip>
          <a:srcRect b="-201" l="0" r="0" t="-201"/>
          <a:stretch/>
        </p:blipFill>
        <p:spPr>
          <a:xfrm>
            <a:off x="761695" y="5017313"/>
            <a:ext cx="7589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 txBox="1"/>
          <p:nvPr/>
        </p:nvSpPr>
        <p:spPr>
          <a:xfrm>
            <a:off x="1067105" y="4788713"/>
            <a:ext cx="6753758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Khám phá các khái niệm cơ bản, quy trình chuẩn và vai trò quan trọng trong một dự án công nghệ thông tin thực tế.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" name="Google Shape;29;p1"/>
          <p:cNvPicPr preferRelativeResize="0"/>
          <p:nvPr/>
        </p:nvPicPr>
        <p:blipFill rotWithShape="1">
          <a:blip r:embed="rId7">
            <a:alphaModFix/>
          </a:blip>
          <a:srcRect b="-4" l="0" r="0" t="-4"/>
          <a:stretch/>
        </p:blipFill>
        <p:spPr>
          <a:xfrm>
            <a:off x="0" y="6743700"/>
            <a:ext cx="2031797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" name="Google Shape;30;p1"/>
          <p:cNvPicPr preferRelativeResize="0"/>
          <p:nvPr/>
        </p:nvPicPr>
        <p:blipFill rotWithShape="1">
          <a:blip r:embed="rId8">
            <a:alphaModFix/>
          </a:blip>
          <a:srcRect b="-7" l="0" r="0" t="-7"/>
          <a:stretch/>
        </p:blipFill>
        <p:spPr>
          <a:xfrm>
            <a:off x="2031797" y="6743700"/>
            <a:ext cx="2031797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" name="Google Shape;31;p1"/>
          <p:cNvPicPr preferRelativeResize="0"/>
          <p:nvPr/>
        </p:nvPicPr>
        <p:blipFill rotWithShape="1">
          <a:blip r:embed="rId9">
            <a:alphaModFix/>
          </a:blip>
          <a:srcRect b="0" l="-1" r="-1" t="0"/>
          <a:stretch/>
        </p:blipFill>
        <p:spPr>
          <a:xfrm>
            <a:off x="4063594" y="6743700"/>
            <a:ext cx="8128102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2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7429500" y="-1429207"/>
            <a:ext cx="5715000" cy="5715000"/>
          </a:xfrm>
          <a:prstGeom prst="ellipse">
            <a:avLst/>
          </a:prstGeom>
          <a:solidFill>
            <a:srgbClr val="D32F2F">
              <a:alpha val="509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-1429207" y="4000500"/>
            <a:ext cx="4762195" cy="4762195"/>
          </a:xfrm>
          <a:prstGeom prst="ellipse">
            <a:avLst/>
          </a:prstGeom>
          <a:solidFill>
            <a:srgbClr val="FFC107">
              <a:alpha val="7843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 rot="2700000">
            <a:off x="9620402" y="4667098"/>
            <a:ext cx="1429207" cy="1429207"/>
          </a:xfrm>
          <a:prstGeom prst="roundRect">
            <a:avLst>
              <a:gd fmla="val 17061" name="adj"/>
            </a:avLst>
          </a:prstGeom>
          <a:solidFill>
            <a:srgbClr val="D32F2F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695" y="381305"/>
            <a:ext cx="666598" cy="666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" name="Google Shape;43;p2"/>
          <p:cNvPicPr preferRelativeResize="0"/>
          <p:nvPr/>
        </p:nvPicPr>
        <p:blipFill rotWithShape="1">
          <a:blip r:embed="rId5">
            <a:alphaModFix/>
          </a:blip>
          <a:srcRect b="274" l="0" r="0" t="274"/>
          <a:stretch/>
        </p:blipFill>
        <p:spPr>
          <a:xfrm>
            <a:off x="790956" y="409651"/>
            <a:ext cx="609905" cy="60990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 txBox="1"/>
          <p:nvPr/>
        </p:nvSpPr>
        <p:spPr>
          <a:xfrm>
            <a:off x="1619402" y="434340"/>
            <a:ext cx="2007108" cy="295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D32F2F"/>
                </a:solidFill>
                <a:latin typeface="Montserrat"/>
                <a:ea typeface="Montserrat"/>
                <a:cs typeface="Montserrat"/>
                <a:sym typeface="Montserrat"/>
              </a:rPr>
              <a:t>Quỳnh Nga 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1619402" y="765353"/>
            <a:ext cx="195315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Đồng hành cùng bạn 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761695" y="1333195"/>
            <a:ext cx="10858500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 Phát triển phần mềm </a:t>
            </a:r>
            <a:r>
              <a:rPr b="1" i="0" lang="en-US" sz="3100" u="none" cap="none" strike="noStrike">
                <a:solidFill>
                  <a:srgbClr val="D32F2F"/>
                </a:solidFill>
                <a:latin typeface="Montserrat"/>
                <a:ea typeface="Montserrat"/>
                <a:cs typeface="Montserrat"/>
                <a:sym typeface="Montserrat"/>
              </a:rPr>
              <a:t>là gì?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" name="Google Shape;47;p2"/>
          <p:cNvPicPr preferRelativeResize="0"/>
          <p:nvPr/>
        </p:nvPicPr>
        <p:blipFill rotWithShape="1">
          <a:blip r:embed="rId6">
            <a:alphaModFix/>
          </a:blip>
          <a:srcRect b="0" l="-1" r="-1" t="0"/>
          <a:stretch/>
        </p:blipFill>
        <p:spPr>
          <a:xfrm>
            <a:off x="761695" y="2162556"/>
            <a:ext cx="10668305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 txBox="1"/>
          <p:nvPr/>
        </p:nvSpPr>
        <p:spPr>
          <a:xfrm>
            <a:off x="1047902" y="2391156"/>
            <a:ext cx="10239451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D32F2F"/>
                </a:solidFill>
                <a:latin typeface="Montserrat"/>
                <a:ea typeface="Montserrat"/>
                <a:cs typeface="Montserrat"/>
                <a:sym typeface="Montserrat"/>
              </a:rPr>
              <a:t>Phát triển phần mềm</a:t>
            </a: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là hoạt động chuyển nhu cầu của người dùng thành một sản phẩm phần mềm thông qua lập trình máy tính.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" name="Google Shape;49;p2"/>
          <p:cNvPicPr preferRelativeResize="0"/>
          <p:nvPr/>
        </p:nvPicPr>
        <p:blipFill rotWithShape="1">
          <a:blip r:embed="rId7">
            <a:alphaModFix/>
          </a:blip>
          <a:srcRect b="-25" l="0" r="0" t="-25"/>
          <a:stretch/>
        </p:blipFill>
        <p:spPr>
          <a:xfrm>
            <a:off x="761695" y="5762549"/>
            <a:ext cx="10668305" cy="857707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1067105" y="5952744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2"/>
          <p:cNvPicPr preferRelativeResize="0"/>
          <p:nvPr/>
        </p:nvPicPr>
        <p:blipFill rotWithShape="1">
          <a:blip r:embed="rId8">
            <a:alphaModFix/>
          </a:blip>
          <a:srcRect b="0" l="-80" r="-80" t="0"/>
          <a:stretch/>
        </p:blipFill>
        <p:spPr>
          <a:xfrm>
            <a:off x="1162202" y="6077102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 txBox="1"/>
          <p:nvPr/>
        </p:nvSpPr>
        <p:spPr>
          <a:xfrm>
            <a:off x="1733702" y="6044184"/>
            <a:ext cx="8039405" cy="295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Tất cả đều là phần mềm do con người tạo ra bằng cách </a:t>
            </a:r>
            <a:r>
              <a:rPr b="1" i="0" lang="en-US" sz="1600" u="none" cap="none" strike="noStrike">
                <a:solidFill>
                  <a:srgbClr val="FFC107"/>
                </a:solidFill>
                <a:latin typeface="Montserrat"/>
                <a:ea typeface="Montserrat"/>
                <a:cs typeface="Montserrat"/>
                <a:sym typeface="Montserrat"/>
              </a:rPr>
              <a:t>viết mã lệnh</a:t>
            </a:r>
            <a:r>
              <a:rPr b="0" i="0" lang="en-US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" name="Google Shape;53;p2"/>
          <p:cNvPicPr preferRelativeResize="0"/>
          <p:nvPr/>
        </p:nvPicPr>
        <p:blipFill rotWithShape="1">
          <a:blip r:embed="rId9">
            <a:alphaModFix/>
          </a:blip>
          <a:srcRect b="-6" l="0" r="0" t="-6"/>
          <a:stretch/>
        </p:blipFill>
        <p:spPr>
          <a:xfrm>
            <a:off x="761695" y="3610051"/>
            <a:ext cx="3403397" cy="18480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" name="Google Shape;54;p2"/>
          <p:cNvPicPr preferRelativeResize="0"/>
          <p:nvPr/>
        </p:nvPicPr>
        <p:blipFill rotWithShape="1">
          <a:blip r:embed="rId10">
            <a:alphaModFix/>
          </a:blip>
          <a:srcRect b="0" l="-76" r="-76" t="0"/>
          <a:stretch/>
        </p:blipFill>
        <p:spPr>
          <a:xfrm>
            <a:off x="771754" y="3619195"/>
            <a:ext cx="3384194" cy="47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" name="Google Shape;55;p2"/>
          <p:cNvPicPr preferRelativeResize="0"/>
          <p:nvPr/>
        </p:nvPicPr>
        <p:blipFill rotWithShape="1">
          <a:blip r:embed="rId11">
            <a:alphaModFix/>
          </a:blip>
          <a:srcRect b="0" l="-438" r="-438" t="0"/>
          <a:stretch/>
        </p:blipFill>
        <p:spPr>
          <a:xfrm>
            <a:off x="2187245" y="3962095"/>
            <a:ext cx="552298" cy="43799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 txBox="1"/>
          <p:nvPr/>
        </p:nvSpPr>
        <p:spPr>
          <a:xfrm>
            <a:off x="942746" y="4629607"/>
            <a:ext cx="304861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App đặt đồ ăn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942746" y="4990795"/>
            <a:ext cx="3048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Now, GrabFood, ShopeeFood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" name="Google Shape;58;p2"/>
          <p:cNvPicPr preferRelativeResize="0"/>
          <p:nvPr/>
        </p:nvPicPr>
        <p:blipFill rotWithShape="1">
          <a:blip r:embed="rId12">
            <a:alphaModFix/>
          </a:blip>
          <a:srcRect b="-9" l="0" r="0" t="-9"/>
          <a:stretch/>
        </p:blipFill>
        <p:spPr>
          <a:xfrm>
            <a:off x="4394606" y="3610051"/>
            <a:ext cx="3403397" cy="18480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" name="Google Shape;59;p2"/>
          <p:cNvPicPr preferRelativeResize="0"/>
          <p:nvPr/>
        </p:nvPicPr>
        <p:blipFill rotWithShape="1">
          <a:blip r:embed="rId13">
            <a:alphaModFix/>
          </a:blip>
          <a:srcRect b="0" l="-74" r="-74" t="0"/>
          <a:stretch/>
        </p:blipFill>
        <p:spPr>
          <a:xfrm>
            <a:off x="4403750" y="3619195"/>
            <a:ext cx="3384194" cy="47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2"/>
          <p:cNvPicPr preferRelativeResize="0"/>
          <p:nvPr/>
        </p:nvPicPr>
        <p:blipFill rotWithShape="1">
          <a:blip r:embed="rId14">
            <a:alphaModFix/>
          </a:blip>
          <a:srcRect b="0" l="-438" r="-438" t="0"/>
          <a:stretch/>
        </p:blipFill>
        <p:spPr>
          <a:xfrm>
            <a:off x="5820156" y="3962095"/>
            <a:ext cx="552298" cy="43799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 txBox="1"/>
          <p:nvPr/>
        </p:nvSpPr>
        <p:spPr>
          <a:xfrm>
            <a:off x="4574743" y="4629607"/>
            <a:ext cx="304861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Phần mềm học tập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4574743" y="4990795"/>
            <a:ext cx="3048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Học tiếng Anh, Duolingo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2"/>
          <p:cNvPicPr preferRelativeResize="0"/>
          <p:nvPr/>
        </p:nvPicPr>
        <p:blipFill rotWithShape="1">
          <a:blip r:embed="rId9">
            <a:alphaModFix/>
          </a:blip>
          <a:srcRect b="-6" l="0" r="0" t="-6"/>
          <a:stretch/>
        </p:blipFill>
        <p:spPr>
          <a:xfrm>
            <a:off x="8026603" y="3610051"/>
            <a:ext cx="3403397" cy="18480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" name="Google Shape;64;p2"/>
          <p:cNvPicPr preferRelativeResize="0"/>
          <p:nvPr/>
        </p:nvPicPr>
        <p:blipFill rotWithShape="1">
          <a:blip r:embed="rId10">
            <a:alphaModFix/>
          </a:blip>
          <a:srcRect b="0" l="-76" r="-76" t="0"/>
          <a:stretch/>
        </p:blipFill>
        <p:spPr>
          <a:xfrm>
            <a:off x="8035747" y="3619195"/>
            <a:ext cx="3384194" cy="47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" name="Google Shape;65;p2"/>
          <p:cNvPicPr preferRelativeResize="0"/>
          <p:nvPr/>
        </p:nvPicPr>
        <p:blipFill rotWithShape="1">
          <a:blip r:embed="rId15">
            <a:alphaModFix/>
          </a:blip>
          <a:srcRect b="0" l="-438" r="-438" t="0"/>
          <a:stretch/>
        </p:blipFill>
        <p:spPr>
          <a:xfrm>
            <a:off x="9452153" y="3962095"/>
            <a:ext cx="552298" cy="43799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"/>
          <p:cNvSpPr txBox="1"/>
          <p:nvPr/>
        </p:nvSpPr>
        <p:spPr>
          <a:xfrm>
            <a:off x="8207654" y="4629607"/>
            <a:ext cx="304861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Game &amp; Giải trí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8207654" y="4990795"/>
            <a:ext cx="3048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Game chơi trên điện thoại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" name="Google Shape;68;p2"/>
          <p:cNvPicPr preferRelativeResize="0"/>
          <p:nvPr/>
        </p:nvPicPr>
        <p:blipFill rotWithShape="1">
          <a:blip r:embed="rId16">
            <a:alphaModFix/>
          </a:blip>
          <a:srcRect b="-4" l="0" r="0" t="-4"/>
          <a:stretch/>
        </p:blipFill>
        <p:spPr>
          <a:xfrm>
            <a:off x="0" y="6743700"/>
            <a:ext cx="2031797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" name="Google Shape;69;p2"/>
          <p:cNvPicPr preferRelativeResize="0"/>
          <p:nvPr/>
        </p:nvPicPr>
        <p:blipFill rotWithShape="1">
          <a:blip r:embed="rId17">
            <a:alphaModFix/>
          </a:blip>
          <a:srcRect b="-7" l="0" r="0" t="-7"/>
          <a:stretch/>
        </p:blipFill>
        <p:spPr>
          <a:xfrm>
            <a:off x="2031797" y="6743700"/>
            <a:ext cx="2031797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" name="Google Shape;70;p2"/>
          <p:cNvPicPr preferRelativeResize="0"/>
          <p:nvPr/>
        </p:nvPicPr>
        <p:blipFill rotWithShape="1">
          <a:blip r:embed="rId18">
            <a:alphaModFix/>
          </a:blip>
          <a:srcRect b="0" l="-1" r="-1" t="0"/>
          <a:stretch/>
        </p:blipFill>
        <p:spPr>
          <a:xfrm>
            <a:off x="4063594" y="6743700"/>
            <a:ext cx="8128102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3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7429500" y="-1429207"/>
            <a:ext cx="5715000" cy="5715000"/>
          </a:xfrm>
          <a:prstGeom prst="ellipse">
            <a:avLst/>
          </a:prstGeom>
          <a:solidFill>
            <a:srgbClr val="D32F2F">
              <a:alpha val="509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-1429207" y="4000500"/>
            <a:ext cx="4762195" cy="4762195"/>
          </a:xfrm>
          <a:prstGeom prst="ellipse">
            <a:avLst/>
          </a:prstGeom>
          <a:solidFill>
            <a:srgbClr val="FFC107">
              <a:alpha val="7843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 rot="2700000">
            <a:off x="9620402" y="4667098"/>
            <a:ext cx="1429207" cy="1429207"/>
          </a:xfrm>
          <a:prstGeom prst="roundRect">
            <a:avLst>
              <a:gd fmla="val 17061" name="adj"/>
            </a:avLst>
          </a:prstGeom>
          <a:solidFill>
            <a:srgbClr val="D32F2F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 txBox="1"/>
          <p:nvPr/>
        </p:nvSpPr>
        <p:spPr>
          <a:xfrm>
            <a:off x="761695" y="397764"/>
            <a:ext cx="6520586" cy="486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Các loại ứng dụng phần mềm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3"/>
          <p:cNvPicPr preferRelativeResize="0"/>
          <p:nvPr/>
        </p:nvPicPr>
        <p:blipFill rotWithShape="1">
          <a:blip r:embed="rId4">
            <a:alphaModFix/>
          </a:blip>
          <a:srcRect b="-420" l="0" r="0" t="-420"/>
          <a:stretch/>
        </p:blipFill>
        <p:spPr>
          <a:xfrm>
            <a:off x="761695" y="972922"/>
            <a:ext cx="761695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/>
          <p:nvPr/>
        </p:nvSpPr>
        <p:spPr>
          <a:xfrm>
            <a:off x="9251899" y="381305"/>
            <a:ext cx="2180844" cy="666598"/>
          </a:xfrm>
          <a:prstGeom prst="roundRect">
            <a:avLst>
              <a:gd fmla="val 137174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9346997" y="476402"/>
            <a:ext cx="476402" cy="476402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3"/>
          <p:cNvPicPr preferRelativeResize="0"/>
          <p:nvPr/>
        </p:nvPicPr>
        <p:blipFill rotWithShape="1">
          <a:blip r:embed="rId5">
            <a:alphaModFix/>
          </a:blip>
          <a:srcRect b="274" l="0" r="0" t="274"/>
          <a:stretch/>
        </p:blipFill>
        <p:spPr>
          <a:xfrm>
            <a:off x="9366199" y="495605"/>
            <a:ext cx="437998" cy="437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 txBox="1"/>
          <p:nvPr/>
        </p:nvSpPr>
        <p:spPr>
          <a:xfrm>
            <a:off x="9966046" y="619963"/>
            <a:ext cx="132496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D32F2F"/>
                </a:solidFill>
                <a:latin typeface="Montserrat"/>
                <a:ea typeface="Montserrat"/>
                <a:cs typeface="Montserrat"/>
                <a:sym typeface="Montserrat"/>
              </a:rPr>
              <a:t>Quỳnh Nga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3"/>
          <p:cNvPicPr preferRelativeResize="0"/>
          <p:nvPr/>
        </p:nvPicPr>
        <p:blipFill rotWithShape="1">
          <a:blip r:embed="rId6">
            <a:alphaModFix/>
          </a:blip>
          <a:srcRect b="0" l="-7" r="-7" t="0"/>
          <a:stretch/>
        </p:blipFill>
        <p:spPr>
          <a:xfrm>
            <a:off x="761695" y="1714500"/>
            <a:ext cx="3365906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1968703" y="2095805"/>
            <a:ext cx="952805" cy="952805"/>
          </a:xfrm>
          <a:prstGeom prst="ellipse">
            <a:avLst/>
          </a:prstGeom>
          <a:solidFill>
            <a:srgbClr val="4CAF50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3"/>
          <p:cNvPicPr preferRelativeResize="0"/>
          <p:nvPr/>
        </p:nvPicPr>
        <p:blipFill rotWithShape="1">
          <a:blip r:embed="rId7">
            <a:alphaModFix/>
          </a:blip>
          <a:srcRect b="-13" l="0" r="0" t="-13"/>
          <a:stretch/>
        </p:blipFill>
        <p:spPr>
          <a:xfrm>
            <a:off x="2230222" y="2381098"/>
            <a:ext cx="428854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 txBox="1"/>
          <p:nvPr/>
        </p:nvSpPr>
        <p:spPr>
          <a:xfrm>
            <a:off x="1495044" y="3276295"/>
            <a:ext cx="190561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1F2937"/>
                </a:solidFill>
                <a:latin typeface="Montserrat"/>
                <a:ea typeface="Montserrat"/>
                <a:cs typeface="Montserrat"/>
                <a:sym typeface="Montserrat"/>
              </a:rPr>
              <a:t>Desktop App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1104595" y="3819449"/>
            <a:ext cx="2686507" cy="1105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Ứng dụng cài đặt và chạy trực tiếp trên hệ điều hành của máy tính (Windows, macOS, Linux).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3"/>
          <p:cNvPicPr preferRelativeResize="0"/>
          <p:nvPr/>
        </p:nvPicPr>
        <p:blipFill rotWithShape="1">
          <a:blip r:embed="rId8">
            <a:alphaModFix/>
          </a:blip>
          <a:srcRect b="0" l="-5" r="-5" t="0"/>
          <a:stretch/>
        </p:blipFill>
        <p:spPr>
          <a:xfrm>
            <a:off x="4412894" y="1714500"/>
            <a:ext cx="3365906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/>
          <p:nvPr/>
        </p:nvSpPr>
        <p:spPr>
          <a:xfrm>
            <a:off x="5619902" y="2095805"/>
            <a:ext cx="952805" cy="952805"/>
          </a:xfrm>
          <a:prstGeom prst="ellipse">
            <a:avLst/>
          </a:prstGeom>
          <a:solidFill>
            <a:srgbClr val="2196F3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05195" y="2381098"/>
            <a:ext cx="381305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 txBox="1"/>
          <p:nvPr/>
        </p:nvSpPr>
        <p:spPr>
          <a:xfrm>
            <a:off x="5410505" y="3276295"/>
            <a:ext cx="1381658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1F2937"/>
                </a:solidFill>
                <a:latin typeface="Montserrat"/>
                <a:ea typeface="Montserrat"/>
                <a:cs typeface="Montserrat"/>
                <a:sym typeface="Montserrat"/>
              </a:rPr>
              <a:t>Web App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4755794" y="3819449"/>
            <a:ext cx="2686507" cy="1105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Ứng dụng chạy trên trình duyệt web, không cần cài đặt, có thể truy cập từ bất kỳ thiết bị nào có internet.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3"/>
          <p:cNvPicPr preferRelativeResize="0"/>
          <p:nvPr/>
        </p:nvPicPr>
        <p:blipFill rotWithShape="1">
          <a:blip r:embed="rId10">
            <a:alphaModFix/>
          </a:blip>
          <a:srcRect b="0" l="-7" r="-7" t="0"/>
          <a:stretch/>
        </p:blipFill>
        <p:spPr>
          <a:xfrm>
            <a:off x="8064094" y="1714500"/>
            <a:ext cx="3365906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9271102" y="2095805"/>
            <a:ext cx="952805" cy="952805"/>
          </a:xfrm>
          <a:prstGeom prst="ellipse">
            <a:avLst/>
          </a:prstGeom>
          <a:solidFill>
            <a:srgbClr val="FFC107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3"/>
          <p:cNvPicPr preferRelativeResize="0"/>
          <p:nvPr/>
        </p:nvPicPr>
        <p:blipFill rotWithShape="1">
          <a:blip r:embed="rId11">
            <a:alphaModFix/>
          </a:blip>
          <a:srcRect b="0" l="-40" r="-40" t="0"/>
          <a:stretch/>
        </p:blipFill>
        <p:spPr>
          <a:xfrm>
            <a:off x="9603943" y="2381098"/>
            <a:ext cx="286207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/>
          <p:nvPr/>
        </p:nvSpPr>
        <p:spPr>
          <a:xfrm>
            <a:off x="8888882" y="3276295"/>
            <a:ext cx="1717243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1F2937"/>
                </a:solidFill>
                <a:latin typeface="Montserrat"/>
                <a:ea typeface="Montserrat"/>
                <a:cs typeface="Montserrat"/>
                <a:sym typeface="Montserrat"/>
              </a:rPr>
              <a:t>Mobile App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8406994" y="3819449"/>
            <a:ext cx="2686507" cy="1105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Ứng dụng được thiết kế đặc biệt để chạy trên các thiết bị di động như điện thoại thông minh và máy tính bảng.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3"/>
          <p:cNvPicPr preferRelativeResize="0"/>
          <p:nvPr/>
        </p:nvPicPr>
        <p:blipFill rotWithShape="1">
          <a:blip r:embed="rId12">
            <a:alphaModFix/>
          </a:blip>
          <a:srcRect b="-4" l="0" r="0" t="-4"/>
          <a:stretch/>
        </p:blipFill>
        <p:spPr>
          <a:xfrm>
            <a:off x="0" y="6743700"/>
            <a:ext cx="2031797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3"/>
          <p:cNvPicPr preferRelativeResize="0"/>
          <p:nvPr/>
        </p:nvPicPr>
        <p:blipFill rotWithShape="1">
          <a:blip r:embed="rId13">
            <a:alphaModFix/>
          </a:blip>
          <a:srcRect b="-7" l="0" r="0" t="-7"/>
          <a:stretch/>
        </p:blipFill>
        <p:spPr>
          <a:xfrm>
            <a:off x="2031797" y="6743700"/>
            <a:ext cx="2031797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4" name="Google Shape;104;p3"/>
          <p:cNvPicPr preferRelativeResize="0"/>
          <p:nvPr/>
        </p:nvPicPr>
        <p:blipFill rotWithShape="1">
          <a:blip r:embed="rId14">
            <a:alphaModFix/>
          </a:blip>
          <a:srcRect b="0" l="-1" r="-1" t="0"/>
          <a:stretch/>
        </p:blipFill>
        <p:spPr>
          <a:xfrm>
            <a:off x="4063594" y="6743700"/>
            <a:ext cx="8128102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4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7429500" y="-1429207"/>
            <a:ext cx="5715000" cy="5715000"/>
          </a:xfrm>
          <a:prstGeom prst="ellipse">
            <a:avLst/>
          </a:prstGeom>
          <a:solidFill>
            <a:srgbClr val="D32F2F">
              <a:alpha val="509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-1429207" y="4000500"/>
            <a:ext cx="4762195" cy="4762195"/>
          </a:xfrm>
          <a:prstGeom prst="ellipse">
            <a:avLst/>
          </a:prstGeom>
          <a:solidFill>
            <a:srgbClr val="FFC107">
              <a:alpha val="7843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 rot="2700000">
            <a:off x="9620402" y="4667098"/>
            <a:ext cx="1429207" cy="1429207"/>
          </a:xfrm>
          <a:prstGeom prst="roundRect">
            <a:avLst>
              <a:gd fmla="val 17061" name="adj"/>
            </a:avLst>
          </a:prstGeom>
          <a:solidFill>
            <a:srgbClr val="D32F2F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761695" y="381305"/>
            <a:ext cx="76014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D32F2F"/>
                </a:solidFill>
                <a:latin typeface="Montserrat"/>
                <a:ea typeface="Montserrat"/>
                <a:cs typeface="Montserrat"/>
                <a:sym typeface="Montserrat"/>
              </a:rPr>
              <a:t>Phần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761695" y="705002"/>
            <a:ext cx="8278063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3600"/>
              <a:buFont typeface="Montserrat"/>
              <a:buNone/>
            </a:pPr>
            <a:r>
              <a:rPr b="1" i="0" lang="en-US" sz="3600" u="none" cap="none" strike="noStrike">
                <a:solidFill>
                  <a:srgbClr val="D32F2F"/>
                </a:solidFill>
                <a:latin typeface="Montserrat"/>
                <a:ea typeface="Montserrat"/>
                <a:cs typeface="Montserrat"/>
                <a:sym typeface="Montserrat"/>
              </a:rPr>
              <a:t>Quy trình</a:t>
            </a:r>
            <a:r>
              <a:rPr b="1" i="0" lang="en-US" sz="36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 phát triển phần mềm 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9289390" y="608076"/>
            <a:ext cx="141823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D32F2F"/>
                </a:solidFill>
                <a:latin typeface="Montserrat"/>
                <a:ea typeface="Montserrat"/>
                <a:cs typeface="Montserrat"/>
                <a:sym typeface="Montserrat"/>
              </a:rPr>
              <a:t>Quỳnh Nga 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9282074" y="854964"/>
            <a:ext cx="142463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Đồng hành cùng bạn !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00" y="531266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0" name="Google Shape;120;p4"/>
          <p:cNvPicPr preferRelativeResize="0"/>
          <p:nvPr/>
        </p:nvPicPr>
        <p:blipFill rotWithShape="1">
          <a:blip r:embed="rId5">
            <a:alphaModFix/>
          </a:blip>
          <a:srcRect b="274" l="0" r="0" t="274"/>
          <a:stretch/>
        </p:blipFill>
        <p:spPr>
          <a:xfrm>
            <a:off x="10886846" y="559613"/>
            <a:ext cx="514807" cy="5148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1" name="Google Shape;121;p4"/>
          <p:cNvPicPr preferRelativeResize="0"/>
          <p:nvPr/>
        </p:nvPicPr>
        <p:blipFill rotWithShape="1">
          <a:blip r:embed="rId6">
            <a:alphaModFix/>
          </a:blip>
          <a:srcRect b="0" l="-4" r="-4" t="0"/>
          <a:stretch/>
        </p:blipFill>
        <p:spPr>
          <a:xfrm>
            <a:off x="381305" y="2340864"/>
            <a:ext cx="11430000" cy="350489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 txBox="1"/>
          <p:nvPr/>
        </p:nvSpPr>
        <p:spPr>
          <a:xfrm>
            <a:off x="523951" y="2731313"/>
            <a:ext cx="11144707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Một dự án phần mềm thường trải qua 6 giai đoạn cơ bản theo trình tự: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3" name="Google Shape;123;p4"/>
          <p:cNvPicPr preferRelativeResize="0"/>
          <p:nvPr/>
        </p:nvPicPr>
        <p:blipFill rotWithShape="1">
          <a:blip r:embed="rId7">
            <a:alphaModFix/>
          </a:blip>
          <a:srcRect b="-401" l="0" r="0" t="-401"/>
          <a:stretch/>
        </p:blipFill>
        <p:spPr>
          <a:xfrm>
            <a:off x="1533449" y="3970325"/>
            <a:ext cx="9124798" cy="38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4" name="Google Shape;124;p4"/>
          <p:cNvPicPr preferRelativeResize="0"/>
          <p:nvPr/>
        </p:nvPicPr>
        <p:blipFill rotWithShape="1">
          <a:blip r:embed="rId8">
            <a:alphaModFix/>
          </a:blip>
          <a:srcRect b="-398" l="0" r="0" t="-398"/>
          <a:stretch/>
        </p:blipFill>
        <p:spPr>
          <a:xfrm>
            <a:off x="1533449" y="3970325"/>
            <a:ext cx="11030407" cy="38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5" name="Google Shape;125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02690" y="3589020"/>
            <a:ext cx="761695" cy="761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6" name="Google Shape;126;p4"/>
          <p:cNvPicPr preferRelativeResize="0"/>
          <p:nvPr/>
        </p:nvPicPr>
        <p:blipFill rotWithShape="1">
          <a:blip r:embed="rId10">
            <a:alphaModFix/>
          </a:blip>
          <a:srcRect b="0" l="-90" r="-90" t="0"/>
          <a:stretch/>
        </p:blipFill>
        <p:spPr>
          <a:xfrm>
            <a:off x="1592885" y="3817620"/>
            <a:ext cx="38130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 txBox="1"/>
          <p:nvPr/>
        </p:nvSpPr>
        <p:spPr>
          <a:xfrm>
            <a:off x="905256" y="4541825"/>
            <a:ext cx="176387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Thu thập yêu cầu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929030" y="4860036"/>
            <a:ext cx="171450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Lấy thông tin và mong muốn từ khách hàng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2243023" y="3493922"/>
            <a:ext cx="267005" cy="267005"/>
          </a:xfrm>
          <a:prstGeom prst="ellipse">
            <a:avLst/>
          </a:prstGeom>
          <a:solidFill>
            <a:srgbClr val="FFC107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2350008" y="3526841"/>
            <a:ext cx="13350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27248" y="3589020"/>
            <a:ext cx="761695" cy="761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2" name="Google Shape;132;p4"/>
          <p:cNvPicPr preferRelativeResize="0"/>
          <p:nvPr/>
        </p:nvPicPr>
        <p:blipFill rotWithShape="1">
          <a:blip r:embed="rId11">
            <a:alphaModFix/>
          </a:blip>
          <a:srcRect b="0" l="-50" r="-50" t="0"/>
          <a:stretch/>
        </p:blipFill>
        <p:spPr>
          <a:xfrm>
            <a:off x="3336646" y="3817620"/>
            <a:ext cx="342900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 txBox="1"/>
          <p:nvPr/>
        </p:nvSpPr>
        <p:spPr>
          <a:xfrm>
            <a:off x="2961742" y="4541825"/>
            <a:ext cx="1095451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Phân tích &amp;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Thiết kế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2654503" y="5082235"/>
            <a:ext cx="171450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Lên kiến trúc hệ thống và giao diện UI/UX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967582" y="3493922"/>
            <a:ext cx="267005" cy="267005"/>
          </a:xfrm>
          <a:prstGeom prst="ellipse">
            <a:avLst/>
          </a:prstGeom>
          <a:solidFill>
            <a:srgbClr val="FFC107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4061765" y="3526841"/>
            <a:ext cx="162763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52721" y="3589020"/>
            <a:ext cx="761695" cy="761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8" name="Google Shape;138;p4"/>
          <p:cNvPicPr preferRelativeResize="0"/>
          <p:nvPr/>
        </p:nvPicPr>
        <p:blipFill rotWithShape="1">
          <a:blip r:embed="rId12">
            <a:alphaModFix/>
          </a:blip>
          <a:srcRect b="0" l="-90" r="-90" t="0"/>
          <a:stretch/>
        </p:blipFill>
        <p:spPr>
          <a:xfrm>
            <a:off x="5042916" y="3817620"/>
            <a:ext cx="38130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"/>
          <p:cNvSpPr txBox="1"/>
          <p:nvPr/>
        </p:nvSpPr>
        <p:spPr>
          <a:xfrm>
            <a:off x="4798771" y="4541825"/>
            <a:ext cx="87691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Lập trình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(Coding)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4379062" y="5082235"/>
            <a:ext cx="171450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Viết mã nguồn để tạo ra phần mềm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693054" y="3493922"/>
            <a:ext cx="267005" cy="267005"/>
          </a:xfrm>
          <a:prstGeom prst="ellipse">
            <a:avLst/>
          </a:prstGeom>
          <a:solidFill>
            <a:srgbClr val="FFC107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5786323" y="3526841"/>
            <a:ext cx="162763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77279" y="3589020"/>
            <a:ext cx="761695" cy="761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4" name="Google Shape;144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805879" y="3817620"/>
            <a:ext cx="30449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4"/>
          <p:cNvSpPr txBox="1"/>
          <p:nvPr/>
        </p:nvSpPr>
        <p:spPr>
          <a:xfrm>
            <a:off x="6516014" y="4541825"/>
            <a:ext cx="886054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Kiểm thử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(Testing)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6104534" y="5082235"/>
            <a:ext cx="171450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Tìm và sửa lỗi (bugs) trước khi ra mắt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7417613" y="3493922"/>
            <a:ext cx="267005" cy="267005"/>
          </a:xfrm>
          <a:prstGeom prst="ellipse">
            <a:avLst/>
          </a:prstGeom>
          <a:solidFill>
            <a:srgbClr val="FFC107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7505395" y="3526841"/>
            <a:ext cx="171907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" name="Google Shape;149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02752" y="3589020"/>
            <a:ext cx="761695" cy="761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0" name="Google Shape;150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531352" y="3817620"/>
            <a:ext cx="30449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4"/>
          <p:cNvSpPr txBox="1"/>
          <p:nvPr/>
        </p:nvSpPr>
        <p:spPr>
          <a:xfrm>
            <a:off x="8036662" y="4541825"/>
            <a:ext cx="1295705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Triển khai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(Deployment)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7829093" y="5082235"/>
            <a:ext cx="171450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Đưa sản phẩm lên môi trường thực tế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9143086" y="3493922"/>
            <a:ext cx="267005" cy="267005"/>
          </a:xfrm>
          <a:prstGeom prst="ellipse">
            <a:avLst/>
          </a:prstGeom>
          <a:solidFill>
            <a:srgbClr val="FFC107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9236354" y="3526841"/>
            <a:ext cx="162763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5" name="Google Shape;155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27310" y="3589020"/>
            <a:ext cx="761695" cy="761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6" name="Google Shape;156;p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255910" y="3817620"/>
            <a:ext cx="30449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 txBox="1"/>
          <p:nvPr/>
        </p:nvSpPr>
        <p:spPr>
          <a:xfrm>
            <a:off x="9862718" y="4541825"/>
            <a:ext cx="1095451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Vận hành &amp;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Bảo trì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9554566" y="5082235"/>
            <a:ext cx="171450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Hỗ trợ người dùng và cập nhật tính năng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10867644" y="3493922"/>
            <a:ext cx="267005" cy="267005"/>
          </a:xfrm>
          <a:prstGeom prst="ellipse">
            <a:avLst/>
          </a:prstGeom>
          <a:solidFill>
            <a:srgbClr val="FFC107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10959084" y="3526841"/>
            <a:ext cx="162763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" name="Google Shape;161;p4"/>
          <p:cNvPicPr preferRelativeResize="0"/>
          <p:nvPr/>
        </p:nvPicPr>
        <p:blipFill rotWithShape="1">
          <a:blip r:embed="rId16">
            <a:alphaModFix/>
          </a:blip>
          <a:srcRect b="-4" l="0" r="0" t="-4"/>
          <a:stretch/>
        </p:blipFill>
        <p:spPr>
          <a:xfrm>
            <a:off x="0" y="6743700"/>
            <a:ext cx="2031797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2" name="Google Shape;162;p4"/>
          <p:cNvPicPr preferRelativeResize="0"/>
          <p:nvPr/>
        </p:nvPicPr>
        <p:blipFill rotWithShape="1">
          <a:blip r:embed="rId17">
            <a:alphaModFix/>
          </a:blip>
          <a:srcRect b="-7" l="0" r="0" t="-7"/>
          <a:stretch/>
        </p:blipFill>
        <p:spPr>
          <a:xfrm>
            <a:off x="2031797" y="6743700"/>
            <a:ext cx="2031797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3" name="Google Shape;163;p4"/>
          <p:cNvPicPr preferRelativeResize="0"/>
          <p:nvPr/>
        </p:nvPicPr>
        <p:blipFill rotWithShape="1">
          <a:blip r:embed="rId18">
            <a:alphaModFix/>
          </a:blip>
          <a:srcRect b="0" l="-1" r="-1" t="0"/>
          <a:stretch/>
        </p:blipFill>
        <p:spPr>
          <a:xfrm>
            <a:off x="4063594" y="6743700"/>
            <a:ext cx="8128102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" name="Google Shape;170;p5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"/>
          <p:cNvSpPr/>
          <p:nvPr/>
        </p:nvSpPr>
        <p:spPr>
          <a:xfrm>
            <a:off x="7429500" y="-1429207"/>
            <a:ext cx="5715000" cy="5715000"/>
          </a:xfrm>
          <a:prstGeom prst="ellipse">
            <a:avLst/>
          </a:prstGeom>
          <a:solidFill>
            <a:srgbClr val="D32F2F">
              <a:alpha val="509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-1429207" y="4000500"/>
            <a:ext cx="4762195" cy="4762195"/>
          </a:xfrm>
          <a:prstGeom prst="ellipse">
            <a:avLst/>
          </a:prstGeom>
          <a:solidFill>
            <a:srgbClr val="FFC107">
              <a:alpha val="7843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 rot="2700000">
            <a:off x="9620402" y="4667098"/>
            <a:ext cx="1429207" cy="1429207"/>
          </a:xfrm>
          <a:prstGeom prst="roundRect">
            <a:avLst>
              <a:gd fmla="val 17061" name="adj"/>
            </a:avLst>
          </a:prstGeom>
          <a:solidFill>
            <a:srgbClr val="D32F2F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695" y="381305"/>
            <a:ext cx="666598" cy="666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5" name="Google Shape;175;p5"/>
          <p:cNvPicPr preferRelativeResize="0"/>
          <p:nvPr/>
        </p:nvPicPr>
        <p:blipFill rotWithShape="1">
          <a:blip r:embed="rId5">
            <a:alphaModFix/>
          </a:blip>
          <a:srcRect b="274" l="0" r="0" t="274"/>
          <a:stretch/>
        </p:blipFill>
        <p:spPr>
          <a:xfrm>
            <a:off x="790956" y="409651"/>
            <a:ext cx="609905" cy="60990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"/>
          <p:cNvSpPr txBox="1"/>
          <p:nvPr/>
        </p:nvSpPr>
        <p:spPr>
          <a:xfrm>
            <a:off x="1619402" y="455371"/>
            <a:ext cx="6915607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D32F2F"/>
                </a:solidFill>
                <a:latin typeface="Montserrat"/>
                <a:ea typeface="Montserrat"/>
                <a:cs typeface="Montserrat"/>
                <a:sym typeface="Montserrat"/>
              </a:rPr>
              <a:t>Quỳnh Nga 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1619402" y="744322"/>
            <a:ext cx="69156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Đồng hành cùng bạn 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8412480" y="952805"/>
            <a:ext cx="3019349" cy="28346"/>
          </a:xfrm>
          <a:prstGeom prst="rect">
            <a:avLst/>
          </a:prstGeom>
          <a:solidFill>
            <a:srgbClr val="D32F2F"/>
          </a:solidFill>
          <a:ln cap="flat" cmpd="sng" w="12700">
            <a:solidFill>
              <a:srgbClr val="D32F2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7915961" y="448056"/>
            <a:ext cx="3515868" cy="45811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Mô hình phát triển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761695" y="1429207"/>
            <a:ext cx="4667098" cy="4934102"/>
          </a:xfrm>
          <a:prstGeom prst="roundRect">
            <a:avLst>
              <a:gd fmla="val 1280" name="adj"/>
            </a:avLst>
          </a:prstGeom>
          <a:solidFill>
            <a:srgbClr val="F9FAFB"/>
          </a:solidFill>
          <a:ln>
            <a:noFill/>
          </a:ln>
          <a:effectLst>
            <a:outerShdw blurRad="1397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761695" y="1429207"/>
            <a:ext cx="4667098" cy="47549"/>
          </a:xfrm>
          <a:prstGeom prst="roundRect">
            <a:avLst>
              <a:gd fmla="val 125588" name="adj"/>
            </a:avLst>
          </a:prstGeom>
          <a:solidFill>
            <a:srgbClr val="D32F2F"/>
          </a:solidFill>
          <a:ln cap="flat" cmpd="sng" w="12700">
            <a:solidFill>
              <a:srgbClr val="D32F2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2714854" y="1762049"/>
            <a:ext cx="761695" cy="761695"/>
          </a:xfrm>
          <a:prstGeom prst="ellipse">
            <a:avLst/>
          </a:prstGeom>
          <a:solidFill>
            <a:srgbClr val="D32F2F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5"/>
          <p:cNvPicPr preferRelativeResize="0"/>
          <p:nvPr/>
        </p:nvPicPr>
        <p:blipFill rotWithShape="1">
          <a:blip r:embed="rId6">
            <a:alphaModFix/>
          </a:blip>
          <a:srcRect b="0" l="-607" r="-607" t="0"/>
          <a:stretch/>
        </p:blipFill>
        <p:spPr>
          <a:xfrm>
            <a:off x="2900477" y="1971446"/>
            <a:ext cx="390449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5"/>
          <p:cNvSpPr txBox="1"/>
          <p:nvPr/>
        </p:nvSpPr>
        <p:spPr>
          <a:xfrm>
            <a:off x="2333549" y="2667305"/>
            <a:ext cx="1530706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Waterfall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 txBox="1"/>
          <p:nvPr/>
        </p:nvSpPr>
        <p:spPr>
          <a:xfrm>
            <a:off x="2290572" y="3114446"/>
            <a:ext cx="161391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Mô hình Thác nước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1047902" y="3715207"/>
            <a:ext cx="304495" cy="304495"/>
          </a:xfrm>
          <a:prstGeom prst="ellipse">
            <a:avLst/>
          </a:prstGeom>
          <a:solidFill>
            <a:srgbClr val="D32F2F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5"/>
          <p:cNvPicPr preferRelativeResize="0"/>
          <p:nvPr/>
        </p:nvPicPr>
        <p:blipFill rotWithShape="1">
          <a:blip r:embed="rId7">
            <a:alphaModFix/>
          </a:blip>
          <a:srcRect b="-100" l="0" r="0" t="-100"/>
          <a:stretch/>
        </p:blipFill>
        <p:spPr>
          <a:xfrm>
            <a:off x="1143000" y="3791102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5"/>
          <p:cNvSpPr txBox="1"/>
          <p:nvPr/>
        </p:nvSpPr>
        <p:spPr>
          <a:xfrm>
            <a:off x="1495044" y="3685946"/>
            <a:ext cx="3762756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Tuần tự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1495044" y="4019702"/>
            <a:ext cx="3724351" cy="514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Phát triển tuần tự theo từng giai đoạn cố định (từ trên xuống dưới).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1047902" y="4753051"/>
            <a:ext cx="304495" cy="304495"/>
          </a:xfrm>
          <a:prstGeom prst="ellipse">
            <a:avLst/>
          </a:prstGeom>
          <a:solidFill>
            <a:srgbClr val="D32F2F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5"/>
          <p:cNvPicPr preferRelativeResize="0"/>
          <p:nvPr/>
        </p:nvPicPr>
        <p:blipFill rotWithShape="1">
          <a:blip r:embed="rId8">
            <a:alphaModFix/>
          </a:blip>
          <a:srcRect b="-43" l="0" r="0" t="-43"/>
          <a:stretch/>
        </p:blipFill>
        <p:spPr>
          <a:xfrm>
            <a:off x="1133856" y="4828946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5"/>
          <p:cNvSpPr txBox="1"/>
          <p:nvPr/>
        </p:nvSpPr>
        <p:spPr>
          <a:xfrm>
            <a:off x="1495044" y="4724705"/>
            <a:ext cx="3762756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Khó thay đổi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1495044" y="5057546"/>
            <a:ext cx="3724351" cy="7717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Rất khó để thay đổi yêu cầu khi đã hoàn tất một giai đoạn và chuyển sang bước tiếp theo.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6762902" y="1429207"/>
            <a:ext cx="4667098" cy="4934102"/>
          </a:xfrm>
          <a:prstGeom prst="roundRect">
            <a:avLst>
              <a:gd fmla="val 1280" name="adj"/>
            </a:avLst>
          </a:prstGeom>
          <a:solidFill>
            <a:srgbClr val="F9FAFB"/>
          </a:solidFill>
          <a:ln>
            <a:noFill/>
          </a:ln>
          <a:effectLst>
            <a:outerShdw blurRad="1397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6762902" y="1429207"/>
            <a:ext cx="4667098" cy="47549"/>
          </a:xfrm>
          <a:prstGeom prst="roundRect">
            <a:avLst>
              <a:gd fmla="val 125588" name="adj"/>
            </a:avLst>
          </a:prstGeom>
          <a:solidFill>
            <a:srgbClr val="FFC107"/>
          </a:solidFill>
          <a:ln cap="flat" cmpd="sng" w="12700">
            <a:solidFill>
              <a:srgbClr val="FFC10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8715146" y="1762049"/>
            <a:ext cx="761695" cy="761695"/>
          </a:xfrm>
          <a:prstGeom prst="ellipse">
            <a:avLst/>
          </a:prstGeom>
          <a:solidFill>
            <a:srgbClr val="FFC107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" name="Google Shape;197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24544" y="1971446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/>
          <p:nvPr/>
        </p:nvSpPr>
        <p:spPr>
          <a:xfrm>
            <a:off x="8155534" y="2667305"/>
            <a:ext cx="1887322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Agile Scrum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8292694" y="3114446"/>
            <a:ext cx="16120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Mô hình Linh hoạt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7048195" y="3715207"/>
            <a:ext cx="304495" cy="304495"/>
          </a:xfrm>
          <a:prstGeom prst="ellipse">
            <a:avLst/>
          </a:prstGeom>
          <a:solidFill>
            <a:srgbClr val="FFC107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25005" y="379110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5"/>
          <p:cNvSpPr txBox="1"/>
          <p:nvPr/>
        </p:nvSpPr>
        <p:spPr>
          <a:xfrm>
            <a:off x="7496251" y="3685946"/>
            <a:ext cx="3762756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Linh hoạt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7496251" y="4019702"/>
            <a:ext cx="3724351" cy="514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Phát triển linh hoạt theo từng vòng lặp ngắn (Sprint) liên tục.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7048195" y="4753051"/>
            <a:ext cx="304495" cy="304495"/>
          </a:xfrm>
          <a:prstGeom prst="ellipse">
            <a:avLst/>
          </a:prstGeom>
          <a:solidFill>
            <a:srgbClr val="FFC107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125005" y="4828946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5"/>
          <p:cNvSpPr txBox="1"/>
          <p:nvPr/>
        </p:nvSpPr>
        <p:spPr>
          <a:xfrm>
            <a:off x="7496251" y="4724705"/>
            <a:ext cx="3762756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Dễ điều chỉnh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7496251" y="5057546"/>
            <a:ext cx="3724351" cy="7717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Dễ dàng thay đổi, cập nhật và thích ứng nhanh theo phản hồi thực tế từ người dùng.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857646" y="3657600"/>
            <a:ext cx="476402" cy="47640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5"/>
          <p:cNvSpPr txBox="1"/>
          <p:nvPr/>
        </p:nvSpPr>
        <p:spPr>
          <a:xfrm>
            <a:off x="5962802" y="3752698"/>
            <a:ext cx="34290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0" name="Google Shape;210;p5"/>
          <p:cNvPicPr preferRelativeResize="0"/>
          <p:nvPr/>
        </p:nvPicPr>
        <p:blipFill rotWithShape="1">
          <a:blip r:embed="rId13">
            <a:alphaModFix/>
          </a:blip>
          <a:srcRect b="-4" l="0" r="0" t="-4"/>
          <a:stretch/>
        </p:blipFill>
        <p:spPr>
          <a:xfrm>
            <a:off x="0" y="6743700"/>
            <a:ext cx="2031797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1" name="Google Shape;211;p5"/>
          <p:cNvPicPr preferRelativeResize="0"/>
          <p:nvPr/>
        </p:nvPicPr>
        <p:blipFill rotWithShape="1">
          <a:blip r:embed="rId14">
            <a:alphaModFix/>
          </a:blip>
          <a:srcRect b="-7" l="0" r="0" t="-7"/>
          <a:stretch/>
        </p:blipFill>
        <p:spPr>
          <a:xfrm>
            <a:off x="2031797" y="6743700"/>
            <a:ext cx="2031797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2" name="Google Shape;212;p5"/>
          <p:cNvPicPr preferRelativeResize="0"/>
          <p:nvPr/>
        </p:nvPicPr>
        <p:blipFill rotWithShape="1">
          <a:blip r:embed="rId15">
            <a:alphaModFix/>
          </a:blip>
          <a:srcRect b="0" l="-1" r="-1" t="0"/>
          <a:stretch/>
        </p:blipFill>
        <p:spPr>
          <a:xfrm>
            <a:off x="4063594" y="6743700"/>
            <a:ext cx="8128102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6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6"/>
          <p:cNvSpPr/>
          <p:nvPr/>
        </p:nvSpPr>
        <p:spPr>
          <a:xfrm>
            <a:off x="7429500" y="-1429207"/>
            <a:ext cx="5715000" cy="5715000"/>
          </a:xfrm>
          <a:prstGeom prst="ellipse">
            <a:avLst/>
          </a:prstGeom>
          <a:solidFill>
            <a:srgbClr val="D32F2F">
              <a:alpha val="509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-1429207" y="4000500"/>
            <a:ext cx="4762195" cy="4762195"/>
          </a:xfrm>
          <a:prstGeom prst="ellipse">
            <a:avLst/>
          </a:prstGeom>
          <a:solidFill>
            <a:srgbClr val="FFC107">
              <a:alpha val="7843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 rot="2700000">
            <a:off x="9620402" y="4667098"/>
            <a:ext cx="1429207" cy="1429207"/>
          </a:xfrm>
          <a:prstGeom prst="roundRect">
            <a:avLst>
              <a:gd fmla="val 17061" name="adj"/>
            </a:avLst>
          </a:prstGeom>
          <a:solidFill>
            <a:srgbClr val="D32F2F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695" y="28620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4" name="Google Shape;224;p6"/>
          <p:cNvPicPr preferRelativeResize="0"/>
          <p:nvPr/>
        </p:nvPicPr>
        <p:blipFill rotWithShape="1">
          <a:blip r:embed="rId5">
            <a:alphaModFix/>
          </a:blip>
          <a:srcRect b="274" l="0" r="0" t="274"/>
          <a:stretch/>
        </p:blipFill>
        <p:spPr>
          <a:xfrm>
            <a:off x="790956" y="314554"/>
            <a:ext cx="514807" cy="51480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6"/>
          <p:cNvSpPr txBox="1"/>
          <p:nvPr/>
        </p:nvSpPr>
        <p:spPr>
          <a:xfrm>
            <a:off x="1485900" y="371246"/>
            <a:ext cx="147309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D32F2F"/>
                </a:solidFill>
                <a:latin typeface="Montserrat"/>
                <a:ea typeface="Montserrat"/>
                <a:cs typeface="Montserrat"/>
                <a:sym typeface="Montserrat"/>
              </a:rPr>
              <a:t>Quỳnh Nga 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 txBox="1"/>
          <p:nvPr/>
        </p:nvSpPr>
        <p:spPr>
          <a:xfrm>
            <a:off x="1485900" y="599846"/>
            <a:ext cx="145755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ontserrat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Đồng hành cùng bạn !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8399678" y="452628"/>
            <a:ext cx="38405" cy="237744"/>
          </a:xfrm>
          <a:prstGeom prst="rect">
            <a:avLst/>
          </a:prstGeom>
          <a:solidFill>
            <a:srgbClr val="FFC107"/>
          </a:solidFill>
          <a:ln cap="flat" cmpd="sng" w="12700">
            <a:solidFill>
              <a:srgbClr val="FFC10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 txBox="1"/>
          <p:nvPr/>
        </p:nvSpPr>
        <p:spPr>
          <a:xfrm>
            <a:off x="8515807" y="452628"/>
            <a:ext cx="292242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D32F2F"/>
                </a:solidFill>
                <a:latin typeface="Montserrat"/>
                <a:ea typeface="Montserrat"/>
                <a:cs typeface="Montserrat"/>
                <a:sym typeface="Montserrat"/>
              </a:rPr>
              <a:t>Hiểu về Phát triển phần mềm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761695" y="1143000"/>
            <a:ext cx="10858500" cy="486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 Các vai trò </a:t>
            </a:r>
            <a:r>
              <a:rPr b="1" i="0" lang="en-US" sz="3100" u="none" cap="none" strike="noStrike">
                <a:solidFill>
                  <a:srgbClr val="D32F2F"/>
                </a:solidFill>
                <a:latin typeface="Montserrat"/>
                <a:ea typeface="Montserrat"/>
                <a:cs typeface="Montserrat"/>
                <a:sym typeface="Montserrat"/>
              </a:rPr>
              <a:t>"tiêu biểu"</a:t>
            </a:r>
            <a:r>
              <a:rPr b="1" i="0" lang="en-US" sz="31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 trong dự án 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761695" y="1698955"/>
            <a:ext cx="10782605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Mỗi thành viên đóng một vai trò quan trọng để tạo nên một sản phẩm phần mềm thành công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761695" y="2242109"/>
            <a:ext cx="2523744" cy="1429207"/>
          </a:xfrm>
          <a:prstGeom prst="roundRect">
            <a:avLst>
              <a:gd fmla="val 10237" name="adj"/>
            </a:avLst>
          </a:prstGeom>
          <a:solidFill>
            <a:srgbClr val="FFFFFF"/>
          </a:solidFill>
          <a:ln>
            <a:noFill/>
          </a:ln>
          <a:effectLst>
            <a:outerShdw blurRad="1397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761695" y="2242109"/>
            <a:ext cx="2523744" cy="38405"/>
          </a:xfrm>
          <a:prstGeom prst="roundRect">
            <a:avLst>
              <a:gd fmla="val 380950" name="adj"/>
            </a:avLst>
          </a:prstGeom>
          <a:solidFill>
            <a:srgbClr val="D32F2F"/>
          </a:solidFill>
          <a:ln cap="flat" cmpd="sng" w="12700">
            <a:solidFill>
              <a:srgbClr val="D32F2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952805" y="2470709"/>
            <a:ext cx="381305" cy="171907"/>
          </a:xfrm>
          <a:prstGeom prst="roundRect">
            <a:avLst>
              <a:gd fmla="val 472814" name="adj"/>
            </a:avLst>
          </a:prstGeom>
          <a:solidFill>
            <a:srgbClr val="D32F2F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4" name="Google Shape;234;p6"/>
          <p:cNvPicPr preferRelativeResize="0"/>
          <p:nvPr/>
        </p:nvPicPr>
        <p:blipFill rotWithShape="1">
          <a:blip r:embed="rId6">
            <a:alphaModFix/>
          </a:blip>
          <a:srcRect b="-842" l="0" r="0" t="-842"/>
          <a:stretch/>
        </p:blipFill>
        <p:spPr>
          <a:xfrm>
            <a:off x="1047902" y="2470709"/>
            <a:ext cx="19019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6"/>
          <p:cNvSpPr txBox="1"/>
          <p:nvPr/>
        </p:nvSpPr>
        <p:spPr>
          <a:xfrm>
            <a:off x="952805" y="2756916"/>
            <a:ext cx="1893722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PM </a:t>
            </a:r>
            <a:r>
              <a:rPr b="1" i="0" lang="en-US" sz="10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(Project Manager)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952805" y="3118104"/>
            <a:ext cx="2220163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Quản lý toàn bộ dự án, lên kế hoạch, phân bổ nguồn lực và theo dõi tiến độ.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3476549" y="2242109"/>
            <a:ext cx="2523744" cy="1429207"/>
          </a:xfrm>
          <a:prstGeom prst="roundRect">
            <a:avLst>
              <a:gd fmla="val 10237" name="adj"/>
            </a:avLst>
          </a:prstGeom>
          <a:solidFill>
            <a:srgbClr val="FFFFFF"/>
          </a:solidFill>
          <a:ln>
            <a:noFill/>
          </a:ln>
          <a:effectLst>
            <a:outerShdw blurRad="1397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3476549" y="2242109"/>
            <a:ext cx="2523744" cy="38405"/>
          </a:xfrm>
          <a:prstGeom prst="roundRect">
            <a:avLst>
              <a:gd fmla="val 380950" name="adj"/>
            </a:avLst>
          </a:prstGeom>
          <a:solidFill>
            <a:srgbClr val="FFC107"/>
          </a:solidFill>
          <a:ln cap="flat" cmpd="sng" w="12700">
            <a:solidFill>
              <a:srgbClr val="FFC10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3666744" y="2470709"/>
            <a:ext cx="381305" cy="171907"/>
          </a:xfrm>
          <a:prstGeom prst="roundRect">
            <a:avLst>
              <a:gd fmla="val 472814" name="adj"/>
            </a:avLst>
          </a:prstGeom>
          <a:solidFill>
            <a:srgbClr val="FFC107">
              <a:alpha val="14901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0" name="Google Shape;240;p6"/>
          <p:cNvPicPr preferRelativeResize="0"/>
          <p:nvPr/>
        </p:nvPicPr>
        <p:blipFill rotWithShape="1">
          <a:blip r:embed="rId7">
            <a:alphaModFix/>
          </a:blip>
          <a:srcRect b="0" l="-1064" r="-1064" t="0"/>
          <a:stretch/>
        </p:blipFill>
        <p:spPr>
          <a:xfrm>
            <a:off x="3748126" y="2470709"/>
            <a:ext cx="219456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6"/>
          <p:cNvSpPr txBox="1"/>
          <p:nvPr/>
        </p:nvSpPr>
        <p:spPr>
          <a:xfrm>
            <a:off x="3666744" y="2756916"/>
            <a:ext cx="1530706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BrSE </a:t>
            </a:r>
            <a:r>
              <a:rPr b="1" i="0" lang="en-US" sz="10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(Bridge SE)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3666744" y="3118104"/>
            <a:ext cx="2220163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Kỹ sư cầu nối, kết nối giao tiếp và kỹ thuật giữa khách hàng và đội ngũ phát triển.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6191402" y="2242109"/>
            <a:ext cx="2523744" cy="1429207"/>
          </a:xfrm>
          <a:prstGeom prst="roundRect">
            <a:avLst>
              <a:gd fmla="val 10237" name="adj"/>
            </a:avLst>
          </a:prstGeom>
          <a:solidFill>
            <a:srgbClr val="FFFFFF"/>
          </a:solidFill>
          <a:ln>
            <a:noFill/>
          </a:ln>
          <a:effectLst>
            <a:outerShdw blurRad="1397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6191402" y="2242109"/>
            <a:ext cx="2523744" cy="38405"/>
          </a:xfrm>
          <a:prstGeom prst="roundRect">
            <a:avLst>
              <a:gd fmla="val 380950" name="adj"/>
            </a:avLst>
          </a:prstGeom>
          <a:solidFill>
            <a:srgbClr val="D32F2F"/>
          </a:solidFill>
          <a:ln cap="flat" cmpd="sng" w="12700">
            <a:solidFill>
              <a:srgbClr val="D32F2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"/>
          <p:cNvSpPr/>
          <p:nvPr/>
        </p:nvSpPr>
        <p:spPr>
          <a:xfrm>
            <a:off x="6381598" y="2470709"/>
            <a:ext cx="381305" cy="171907"/>
          </a:xfrm>
          <a:prstGeom prst="roundRect">
            <a:avLst>
              <a:gd fmla="val 472814" name="adj"/>
            </a:avLst>
          </a:prstGeom>
          <a:solidFill>
            <a:srgbClr val="D32F2F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6" name="Google Shape;246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754" y="2470709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6"/>
          <p:cNvSpPr txBox="1"/>
          <p:nvPr/>
        </p:nvSpPr>
        <p:spPr>
          <a:xfrm>
            <a:off x="6381598" y="2756916"/>
            <a:ext cx="1881835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BA </a:t>
            </a:r>
            <a:r>
              <a:rPr b="1" i="0" lang="en-US" sz="10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(Business Analyst)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 txBox="1"/>
          <p:nvPr/>
        </p:nvSpPr>
        <p:spPr>
          <a:xfrm>
            <a:off x="6381598" y="3118104"/>
            <a:ext cx="2220163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Chuyên viên phân tích, thu thập và làm rõ các yêu cầu nghiệp vụ từ người dùng.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8906256" y="2242109"/>
            <a:ext cx="2523744" cy="1429207"/>
          </a:xfrm>
          <a:prstGeom prst="roundRect">
            <a:avLst>
              <a:gd fmla="val 10237" name="adj"/>
            </a:avLst>
          </a:prstGeom>
          <a:solidFill>
            <a:srgbClr val="FFFFFF"/>
          </a:solidFill>
          <a:ln>
            <a:noFill/>
          </a:ln>
          <a:effectLst>
            <a:outerShdw blurRad="1397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6"/>
          <p:cNvSpPr/>
          <p:nvPr/>
        </p:nvSpPr>
        <p:spPr>
          <a:xfrm>
            <a:off x="8906256" y="2242109"/>
            <a:ext cx="2523744" cy="38405"/>
          </a:xfrm>
          <a:prstGeom prst="roundRect">
            <a:avLst>
              <a:gd fmla="val 380950" name="adj"/>
            </a:avLst>
          </a:prstGeom>
          <a:solidFill>
            <a:srgbClr val="FFC107"/>
          </a:solidFill>
          <a:ln cap="flat" cmpd="sng" w="12700">
            <a:solidFill>
              <a:srgbClr val="FFC10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9096451" y="2470709"/>
            <a:ext cx="381305" cy="171907"/>
          </a:xfrm>
          <a:prstGeom prst="roundRect">
            <a:avLst>
              <a:gd fmla="val 472814" name="adj"/>
            </a:avLst>
          </a:prstGeom>
          <a:solidFill>
            <a:srgbClr val="FFC107">
              <a:alpha val="14901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2" name="Google Shape;252;p6"/>
          <p:cNvPicPr preferRelativeResize="0"/>
          <p:nvPr/>
        </p:nvPicPr>
        <p:blipFill rotWithShape="1">
          <a:blip r:embed="rId9">
            <a:alphaModFix/>
          </a:blip>
          <a:srcRect b="-842" l="0" r="0" t="-842"/>
          <a:stretch/>
        </p:blipFill>
        <p:spPr>
          <a:xfrm>
            <a:off x="9191549" y="2470709"/>
            <a:ext cx="19019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6"/>
          <p:cNvSpPr txBox="1"/>
          <p:nvPr/>
        </p:nvSpPr>
        <p:spPr>
          <a:xfrm>
            <a:off x="9096451" y="2756916"/>
            <a:ext cx="981151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Designer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 txBox="1"/>
          <p:nvPr/>
        </p:nvSpPr>
        <p:spPr>
          <a:xfrm>
            <a:off x="9096451" y="3118104"/>
            <a:ext cx="2220163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Thiết kế giao diện (UI) và tối ưu hóa trải nghiệm người dùng (UX) cho sản phẩm.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2119579" y="3861511"/>
            <a:ext cx="2523744" cy="1429207"/>
          </a:xfrm>
          <a:prstGeom prst="roundRect">
            <a:avLst>
              <a:gd fmla="val 10237" name="adj"/>
            </a:avLst>
          </a:prstGeom>
          <a:solidFill>
            <a:srgbClr val="FFFFFF"/>
          </a:solidFill>
          <a:ln>
            <a:noFill/>
          </a:ln>
          <a:effectLst>
            <a:outerShdw blurRad="1397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6"/>
          <p:cNvSpPr/>
          <p:nvPr/>
        </p:nvSpPr>
        <p:spPr>
          <a:xfrm>
            <a:off x="2119579" y="3861511"/>
            <a:ext cx="2523744" cy="38405"/>
          </a:xfrm>
          <a:prstGeom prst="roundRect">
            <a:avLst>
              <a:gd fmla="val 380950" name="adj"/>
            </a:avLst>
          </a:prstGeom>
          <a:solidFill>
            <a:srgbClr val="D32F2F"/>
          </a:solidFill>
          <a:ln cap="flat" cmpd="sng" w="12700">
            <a:solidFill>
              <a:srgbClr val="D32F2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2309774" y="4090111"/>
            <a:ext cx="381305" cy="171907"/>
          </a:xfrm>
          <a:prstGeom prst="roundRect">
            <a:avLst>
              <a:gd fmla="val 472814" name="adj"/>
            </a:avLst>
          </a:prstGeom>
          <a:solidFill>
            <a:srgbClr val="D32F2F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8" name="Google Shape;258;p6"/>
          <p:cNvPicPr preferRelativeResize="0"/>
          <p:nvPr/>
        </p:nvPicPr>
        <p:blipFill rotWithShape="1">
          <a:blip r:embed="rId10">
            <a:alphaModFix/>
          </a:blip>
          <a:srcRect b="0" l="-1064" r="-1064" t="0"/>
          <a:stretch/>
        </p:blipFill>
        <p:spPr>
          <a:xfrm>
            <a:off x="2391156" y="4090111"/>
            <a:ext cx="219456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6"/>
          <p:cNvSpPr txBox="1"/>
          <p:nvPr/>
        </p:nvSpPr>
        <p:spPr>
          <a:xfrm>
            <a:off x="2309774" y="4375404"/>
            <a:ext cx="146304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Dev </a:t>
            </a:r>
            <a:r>
              <a:rPr b="1" i="0" lang="en-US" sz="10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(Developer)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 txBox="1"/>
          <p:nvPr/>
        </p:nvSpPr>
        <p:spPr>
          <a:xfrm>
            <a:off x="2309774" y="4737506"/>
            <a:ext cx="2220163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Lập trình viên, người trực tiếp viết mã lệnh để xây dựng các tính năng phần mềm.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4833518" y="3861511"/>
            <a:ext cx="2523744" cy="1429207"/>
          </a:xfrm>
          <a:prstGeom prst="roundRect">
            <a:avLst>
              <a:gd fmla="val 10237" name="adj"/>
            </a:avLst>
          </a:prstGeom>
          <a:solidFill>
            <a:srgbClr val="FFFFFF"/>
          </a:solidFill>
          <a:ln>
            <a:noFill/>
          </a:ln>
          <a:effectLst>
            <a:outerShdw blurRad="1397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4833518" y="3861511"/>
            <a:ext cx="2523744" cy="38405"/>
          </a:xfrm>
          <a:prstGeom prst="roundRect">
            <a:avLst>
              <a:gd fmla="val 380950" name="adj"/>
            </a:avLst>
          </a:prstGeom>
          <a:solidFill>
            <a:srgbClr val="FFC107"/>
          </a:solidFill>
          <a:ln cap="flat" cmpd="sng" w="12700">
            <a:solidFill>
              <a:srgbClr val="FFC10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6"/>
          <p:cNvSpPr/>
          <p:nvPr/>
        </p:nvSpPr>
        <p:spPr>
          <a:xfrm>
            <a:off x="5024628" y="4090111"/>
            <a:ext cx="381305" cy="171907"/>
          </a:xfrm>
          <a:prstGeom prst="roundRect">
            <a:avLst>
              <a:gd fmla="val 472814" name="adj"/>
            </a:avLst>
          </a:prstGeom>
          <a:solidFill>
            <a:srgbClr val="FFC107">
              <a:alpha val="14901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4" name="Google Shape;264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128870" y="4090111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6"/>
          <p:cNvSpPr txBox="1"/>
          <p:nvPr/>
        </p:nvSpPr>
        <p:spPr>
          <a:xfrm>
            <a:off x="5024628" y="4375404"/>
            <a:ext cx="1451153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Tester </a:t>
            </a:r>
            <a:r>
              <a:rPr b="1" i="0" lang="en-US" sz="10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(QA/QC)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 txBox="1"/>
          <p:nvPr/>
        </p:nvSpPr>
        <p:spPr>
          <a:xfrm>
            <a:off x="5024628" y="4737506"/>
            <a:ext cx="2220163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Chuyên viên kiểm thử, tìm kiếm lỗi (bug) và đảm bảo chất lượng phần mềm.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7548372" y="3861511"/>
            <a:ext cx="2523744" cy="1429207"/>
          </a:xfrm>
          <a:prstGeom prst="roundRect">
            <a:avLst>
              <a:gd fmla="val 10237" name="adj"/>
            </a:avLst>
          </a:prstGeom>
          <a:solidFill>
            <a:srgbClr val="FFFFFF"/>
          </a:solidFill>
          <a:ln>
            <a:noFill/>
          </a:ln>
          <a:effectLst>
            <a:outerShdw blurRad="139700" rotWithShape="0" algn="bl" dir="16200000" dist="381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"/>
          <p:cNvSpPr/>
          <p:nvPr/>
        </p:nvSpPr>
        <p:spPr>
          <a:xfrm>
            <a:off x="7548372" y="3861511"/>
            <a:ext cx="2523744" cy="38405"/>
          </a:xfrm>
          <a:prstGeom prst="roundRect">
            <a:avLst>
              <a:gd fmla="val 380950" name="adj"/>
            </a:avLst>
          </a:prstGeom>
          <a:solidFill>
            <a:srgbClr val="D32F2F"/>
          </a:solidFill>
          <a:ln cap="flat" cmpd="sng" w="12700">
            <a:solidFill>
              <a:srgbClr val="D32F2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6"/>
          <p:cNvSpPr/>
          <p:nvPr/>
        </p:nvSpPr>
        <p:spPr>
          <a:xfrm>
            <a:off x="7739482" y="4090111"/>
            <a:ext cx="381305" cy="171907"/>
          </a:xfrm>
          <a:prstGeom prst="roundRect">
            <a:avLst>
              <a:gd fmla="val 472814" name="adj"/>
            </a:avLst>
          </a:prstGeom>
          <a:solidFill>
            <a:srgbClr val="D32F2F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0" name="Google Shape;270;p6"/>
          <p:cNvPicPr preferRelativeResize="0"/>
          <p:nvPr/>
        </p:nvPicPr>
        <p:blipFill rotWithShape="1">
          <a:blip r:embed="rId12">
            <a:alphaModFix/>
          </a:blip>
          <a:srcRect b="0" l="-1064" r="-1064" t="0"/>
          <a:stretch/>
        </p:blipFill>
        <p:spPr>
          <a:xfrm>
            <a:off x="7819949" y="4090111"/>
            <a:ext cx="219456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6"/>
          <p:cNvSpPr txBox="1"/>
          <p:nvPr/>
        </p:nvSpPr>
        <p:spPr>
          <a:xfrm>
            <a:off x="7739482" y="4375404"/>
            <a:ext cx="2278685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rPr>
              <a:t>Comtor </a:t>
            </a:r>
            <a:r>
              <a:rPr b="1" i="0" lang="en-US" sz="10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(Communicator)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 txBox="1"/>
          <p:nvPr/>
        </p:nvSpPr>
        <p:spPr>
          <a:xfrm>
            <a:off x="7739482" y="4737506"/>
            <a:ext cx="2220163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Biên phiên dịch viên IT, hỗ trợ dịch thuật tài liệu và trao đổi ngôn ngữ trong dự án.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3" name="Google Shape;273;p6"/>
          <p:cNvPicPr preferRelativeResize="0"/>
          <p:nvPr/>
        </p:nvPicPr>
        <p:blipFill rotWithShape="1">
          <a:blip r:embed="rId13">
            <a:alphaModFix/>
          </a:blip>
          <a:srcRect b="-4" l="0" r="0" t="-4"/>
          <a:stretch/>
        </p:blipFill>
        <p:spPr>
          <a:xfrm>
            <a:off x="0" y="6743700"/>
            <a:ext cx="2031797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4" name="Google Shape;274;p6"/>
          <p:cNvPicPr preferRelativeResize="0"/>
          <p:nvPr/>
        </p:nvPicPr>
        <p:blipFill rotWithShape="1">
          <a:blip r:embed="rId14">
            <a:alphaModFix/>
          </a:blip>
          <a:srcRect b="-7" l="0" r="0" t="-7"/>
          <a:stretch/>
        </p:blipFill>
        <p:spPr>
          <a:xfrm>
            <a:off x="2031797" y="6743700"/>
            <a:ext cx="2031797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5" name="Google Shape;275;p6"/>
          <p:cNvPicPr preferRelativeResize="0"/>
          <p:nvPr/>
        </p:nvPicPr>
        <p:blipFill rotWithShape="1">
          <a:blip r:embed="rId15">
            <a:alphaModFix/>
          </a:blip>
          <a:srcRect b="0" l="-1" r="-1" t="0"/>
          <a:stretch/>
        </p:blipFill>
        <p:spPr>
          <a:xfrm>
            <a:off x="4063594" y="6743700"/>
            <a:ext cx="8128102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2026-03-31T09:44:49Z</dcterms:created>
  <dc:creator>Visual Extract to PPTX Converter</dc:creator>
</cp:coreProperties>
</file>