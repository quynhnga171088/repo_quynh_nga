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Lato"/>
      <p:regular r:id="rId25"/>
      <p:bold r:id="rId26"/>
      <p:italic r:id="rId27"/>
      <p:boldItalic r:id="rId28"/>
    </p:embeddedFont>
    <p:embeddedFont>
      <p:font typeface="Manrope ExtraBold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anropeExtra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99f98a21d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99f98a21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200e565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7200e56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99f98a2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99f98a2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99f98a21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99f98a21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99f98a21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99f98a21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99f98a21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99f98a21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99f98a21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99f98a21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99f98a21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99f98a21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99f98a21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799f98a21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99f98a21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799f98a21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99f98a21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799f98a21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99f98a21d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799f98a21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99f98a21d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99f98a21d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99f98a21d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799f98a21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99f98a21d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799f98a21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99f98a21d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799f98a21d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799f98a21d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799f98a21d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799f98a21d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799f98a21d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99f98a21d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799f98a21d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0" y="505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talog Slide" showMasterSp="0">
  <p:cSld name="Catalog Slid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3283436"/>
            <a:ext cx="1863699" cy="1860064"/>
          </a:xfrm>
          <a:custGeom>
            <a:rect b="b" l="l" r="r" t="t"/>
            <a:pathLst>
              <a:path extrusionOk="0" h="2480085" w="2484932">
                <a:moveTo>
                  <a:pt x="309827" y="0"/>
                </a:moveTo>
                <a:cubicBezTo>
                  <a:pt x="1511104" y="0"/>
                  <a:pt x="2484932" y="974408"/>
                  <a:pt x="2484932" y="2176401"/>
                </a:cubicBezTo>
                <a:cubicBezTo>
                  <a:pt x="2484932" y="2251526"/>
                  <a:pt x="2481128" y="2325761"/>
                  <a:pt x="2473703" y="2398926"/>
                </a:cubicBezTo>
                <a:lnTo>
                  <a:pt x="2461324" y="2480085"/>
                </a:lnTo>
                <a:lnTo>
                  <a:pt x="0" y="2480085"/>
                </a:lnTo>
                <a:lnTo>
                  <a:pt x="0" y="24589"/>
                </a:lnTo>
                <a:lnTo>
                  <a:pt x="87435" y="11237"/>
                </a:lnTo>
                <a:cubicBezTo>
                  <a:pt x="160556" y="3807"/>
                  <a:pt x="234747" y="0"/>
                  <a:pt x="309827" y="0"/>
                </a:cubicBezTo>
                <a:close/>
              </a:path>
            </a:pathLst>
          </a:custGeom>
          <a:solidFill>
            <a:srgbClr val="FED48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2" name="Google Shape;5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5256" y="3086100"/>
            <a:ext cx="1604772" cy="160477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type="title"/>
          </p:nvPr>
        </p:nvSpPr>
        <p:spPr>
          <a:xfrm>
            <a:off x="1337310" y="1373029"/>
            <a:ext cx="2513400" cy="24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anrope ExtraBold"/>
              <a:buChar char="●"/>
              <a:defRPr b="1" sz="35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/>
          <p:nvPr/>
        </p:nvSpPr>
        <p:spPr>
          <a:xfrm>
            <a:off x="1932597" y="4402044"/>
            <a:ext cx="152295" cy="741456"/>
          </a:xfrm>
          <a:custGeom>
            <a:rect b="b" l="l" r="r" t="t"/>
            <a:pathLst>
              <a:path extrusionOk="0" h="988608" w="203060">
                <a:moveTo>
                  <a:pt x="42778" y="0"/>
                </a:moveTo>
                <a:cubicBezTo>
                  <a:pt x="66188" y="0"/>
                  <a:pt x="85165" y="18977"/>
                  <a:pt x="85165" y="42387"/>
                </a:cubicBezTo>
                <a:lnTo>
                  <a:pt x="84788" y="43297"/>
                </a:lnTo>
                <a:lnTo>
                  <a:pt x="86463" y="43297"/>
                </a:lnTo>
                <a:lnTo>
                  <a:pt x="138259" y="244742"/>
                </a:lnTo>
                <a:cubicBezTo>
                  <a:pt x="180747" y="452376"/>
                  <a:pt x="203060" y="667360"/>
                  <a:pt x="203060" y="887555"/>
                </a:cubicBezTo>
                <a:lnTo>
                  <a:pt x="197958" y="988608"/>
                </a:lnTo>
                <a:lnTo>
                  <a:pt x="114136" y="988608"/>
                </a:lnTo>
                <a:lnTo>
                  <a:pt x="119238" y="887555"/>
                </a:lnTo>
                <a:cubicBezTo>
                  <a:pt x="119238" y="673147"/>
                  <a:pt x="97512" y="463813"/>
                  <a:pt x="56140" y="261635"/>
                </a:cubicBezTo>
                <a:lnTo>
                  <a:pt x="0" y="43297"/>
                </a:lnTo>
                <a:lnTo>
                  <a:pt x="768" y="43297"/>
                </a:lnTo>
                <a:lnTo>
                  <a:pt x="391" y="42387"/>
                </a:lnTo>
                <a:cubicBezTo>
                  <a:pt x="391" y="18977"/>
                  <a:pt x="19368" y="0"/>
                  <a:pt x="42778" y="0"/>
                </a:cubicBezTo>
                <a:close/>
              </a:path>
            </a:pathLst>
          </a:custGeom>
          <a:solidFill>
            <a:srgbClr val="FFD48A">
              <a:alpha val="400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0" y="3040893"/>
            <a:ext cx="1167066" cy="348629"/>
          </a:xfrm>
          <a:custGeom>
            <a:rect b="b" l="l" r="r" t="t"/>
            <a:pathLst>
              <a:path extrusionOk="0" h="464839" w="1556088">
                <a:moveTo>
                  <a:pt x="138304" y="0"/>
                </a:moveTo>
                <a:cubicBezTo>
                  <a:pt x="609550" y="0"/>
                  <a:pt x="1052913" y="119382"/>
                  <a:pt x="1439800" y="329551"/>
                </a:cubicBezTo>
                <a:lnTo>
                  <a:pt x="1530165" y="384449"/>
                </a:lnTo>
                <a:lnTo>
                  <a:pt x="1529608" y="385365"/>
                </a:lnTo>
                <a:lnTo>
                  <a:pt x="1543435" y="391092"/>
                </a:lnTo>
                <a:cubicBezTo>
                  <a:pt x="1551253" y="398910"/>
                  <a:pt x="1556088" y="409710"/>
                  <a:pt x="1556088" y="421639"/>
                </a:cubicBezTo>
                <a:cubicBezTo>
                  <a:pt x="1556088" y="445498"/>
                  <a:pt x="1536747" y="464839"/>
                  <a:pt x="1512888" y="464839"/>
                </a:cubicBezTo>
                <a:cubicBezTo>
                  <a:pt x="1500959" y="464839"/>
                  <a:pt x="1490159" y="460004"/>
                  <a:pt x="1482341" y="452186"/>
                </a:cubicBezTo>
                <a:lnTo>
                  <a:pt x="1481940" y="451219"/>
                </a:lnTo>
                <a:lnTo>
                  <a:pt x="1400624" y="401819"/>
                </a:lnTo>
                <a:cubicBezTo>
                  <a:pt x="1025383" y="197975"/>
                  <a:pt x="595365" y="82187"/>
                  <a:pt x="138304" y="82187"/>
                </a:cubicBezTo>
                <a:lnTo>
                  <a:pt x="0" y="89171"/>
                </a:lnTo>
                <a:lnTo>
                  <a:pt x="0" y="6984"/>
                </a:lnTo>
                <a:close/>
              </a:path>
            </a:pathLst>
          </a:custGeom>
          <a:solidFill>
            <a:srgbClr val="FFD48A">
              <a:alpha val="3373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 txBox="1"/>
          <p:nvPr>
            <p:ph idx="10" type="dt"/>
          </p:nvPr>
        </p:nvSpPr>
        <p:spPr>
          <a:xfrm>
            <a:off x="52197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7" name="Google Shape;57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6565487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CA2F4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7" name="Google Shape;7;p1"/>
          <p:cNvSpPr txBox="1"/>
          <p:nvPr/>
        </p:nvSpPr>
        <p:spPr>
          <a:xfrm>
            <a:off x="907521" y="4522151"/>
            <a:ext cx="18399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950" lIns="19950" spcFirstLastPara="1" rIns="19950" wrap="square" tIns="19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>
                <a:solidFill>
                  <a:srgbClr val="CA2F47"/>
                </a:solidFill>
              </a:rPr>
              <a:t>Quỳnh Nga IT</a:t>
            </a:r>
            <a:br>
              <a:rPr b="1" lang="vi" sz="1200">
                <a:solidFill>
                  <a:srgbClr val="CA2F47"/>
                </a:solidFill>
              </a:rPr>
            </a:br>
            <a:r>
              <a:rPr b="1" lang="vi" sz="1200">
                <a:solidFill>
                  <a:srgbClr val="CA2F47"/>
                </a:solidFill>
              </a:rPr>
              <a:t>Đồng hành cùng bạn !</a:t>
            </a:r>
            <a:endParaRPr b="1" sz="1200">
              <a:solidFill>
                <a:srgbClr val="CA2F47"/>
              </a:solidFill>
            </a:endParaRPr>
          </a:p>
        </p:txBody>
      </p:sp>
      <p:sp>
        <p:nvSpPr>
          <p:cNvPr id="8" name="Google Shape;8;p1"/>
          <p:cNvSpPr/>
          <p:nvPr/>
        </p:nvSpPr>
        <p:spPr>
          <a:xfrm>
            <a:off x="162600" y="140100"/>
            <a:ext cx="8818800" cy="4863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" name="Google Shape;9;p1" title="Logo trong suốt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53938" y="4274776"/>
            <a:ext cx="653575" cy="6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850825" y="4449988"/>
            <a:ext cx="183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>
                <a:solidFill>
                  <a:srgbClr val="CA2F47"/>
                </a:solidFill>
              </a:rPr>
              <a:t>Quỳnh Nga IT</a:t>
            </a:r>
            <a:endParaRPr b="1" sz="1200">
              <a:solidFill>
                <a:srgbClr val="CA2F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>
                <a:solidFill>
                  <a:srgbClr val="CA2F47"/>
                </a:solidFill>
              </a:rPr>
              <a:t>Đồng hành cùng bạn</a:t>
            </a:r>
            <a:endParaRPr b="1" sz="1200">
              <a:solidFill>
                <a:srgbClr val="CA2F47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160950" y="1934500"/>
            <a:ext cx="8822100" cy="1293000"/>
          </a:xfrm>
          <a:prstGeom prst="rect">
            <a:avLst/>
          </a:prstGeom>
          <a:solidFill>
            <a:srgbClr val="CA2F4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3600">
                <a:solidFill>
                  <a:schemeClr val="lt1"/>
                </a:solidFill>
              </a:rPr>
              <a:t>Kỹ thuật viết mail chuẩn doanh nghiệp Nhật Bản</a:t>
            </a:r>
            <a:endParaRPr b="1"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1577550" y="1414600"/>
            <a:ext cx="6625500" cy="23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400">
                <a:solidFill>
                  <a:srgbClr val="351C75"/>
                </a:solidFill>
              </a:rPr>
              <a:t>Nội dung khóa học</a:t>
            </a:r>
            <a:endParaRPr b="1" sz="2400">
              <a:solidFill>
                <a:srgbClr val="351C75"/>
              </a:solidFill>
            </a:endParaRPr>
          </a:p>
          <a:p>
            <a:pPr indent="0" lvl="0" marL="685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800">
                <a:solidFill>
                  <a:srgbClr val="351C75"/>
                </a:solidFill>
              </a:rPr>
              <a:t>·         9 nguyên tắc trong cách viết business mail đúng</a:t>
            </a:r>
            <a:endParaRPr sz="1800">
              <a:solidFill>
                <a:srgbClr val="351C75"/>
              </a:solidFill>
            </a:endParaRPr>
          </a:p>
          <a:p>
            <a:pPr indent="0" lvl="0" marL="685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800">
                <a:solidFill>
                  <a:srgbClr val="351C75"/>
                </a:solidFill>
              </a:rPr>
              <a:t>·         Một số mẫu business mail</a:t>
            </a:r>
            <a:endParaRPr sz="1800">
              <a:solidFill>
                <a:srgbClr val="351C75"/>
              </a:solidFill>
            </a:endParaRPr>
          </a:p>
          <a:p>
            <a:pPr indent="0" lvl="0" marL="685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800">
                <a:solidFill>
                  <a:srgbClr val="351C75"/>
                </a:solidFill>
              </a:rPr>
              <a:t>·         Check list sau khi viết mail</a:t>
            </a:r>
            <a:endParaRPr sz="1800">
              <a:solidFill>
                <a:srgbClr val="351C7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0" y="505682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/>
        </p:nvSpPr>
        <p:spPr>
          <a:xfrm>
            <a:off x="597400" y="540750"/>
            <a:ext cx="8091600" cy="4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400">
                <a:solidFill>
                  <a:srgbClr val="351C75"/>
                </a:solidFill>
              </a:rPr>
              <a:t>9 nguyên tắc cần chú ý khi viết business mail đúng</a:t>
            </a:r>
            <a:endParaRPr b="1" sz="24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800">
                <a:solidFill>
                  <a:srgbClr val="351C75"/>
                </a:solidFill>
              </a:rPr>
              <a:t>Để viết đúng business mail, cần nắm được </a:t>
            </a:r>
            <a:r>
              <a:rPr b="1" lang="vi" sz="1800">
                <a:solidFill>
                  <a:srgbClr val="351C75"/>
                </a:solidFill>
              </a:rPr>
              <a:t>9 nguyên tắc</a:t>
            </a:r>
            <a:r>
              <a:rPr lang="vi" sz="1800">
                <a:solidFill>
                  <a:srgbClr val="351C75"/>
                </a:solidFill>
              </a:rPr>
              <a:t>. Bao gồm:</a:t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1800"/>
              <a:buAutoNum type="arabicPeriod"/>
            </a:pPr>
            <a:r>
              <a:rPr lang="vi" sz="1800">
                <a:solidFill>
                  <a:srgbClr val="351C75"/>
                </a:solidFill>
              </a:rPr>
              <a:t>Địa chỉ người nhận (To, Cc, Bcc)</a:t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AutoNum type="arabicPeriod"/>
            </a:pPr>
            <a:r>
              <a:rPr lang="vi" sz="1800">
                <a:solidFill>
                  <a:srgbClr val="351C75"/>
                </a:solidFill>
              </a:rPr>
              <a:t>Tiêu đề (件名)</a:t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AutoNum type="arabicPeriod"/>
            </a:pPr>
            <a:r>
              <a:rPr lang="vi" sz="1800">
                <a:solidFill>
                  <a:srgbClr val="351C75"/>
                </a:solidFill>
              </a:rPr>
              <a:t>Tập tin đính kèm</a:t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AutoNum type="arabicPeriod"/>
            </a:pPr>
            <a:r>
              <a:rPr lang="vi" sz="1800">
                <a:solidFill>
                  <a:srgbClr val="351C75"/>
                </a:solidFill>
              </a:rPr>
              <a:t>Cách ghi tên người nhận</a:t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AutoNum type="arabicPeriod"/>
            </a:pPr>
            <a:r>
              <a:rPr lang="vi" sz="1800">
                <a:solidFill>
                  <a:srgbClr val="351C75"/>
                </a:solidFill>
              </a:rPr>
              <a:t>Lời chào &amp; giới thiệu bản thân</a:t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AutoNum type="arabicPeriod"/>
            </a:pPr>
            <a:r>
              <a:rPr lang="vi" sz="1800">
                <a:solidFill>
                  <a:srgbClr val="351C75"/>
                </a:solidFill>
              </a:rPr>
              <a:t>Viết tóm tắt trước, chi tiết sau</a:t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AutoNum type="arabicPeriod"/>
            </a:pPr>
            <a:r>
              <a:rPr lang="vi" sz="1800">
                <a:solidFill>
                  <a:srgbClr val="351C75"/>
                </a:solidFill>
              </a:rPr>
              <a:t>Lời kết thúc (結びの挨拶)</a:t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AutoNum type="arabicPeriod"/>
            </a:pPr>
            <a:r>
              <a:rPr lang="vi" sz="1800">
                <a:solidFill>
                  <a:srgbClr val="351C75"/>
                </a:solidFill>
              </a:rPr>
              <a:t>Chữ ký (署名)</a:t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AutoNum type="arabicPeriod"/>
            </a:pPr>
            <a:r>
              <a:rPr lang="vi" sz="1800">
                <a:solidFill>
                  <a:srgbClr val="351C75"/>
                </a:solidFill>
              </a:rPr>
              <a:t>Quy tắc trả lời &amp; chuyển tiếp (返信・転送)</a:t>
            </a:r>
            <a:endParaRPr sz="1800"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0" y="505682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1146300" y="724600"/>
            <a:ext cx="6851400" cy="3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400">
                <a:solidFill>
                  <a:srgbClr val="351C75"/>
                </a:solidFill>
              </a:rPr>
              <a:t>① Sử dụng đúng To, Cc, Bcc</a:t>
            </a:r>
            <a:endParaRPr b="1" sz="24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200">
                <a:solidFill>
                  <a:srgbClr val="351C75"/>
                </a:solidFill>
              </a:rPr>
              <a:t>Có 3 loại trường địa chỉ: To, Cc, Bcc. Tất cả đều có thể gửi đến đối tượng, nhưng mỗi loại có ý nghĩa và cách hiển thị khác nhau.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b="1" lang="vi" sz="1200">
                <a:solidFill>
                  <a:srgbClr val="351C75"/>
                </a:solidFill>
              </a:rPr>
              <a:t>To</a:t>
            </a:r>
            <a:r>
              <a:rPr lang="vi" sz="1200">
                <a:solidFill>
                  <a:srgbClr val="351C75"/>
                </a:solidFill>
              </a:rPr>
              <a:t>: người nhận chính, người cần phản hồi/xử lý nội dung email. Có thể nhập nhiều địa chỉ.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b="1" lang="vi" sz="1200">
                <a:solidFill>
                  <a:srgbClr val="351C75"/>
                </a:solidFill>
              </a:rPr>
              <a:t>Cc</a:t>
            </a:r>
            <a:r>
              <a:rPr lang="vi" sz="1200">
                <a:solidFill>
                  <a:srgbClr val="351C75"/>
                </a:solidFill>
              </a:rPr>
              <a:t> (</a:t>
            </a:r>
            <a:r>
              <a:rPr i="1" lang="vi" sz="1200">
                <a:solidFill>
                  <a:srgbClr val="351C75"/>
                </a:solidFill>
              </a:rPr>
              <a:t>Carbon Copy</a:t>
            </a:r>
            <a:r>
              <a:rPr lang="vi" sz="1200">
                <a:solidFill>
                  <a:srgbClr val="351C75"/>
                </a:solidFill>
              </a:rPr>
              <a:t> – bản sao): gửi để chia sẻ thông tin, không yêu cầu phản hồi. Người trong To sẽ thấy danh sách Cc.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b="1" lang="vi" sz="1200">
                <a:solidFill>
                  <a:srgbClr val="351C75"/>
                </a:solidFill>
              </a:rPr>
              <a:t>Bcc</a:t>
            </a:r>
            <a:r>
              <a:rPr lang="vi" sz="1200">
                <a:solidFill>
                  <a:srgbClr val="351C75"/>
                </a:solidFill>
              </a:rPr>
              <a:t> (</a:t>
            </a:r>
            <a:r>
              <a:rPr i="1" lang="vi" sz="1200">
                <a:solidFill>
                  <a:srgbClr val="351C75"/>
                </a:solidFill>
              </a:rPr>
              <a:t>Blind Carbon Copy</a:t>
            </a:r>
            <a:r>
              <a:rPr lang="vi" sz="1200">
                <a:solidFill>
                  <a:srgbClr val="351C75"/>
                </a:solidFill>
              </a:rPr>
              <a:t> – bản sao ẩn): gửi mà những người trong To/Cc không biết. Địa chỉ của Bcc sẽ không hiển thị cho To/Cc.</a:t>
            </a:r>
            <a:endParaRPr sz="12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200">
                <a:solidFill>
                  <a:srgbClr val="351C75"/>
                </a:solidFill>
              </a:rPr>
              <a:t>Lưu ý:</a:t>
            </a:r>
            <a:endParaRPr b="1"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vi" sz="1200">
                <a:solidFill>
                  <a:srgbClr val="351C75"/>
                </a:solidFill>
              </a:rPr>
              <a:t>Với Bcc dễ xảy ra nhầm lẫn (ví dụ: Bcc nhưng lại nhập vào Cc → lộ thông tin cá nhân).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vi" sz="1200">
                <a:solidFill>
                  <a:srgbClr val="351C75"/>
                </a:solidFill>
              </a:rPr>
              <a:t>Vì email cũng là thông tin cá nhân, cần hết sức thận trọng khi dùng Bcc.</a:t>
            </a:r>
            <a:endParaRPr sz="1200">
              <a:solidFill>
                <a:srgbClr val="351C7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0" y="505682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/>
        </p:nvSpPr>
        <p:spPr>
          <a:xfrm>
            <a:off x="1261500" y="515850"/>
            <a:ext cx="7259100" cy="4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400">
                <a:solidFill>
                  <a:srgbClr val="351C75"/>
                </a:solidFill>
              </a:rPr>
              <a:t>② Đặt tiêu đề cụ thể</a:t>
            </a:r>
            <a:endParaRPr b="1" sz="24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200">
                <a:solidFill>
                  <a:srgbClr val="351C75"/>
                </a:solidFill>
              </a:rPr>
              <a:t>Tiêu đề phải rõ ràng, giúp người nhận nhìn qua là hiểu ngay nội dung.</a:t>
            </a:r>
            <a:endParaRPr sz="12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200">
                <a:solidFill>
                  <a:srgbClr val="351C75"/>
                </a:solidFill>
              </a:rPr>
              <a:t>❌ Ví dụ tiêu đề không tốt: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vi" sz="1200">
                <a:solidFill>
                  <a:srgbClr val="351C75"/>
                </a:solidFill>
              </a:rPr>
              <a:t>「お願い」(Yêu cầu) → không rõ yêu cầu gì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vi" sz="1200">
                <a:solidFill>
                  <a:srgbClr val="351C75"/>
                </a:solidFill>
              </a:rPr>
              <a:t>「ご相談」(Trao đổi) → không rõ trao đổi về việc gì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vi" sz="1200">
                <a:solidFill>
                  <a:srgbClr val="351C75"/>
                </a:solidFill>
              </a:rPr>
              <a:t>「ご案内」(Thông báo) → không rõ thông báo về cái gì</a:t>
            </a:r>
            <a:endParaRPr sz="12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200">
                <a:solidFill>
                  <a:srgbClr val="351C75"/>
                </a:solidFill>
              </a:rPr>
              <a:t>⭕ Ví dụ tiêu đề tốt: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vi" sz="1200">
                <a:solidFill>
                  <a:srgbClr val="351C75"/>
                </a:solidFill>
              </a:rPr>
              <a:t>お見積もり内容ご確認のお願い</a:t>
            </a:r>
            <a:br>
              <a:rPr lang="vi" sz="1200">
                <a:solidFill>
                  <a:srgbClr val="351C75"/>
                </a:solidFill>
              </a:rPr>
            </a:br>
            <a:r>
              <a:rPr lang="vi" sz="1200">
                <a:solidFill>
                  <a:srgbClr val="351C75"/>
                </a:solidFill>
              </a:rPr>
              <a:t> Yêu cầu xác nhận nội dung báo giá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vi" sz="1200">
                <a:solidFill>
                  <a:srgbClr val="351C75"/>
                </a:solidFill>
              </a:rPr>
              <a:t>お打ち合わせ日程調整のお願い</a:t>
            </a:r>
            <a:br>
              <a:rPr lang="vi" sz="1200">
                <a:solidFill>
                  <a:srgbClr val="351C75"/>
                </a:solidFill>
              </a:rPr>
            </a:br>
            <a:r>
              <a:rPr lang="vi" sz="1200">
                <a:solidFill>
                  <a:srgbClr val="351C75"/>
                </a:solidFill>
              </a:rPr>
              <a:t> Yêu cầu điều chỉnh lịch họp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vi" sz="1200">
                <a:solidFill>
                  <a:srgbClr val="351C75"/>
                </a:solidFill>
              </a:rPr>
              <a:t>新製品発売キャンペーンのご案内</a:t>
            </a:r>
            <a:br>
              <a:rPr lang="vi" sz="1200">
                <a:solidFill>
                  <a:srgbClr val="351C75"/>
                </a:solidFill>
              </a:rPr>
            </a:br>
            <a:r>
              <a:rPr lang="vi" sz="1200">
                <a:solidFill>
                  <a:srgbClr val="351C75"/>
                </a:solidFill>
              </a:rPr>
              <a:t> Thông báo chiến dịch ra mắt sản phẩm mới</a:t>
            </a:r>
            <a:endParaRPr sz="1200">
              <a:solidFill>
                <a:srgbClr val="351C7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0" y="505682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/>
        </p:nvSpPr>
        <p:spPr>
          <a:xfrm>
            <a:off x="1167600" y="1069575"/>
            <a:ext cx="7353000" cy="24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400">
                <a:solidFill>
                  <a:srgbClr val="351C75"/>
                </a:solidFill>
              </a:rPr>
              <a:t>③ Lưu ý khi gửi tập tin đính kèm</a:t>
            </a:r>
            <a:endParaRPr b="1" sz="24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b="1" lang="vi" sz="1200">
                <a:solidFill>
                  <a:srgbClr val="351C75"/>
                </a:solidFill>
              </a:rPr>
              <a:t>Kích thước</a:t>
            </a:r>
            <a:r>
              <a:rPr lang="vi" sz="1200">
                <a:solidFill>
                  <a:srgbClr val="351C75"/>
                </a:solidFill>
              </a:rPr>
              <a:t>: mỗi công ty có giới hạn dung lượng nhận mail khác nhau. Nếu tổng dung lượng &gt; 2MB, nên xác nhận trước với đối phương.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b="1" lang="vi" sz="1200">
                <a:solidFill>
                  <a:srgbClr val="351C75"/>
                </a:solidFill>
              </a:rPr>
              <a:t>Định dạng</a:t>
            </a:r>
            <a:r>
              <a:rPr lang="vi" sz="1200">
                <a:solidFill>
                  <a:srgbClr val="351C75"/>
                </a:solidFill>
              </a:rPr>
              <a:t>: nếu đối phương không có phần mềm phù hợp, file sẽ không mở được (ví dụ: CAD, video…). Hãy xác nhận trước.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b="1" lang="vi" sz="1200">
                <a:solidFill>
                  <a:srgbClr val="351C75"/>
                </a:solidFill>
              </a:rPr>
              <a:t>Sai sót thường gặp</a:t>
            </a:r>
            <a:r>
              <a:rPr lang="vi" sz="1200">
                <a:solidFill>
                  <a:srgbClr val="351C75"/>
                </a:solidFill>
              </a:rPr>
              <a:t>: quên đính kèm, gửi nhầm file. Trước khi gửi luôn kiểm tra lại để tránh lỗi và rò rỉ thông tin.</a:t>
            </a:r>
            <a:endParaRPr sz="1200">
              <a:solidFill>
                <a:srgbClr val="351C7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0" y="505682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/>
        </p:nvSpPr>
        <p:spPr>
          <a:xfrm>
            <a:off x="801275" y="308250"/>
            <a:ext cx="8017500" cy="4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400">
                <a:solidFill>
                  <a:srgbClr val="351C75"/>
                </a:solidFill>
              </a:rPr>
              <a:t>④ Cách ghi tên người nhận (宛名)</a:t>
            </a:r>
            <a:endParaRPr b="1" sz="24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200">
                <a:solidFill>
                  <a:srgbClr val="351C75"/>
                </a:solidFill>
              </a:rPr>
              <a:t>Email là phương tiện không nhìn thấy mặt đối phương, nên việc ghi tên đúng &amp; lịch sự rất quan trọng.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b="1" lang="vi" sz="1200">
                <a:solidFill>
                  <a:srgbClr val="351C75"/>
                </a:solidFill>
              </a:rPr>
              <a:t>Mail gửi ra ngoài công ty</a:t>
            </a:r>
            <a:r>
              <a:rPr lang="vi" sz="1200">
                <a:solidFill>
                  <a:srgbClr val="351C75"/>
                </a:solidFill>
              </a:rPr>
              <a:t>:</a:t>
            </a:r>
            <a:br>
              <a:rPr lang="vi" sz="1200">
                <a:solidFill>
                  <a:srgbClr val="351C75"/>
                </a:solidFill>
              </a:rPr>
            </a:br>
            <a:r>
              <a:rPr lang="vi" sz="1200">
                <a:solidFill>
                  <a:srgbClr val="351C75"/>
                </a:solidFill>
              </a:rPr>
              <a:t> 「会社名＋部署名＋氏名＋様」</a:t>
            </a:r>
            <a:br>
              <a:rPr lang="vi" sz="1200">
                <a:solidFill>
                  <a:srgbClr val="351C75"/>
                </a:solidFill>
              </a:rPr>
            </a:br>
            <a:r>
              <a:rPr lang="vi" sz="1200">
                <a:solidFill>
                  <a:srgbClr val="351C75"/>
                </a:solidFill>
              </a:rPr>
              <a:t> Ví dụ:</a:t>
            </a:r>
            <a:endParaRPr sz="1200">
              <a:solidFill>
                <a:srgbClr val="351C75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株式会社〇〇 </a:t>
            </a:r>
            <a:endParaRPr sz="1000">
              <a:solidFill>
                <a:srgbClr val="351C75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営業部 課長 </a:t>
            </a:r>
            <a:endParaRPr sz="1000">
              <a:solidFill>
                <a:srgbClr val="351C75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山田太郎 様</a:t>
            </a:r>
            <a:endParaRPr sz="1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200">
                <a:solidFill>
                  <a:srgbClr val="351C75"/>
                </a:solidFill>
              </a:rPr>
              <a:t> Không viết 「〇〇社御中 ××様」 (御中 không đi kèm tên người).</a:t>
            </a:r>
            <a:br>
              <a:rPr lang="vi" sz="1200">
                <a:solidFill>
                  <a:srgbClr val="351C75"/>
                </a:solidFill>
              </a:rPr>
            </a:br>
            <a:r>
              <a:rPr lang="vi" sz="1200">
                <a:solidFill>
                  <a:srgbClr val="351C75"/>
                </a:solidFill>
              </a:rPr>
              <a:t> Tên công ty viết đầy đủ: 「株式会社」 thay vì (株).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b="1" lang="vi" sz="1200">
                <a:solidFill>
                  <a:srgbClr val="351C75"/>
                </a:solidFill>
              </a:rPr>
              <a:t>Mail nội bộ</a:t>
            </a:r>
            <a:r>
              <a:rPr lang="vi" sz="1200">
                <a:solidFill>
                  <a:srgbClr val="351C75"/>
                </a:solidFill>
              </a:rPr>
              <a:t>:「部署名＋氏名＋様」</a:t>
            </a:r>
            <a:br>
              <a:rPr lang="vi" sz="1200">
                <a:solidFill>
                  <a:srgbClr val="351C75"/>
                </a:solidFill>
              </a:rPr>
            </a:br>
            <a:r>
              <a:rPr lang="vi" sz="1200">
                <a:solidFill>
                  <a:srgbClr val="351C75"/>
                </a:solidFill>
              </a:rPr>
              <a:t> Có thể dùng 「さん」 nếu thân quen.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b="1" lang="vi" sz="1200">
                <a:solidFill>
                  <a:srgbClr val="351C75"/>
                </a:solidFill>
              </a:rPr>
              <a:t>Khi dùng Cc</a:t>
            </a:r>
            <a:r>
              <a:rPr lang="vi" sz="1200">
                <a:solidFill>
                  <a:srgbClr val="351C75"/>
                </a:solidFill>
              </a:rPr>
              <a:t>: Nếu muốn nhấn mạnh, có thể ghi chú thêm ở dưới bằng ngoặc đơn.</a:t>
            </a:r>
            <a:endParaRPr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0" y="505682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 txBox="1"/>
          <p:nvPr/>
        </p:nvSpPr>
        <p:spPr>
          <a:xfrm>
            <a:off x="613100" y="536450"/>
            <a:ext cx="8607600" cy="3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400">
                <a:solidFill>
                  <a:srgbClr val="351C75"/>
                </a:solidFill>
              </a:rPr>
              <a:t>⑤ Lời chào &amp; giới thiệu bản thân</a:t>
            </a:r>
            <a:endParaRPr b="1" sz="24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200">
                <a:solidFill>
                  <a:srgbClr val="351C75"/>
                </a:solidFill>
              </a:rPr>
              <a:t>Ngay sau khi ghi tên người nhận là phần chào hỏi và tự giới thiệu.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b="1" lang="vi" sz="1200">
                <a:solidFill>
                  <a:srgbClr val="351C75"/>
                </a:solidFill>
              </a:rPr>
              <a:t>Đối tác bên ngoài</a:t>
            </a:r>
            <a:r>
              <a:rPr lang="vi" sz="1200">
                <a:solidFill>
                  <a:srgbClr val="351C75"/>
                </a:solidFill>
              </a:rPr>
              <a:t>:</a:t>
            </a:r>
            <a:br>
              <a:rPr lang="vi" sz="1200">
                <a:solidFill>
                  <a:srgbClr val="351C75"/>
                </a:solidFill>
              </a:rPr>
            </a:br>
            <a:r>
              <a:rPr lang="vi" sz="1200">
                <a:solidFill>
                  <a:srgbClr val="351C75"/>
                </a:solidFill>
              </a:rPr>
              <a:t> いつもお世話になっております。〇〇商事〇〇課の△△です。</a:t>
            </a:r>
            <a:br>
              <a:rPr lang="vi" sz="1200">
                <a:solidFill>
                  <a:srgbClr val="351C75"/>
                </a:solidFill>
              </a:rPr>
            </a:br>
            <a:r>
              <a:rPr lang="vi" sz="1200">
                <a:solidFill>
                  <a:srgbClr val="351C75"/>
                </a:solidFill>
              </a:rPr>
              <a:t> Xin cảm ơn sự hỗ trợ thường xuyên. Tôi là △△, phòng 〇〇, công ty 〇〇.</a:t>
            </a:r>
            <a:endParaRPr sz="12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200">
                <a:solidFill>
                  <a:srgbClr val="351C75"/>
                </a:solidFill>
              </a:rPr>
              <a:t>Tùy tình huống:</a:t>
            </a:r>
            <a:endParaRPr sz="12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200">
                <a:solidFill>
                  <a:srgbClr val="351C75"/>
                </a:solidFill>
              </a:rPr>
              <a:t>お忙しいところ失礼いたします。Xin lỗi đã làm phiền lúc bận rộn.</a:t>
            </a:r>
            <a:endParaRPr sz="12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200">
                <a:solidFill>
                  <a:srgbClr val="351C75"/>
                </a:solidFill>
              </a:rPr>
              <a:t>初めてご連絡いたします。Tôi liên hệ lần đầu.</a:t>
            </a:r>
            <a:endParaRPr sz="12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200">
                <a:solidFill>
                  <a:srgbClr val="351C75"/>
                </a:solidFill>
              </a:rPr>
              <a:t>ご連絡いただき、誠にありがとうございます。Xin chân thành cảm ơn vì đã liên hệ.)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b="1" lang="vi" sz="1200">
                <a:solidFill>
                  <a:srgbClr val="351C75"/>
                </a:solidFill>
              </a:rPr>
              <a:t>Nội bộ công ty</a:t>
            </a:r>
            <a:r>
              <a:rPr lang="vi" sz="1200">
                <a:solidFill>
                  <a:srgbClr val="351C75"/>
                </a:solidFill>
              </a:rPr>
              <a:t>:</a:t>
            </a:r>
            <a:br>
              <a:rPr lang="vi" sz="1200">
                <a:solidFill>
                  <a:srgbClr val="351C75"/>
                </a:solidFill>
              </a:rPr>
            </a:br>
            <a:r>
              <a:rPr lang="vi" sz="1200">
                <a:solidFill>
                  <a:srgbClr val="351C75"/>
                </a:solidFill>
              </a:rPr>
              <a:t> お疲れ様です。〇〇課の△△です。</a:t>
            </a:r>
            <a:endParaRPr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0" y="505682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/>
        </p:nvSpPr>
        <p:spPr>
          <a:xfrm>
            <a:off x="393550" y="661875"/>
            <a:ext cx="85206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vi" sz="2400">
                <a:solidFill>
                  <a:srgbClr val="351C75"/>
                </a:solidFill>
              </a:rPr>
              <a:t>⑥ Nêu tóm tắt trước, chi tiết sau</a:t>
            </a:r>
            <a:endParaRPr b="1" sz="24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200">
                <a:solidFill>
                  <a:srgbClr val="351C75"/>
                </a:solidFill>
              </a:rPr>
              <a:t>Business mail nên đưa kết luận/tóm tắt trước, sau đó mới giải thích chi tiết.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vi" sz="1200">
                <a:solidFill>
                  <a:srgbClr val="351C75"/>
                </a:solidFill>
              </a:rPr>
              <a:t>Nếu vòng vo, đối phương dễ khó chịu.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vi" sz="1200">
                <a:solidFill>
                  <a:srgbClr val="351C75"/>
                </a:solidFill>
              </a:rPr>
              <a:t>Nếu rõ ràng từ đầu, người nhận hiểu nhanh và hiệu quả.</a:t>
            </a:r>
            <a:endParaRPr sz="12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200">
                <a:solidFill>
                  <a:srgbClr val="351C75"/>
                </a:solidFill>
              </a:rPr>
              <a:t>👉 Bố cục dễ đọc: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vi" sz="1200">
                <a:solidFill>
                  <a:srgbClr val="351C75"/>
                </a:solidFill>
              </a:rPr>
              <a:t>Ngắt dòng sau 20–30 ký tự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vi" sz="1200">
                <a:solidFill>
                  <a:srgbClr val="351C75"/>
                </a:solidFill>
              </a:rPr>
              <a:t>Chia đoạn bằng khoảng trắng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vi" sz="1200">
                <a:solidFill>
                  <a:srgbClr val="351C75"/>
                </a:solidFill>
              </a:rPr>
              <a:t>Dùng bullet points nếu nhiều thông tin</a:t>
            </a:r>
            <a:endParaRPr sz="12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200">
                <a:solidFill>
                  <a:srgbClr val="351C75"/>
                </a:solidFill>
              </a:rPr>
              <a:t> </a:t>
            </a:r>
            <a:endParaRPr sz="1200">
              <a:solidFill>
                <a:srgbClr val="351C7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51C75"/>
              </a:solidFill>
            </a:endParaRPr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6450" y="2320850"/>
            <a:ext cx="3460081" cy="17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350" y="3320038"/>
            <a:ext cx="3676650" cy="98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0" y="505682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3"/>
          <p:cNvSpPr txBox="1"/>
          <p:nvPr/>
        </p:nvSpPr>
        <p:spPr>
          <a:xfrm>
            <a:off x="1930325" y="379575"/>
            <a:ext cx="5927700" cy="42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400">
                <a:solidFill>
                  <a:srgbClr val="351C75"/>
                </a:solidFill>
              </a:rPr>
              <a:t>⑦ Lời chào kết thúc</a:t>
            </a:r>
            <a:endParaRPr b="1" sz="24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200">
                <a:solidFill>
                  <a:srgbClr val="351C75"/>
                </a:solidFill>
              </a:rPr>
              <a:t>Email bắt đầu bằng chào, cũng nên kết thúc bằng chào.</a:t>
            </a:r>
            <a:endParaRPr sz="12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200">
                <a:solidFill>
                  <a:srgbClr val="351C75"/>
                </a:solidFill>
              </a:rPr>
              <a:t>Ví dụ:</a:t>
            </a:r>
            <a:endParaRPr sz="12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200">
                <a:solidFill>
                  <a:srgbClr val="351C75"/>
                </a:solidFill>
              </a:rPr>
              <a:t>何卒よろしくお願い申し上げます。</a:t>
            </a:r>
            <a:endParaRPr sz="12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200">
                <a:solidFill>
                  <a:srgbClr val="351C75"/>
                </a:solidFill>
              </a:rPr>
              <a:t>引き続きどうぞよろしくお願いいたします。</a:t>
            </a:r>
            <a:endParaRPr sz="12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200">
                <a:solidFill>
                  <a:srgbClr val="351C75"/>
                </a:solidFill>
              </a:rPr>
              <a:t>Nếu có yêu cầu:</a:t>
            </a:r>
            <a:endParaRPr sz="12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200">
                <a:solidFill>
                  <a:srgbClr val="351C75"/>
                </a:solidFill>
              </a:rPr>
              <a:t>ご確認よろしくお願いいたします。</a:t>
            </a:r>
            <a:endParaRPr sz="12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200">
                <a:solidFill>
                  <a:srgbClr val="351C75"/>
                </a:solidFill>
              </a:rPr>
              <a:t>お力添えのほど、よろしくお願いいたします。</a:t>
            </a:r>
            <a:endParaRPr sz="12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200">
                <a:solidFill>
                  <a:srgbClr val="351C75"/>
                </a:solidFill>
              </a:rPr>
              <a:t>Nếu muốn thể hiện sự quan tâm:</a:t>
            </a:r>
            <a:endParaRPr sz="12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200">
                <a:solidFill>
                  <a:srgbClr val="351C75"/>
                </a:solidFill>
              </a:rPr>
              <a:t>ご不明な点などございましたらお気軽にご連絡ください。</a:t>
            </a:r>
            <a:endParaRPr sz="12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vi" sz="1200">
                <a:solidFill>
                  <a:srgbClr val="351C75"/>
                </a:solidFill>
              </a:rPr>
              <a:t>ご多忙と存じますが、くれぐれもご自愛ください</a:t>
            </a:r>
            <a:r>
              <a:rPr lang="vi" sz="1200">
                <a:solidFill>
                  <a:srgbClr val="351C75"/>
                </a:solidFill>
              </a:rPr>
              <a:t>。</a:t>
            </a:r>
            <a:endParaRPr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0" y="505682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4"/>
          <p:cNvSpPr txBox="1"/>
          <p:nvPr/>
        </p:nvSpPr>
        <p:spPr>
          <a:xfrm>
            <a:off x="911025" y="536425"/>
            <a:ext cx="8262600" cy="39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400">
                <a:solidFill>
                  <a:srgbClr val="351C75"/>
                </a:solidFill>
              </a:rPr>
              <a:t>⑧ Luôn kèm chữ ký</a:t>
            </a:r>
            <a:endParaRPr b="1" sz="24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200">
                <a:solidFill>
                  <a:srgbClr val="351C75"/>
                </a:solidFill>
              </a:rPr>
              <a:t>Chữ ký gồm: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vi" sz="1200">
                <a:solidFill>
                  <a:srgbClr val="351C75"/>
                </a:solidFill>
              </a:rPr>
              <a:t>Công ty</a:t>
            </a:r>
            <a:r>
              <a:rPr lang="vi" sz="1350">
                <a:solidFill>
                  <a:srgbClr val="351C75"/>
                </a:solidFill>
                <a:highlight>
                  <a:srgbClr val="FFFFFF"/>
                </a:highlight>
              </a:rPr>
              <a:t>会社名</a:t>
            </a:r>
            <a:endParaRPr sz="1350">
              <a:solidFill>
                <a:srgbClr val="351C75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vi" sz="1200">
                <a:solidFill>
                  <a:srgbClr val="351C75"/>
                </a:solidFill>
              </a:rPr>
              <a:t>Phòng ban</a:t>
            </a:r>
            <a:r>
              <a:rPr lang="vi" sz="1350">
                <a:solidFill>
                  <a:srgbClr val="351C75"/>
                </a:solidFill>
                <a:highlight>
                  <a:srgbClr val="FFFFFF"/>
                </a:highlight>
              </a:rPr>
              <a:t>部署名</a:t>
            </a:r>
            <a:endParaRPr sz="1350">
              <a:solidFill>
                <a:srgbClr val="351C75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vi" sz="1200">
                <a:solidFill>
                  <a:srgbClr val="351C75"/>
                </a:solidFill>
              </a:rPr>
              <a:t>Họ tên (kèm furigana nếu cần) </a:t>
            </a:r>
            <a:r>
              <a:rPr lang="vi" sz="1350">
                <a:solidFill>
                  <a:srgbClr val="351C75"/>
                </a:solidFill>
                <a:highlight>
                  <a:srgbClr val="FFFFFF"/>
                </a:highlight>
              </a:rPr>
              <a:t>氏名（読み仮名）</a:t>
            </a:r>
            <a:endParaRPr sz="1350">
              <a:solidFill>
                <a:srgbClr val="351C75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vi" sz="1200">
                <a:solidFill>
                  <a:srgbClr val="351C75"/>
                </a:solidFill>
              </a:rPr>
              <a:t>Số điện thoại </a:t>
            </a:r>
            <a:r>
              <a:rPr lang="vi" sz="1350">
                <a:solidFill>
                  <a:srgbClr val="351C75"/>
                </a:solidFill>
                <a:highlight>
                  <a:srgbClr val="FFFFFF"/>
                </a:highlight>
              </a:rPr>
              <a:t>電話番号</a:t>
            </a:r>
            <a:r>
              <a:rPr lang="vi" sz="1200">
                <a:solidFill>
                  <a:srgbClr val="351C75"/>
                </a:solidFill>
              </a:rPr>
              <a:t>, </a:t>
            </a:r>
            <a:r>
              <a:rPr lang="vi" sz="1350">
                <a:solidFill>
                  <a:srgbClr val="351C75"/>
                </a:solidFill>
                <a:highlight>
                  <a:srgbClr val="FFFFFF"/>
                </a:highlight>
              </a:rPr>
              <a:t>FAX番号</a:t>
            </a:r>
            <a:endParaRPr sz="1350">
              <a:solidFill>
                <a:srgbClr val="351C75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vi" sz="1200">
                <a:solidFill>
                  <a:srgbClr val="351C75"/>
                </a:solidFill>
              </a:rPr>
              <a:t>Địa chỉ, mã bưu điện </a:t>
            </a:r>
            <a:r>
              <a:rPr lang="vi" sz="1350">
                <a:solidFill>
                  <a:srgbClr val="351C75"/>
                </a:solidFill>
                <a:highlight>
                  <a:srgbClr val="FFFFFF"/>
                </a:highlight>
              </a:rPr>
              <a:t>郵便番号・住所</a:t>
            </a:r>
            <a:endParaRPr sz="1350">
              <a:solidFill>
                <a:srgbClr val="351C75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vi" sz="1200">
                <a:solidFill>
                  <a:srgbClr val="351C75"/>
                </a:solidFill>
              </a:rPr>
              <a:t>Email</a:t>
            </a:r>
            <a:r>
              <a:rPr lang="vi" sz="1350">
                <a:solidFill>
                  <a:srgbClr val="351C75"/>
                </a:solidFill>
                <a:highlight>
                  <a:srgbClr val="FFFFFF"/>
                </a:highlight>
              </a:rPr>
              <a:t>メールアドレス</a:t>
            </a:r>
            <a:endParaRPr sz="1350">
              <a:solidFill>
                <a:srgbClr val="351C75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vi" sz="1200">
                <a:solidFill>
                  <a:srgbClr val="351C75"/>
                </a:solidFill>
              </a:rPr>
              <a:t>Website công ty </a:t>
            </a:r>
            <a:r>
              <a:rPr lang="vi" sz="1350">
                <a:solidFill>
                  <a:srgbClr val="351C75"/>
                </a:solidFill>
                <a:highlight>
                  <a:srgbClr val="FFFFFF"/>
                </a:highlight>
              </a:rPr>
              <a:t>会社WebサイトへのURL</a:t>
            </a:r>
            <a:endParaRPr sz="1350">
              <a:solidFill>
                <a:srgbClr val="351C7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200">
                <a:solidFill>
                  <a:srgbClr val="351C75"/>
                </a:solidFill>
              </a:rPr>
              <a:t> Thông tin chữ ký thường mới và chính xác hơn danh thiếp cũ.</a:t>
            </a:r>
            <a:endParaRPr sz="12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200">
                <a:solidFill>
                  <a:srgbClr val="351C75"/>
                </a:solidFill>
              </a:rPr>
              <a:t>Lý do: Mọi người thay đổi công ty, vị trí, phòng ban =&gt; danh thiếp trước đây đã trao là nội dung đã cũ.</a:t>
            </a:r>
            <a:endParaRPr sz="1200">
              <a:solidFill>
                <a:srgbClr val="351C7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51C75"/>
              </a:solidFill>
            </a:endParaRPr>
          </a:p>
        </p:txBody>
      </p:sp>
      <p:pic>
        <p:nvPicPr>
          <p:cNvPr id="134" name="Google Shape;1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5125" y="1239517"/>
            <a:ext cx="3244850" cy="2028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0" y="505682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5"/>
          <p:cNvSpPr txBox="1"/>
          <p:nvPr/>
        </p:nvSpPr>
        <p:spPr>
          <a:xfrm>
            <a:off x="958075" y="661875"/>
            <a:ext cx="8215500" cy="29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400">
                <a:solidFill>
                  <a:srgbClr val="351C75"/>
                </a:solidFill>
              </a:rPr>
              <a:t>⑨ Quy tắc trả lời &amp; chuyển tiếp</a:t>
            </a:r>
            <a:endParaRPr b="1" sz="24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b="1" lang="vi" sz="1200">
                <a:solidFill>
                  <a:srgbClr val="351C75"/>
                </a:solidFill>
              </a:rPr>
              <a:t>返信 (Reply)</a:t>
            </a:r>
            <a:r>
              <a:rPr lang="vi" sz="1200">
                <a:solidFill>
                  <a:srgbClr val="351C75"/>
                </a:solidFill>
              </a:rPr>
              <a:t>: chỉ gửi lại cho người gửi.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b="1" lang="vi" sz="1200">
                <a:solidFill>
                  <a:srgbClr val="351C75"/>
                </a:solidFill>
              </a:rPr>
              <a:t>全員に返信 (Reply All)</a:t>
            </a:r>
            <a:r>
              <a:rPr lang="vi" sz="1200">
                <a:solidFill>
                  <a:srgbClr val="351C75"/>
                </a:solidFill>
              </a:rPr>
              <a:t>: gửi cho người gửi + tất cả người trong Cc.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b="1" lang="vi" sz="1200">
                <a:solidFill>
                  <a:srgbClr val="351C75"/>
                </a:solidFill>
              </a:rPr>
              <a:t>転送 (Forward)</a:t>
            </a:r>
            <a:r>
              <a:rPr lang="vi" sz="1200">
                <a:solidFill>
                  <a:srgbClr val="351C75"/>
                </a:solidFill>
              </a:rPr>
              <a:t>: gửi email gốc cho người không nằm trong danh sách nhận.</a:t>
            </a:r>
            <a:endParaRPr sz="12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200">
                <a:solidFill>
                  <a:srgbClr val="351C75"/>
                </a:solidFill>
              </a:rPr>
              <a:t>Quy tắc: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vi" sz="1200">
                <a:solidFill>
                  <a:srgbClr val="351C75"/>
                </a:solidFill>
              </a:rPr>
              <a:t>Reply thêm 「Re:」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vi" sz="1200">
                <a:solidFill>
                  <a:srgbClr val="351C75"/>
                </a:solidFill>
              </a:rPr>
              <a:t>Forward thêm 「Fw:」「Fwd:」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vi" sz="1200">
                <a:solidFill>
                  <a:srgbClr val="351C75"/>
                </a:solidFill>
              </a:rPr>
              <a:t>Khi forward nên ghi rõ lý do, giữ nguyên nội dung gốc, không tự ý chỉnh sửa.</a:t>
            </a:r>
            <a:endParaRPr sz="1200">
              <a:solidFill>
                <a:srgbClr val="351C7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/>
        </p:nvSpPr>
        <p:spPr>
          <a:xfrm>
            <a:off x="160950" y="1934500"/>
            <a:ext cx="8822100" cy="738900"/>
          </a:xfrm>
          <a:prstGeom prst="rect">
            <a:avLst/>
          </a:prstGeom>
          <a:solidFill>
            <a:srgbClr val="CA2F4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vi" sz="3600">
                <a:solidFill>
                  <a:schemeClr val="lt1"/>
                </a:solidFill>
              </a:rPr>
              <a:t>Một số mẫu business mail</a:t>
            </a:r>
            <a:endParaRPr b="1"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0" y="505682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7"/>
          <p:cNvSpPr txBox="1"/>
          <p:nvPr/>
        </p:nvSpPr>
        <p:spPr>
          <a:xfrm>
            <a:off x="1632400" y="319050"/>
            <a:ext cx="6256800" cy="45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400">
                <a:solidFill>
                  <a:srgbClr val="351C75"/>
                </a:solidFill>
              </a:rPr>
              <a:t>1. Mail </a:t>
            </a:r>
            <a:r>
              <a:rPr b="1" lang="vi" sz="2400">
                <a:solidFill>
                  <a:srgbClr val="351C75"/>
                </a:solidFill>
              </a:rPr>
              <a:t>g</a:t>
            </a:r>
            <a:r>
              <a:rPr b="1" lang="vi" sz="2400">
                <a:solidFill>
                  <a:srgbClr val="351C75"/>
                </a:solidFill>
              </a:rPr>
              <a:t>ửi cho khách hàng mới</a:t>
            </a:r>
            <a:endParaRPr b="1" sz="24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b="1" lang="vi" sz="1200">
                <a:solidFill>
                  <a:srgbClr val="351C75"/>
                </a:solidFill>
              </a:rPr>
              <a:t>Tiêu đề</a:t>
            </a:r>
            <a:r>
              <a:rPr lang="vi" sz="1200">
                <a:solidFill>
                  <a:srgbClr val="351C75"/>
                </a:solidFill>
              </a:rPr>
              <a:t>: 新製品サンプルのご案内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b="1" lang="vi" sz="1200">
                <a:solidFill>
                  <a:srgbClr val="351C75"/>
                </a:solidFill>
              </a:rPr>
              <a:t>Nội dung</a:t>
            </a:r>
            <a:r>
              <a:rPr lang="vi" sz="1200">
                <a:solidFill>
                  <a:srgbClr val="351C75"/>
                </a:solidFill>
              </a:rPr>
              <a:t>:</a:t>
            </a:r>
            <a:endParaRPr sz="12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株式会社ABC</a:t>
            </a:r>
            <a:endParaRPr sz="10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000">
                <a:solidFill>
                  <a:srgbClr val="351C75"/>
                </a:solidFill>
              </a:rPr>
              <a:t>営業部</a:t>
            </a:r>
            <a:endParaRPr sz="10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田中様</a:t>
            </a:r>
            <a:endParaRPr sz="10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 </a:t>
            </a:r>
            <a:endParaRPr sz="10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初めてご連絡いたします。</a:t>
            </a:r>
            <a:endParaRPr sz="10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株式会社XY営業部の吉田と申します。</a:t>
            </a:r>
            <a:endParaRPr sz="10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 </a:t>
            </a:r>
            <a:endParaRPr sz="10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このたび、ぜひ弊社の製品をサンプルとして</a:t>
            </a:r>
            <a:endParaRPr sz="10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◇◇様にお使いいただけないかと思いご連絡いたしました。</a:t>
            </a:r>
            <a:endParaRPr sz="10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vi" sz="1200">
                <a:solidFill>
                  <a:srgbClr val="351C75"/>
                </a:solidFill>
              </a:rPr>
              <a:t>Ghi rõ tiêu đề, không rút gọn tên, viết đầy đủ họ tên.</a:t>
            </a:r>
            <a:endParaRPr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/>
        </p:nvSpPr>
        <p:spPr>
          <a:xfrm>
            <a:off x="1506925" y="649950"/>
            <a:ext cx="7572600" cy="38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400">
                <a:solidFill>
                  <a:srgbClr val="351C75"/>
                </a:solidFill>
              </a:rPr>
              <a:t>2. Mail cảm ơn</a:t>
            </a:r>
            <a:endParaRPr b="1" sz="24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b="1" lang="vi" sz="1200">
                <a:solidFill>
                  <a:srgbClr val="351C75"/>
                </a:solidFill>
              </a:rPr>
              <a:t>Tiêu đề</a:t>
            </a:r>
            <a:r>
              <a:rPr lang="vi" sz="1200">
                <a:solidFill>
                  <a:srgbClr val="351C75"/>
                </a:solidFill>
              </a:rPr>
              <a:t>: 昨日の打ち合わせの御礼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b="1" lang="vi" sz="1200">
                <a:solidFill>
                  <a:srgbClr val="351C75"/>
                </a:solidFill>
              </a:rPr>
              <a:t>Nội dung</a:t>
            </a:r>
            <a:r>
              <a:rPr lang="vi" sz="1200">
                <a:solidFill>
                  <a:srgbClr val="351C75"/>
                </a:solidFill>
              </a:rPr>
              <a:t>:</a:t>
            </a:r>
            <a:endParaRPr sz="12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株式会社ABC</a:t>
            </a:r>
            <a:endParaRPr sz="1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吉田様</a:t>
            </a:r>
            <a:endParaRPr sz="1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 </a:t>
            </a:r>
            <a:endParaRPr sz="1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いつもお世話になっております。</a:t>
            </a:r>
            <a:endParaRPr sz="1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株式会社XYZの山本です。</a:t>
            </a:r>
            <a:endParaRPr sz="1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 </a:t>
            </a:r>
            <a:endParaRPr sz="1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昨日はお忙しい中、貴重なお時間をいただき、誠にありがとうございました。</a:t>
            </a:r>
            <a:endParaRPr sz="1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vi" sz="1200">
                <a:solidFill>
                  <a:srgbClr val="351C75"/>
                </a:solidFill>
              </a:rPr>
              <a:t>Cần ghi rõ cảm ơn ngay đầu nội dung.</a:t>
            </a:r>
            <a:endParaRPr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/>
        </p:nvSpPr>
        <p:spPr>
          <a:xfrm>
            <a:off x="1194900" y="536400"/>
            <a:ext cx="7949100" cy="3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400">
                <a:solidFill>
                  <a:srgbClr val="351C75"/>
                </a:solidFill>
              </a:rPr>
              <a:t>3. Mail đề nghị/đề xuất</a:t>
            </a:r>
            <a:endParaRPr b="1" sz="24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b="1" lang="vi" sz="1200">
                <a:solidFill>
                  <a:srgbClr val="351C75"/>
                </a:solidFill>
              </a:rPr>
              <a:t>Tiêu đề</a:t>
            </a:r>
            <a:r>
              <a:rPr lang="vi" sz="1200">
                <a:solidFill>
                  <a:srgbClr val="351C75"/>
                </a:solidFill>
              </a:rPr>
              <a:t>: LMSプロジェクト第1回お打ち合わせの日程調整のご依頼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b="1" lang="vi" sz="1200">
                <a:solidFill>
                  <a:srgbClr val="351C75"/>
                </a:solidFill>
              </a:rPr>
              <a:t>Nội dung</a:t>
            </a:r>
            <a:r>
              <a:rPr lang="vi" sz="1200">
                <a:solidFill>
                  <a:srgbClr val="351C75"/>
                </a:solidFill>
              </a:rPr>
              <a:t>:</a:t>
            </a:r>
            <a:endParaRPr sz="12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株式会社ABC</a:t>
            </a:r>
            <a:endParaRPr sz="1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佐藤様</a:t>
            </a:r>
            <a:endParaRPr sz="1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 </a:t>
            </a:r>
            <a:endParaRPr sz="1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いつも大変お世話になっております。</a:t>
            </a:r>
            <a:endParaRPr sz="1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株式会社XYZの山本です。</a:t>
            </a:r>
            <a:endParaRPr sz="1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 </a:t>
            </a:r>
            <a:endParaRPr sz="1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昨日、お電話でご相談いたしました件について、</a:t>
            </a:r>
            <a:endParaRPr sz="1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000">
                <a:solidFill>
                  <a:srgbClr val="351C75"/>
                </a:solidFill>
              </a:rPr>
              <a:t>一度直接お打ち合わせをしたく存じます。</a:t>
            </a:r>
            <a:endParaRPr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/>
        </p:nvSpPr>
        <p:spPr>
          <a:xfrm>
            <a:off x="1005125" y="272700"/>
            <a:ext cx="8043000" cy="4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400">
                <a:solidFill>
                  <a:srgbClr val="351C75"/>
                </a:solidFill>
              </a:rPr>
              <a:t>4. Mail xin lỗi</a:t>
            </a:r>
            <a:endParaRPr b="1" sz="24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b="1" lang="vi" sz="1200">
                <a:solidFill>
                  <a:srgbClr val="351C75"/>
                </a:solidFill>
              </a:rPr>
              <a:t>Tiêu đề</a:t>
            </a:r>
            <a:r>
              <a:rPr lang="vi" sz="1200">
                <a:solidFill>
                  <a:srgbClr val="351C75"/>
                </a:solidFill>
              </a:rPr>
              <a:t>: 納品遅延のお詫び</a:t>
            </a:r>
            <a:endParaRPr sz="12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b="1" lang="vi" sz="1200">
                <a:solidFill>
                  <a:srgbClr val="351C75"/>
                </a:solidFill>
              </a:rPr>
              <a:t>Nội dung</a:t>
            </a:r>
            <a:r>
              <a:rPr lang="vi" sz="1200">
                <a:solidFill>
                  <a:srgbClr val="351C75"/>
                </a:solidFill>
              </a:rPr>
              <a:t>:</a:t>
            </a:r>
            <a:endParaRPr sz="12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株式会社ABC</a:t>
            </a:r>
            <a:endParaRPr sz="1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佐藤様</a:t>
            </a:r>
            <a:endParaRPr sz="1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 </a:t>
            </a:r>
            <a:endParaRPr sz="1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いつも大変お世話になっております。</a:t>
            </a:r>
            <a:endParaRPr sz="1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株式会社XYZの加藤です。</a:t>
            </a:r>
            <a:endParaRPr sz="1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 </a:t>
            </a:r>
            <a:endParaRPr sz="1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先ほどお問い合わせいただきました製品につきまして、</a:t>
            </a:r>
            <a:endParaRPr sz="1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000">
                <a:solidFill>
                  <a:srgbClr val="351C75"/>
                </a:solidFill>
              </a:rPr>
              <a:t>納品が遅れており、大変ご迷惑をおかけしております。</a:t>
            </a:r>
            <a:endParaRPr sz="1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vi" sz="1200">
                <a:solidFill>
                  <a:srgbClr val="351C75"/>
                </a:solidFill>
              </a:rPr>
              <a:t>Xin lỗi ngắn gọn, nêu lý do sau. Quan trọng là tốc độ &amp; chính xác.</a:t>
            </a:r>
            <a:endParaRPr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/>
        </p:nvSpPr>
        <p:spPr>
          <a:xfrm>
            <a:off x="160950" y="1934500"/>
            <a:ext cx="8822100" cy="738900"/>
          </a:xfrm>
          <a:prstGeom prst="rect">
            <a:avLst/>
          </a:prstGeom>
          <a:solidFill>
            <a:srgbClr val="CA2F4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vi" sz="3600">
                <a:solidFill>
                  <a:schemeClr val="lt1"/>
                </a:solidFill>
              </a:rPr>
              <a:t>Check list trước khi gửi mail</a:t>
            </a:r>
            <a:endParaRPr b="1"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/>
        </p:nvSpPr>
        <p:spPr>
          <a:xfrm>
            <a:off x="1679425" y="189350"/>
            <a:ext cx="7243200" cy="45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400">
                <a:solidFill>
                  <a:srgbClr val="351C75"/>
                </a:solidFill>
              </a:rPr>
              <a:t>Checklist trước khi gửi</a:t>
            </a:r>
            <a:endParaRPr b="1" sz="24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1800"/>
              <a:buChar char="●"/>
            </a:pPr>
            <a:r>
              <a:rPr lang="vi" sz="1800">
                <a:solidFill>
                  <a:srgbClr val="351C75"/>
                </a:solidFill>
              </a:rPr>
              <a:t>Địa chỉ (To, Cc, Bcc) đúng chưa?</a:t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Char char="●"/>
            </a:pPr>
            <a:r>
              <a:rPr lang="vi" sz="1800">
                <a:solidFill>
                  <a:srgbClr val="351C75"/>
                </a:solidFill>
              </a:rPr>
              <a:t>Tiêu đề có rõ ràng không?</a:t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Char char="●"/>
            </a:pPr>
            <a:r>
              <a:rPr lang="vi" sz="1800">
                <a:solidFill>
                  <a:srgbClr val="351C75"/>
                </a:solidFill>
              </a:rPr>
              <a:t>File đính kèm đúng chưa, người nhận có mở được không?</a:t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Char char="●"/>
            </a:pPr>
            <a:r>
              <a:rPr lang="vi" sz="1800">
                <a:solidFill>
                  <a:srgbClr val="351C75"/>
                </a:solidFill>
              </a:rPr>
              <a:t>Tên người nhận đầy đủ 「会社名＋部署名＋氏名＋様」?</a:t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Char char="●"/>
            </a:pPr>
            <a:r>
              <a:rPr lang="vi" sz="1800">
                <a:solidFill>
                  <a:srgbClr val="351C75"/>
                </a:solidFill>
              </a:rPr>
              <a:t>Lời chào đầu phù hợp tình huống?</a:t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Char char="●"/>
            </a:pPr>
            <a:r>
              <a:rPr lang="vi" sz="1800">
                <a:solidFill>
                  <a:srgbClr val="351C75"/>
                </a:solidFill>
              </a:rPr>
              <a:t>Đã giới thiệu bản thân đúng chuẩn chưa?</a:t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Char char="●"/>
            </a:pPr>
            <a:r>
              <a:rPr lang="vi" sz="1800">
                <a:solidFill>
                  <a:srgbClr val="351C75"/>
                </a:solidFill>
              </a:rPr>
              <a:t>Nội dung bắt đầu bằng tóm tắt chưa?</a:t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Char char="●"/>
            </a:pPr>
            <a:r>
              <a:rPr lang="vi" sz="1800">
                <a:solidFill>
                  <a:srgbClr val="351C75"/>
                </a:solidFill>
              </a:rPr>
              <a:t>Bố cục dễ đọc (ngắt dòng, chia đoạn, bullet points)?</a:t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Char char="●"/>
            </a:pPr>
            <a:r>
              <a:rPr lang="vi" sz="1800">
                <a:solidFill>
                  <a:srgbClr val="351C75"/>
                </a:solidFill>
              </a:rPr>
              <a:t>Có lời chào kết thúc không?</a:t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Char char="●"/>
            </a:pPr>
            <a:r>
              <a:rPr lang="vi" sz="1800">
                <a:solidFill>
                  <a:srgbClr val="351C75"/>
                </a:solidFill>
              </a:rPr>
              <a:t>Có chữ ký chưa?</a:t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Char char="●"/>
            </a:pPr>
            <a:r>
              <a:rPr lang="vi" sz="1800">
                <a:solidFill>
                  <a:srgbClr val="351C75"/>
                </a:solidFill>
              </a:rPr>
              <a:t>Đã kiểm tra lỗi chính tả chưa?</a:t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Char char="●"/>
            </a:pPr>
            <a:r>
              <a:rPr lang="vi" sz="1800">
                <a:solidFill>
                  <a:srgbClr val="351C75"/>
                </a:solidFill>
              </a:rPr>
              <a:t>Có từ ngữ nào thiếu lịch sự không?</a:t>
            </a:r>
            <a:endParaRPr sz="1800"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áng nhẹ tự tạ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