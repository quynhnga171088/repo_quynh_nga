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embeddedFontLst>
    <p:embeddedFont>
      <p:font typeface="Lato"/>
      <p:regular r:id="rId9"/>
      <p:bold r:id="rId10"/>
      <p:italic r:id="rId11"/>
      <p:boldItalic r:id="rId12"/>
    </p:embeddedFont>
    <p:embeddedFont>
      <p:font typeface="Manrope ExtraBold"/>
      <p:bold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Lato-italic.fntdata"/><Relationship Id="rId10" Type="http://schemas.openxmlformats.org/officeDocument/2006/relationships/font" Target="fonts/Lato-bold.fntdata"/><Relationship Id="rId13" Type="http://schemas.openxmlformats.org/officeDocument/2006/relationships/font" Target="fonts/ManropeExtraBold-bold.fntdata"/><Relationship Id="rId12" Type="http://schemas.openxmlformats.org/officeDocument/2006/relationships/font" Target="fonts/Lato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Lato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71096f3a80_0_2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71096f3a80_0_2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71096f3a80_0_4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71096f3a80_0_4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71096f3a80_0_4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71096f3a80_0_4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-48150" y="5252875"/>
            <a:ext cx="8520600" cy="251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0" y="505682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-48150" y="5252875"/>
            <a:ext cx="8520600" cy="251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-48150" y="5252875"/>
            <a:ext cx="8520600" cy="251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talog Slide" showMasterSp="0">
  <p:cSld name="Catalog Slide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/>
          <p:nvPr/>
        </p:nvSpPr>
        <p:spPr>
          <a:xfrm>
            <a:off x="0" y="3283436"/>
            <a:ext cx="1863699" cy="1860064"/>
          </a:xfrm>
          <a:custGeom>
            <a:rect b="b" l="l" r="r" t="t"/>
            <a:pathLst>
              <a:path extrusionOk="0" h="2480085" w="2484932">
                <a:moveTo>
                  <a:pt x="309827" y="0"/>
                </a:moveTo>
                <a:cubicBezTo>
                  <a:pt x="1511104" y="0"/>
                  <a:pt x="2484932" y="974408"/>
                  <a:pt x="2484932" y="2176401"/>
                </a:cubicBezTo>
                <a:cubicBezTo>
                  <a:pt x="2484932" y="2251526"/>
                  <a:pt x="2481128" y="2325761"/>
                  <a:pt x="2473703" y="2398926"/>
                </a:cubicBezTo>
                <a:lnTo>
                  <a:pt x="2461324" y="2480085"/>
                </a:lnTo>
                <a:lnTo>
                  <a:pt x="0" y="2480085"/>
                </a:lnTo>
                <a:lnTo>
                  <a:pt x="0" y="24589"/>
                </a:lnTo>
                <a:lnTo>
                  <a:pt x="87435" y="11237"/>
                </a:lnTo>
                <a:cubicBezTo>
                  <a:pt x="160556" y="3807"/>
                  <a:pt x="234747" y="0"/>
                  <a:pt x="309827" y="0"/>
                </a:cubicBezTo>
                <a:close/>
              </a:path>
            </a:pathLst>
          </a:custGeom>
          <a:solidFill>
            <a:srgbClr val="FED48D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52" name="Google Shape;52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05256" y="3086100"/>
            <a:ext cx="1604772" cy="1604772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13"/>
          <p:cNvSpPr txBox="1"/>
          <p:nvPr>
            <p:ph type="title"/>
          </p:nvPr>
        </p:nvSpPr>
        <p:spPr>
          <a:xfrm>
            <a:off x="1337310" y="1373029"/>
            <a:ext cx="2513400" cy="24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Manrope ExtraBold"/>
              <a:buChar char="●"/>
              <a:defRPr b="1" sz="35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4" name="Google Shape;54;p13"/>
          <p:cNvSpPr/>
          <p:nvPr/>
        </p:nvSpPr>
        <p:spPr>
          <a:xfrm>
            <a:off x="1932597" y="4402044"/>
            <a:ext cx="152295" cy="741456"/>
          </a:xfrm>
          <a:custGeom>
            <a:rect b="b" l="l" r="r" t="t"/>
            <a:pathLst>
              <a:path extrusionOk="0" h="988608" w="203060">
                <a:moveTo>
                  <a:pt x="42778" y="0"/>
                </a:moveTo>
                <a:cubicBezTo>
                  <a:pt x="66188" y="0"/>
                  <a:pt x="85165" y="18977"/>
                  <a:pt x="85165" y="42387"/>
                </a:cubicBezTo>
                <a:lnTo>
                  <a:pt x="84788" y="43297"/>
                </a:lnTo>
                <a:lnTo>
                  <a:pt x="86463" y="43297"/>
                </a:lnTo>
                <a:lnTo>
                  <a:pt x="138259" y="244742"/>
                </a:lnTo>
                <a:cubicBezTo>
                  <a:pt x="180747" y="452376"/>
                  <a:pt x="203060" y="667360"/>
                  <a:pt x="203060" y="887555"/>
                </a:cubicBezTo>
                <a:lnTo>
                  <a:pt x="197958" y="988608"/>
                </a:lnTo>
                <a:lnTo>
                  <a:pt x="114136" y="988608"/>
                </a:lnTo>
                <a:lnTo>
                  <a:pt x="119238" y="887555"/>
                </a:lnTo>
                <a:cubicBezTo>
                  <a:pt x="119238" y="673147"/>
                  <a:pt x="97512" y="463813"/>
                  <a:pt x="56140" y="261635"/>
                </a:cubicBezTo>
                <a:lnTo>
                  <a:pt x="0" y="43297"/>
                </a:lnTo>
                <a:lnTo>
                  <a:pt x="768" y="43297"/>
                </a:lnTo>
                <a:lnTo>
                  <a:pt x="391" y="42387"/>
                </a:lnTo>
                <a:cubicBezTo>
                  <a:pt x="391" y="18977"/>
                  <a:pt x="19368" y="0"/>
                  <a:pt x="42778" y="0"/>
                </a:cubicBezTo>
                <a:close/>
              </a:path>
            </a:pathLst>
          </a:custGeom>
          <a:solidFill>
            <a:srgbClr val="FFD48A">
              <a:alpha val="4000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3"/>
          <p:cNvSpPr/>
          <p:nvPr/>
        </p:nvSpPr>
        <p:spPr>
          <a:xfrm>
            <a:off x="0" y="3040893"/>
            <a:ext cx="1167066" cy="348629"/>
          </a:xfrm>
          <a:custGeom>
            <a:rect b="b" l="l" r="r" t="t"/>
            <a:pathLst>
              <a:path extrusionOk="0" h="464839" w="1556088">
                <a:moveTo>
                  <a:pt x="138304" y="0"/>
                </a:moveTo>
                <a:cubicBezTo>
                  <a:pt x="609550" y="0"/>
                  <a:pt x="1052913" y="119382"/>
                  <a:pt x="1439800" y="329551"/>
                </a:cubicBezTo>
                <a:lnTo>
                  <a:pt x="1530165" y="384449"/>
                </a:lnTo>
                <a:lnTo>
                  <a:pt x="1529608" y="385365"/>
                </a:lnTo>
                <a:lnTo>
                  <a:pt x="1543435" y="391092"/>
                </a:lnTo>
                <a:cubicBezTo>
                  <a:pt x="1551253" y="398910"/>
                  <a:pt x="1556088" y="409710"/>
                  <a:pt x="1556088" y="421639"/>
                </a:cubicBezTo>
                <a:cubicBezTo>
                  <a:pt x="1556088" y="445498"/>
                  <a:pt x="1536747" y="464839"/>
                  <a:pt x="1512888" y="464839"/>
                </a:cubicBezTo>
                <a:cubicBezTo>
                  <a:pt x="1500959" y="464839"/>
                  <a:pt x="1490159" y="460004"/>
                  <a:pt x="1482341" y="452186"/>
                </a:cubicBezTo>
                <a:lnTo>
                  <a:pt x="1481940" y="451219"/>
                </a:lnTo>
                <a:lnTo>
                  <a:pt x="1400624" y="401819"/>
                </a:lnTo>
                <a:cubicBezTo>
                  <a:pt x="1025383" y="197975"/>
                  <a:pt x="595365" y="82187"/>
                  <a:pt x="138304" y="82187"/>
                </a:cubicBezTo>
                <a:lnTo>
                  <a:pt x="0" y="89171"/>
                </a:lnTo>
                <a:lnTo>
                  <a:pt x="0" y="6984"/>
                </a:lnTo>
                <a:close/>
              </a:path>
            </a:pathLst>
          </a:custGeom>
          <a:solidFill>
            <a:srgbClr val="FFD48A">
              <a:alpha val="3373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13"/>
          <p:cNvSpPr txBox="1"/>
          <p:nvPr>
            <p:ph idx="10" type="dt"/>
          </p:nvPr>
        </p:nvSpPr>
        <p:spPr>
          <a:xfrm>
            <a:off x="52197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7" name="Google Shape;57;p1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8" name="Google Shape;58;p13"/>
          <p:cNvSpPr txBox="1"/>
          <p:nvPr>
            <p:ph idx="12" type="sldNum"/>
          </p:nvPr>
        </p:nvSpPr>
        <p:spPr>
          <a:xfrm>
            <a:off x="6565487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CA2F47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  <p:sp>
        <p:nvSpPr>
          <p:cNvPr id="7" name="Google Shape;7;p1"/>
          <p:cNvSpPr txBox="1"/>
          <p:nvPr/>
        </p:nvSpPr>
        <p:spPr>
          <a:xfrm>
            <a:off x="907521" y="4522151"/>
            <a:ext cx="1839900" cy="4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19950" lIns="19950" spcFirstLastPara="1" rIns="19950" wrap="square" tIns="199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200">
                <a:solidFill>
                  <a:srgbClr val="CA2F47"/>
                </a:solidFill>
              </a:rPr>
              <a:t>Quỳnh Nga IT</a:t>
            </a:r>
            <a:br>
              <a:rPr b="1" lang="vi" sz="1200">
                <a:solidFill>
                  <a:srgbClr val="CA2F47"/>
                </a:solidFill>
              </a:rPr>
            </a:br>
            <a:r>
              <a:rPr b="1" lang="vi" sz="1200">
                <a:solidFill>
                  <a:srgbClr val="CA2F47"/>
                </a:solidFill>
              </a:rPr>
              <a:t>Đồng hành cùng bạn !</a:t>
            </a:r>
            <a:endParaRPr b="1" sz="1200">
              <a:solidFill>
                <a:srgbClr val="CA2F47"/>
              </a:solidFill>
            </a:endParaRPr>
          </a:p>
        </p:txBody>
      </p:sp>
      <p:sp>
        <p:nvSpPr>
          <p:cNvPr id="8" name="Google Shape;8;p1"/>
          <p:cNvSpPr/>
          <p:nvPr/>
        </p:nvSpPr>
        <p:spPr>
          <a:xfrm>
            <a:off x="162600" y="140100"/>
            <a:ext cx="8818800" cy="4863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" name="Google Shape;9;p1" title="Logo trong suốt.png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253938" y="4274776"/>
            <a:ext cx="653575" cy="6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1"/>
          <p:cNvSpPr txBox="1"/>
          <p:nvPr/>
        </p:nvSpPr>
        <p:spPr>
          <a:xfrm>
            <a:off x="850825" y="4449988"/>
            <a:ext cx="1839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200">
                <a:solidFill>
                  <a:srgbClr val="CA2F47"/>
                </a:solidFill>
              </a:rPr>
              <a:t>Quỳnh Nga IT</a:t>
            </a:r>
            <a:endParaRPr b="1" sz="1200">
              <a:solidFill>
                <a:srgbClr val="CA2F4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200">
                <a:solidFill>
                  <a:srgbClr val="CA2F47"/>
                </a:solidFill>
              </a:rPr>
              <a:t>Đồng hành cùng bạn</a:t>
            </a:r>
            <a:endParaRPr b="1" sz="1200">
              <a:solidFill>
                <a:srgbClr val="CA2F47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translate.google.com/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mallpdf.com/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drive.google.com/file/d/1He_c1lrhfIGipiqd3EmtqQMq7uTqUm_W/view?usp=sharing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A2F47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/>
        </p:nvSpPr>
        <p:spPr>
          <a:xfrm>
            <a:off x="160950" y="276450"/>
            <a:ext cx="8822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vi" sz="3600">
                <a:solidFill>
                  <a:srgbClr val="351C75"/>
                </a:solidFill>
              </a:rPr>
              <a:t>Dùng Google Translate</a:t>
            </a:r>
            <a:endParaRPr sz="3600">
              <a:solidFill>
                <a:srgbClr val="351C75"/>
              </a:solidFill>
            </a:endParaRPr>
          </a:p>
        </p:txBody>
      </p:sp>
      <p:sp>
        <p:nvSpPr>
          <p:cNvPr id="64" name="Google Shape;64;p14"/>
          <p:cNvSpPr/>
          <p:nvPr/>
        </p:nvSpPr>
        <p:spPr>
          <a:xfrm>
            <a:off x="512000" y="1071300"/>
            <a:ext cx="8225400" cy="3139800"/>
          </a:xfrm>
          <a:prstGeom prst="roundRect">
            <a:avLst>
              <a:gd fmla="val 16667" name="adj"/>
            </a:avLst>
          </a:prstGeom>
          <a:solidFill>
            <a:srgbClr val="FFF5F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vi" sz="1800">
                <a:solidFill>
                  <a:srgbClr val="351C75"/>
                </a:solidFill>
              </a:rPr>
              <a:t>🔗 Link công cụ</a:t>
            </a:r>
            <a:r>
              <a:rPr b="1" lang="vi" sz="1800">
                <a:solidFill>
                  <a:srgbClr val="351C75"/>
                </a:solidFill>
                <a:highlight>
                  <a:srgbClr val="FFF5F5"/>
                </a:highlight>
              </a:rPr>
              <a:t>: </a:t>
            </a:r>
            <a:r>
              <a:rPr lang="vi" sz="1800" u="sng">
                <a:solidFill>
                  <a:srgbClr val="351C75"/>
                </a:solidFill>
                <a:highlight>
                  <a:srgbClr val="FFF5F5"/>
                </a:highlight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https://translate.google.com/</a:t>
            </a:r>
            <a:endParaRPr b="1" sz="1800">
              <a:solidFill>
                <a:srgbClr val="351C75"/>
              </a:solidFill>
              <a:highlight>
                <a:srgbClr val="FFF5F5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vi" sz="1800">
                <a:solidFill>
                  <a:srgbClr val="351C75"/>
                </a:solidFill>
              </a:rPr>
              <a:t>✅ Tốc độ dịch nhanh. Phạm vi ứng dụng rộng. Hỗ trợ nhiều định dạng file.</a:t>
            </a:r>
            <a:endParaRPr sz="1800">
              <a:solidFill>
                <a:srgbClr val="351C75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vi" sz="1800">
                <a:solidFill>
                  <a:srgbClr val="351C75"/>
                </a:solidFill>
              </a:rPr>
              <a:t>❌  File có dung lượng lớn không dịch được đầy đủ, hoặc bị lỗi. </a:t>
            </a:r>
            <a:endParaRPr sz="1800">
              <a:solidFill>
                <a:srgbClr val="351C75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vi" sz="1800">
                <a:solidFill>
                  <a:srgbClr val="351C75"/>
                </a:solidFill>
              </a:rPr>
              <a:t>       Dịch rời rạc, cứng, thiếu chính xác ngữ cảnh.</a:t>
            </a:r>
            <a:endParaRPr sz="1800">
              <a:solidFill>
                <a:srgbClr val="351C75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vi" sz="1800">
                <a:solidFill>
                  <a:srgbClr val="351C75"/>
                </a:solidFill>
              </a:rPr>
              <a:t>👉</a:t>
            </a:r>
            <a:r>
              <a:rPr lang="vi" sz="1800">
                <a:solidFill>
                  <a:srgbClr val="351C75"/>
                </a:solidFill>
              </a:rPr>
              <a:t> Sử dụng khi: </a:t>
            </a:r>
            <a:r>
              <a:rPr b="1" lang="vi" sz="1800">
                <a:solidFill>
                  <a:srgbClr val="351C75"/>
                </a:solidFill>
              </a:rPr>
              <a:t>Cần có bản dịch nhanh</a:t>
            </a:r>
            <a:r>
              <a:rPr lang="vi" sz="1800">
                <a:solidFill>
                  <a:srgbClr val="351C75"/>
                </a:solidFill>
              </a:rPr>
              <a:t> sơ bộ để đọc hiểu trước. </a:t>
            </a:r>
            <a:endParaRPr sz="1800">
              <a:solidFill>
                <a:srgbClr val="351C75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vi" sz="1800">
                <a:solidFill>
                  <a:srgbClr val="351C75"/>
                </a:solidFill>
              </a:rPr>
              <a:t>			      </a:t>
            </a:r>
            <a:r>
              <a:rPr lang="vi" sz="1800">
                <a:solidFill>
                  <a:srgbClr val="351C75"/>
                </a:solidFill>
              </a:rPr>
              <a:t>Khi không yêu cầu độ chính xác cao. </a:t>
            </a:r>
            <a:r>
              <a:rPr b="1" lang="vi" sz="1800">
                <a:solidFill>
                  <a:srgbClr val="351C75"/>
                </a:solidFill>
              </a:rPr>
              <a:t>Cần review kỹ</a:t>
            </a:r>
            <a:r>
              <a:rPr lang="vi" sz="1800">
                <a:solidFill>
                  <a:srgbClr val="351C75"/>
                </a:solidFill>
              </a:rPr>
              <a:t>.</a:t>
            </a:r>
            <a:endParaRPr sz="1800">
              <a:solidFill>
                <a:srgbClr val="351C75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A2F47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/>
        </p:nvSpPr>
        <p:spPr>
          <a:xfrm>
            <a:off x="137450" y="256200"/>
            <a:ext cx="8822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3600">
                <a:solidFill>
                  <a:srgbClr val="351C75"/>
                </a:solidFill>
              </a:rPr>
              <a:t>Lưu ý: xử lý</a:t>
            </a:r>
            <a:r>
              <a:rPr b="1" lang="vi" sz="3600">
                <a:solidFill>
                  <a:srgbClr val="351C75"/>
                </a:solidFill>
              </a:rPr>
              <a:t> file PDF</a:t>
            </a:r>
            <a:endParaRPr sz="3600">
              <a:solidFill>
                <a:srgbClr val="351C75"/>
              </a:solidFill>
            </a:endParaRPr>
          </a:p>
        </p:txBody>
      </p:sp>
      <p:sp>
        <p:nvSpPr>
          <p:cNvPr id="70" name="Google Shape;70;p15"/>
          <p:cNvSpPr/>
          <p:nvPr/>
        </p:nvSpPr>
        <p:spPr>
          <a:xfrm>
            <a:off x="512000" y="1071300"/>
            <a:ext cx="8225400" cy="3139800"/>
          </a:xfrm>
          <a:prstGeom prst="roundRect">
            <a:avLst>
              <a:gd fmla="val 16667" name="adj"/>
            </a:avLst>
          </a:prstGeom>
          <a:solidFill>
            <a:srgbClr val="FFF5F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vi">
                <a:solidFill>
                  <a:srgbClr val="351C75"/>
                </a:solidFill>
              </a:rPr>
              <a:t>⚠️ </a:t>
            </a:r>
            <a:r>
              <a:rPr lang="vi">
                <a:solidFill>
                  <a:srgbClr val="351C75"/>
                </a:solidFill>
              </a:rPr>
              <a:t>PDF thường có định dạng cố định, khó xử lý nội dung. Thường bị v</a:t>
            </a:r>
            <a:r>
              <a:rPr lang="vi">
                <a:solidFill>
                  <a:srgbClr val="351C75"/>
                </a:solidFill>
              </a:rPr>
              <a:t>ỡ font chữ, mất bố cục.</a:t>
            </a:r>
            <a:endParaRPr>
              <a:solidFill>
                <a:srgbClr val="351C75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vi">
                <a:solidFill>
                  <a:srgbClr val="351C75"/>
                </a:solidFill>
              </a:rPr>
              <a:t>⚠️ Nếu dùng Google dịch, file sau khi xuất ra vẫn là định dạng PDF k</a:t>
            </a:r>
            <a:r>
              <a:rPr lang="vi">
                <a:solidFill>
                  <a:srgbClr val="351C75"/>
                </a:solidFill>
              </a:rPr>
              <a:t>hông thể chỉnh sửa sau khi dịch =&gt; Khó đọc.</a:t>
            </a:r>
            <a:endParaRPr>
              <a:solidFill>
                <a:srgbClr val="351C75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51C75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vi">
                <a:solidFill>
                  <a:srgbClr val="351C75"/>
                </a:solidFill>
              </a:rPr>
              <a:t>🛠️ GIẢI PHÁP</a:t>
            </a:r>
            <a:endParaRPr b="1">
              <a:solidFill>
                <a:srgbClr val="351C75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vi">
                <a:solidFill>
                  <a:srgbClr val="351C75"/>
                </a:solidFill>
              </a:rPr>
              <a:t>1: Convert file PDF sang Word: </a:t>
            </a:r>
            <a:r>
              <a:rPr lang="vi" u="sng">
                <a:solidFill>
                  <a:srgbClr val="351C7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https://smallpdf.com/</a:t>
            </a:r>
            <a:r>
              <a:rPr lang="vi">
                <a:solidFill>
                  <a:srgbClr val="351C75"/>
                </a:solidFill>
              </a:rPr>
              <a:t> </a:t>
            </a:r>
            <a:endParaRPr>
              <a:solidFill>
                <a:srgbClr val="351C75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lang="vi">
                <a:solidFill>
                  <a:srgbClr val="351C75"/>
                </a:solidFill>
              </a:rPr>
              <a:t>2: Dùng Google dịch file word đã convert -&gt; </a:t>
            </a:r>
            <a:r>
              <a:rPr b="1" lang="vi">
                <a:solidFill>
                  <a:srgbClr val="351C75"/>
                </a:solidFill>
              </a:rPr>
              <a:t>chỉnh sửa được file sau khi xuất ra</a:t>
            </a:r>
            <a:endParaRPr b="1">
              <a:solidFill>
                <a:srgbClr val="351C75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A2F47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/>
        </p:nvSpPr>
        <p:spPr>
          <a:xfrm>
            <a:off x="160950" y="276450"/>
            <a:ext cx="8822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3600">
                <a:solidFill>
                  <a:srgbClr val="351C75"/>
                </a:solidFill>
              </a:rPr>
              <a:t>Thực hành</a:t>
            </a:r>
            <a:endParaRPr sz="3600">
              <a:solidFill>
                <a:srgbClr val="351C75"/>
              </a:solidFill>
            </a:endParaRPr>
          </a:p>
        </p:txBody>
      </p:sp>
      <p:sp>
        <p:nvSpPr>
          <p:cNvPr id="76" name="Google Shape;76;p16"/>
          <p:cNvSpPr/>
          <p:nvPr/>
        </p:nvSpPr>
        <p:spPr>
          <a:xfrm>
            <a:off x="512000" y="1071300"/>
            <a:ext cx="8115300" cy="3139800"/>
          </a:xfrm>
          <a:prstGeom prst="roundRect">
            <a:avLst>
              <a:gd fmla="val 16667" name="adj"/>
            </a:avLst>
          </a:prstGeom>
          <a:solidFill>
            <a:srgbClr val="FFF5F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vi" sz="1800">
                <a:solidFill>
                  <a:srgbClr val="351C75"/>
                </a:solidFill>
              </a:rPr>
              <a:t>Dùng Google Dịch, thực hiện dịch file PDF sau sang tiếng Việt, xuất ra bản dịch có thể chỉnh sửa trực tiếp được.</a:t>
            </a:r>
            <a:endParaRPr sz="1800">
              <a:solidFill>
                <a:srgbClr val="351C75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rgbClr val="351C75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vi" sz="1800" u="sng">
                <a:solidFill>
                  <a:srgbClr val="351C7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https://drive.google.com/file/d/1He_c1lrhfIGipiqd3EmtqQMq7uTqUm_W/view?usp=sharing</a:t>
            </a:r>
            <a:endParaRPr>
              <a:solidFill>
                <a:srgbClr val="351C75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áng nhẹ tự tạ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