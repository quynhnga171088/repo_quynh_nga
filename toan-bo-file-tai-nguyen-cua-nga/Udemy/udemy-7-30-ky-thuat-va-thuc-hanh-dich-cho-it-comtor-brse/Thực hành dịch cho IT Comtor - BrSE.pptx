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Lst>
  <p:sldSz cy="5143500" cx="9144000"/>
  <p:notesSz cx="6858000" cy="9144000"/>
  <p:embeddedFontLst>
    <p:embeddedFont>
      <p:font typeface="Roboto"/>
      <p:regular r:id="rId108"/>
      <p:bold r:id="rId109"/>
      <p:italic r:id="rId110"/>
      <p:boldItalic r:id="rId111"/>
    </p:embeddedFont>
    <p:embeddedFont>
      <p:font typeface="Lato"/>
      <p:regular r:id="rId112"/>
      <p:bold r:id="rId113"/>
      <p:italic r:id="rId114"/>
      <p:boldItalic r:id="rId115"/>
    </p:embeddedFont>
    <p:embeddedFont>
      <p:font typeface="Mali"/>
      <p:regular r:id="rId116"/>
      <p:bold r:id="rId117"/>
      <p:italic r:id="rId118"/>
      <p:boldItalic r:id="rId119"/>
    </p:embeddedFont>
    <p:embeddedFont>
      <p:font typeface="Manrope ExtraBold"/>
      <p:bold r:id="rId120"/>
    </p:embeddedFont>
    <p:embeddedFont>
      <p:font typeface="Roboto Mono"/>
      <p:regular r:id="rId121"/>
      <p:bold r:id="rId122"/>
      <p:italic r:id="rId123"/>
      <p:boldItalic r:id="rId1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70AD9C-748C-4D71-9AD6-89DEFF92EBC2}">
  <a:tblStyle styleId="{D670AD9C-748C-4D71-9AD6-89DEFF92EBC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font" Target="fonts/Roboto-bold.fntdata"/><Relationship Id="rId108" Type="http://schemas.openxmlformats.org/officeDocument/2006/relationships/font" Target="fonts/Roboto-regular.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121" Type="http://schemas.openxmlformats.org/officeDocument/2006/relationships/font" Target="fonts/RobotoMono-regular.fntdata"/><Relationship Id="rId25" Type="http://schemas.openxmlformats.org/officeDocument/2006/relationships/slide" Target="slides/slide19.xml"/><Relationship Id="rId120" Type="http://schemas.openxmlformats.org/officeDocument/2006/relationships/font" Target="fonts/ManropeExtraBold-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24" Type="http://schemas.openxmlformats.org/officeDocument/2006/relationships/font" Target="fonts/RobotoMono-boldItalic.fntdata"/><Relationship Id="rId123" Type="http://schemas.openxmlformats.org/officeDocument/2006/relationships/font" Target="fonts/RobotoMono-italic.fntdata"/><Relationship Id="rId122" Type="http://schemas.openxmlformats.org/officeDocument/2006/relationships/font" Target="fonts/RobotoMono-bold.fntdata"/><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Mali-italic.fntdata"/><Relationship Id="rId117" Type="http://schemas.openxmlformats.org/officeDocument/2006/relationships/font" Target="fonts/Mali-bold.fntdata"/><Relationship Id="rId116" Type="http://schemas.openxmlformats.org/officeDocument/2006/relationships/font" Target="fonts/Mali-regular.fntdata"/><Relationship Id="rId115" Type="http://schemas.openxmlformats.org/officeDocument/2006/relationships/font" Target="fonts/Lato-boldItalic.fntdata"/><Relationship Id="rId119" Type="http://schemas.openxmlformats.org/officeDocument/2006/relationships/font" Target="fonts/Mali-boldItalic.fntdata"/><Relationship Id="rId15" Type="http://schemas.openxmlformats.org/officeDocument/2006/relationships/slide" Target="slides/slide9.xml"/><Relationship Id="rId110" Type="http://schemas.openxmlformats.org/officeDocument/2006/relationships/font" Target="fonts/Roboto-italic.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Lato-italic.fntdata"/><Relationship Id="rId18" Type="http://schemas.openxmlformats.org/officeDocument/2006/relationships/slide" Target="slides/slide12.xml"/><Relationship Id="rId113" Type="http://schemas.openxmlformats.org/officeDocument/2006/relationships/font" Target="fonts/Lato-bold.fntdata"/><Relationship Id="rId112" Type="http://schemas.openxmlformats.org/officeDocument/2006/relationships/font" Target="fonts/Lato-regular.fntdata"/><Relationship Id="rId111" Type="http://schemas.openxmlformats.org/officeDocument/2006/relationships/font" Target="fonts/Roboto-boldItalic.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71096f3a80_0_10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g371096f3a80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1096f3a80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1096f3a80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71096f3a80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71096f3a80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71096f3a80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71096f3a80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71096f3a80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71096f3a80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71096f3a80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71096f3a80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84ecb87e75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84ecb87e75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4ecb87e75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84ecb87e75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84ecb87e75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84ecb87e75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71096f3a80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71096f3a80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71096f3a80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71096f3a80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71096f3a80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71096f3a80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71096f3a80_0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71096f3a80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717283628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717283628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71096f3a80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71096f3a80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1096f3a80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71096f3a80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89023e70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89023e70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717283628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717283628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1096f3a80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71096f3a80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Giới thiệu về thuật ngữ tiếng Anh, cần hiểu các từ cơ bản.</a:t>
            </a:r>
            <a:endParaRPr/>
          </a:p>
          <a:p>
            <a:pPr indent="0" lvl="0" marL="0" rtl="0" algn="l">
              <a:spcBef>
                <a:spcPts val="0"/>
              </a:spcBef>
              <a:spcAft>
                <a:spcPts val="0"/>
              </a:spcAft>
              <a:buNone/>
            </a:pPr>
            <a:r>
              <a:rPr lang="vi"/>
              <a:t>Việc dùng lẫn lộn Anh Việt là bình thường và dễ hiểu.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71096f3a80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71096f3a80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717283628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717283628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71096f3a80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71096f3a80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71096f3a80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71096f3a80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1096f3a80_0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71096f3a80_0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71096f3a80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71096f3a80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71096f3a80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71096f3a80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71096f3a80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71096f3a80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71096f3a80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71096f3a80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71096f3a80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71096f3a80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71096f3a80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71096f3a80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71096f3a80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71096f3a80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71096f3a80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71096f3a80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71096f3a80_0_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71096f3a80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71096f3a80_0_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71096f3a80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71096f3a80_0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71096f3a80_0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71096f3a80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71096f3a80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71096f3a80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71096f3a80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71096f3a80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71096f3a80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71096f3a80_0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71096f3a80_0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71096f3a80_0_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71096f3a80_0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71096f3a80_0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71096f3a80_0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71096f3a80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71096f3a80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71096f3a80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71096f3a80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71096f3a80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71096f3a80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71096f3a80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71096f3a80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71096f3a80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71096f3a80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71096f3a80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71096f3a80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71096f3a80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71096f3a80_0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71096f3a80_0_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71096f3a80_0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71096f3a80_0_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71096f3a80_0_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71096f3a80_0_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71096f3a80_0_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71096f3a80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71096f3a80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71096f3a80_0_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71096f3a80_0_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71096f3a80_0_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71096f3a80_0_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71096f3a80_0_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71096f3a80_0_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71096f3a80_0_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71096f3a80_0_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71096f3a80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71096f3a80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71096f3a80_0_9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71096f3a80_0_9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71096f3a80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71096f3a80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71096f3a80_0_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71096f3a80_0_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71096f3a80_0_9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71096f3a80_0_9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71096f3a80_0_9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71096f3a80_0_9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71096f3a80_0_1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71096f3a80_0_1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71096f3a80_0_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71096f3a80_0_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71096f3a80_0_9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71096f3a80_0_9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71096f3a80_0_9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71096f3a80_0_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71096f3a80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71096f3a80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71096f3a80_0_10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71096f3a80_0_10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71096f3a80_0_1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71096f3a80_0_1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71096f3a80_0_10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71096f3a80_0_1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71096f3a80_0_10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71096f3a80_0_1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71096f3a80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71096f3a80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71096f3a80_0_1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71096f3a80_0_1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71096f3a80_0_1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71096f3a80_0_1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71096f3a80_0_1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71096f3a80_0_1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71096f3a80_0_1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71096f3a80_0_1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71096f3a80_0_1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71096f3a80_0_1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84ecb87e7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84ecb87e7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84ecb87e75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84ecb87e75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84ecb87e75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84ecb87e75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84ecb87e75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84ecb87e75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71096f3a80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71096f3a80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71096f3a80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71096f3a80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71096f3a80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71096f3a80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71096f3a80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71096f3a80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71096f3a80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71096f3a80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71096f3a80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71096f3a80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71096f3a80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71096f3a80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71096f3a80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71096f3a80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71096f3a80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71096f3a80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71096f3a80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71096f3a80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71096f3a80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371096f3a80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ctr">
              <a:lnSpc>
                <a:spcPct val="115000"/>
              </a:lnSpc>
              <a:spcBef>
                <a:spcPts val="1200"/>
              </a:spcBef>
              <a:spcAft>
                <a:spcPts val="0"/>
              </a:spcAft>
              <a:buClr>
                <a:schemeClr val="dk1"/>
              </a:buClr>
              <a:buSzPts val="1100"/>
              <a:buFont typeface="Arial"/>
              <a:buNone/>
            </a:pPr>
            <a:r>
              <a:rPr b="1" lang="vi" sz="1000">
                <a:solidFill>
                  <a:srgbClr val="351C75"/>
                </a:solidFill>
              </a:rPr>
              <a:t>Lưu ý: File thuật ngữ chỉ nên có cấu trúc đơn giản theo cặp Nhật - Việt, số lượng dưới 500 từ.</a:t>
            </a:r>
            <a:endParaRPr b="1" sz="1000">
              <a:solidFill>
                <a:srgbClr val="351C75"/>
              </a:solidFill>
            </a:endParaRPr>
          </a:p>
          <a:p>
            <a:pPr indent="0" lvl="0" marL="457200" rtl="0" algn="ctr">
              <a:lnSpc>
                <a:spcPct val="115000"/>
              </a:lnSpc>
              <a:spcBef>
                <a:spcPts val="1200"/>
              </a:spcBef>
              <a:spcAft>
                <a:spcPts val="1200"/>
              </a:spcAft>
              <a:buClr>
                <a:schemeClr val="dk1"/>
              </a:buClr>
              <a:buSzPts val="1100"/>
              <a:buFont typeface="Arial"/>
              <a:buNone/>
            </a:pPr>
            <a:r>
              <a:rPr b="1" lang="vi" sz="1000">
                <a:solidFill>
                  <a:srgbClr val="351C75"/>
                </a:solidFill>
              </a:rPr>
              <a:t>Trường hợp làm nhiều dự án, có thể tạo thread dịch theo tên dự án.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71096f3a80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371096f3a80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71096f3a80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371096f3a80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71096f3a80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71096f3a80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ctr">
              <a:lnSpc>
                <a:spcPct val="115000"/>
              </a:lnSpc>
              <a:spcBef>
                <a:spcPts val="1200"/>
              </a:spcBef>
              <a:spcAft>
                <a:spcPts val="0"/>
              </a:spcAft>
              <a:buNone/>
            </a:pPr>
            <a:r>
              <a:rPr b="1" lang="vi" sz="1000">
                <a:solidFill>
                  <a:srgbClr val="351C75"/>
                </a:solidFill>
              </a:rPr>
              <a:t>Lưu ý: File thuật ngữ chỉ nên có cấu trúc đơn giản theo cặp Nhật - Việt, số lượng dưới 500 từ.</a:t>
            </a:r>
            <a:endParaRPr b="1" sz="1000">
              <a:solidFill>
                <a:srgbClr val="351C75"/>
              </a:solidFill>
            </a:endParaRPr>
          </a:p>
          <a:p>
            <a:pPr indent="0" lvl="0" marL="457200" rtl="0" algn="ctr">
              <a:lnSpc>
                <a:spcPct val="115000"/>
              </a:lnSpc>
              <a:spcBef>
                <a:spcPts val="1200"/>
              </a:spcBef>
              <a:spcAft>
                <a:spcPts val="1200"/>
              </a:spcAft>
              <a:buNone/>
            </a:pPr>
            <a:r>
              <a:rPr b="1" lang="vi" sz="1000">
                <a:solidFill>
                  <a:srgbClr val="351C75"/>
                </a:solidFill>
              </a:rPr>
              <a:t>Trường hợp làm nhiều dự án, có thể tạo thread dịch theo tên dự án.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71096f3a80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71096f3a80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7999c2bcd1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7999c2bcd1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bc2a37a2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bc2a37a2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84ecb87e7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84ecb87e7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84ecb87e75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84ecb87e75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84ecb87e75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84ecb87e75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48150" y="5252875"/>
            <a:ext cx="8520600" cy="2510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8" name="Google Shape;18;p4"/>
          <p:cNvSpPr txBox="1"/>
          <p:nvPr>
            <p:ph idx="1" type="body"/>
          </p:nvPr>
        </p:nvSpPr>
        <p:spPr>
          <a:xfrm>
            <a:off x="0" y="505682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8150" y="5252875"/>
            <a:ext cx="8520600" cy="2510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8150" y="5252875"/>
            <a:ext cx="8520600" cy="2510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4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talog Slide" showMasterSp="0">
  <p:cSld name="Catalog Slide">
    <p:spTree>
      <p:nvGrpSpPr>
        <p:cNvPr id="50" name="Shape 50"/>
        <p:cNvGrpSpPr/>
        <p:nvPr/>
      </p:nvGrpSpPr>
      <p:grpSpPr>
        <a:xfrm>
          <a:off x="0" y="0"/>
          <a:ext cx="0" cy="0"/>
          <a:chOff x="0" y="0"/>
          <a:chExt cx="0" cy="0"/>
        </a:xfrm>
      </p:grpSpPr>
      <p:sp>
        <p:nvSpPr>
          <p:cNvPr id="51" name="Google Shape;51;p13"/>
          <p:cNvSpPr/>
          <p:nvPr/>
        </p:nvSpPr>
        <p:spPr>
          <a:xfrm>
            <a:off x="0" y="3283436"/>
            <a:ext cx="1863699" cy="1860064"/>
          </a:xfrm>
          <a:custGeom>
            <a:rect b="b" l="l" r="r" t="t"/>
            <a:pathLst>
              <a:path extrusionOk="0" h="2480085" w="2484932">
                <a:moveTo>
                  <a:pt x="309827" y="0"/>
                </a:moveTo>
                <a:cubicBezTo>
                  <a:pt x="1511104" y="0"/>
                  <a:pt x="2484932" y="974408"/>
                  <a:pt x="2484932" y="2176401"/>
                </a:cubicBezTo>
                <a:cubicBezTo>
                  <a:pt x="2484932" y="2251526"/>
                  <a:pt x="2481128" y="2325761"/>
                  <a:pt x="2473703" y="2398926"/>
                </a:cubicBezTo>
                <a:lnTo>
                  <a:pt x="2461324" y="2480085"/>
                </a:lnTo>
                <a:lnTo>
                  <a:pt x="0" y="2480085"/>
                </a:lnTo>
                <a:lnTo>
                  <a:pt x="0" y="24589"/>
                </a:lnTo>
                <a:lnTo>
                  <a:pt x="87435" y="11237"/>
                </a:lnTo>
                <a:cubicBezTo>
                  <a:pt x="160556" y="3807"/>
                  <a:pt x="234747" y="0"/>
                  <a:pt x="309827" y="0"/>
                </a:cubicBezTo>
                <a:close/>
              </a:path>
            </a:pathLst>
          </a:custGeom>
          <a:solidFill>
            <a:srgbClr val="FED48D"/>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Lato"/>
              <a:ea typeface="Lato"/>
              <a:cs typeface="Lato"/>
              <a:sym typeface="Lato"/>
            </a:endParaRPr>
          </a:p>
        </p:txBody>
      </p:sp>
      <p:pic>
        <p:nvPicPr>
          <p:cNvPr id="52" name="Google Shape;52;p13"/>
          <p:cNvPicPr preferRelativeResize="0"/>
          <p:nvPr/>
        </p:nvPicPr>
        <p:blipFill rotWithShape="1">
          <a:blip r:embed="rId2">
            <a:alphaModFix/>
          </a:blip>
          <a:srcRect b="0" l="0" r="0" t="0"/>
          <a:stretch/>
        </p:blipFill>
        <p:spPr>
          <a:xfrm>
            <a:off x="905256" y="3086100"/>
            <a:ext cx="1604772" cy="1604772"/>
          </a:xfrm>
          <a:prstGeom prst="rect">
            <a:avLst/>
          </a:prstGeom>
          <a:noFill/>
          <a:ln>
            <a:noFill/>
          </a:ln>
        </p:spPr>
      </p:pic>
      <p:sp>
        <p:nvSpPr>
          <p:cNvPr id="53" name="Google Shape;53;p13"/>
          <p:cNvSpPr txBox="1"/>
          <p:nvPr>
            <p:ph type="title"/>
          </p:nvPr>
        </p:nvSpPr>
        <p:spPr>
          <a:xfrm>
            <a:off x="1337310" y="1373029"/>
            <a:ext cx="2513400" cy="24927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3500"/>
              <a:buFont typeface="Manrope ExtraBold"/>
              <a:buChar char="●"/>
              <a:defRPr b="1" sz="3500">
                <a:latin typeface="Manrope ExtraBold"/>
                <a:ea typeface="Manrope ExtraBold"/>
                <a:cs typeface="Manrope ExtraBold"/>
                <a:sym typeface="Manrope ExtraBold"/>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54" name="Google Shape;54;p13"/>
          <p:cNvSpPr/>
          <p:nvPr/>
        </p:nvSpPr>
        <p:spPr>
          <a:xfrm>
            <a:off x="1932597" y="4402044"/>
            <a:ext cx="152295" cy="741456"/>
          </a:xfrm>
          <a:custGeom>
            <a:rect b="b" l="l" r="r" t="t"/>
            <a:pathLst>
              <a:path extrusionOk="0" h="988608" w="203060">
                <a:moveTo>
                  <a:pt x="42778" y="0"/>
                </a:moveTo>
                <a:cubicBezTo>
                  <a:pt x="66188" y="0"/>
                  <a:pt x="85165" y="18977"/>
                  <a:pt x="85165" y="42387"/>
                </a:cubicBezTo>
                <a:lnTo>
                  <a:pt x="84788" y="43297"/>
                </a:lnTo>
                <a:lnTo>
                  <a:pt x="86463" y="43297"/>
                </a:lnTo>
                <a:lnTo>
                  <a:pt x="138259" y="244742"/>
                </a:lnTo>
                <a:cubicBezTo>
                  <a:pt x="180747" y="452376"/>
                  <a:pt x="203060" y="667360"/>
                  <a:pt x="203060" y="887555"/>
                </a:cubicBezTo>
                <a:lnTo>
                  <a:pt x="197958" y="988608"/>
                </a:lnTo>
                <a:lnTo>
                  <a:pt x="114136" y="988608"/>
                </a:lnTo>
                <a:lnTo>
                  <a:pt x="119238" y="887555"/>
                </a:lnTo>
                <a:cubicBezTo>
                  <a:pt x="119238" y="673147"/>
                  <a:pt x="97512" y="463813"/>
                  <a:pt x="56140" y="261635"/>
                </a:cubicBezTo>
                <a:lnTo>
                  <a:pt x="0" y="43297"/>
                </a:lnTo>
                <a:lnTo>
                  <a:pt x="768" y="43297"/>
                </a:lnTo>
                <a:lnTo>
                  <a:pt x="391" y="42387"/>
                </a:lnTo>
                <a:cubicBezTo>
                  <a:pt x="391" y="18977"/>
                  <a:pt x="19368" y="0"/>
                  <a:pt x="42778" y="0"/>
                </a:cubicBezTo>
                <a:close/>
              </a:path>
            </a:pathLst>
          </a:custGeom>
          <a:solidFill>
            <a:srgbClr val="FFD48A">
              <a:alpha val="4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5" name="Google Shape;55;p13"/>
          <p:cNvSpPr/>
          <p:nvPr/>
        </p:nvSpPr>
        <p:spPr>
          <a:xfrm>
            <a:off x="0" y="3040893"/>
            <a:ext cx="1167066" cy="348629"/>
          </a:xfrm>
          <a:custGeom>
            <a:rect b="b" l="l" r="r" t="t"/>
            <a:pathLst>
              <a:path extrusionOk="0" h="464839" w="1556088">
                <a:moveTo>
                  <a:pt x="138304" y="0"/>
                </a:moveTo>
                <a:cubicBezTo>
                  <a:pt x="609550" y="0"/>
                  <a:pt x="1052913" y="119382"/>
                  <a:pt x="1439800" y="329551"/>
                </a:cubicBezTo>
                <a:lnTo>
                  <a:pt x="1530165" y="384449"/>
                </a:lnTo>
                <a:lnTo>
                  <a:pt x="1529608" y="385365"/>
                </a:lnTo>
                <a:lnTo>
                  <a:pt x="1543435" y="391092"/>
                </a:lnTo>
                <a:cubicBezTo>
                  <a:pt x="1551253" y="398910"/>
                  <a:pt x="1556088" y="409710"/>
                  <a:pt x="1556088" y="421639"/>
                </a:cubicBezTo>
                <a:cubicBezTo>
                  <a:pt x="1556088" y="445498"/>
                  <a:pt x="1536747" y="464839"/>
                  <a:pt x="1512888" y="464839"/>
                </a:cubicBezTo>
                <a:cubicBezTo>
                  <a:pt x="1500959" y="464839"/>
                  <a:pt x="1490159" y="460004"/>
                  <a:pt x="1482341" y="452186"/>
                </a:cubicBezTo>
                <a:lnTo>
                  <a:pt x="1481940" y="451219"/>
                </a:lnTo>
                <a:lnTo>
                  <a:pt x="1400624" y="401819"/>
                </a:lnTo>
                <a:cubicBezTo>
                  <a:pt x="1025383" y="197975"/>
                  <a:pt x="595365" y="82187"/>
                  <a:pt x="138304" y="82187"/>
                </a:cubicBezTo>
                <a:lnTo>
                  <a:pt x="0" y="89171"/>
                </a:lnTo>
                <a:lnTo>
                  <a:pt x="0" y="6984"/>
                </a:lnTo>
                <a:close/>
              </a:path>
            </a:pathLst>
          </a:custGeom>
          <a:solidFill>
            <a:srgbClr val="FFD48A">
              <a:alpha val="3373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6" name="Google Shape;56;p13"/>
          <p:cNvSpPr txBox="1"/>
          <p:nvPr>
            <p:ph idx="10" type="dt"/>
          </p:nvPr>
        </p:nvSpPr>
        <p:spPr>
          <a:xfrm>
            <a:off x="52197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7" name="Google Shape;57;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8" name="Google Shape;58;p13"/>
          <p:cNvSpPr txBox="1"/>
          <p:nvPr>
            <p:ph idx="12" type="sldNum"/>
          </p:nvPr>
        </p:nvSpPr>
        <p:spPr>
          <a:xfrm>
            <a:off x="6565487"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CA2F47"/>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
        <p:nvSpPr>
          <p:cNvPr id="7" name="Google Shape;7;p1"/>
          <p:cNvSpPr txBox="1"/>
          <p:nvPr/>
        </p:nvSpPr>
        <p:spPr>
          <a:xfrm>
            <a:off x="907521" y="4522151"/>
            <a:ext cx="1839900" cy="409800"/>
          </a:xfrm>
          <a:prstGeom prst="rect">
            <a:avLst/>
          </a:prstGeom>
          <a:noFill/>
          <a:ln>
            <a:noFill/>
          </a:ln>
        </p:spPr>
        <p:txBody>
          <a:bodyPr anchorCtr="0" anchor="t" bIns="19950" lIns="19950" spcFirstLastPara="1" rIns="19950" wrap="square" tIns="19950">
            <a:spAutoFit/>
          </a:bodyPr>
          <a:lstStyle/>
          <a:p>
            <a:pPr indent="0" lvl="0" marL="0" rtl="0" algn="l">
              <a:spcBef>
                <a:spcPts val="0"/>
              </a:spcBef>
              <a:spcAft>
                <a:spcPts val="0"/>
              </a:spcAft>
              <a:buNone/>
            </a:pPr>
            <a:r>
              <a:rPr b="1" lang="vi" sz="1200">
                <a:solidFill>
                  <a:srgbClr val="CA2F47"/>
                </a:solidFill>
              </a:rPr>
              <a:t>Quỳnh Nga IT</a:t>
            </a:r>
            <a:br>
              <a:rPr b="1" lang="vi" sz="1200">
                <a:solidFill>
                  <a:srgbClr val="CA2F47"/>
                </a:solidFill>
              </a:rPr>
            </a:br>
            <a:r>
              <a:rPr b="1" lang="vi" sz="1200">
                <a:solidFill>
                  <a:srgbClr val="CA2F47"/>
                </a:solidFill>
              </a:rPr>
              <a:t>Đồng hành cùng bạn !</a:t>
            </a:r>
            <a:endParaRPr b="1" sz="1200">
              <a:solidFill>
                <a:srgbClr val="CA2F47"/>
              </a:solidFill>
            </a:endParaRPr>
          </a:p>
        </p:txBody>
      </p:sp>
      <p:sp>
        <p:nvSpPr>
          <p:cNvPr id="8" name="Google Shape;8;p1"/>
          <p:cNvSpPr/>
          <p:nvPr/>
        </p:nvSpPr>
        <p:spPr>
          <a:xfrm>
            <a:off x="162600" y="140100"/>
            <a:ext cx="8818800" cy="4863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 name="Google Shape;9;p1" title="Logo trong suốt.png"/>
          <p:cNvPicPr preferRelativeResize="0"/>
          <p:nvPr/>
        </p:nvPicPr>
        <p:blipFill>
          <a:blip r:embed="rId1">
            <a:alphaModFix/>
          </a:blip>
          <a:stretch>
            <a:fillRect/>
          </a:stretch>
        </p:blipFill>
        <p:spPr>
          <a:xfrm>
            <a:off x="253938" y="4274776"/>
            <a:ext cx="653575" cy="657175"/>
          </a:xfrm>
          <a:prstGeom prst="rect">
            <a:avLst/>
          </a:prstGeom>
          <a:noFill/>
          <a:ln>
            <a:noFill/>
          </a:ln>
        </p:spPr>
      </p:pic>
      <p:sp>
        <p:nvSpPr>
          <p:cNvPr id="10" name="Google Shape;10;p1"/>
          <p:cNvSpPr txBox="1"/>
          <p:nvPr/>
        </p:nvSpPr>
        <p:spPr>
          <a:xfrm>
            <a:off x="850825" y="4449988"/>
            <a:ext cx="1839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200">
                <a:solidFill>
                  <a:srgbClr val="CA2F47"/>
                </a:solidFill>
              </a:rPr>
              <a:t>Quỳnh Nga IT</a:t>
            </a:r>
            <a:endParaRPr b="1" sz="1200">
              <a:solidFill>
                <a:srgbClr val="CA2F47"/>
              </a:solidFill>
            </a:endParaRPr>
          </a:p>
          <a:p>
            <a:pPr indent="0" lvl="0" marL="0" rtl="0" algn="l">
              <a:spcBef>
                <a:spcPts val="0"/>
              </a:spcBef>
              <a:spcAft>
                <a:spcPts val="0"/>
              </a:spcAft>
              <a:buNone/>
            </a:pPr>
            <a:r>
              <a:rPr b="1" lang="vi" sz="1200">
                <a:solidFill>
                  <a:srgbClr val="CA2F47"/>
                </a:solidFill>
              </a:rPr>
              <a:t>Đồng hành cùng bạn</a:t>
            </a:r>
            <a:endParaRPr b="1" sz="1200">
              <a:solidFill>
                <a:srgbClr val="CA2F47"/>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docs.google.com/spreadsheets/d/1TyE8DgQEJ2eyStT3vBEZmDNMsxPPLqQgWmeSKVGXb7E/edit?usp=sharin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hyperlink" Target="https://docs.google.com/document/d/1p8360NMekzFOOJLs6u0VB1QmMqg-sHKU/edit?usp=sharing&amp;ouid=104416917441975431198&amp;rtpof=true&amp;sd=true" TargetMode="External"/><Relationship Id="rId4" Type="http://schemas.openxmlformats.org/officeDocument/2006/relationships/hyperlink" Target="https://docs.google.com/document/d/1n75BdBo_M-OSBCPbuNLJ8ihGC8meS7HxMdM7Pe5poKs/edit?usp=sharing"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hyperlink" Target="https://docs.google.com/document/d/1kFdrIVL1kZ1vCyXLiiJm3ZOOVEI2qJU3bjFMnq4ikXk/edit?usp=sharing" TargetMode="External"/><Relationship Id="rId4" Type="http://schemas.openxmlformats.org/officeDocument/2006/relationships/hyperlink" Target="https://docs.google.com/document/d/1dOFf97B844mezIRF3ROkpX8lbjL2CKxx8lH8BVon1d0/edit?usp=sharing"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hyperlink" Target="https://docs.google.com/document/d/15ylp4Sdt-akb2WdsQDls44DsS6Nrva6TLlxzCjn4Ue4/edit?usp=sharing" TargetMode="External"/><Relationship Id="rId4" Type="http://schemas.openxmlformats.org/officeDocument/2006/relationships/hyperlink" Target="https://docs.google.com/document/d/1yuacOq6ViCkxmPRYj_LO8UeNFF5algQ-iffRmFUX9mQ/edit?usp=sharing" TargetMode="External"/><Relationship Id="rId5" Type="http://schemas.openxmlformats.org/officeDocument/2006/relationships/hyperlink" Target="https://docs.google.com/spreadsheets/d/1CoplH23z0RwjUfW8mP4Du0Um4e9A1n3G/edit?gid=276129098#gid=276129098&amp;range=A1"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hyperlink" Target="https://docs.google.com/document/d/1-Gl1dH3izwpS78O_7mIfxn6WeFapkx-WtsbmozlRe4E/edit?usp=sharing" TargetMode="External"/><Relationship Id="rId4" Type="http://schemas.openxmlformats.org/officeDocument/2006/relationships/hyperlink" Target="https://docs.google.com/document/d/1Pn1ww2fmOaUFC5_7FHrkztKlIijAlsp2L9faQNllYk8/edit?usp=sharing"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hyperlink" Target="https://docs.google.com/document/d/1uCv7vjFSvjHKACART4OS-FrO3CSLxw1TPjdrvShGaBM/edit?usp=sharing" TargetMode="External"/><Relationship Id="rId4" Type="http://schemas.openxmlformats.org/officeDocument/2006/relationships/hyperlink" Target="https://docs.google.com/document/d/1Nt8tgIpsZZ78nWzIK_olwRnoai88ja-QeoIzuDlZNRo/edit?usp=sharing"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hyperlink" Target="https://translate.google.com/"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hyperlink" Target="https://smallpdf.com/"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hyperlink" Target="https://drive.google.com/file/d/1He_c1lrhfIGipiqd3EmtqQMq7uTqUm_W/view?usp=sharing"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hyperlink" Target="https://docs.google.com/document/d/1ODn09404tWJU9iFpby5naoEKOg7Z5Hle/edit?usp=sharing&amp;ouid=104416917441975431198&amp;rtpof=true&amp;sd=true" TargetMode="External"/><Relationship Id="rId4" Type="http://schemas.openxmlformats.org/officeDocument/2006/relationships/hyperlink" Target="https://docs.google.com/document/d/1hbad5-rsIEc9jA8YA5R5UcqjmvxvUa_U/edit?usp=sharing&amp;ouid=104416917441975431198&amp;rtpof=true&amp;sd=true"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hyperlink" Target="https://drive.google.com/file/d/16Lg_cjGYYWevQb6HcXPG2D6r5JigW3e4/view?usp=sharing"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hyperlink" Target="https://docs.google.com/spreadsheets/d/1P41SgnpqNRLUWzJZAwK5TqRvSBAKWH-w/edit?usp=sharing&amp;ouid=104416917441975431198&amp;rtpof=true&amp;sd=true"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1.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CA2F47"/>
        </a:solidFill>
      </p:bgPr>
    </p:bg>
    <p:spTree>
      <p:nvGrpSpPr>
        <p:cNvPr id="62" name="Shape 62"/>
        <p:cNvGrpSpPr/>
        <p:nvPr/>
      </p:nvGrpSpPr>
      <p:grpSpPr>
        <a:xfrm>
          <a:off x="0" y="0"/>
          <a:ext cx="0" cy="0"/>
          <a:chOff x="0" y="0"/>
          <a:chExt cx="0" cy="0"/>
        </a:xfrm>
      </p:grpSpPr>
      <p:sp>
        <p:nvSpPr>
          <p:cNvPr id="63" name="Google Shape;63;p14"/>
          <p:cNvSpPr txBox="1"/>
          <p:nvPr>
            <p:ph type="title"/>
          </p:nvPr>
        </p:nvSpPr>
        <p:spPr>
          <a:xfrm>
            <a:off x="106250" y="125569"/>
            <a:ext cx="8915400" cy="4897200"/>
          </a:xfrm>
          <a:prstGeom prst="rect">
            <a:avLst/>
          </a:prstGeom>
          <a:solidFill>
            <a:srgbClr val="FFFFFF"/>
          </a:solid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2"/>
              </a:buClr>
              <a:buSzPts val="3500"/>
              <a:buFont typeface="Manrope ExtraBold"/>
              <a:buNone/>
            </a:pPr>
            <a:r>
              <a:rPr lang="vi">
                <a:solidFill>
                  <a:schemeClr val="dk2"/>
                </a:solidFill>
              </a:rPr>
              <a:t>                             </a:t>
            </a:r>
            <a:endParaRPr>
              <a:solidFill>
                <a:schemeClr val="dk2"/>
              </a:solidFill>
            </a:endParaRPr>
          </a:p>
        </p:txBody>
      </p:sp>
      <p:sp>
        <p:nvSpPr>
          <p:cNvPr id="64" name="Google Shape;64;p14"/>
          <p:cNvSpPr txBox="1"/>
          <p:nvPr/>
        </p:nvSpPr>
        <p:spPr>
          <a:xfrm>
            <a:off x="4289100" y="3587125"/>
            <a:ext cx="3345600" cy="54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vi" sz="1200">
                <a:solidFill>
                  <a:srgbClr val="351C75"/>
                </a:solidFill>
              </a:rPr>
              <a:t>Dành cho người thông thạo tiếng Nhật</a:t>
            </a:r>
            <a:endParaRPr b="1" sz="1200">
              <a:solidFill>
                <a:srgbClr val="351C75"/>
              </a:solidFill>
            </a:endParaRPr>
          </a:p>
          <a:p>
            <a:pPr indent="0" lvl="0" marL="0" rtl="0" algn="l">
              <a:spcBef>
                <a:spcPts val="0"/>
              </a:spcBef>
              <a:spcAft>
                <a:spcPts val="0"/>
              </a:spcAft>
              <a:buNone/>
            </a:pPr>
            <a:r>
              <a:rPr b="1" lang="vi" sz="1200">
                <a:solidFill>
                  <a:srgbClr val="351C75"/>
                </a:solidFill>
              </a:rPr>
              <a:t>Mọi tài liệu trong khóa đều là tài liệu giả lập.</a:t>
            </a:r>
            <a:endParaRPr b="1" sz="1200">
              <a:solidFill>
                <a:srgbClr val="351C75"/>
              </a:solidFill>
            </a:endParaRPr>
          </a:p>
        </p:txBody>
      </p:sp>
      <p:sp>
        <p:nvSpPr>
          <p:cNvPr id="65" name="Google Shape;65;p14"/>
          <p:cNvSpPr txBox="1"/>
          <p:nvPr/>
        </p:nvSpPr>
        <p:spPr>
          <a:xfrm>
            <a:off x="4297688" y="1849277"/>
            <a:ext cx="4801800" cy="12471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vi" sz="3600">
                <a:solidFill>
                  <a:srgbClr val="351C75"/>
                </a:solidFill>
              </a:rPr>
              <a:t>Thực hành dịch cho Comtor - BrSE</a:t>
            </a:r>
            <a:endParaRPr b="1" sz="3600">
              <a:solidFill>
                <a:srgbClr val="351C75"/>
              </a:solidFill>
            </a:endParaRPr>
          </a:p>
        </p:txBody>
      </p:sp>
      <p:sp>
        <p:nvSpPr>
          <p:cNvPr id="66" name="Google Shape;66;p14"/>
          <p:cNvSpPr txBox="1"/>
          <p:nvPr/>
        </p:nvSpPr>
        <p:spPr>
          <a:xfrm>
            <a:off x="4297680" y="668884"/>
            <a:ext cx="4389000" cy="729000"/>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None/>
            </a:pPr>
            <a:r>
              <a:rPr b="1" lang="vi" sz="1800">
                <a:solidFill>
                  <a:srgbClr val="CC0000"/>
                </a:solidFill>
              </a:rPr>
              <a:t>Quỳnh Nga IT</a:t>
            </a:r>
            <a:endParaRPr b="1" sz="1800">
              <a:solidFill>
                <a:srgbClr val="CC0000"/>
              </a:solidFill>
            </a:endParaRPr>
          </a:p>
          <a:p>
            <a:pPr indent="0" lvl="0" marL="0" rtl="0" algn="l">
              <a:spcBef>
                <a:spcPts val="800"/>
              </a:spcBef>
              <a:spcAft>
                <a:spcPts val="0"/>
              </a:spcAft>
              <a:buNone/>
            </a:pPr>
            <a:r>
              <a:rPr b="1" lang="vi" sz="1800">
                <a:solidFill>
                  <a:srgbClr val="CC0000"/>
                </a:solidFill>
              </a:rPr>
              <a:t>Khởi động hành trình của bạn!</a:t>
            </a:r>
            <a:endParaRPr b="1" sz="1800">
              <a:solidFill>
                <a:srgbClr val="CC0000"/>
              </a:solidFill>
            </a:endParaRPr>
          </a:p>
        </p:txBody>
      </p:sp>
      <p:pic>
        <p:nvPicPr>
          <p:cNvPr id="67" name="Google Shape;67;p14"/>
          <p:cNvPicPr preferRelativeResize="0"/>
          <p:nvPr/>
        </p:nvPicPr>
        <p:blipFill>
          <a:blip r:embed="rId3">
            <a:alphaModFix/>
          </a:blip>
          <a:stretch>
            <a:fillRect/>
          </a:stretch>
        </p:blipFill>
        <p:spPr>
          <a:xfrm>
            <a:off x="497813" y="752888"/>
            <a:ext cx="3345568" cy="3289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nvSpPr>
        <p:spPr>
          <a:xfrm>
            <a:off x="160950" y="1934500"/>
            <a:ext cx="8822100" cy="738900"/>
          </a:xfrm>
          <a:prstGeom prst="rect">
            <a:avLst/>
          </a:prstGeom>
          <a:solidFill>
            <a:srgbClr val="CA2F47"/>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chemeClr val="lt1"/>
                </a:solidFill>
              </a:rPr>
              <a:t>Dịch thuật giao tiếp hàng ngày</a:t>
            </a:r>
            <a:endParaRPr b="1" sz="36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nvSpPr>
        <p:spPr>
          <a:xfrm>
            <a:off x="173700" y="186150"/>
            <a:ext cx="87966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600"/>
              </a:spcAft>
              <a:buClr>
                <a:schemeClr val="dk1"/>
              </a:buClr>
              <a:buSzPts val="1100"/>
              <a:buFont typeface="Arial"/>
              <a:buNone/>
            </a:pPr>
            <a:r>
              <a:rPr b="1" lang="vi" sz="3600">
                <a:solidFill>
                  <a:srgbClr val="351C75"/>
                </a:solidFill>
              </a:rPr>
              <a:t>Dịch email </a:t>
            </a:r>
            <a:endParaRPr b="1"/>
          </a:p>
        </p:txBody>
      </p:sp>
      <p:sp>
        <p:nvSpPr>
          <p:cNvPr id="78" name="Google Shape;78;p16"/>
          <p:cNvSpPr/>
          <p:nvPr/>
        </p:nvSpPr>
        <p:spPr>
          <a:xfrm>
            <a:off x="1583800" y="992950"/>
            <a:ext cx="5972700" cy="33507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vi" sz="1600">
                <a:solidFill>
                  <a:srgbClr val="351C75"/>
                </a:solidFill>
              </a:rPr>
              <a:t>Cấu trúc email:</a:t>
            </a:r>
            <a:endParaRPr b="1" sz="1600">
              <a:solidFill>
                <a:srgbClr val="351C75"/>
              </a:solidFill>
            </a:endParaRPr>
          </a:p>
          <a:p>
            <a:pPr indent="-330200" lvl="2" marL="1371600" rtl="0" algn="l">
              <a:lnSpc>
                <a:spcPct val="115000"/>
              </a:lnSpc>
              <a:spcBef>
                <a:spcPts val="1200"/>
              </a:spcBef>
              <a:spcAft>
                <a:spcPts val="0"/>
              </a:spcAft>
              <a:buClr>
                <a:srgbClr val="351C75"/>
              </a:buClr>
              <a:buSzPts val="1600"/>
              <a:buChar char="■"/>
            </a:pPr>
            <a:r>
              <a:rPr lang="vi" sz="1600">
                <a:solidFill>
                  <a:srgbClr val="351C75"/>
                </a:solidFill>
              </a:rPr>
              <a:t>件名 (Tiêu đề)</a:t>
            </a:r>
            <a:endParaRPr sz="1600">
              <a:solidFill>
                <a:srgbClr val="351C75"/>
              </a:solidFill>
            </a:endParaRPr>
          </a:p>
          <a:p>
            <a:pPr indent="-330200" lvl="2" marL="1371600" rtl="0" algn="l">
              <a:lnSpc>
                <a:spcPct val="115000"/>
              </a:lnSpc>
              <a:spcBef>
                <a:spcPts val="0"/>
              </a:spcBef>
              <a:spcAft>
                <a:spcPts val="0"/>
              </a:spcAft>
              <a:buClr>
                <a:srgbClr val="351C75"/>
              </a:buClr>
              <a:buSzPts val="1600"/>
              <a:buChar char="■"/>
            </a:pPr>
            <a:r>
              <a:rPr lang="vi" sz="1600">
                <a:solidFill>
                  <a:srgbClr val="351C75"/>
                </a:solidFill>
              </a:rPr>
              <a:t>宛名 (Người nhận)</a:t>
            </a:r>
            <a:endParaRPr sz="1600">
              <a:solidFill>
                <a:srgbClr val="351C75"/>
              </a:solidFill>
            </a:endParaRPr>
          </a:p>
          <a:p>
            <a:pPr indent="-330200" lvl="2" marL="1371600" rtl="0" algn="l">
              <a:lnSpc>
                <a:spcPct val="115000"/>
              </a:lnSpc>
              <a:spcBef>
                <a:spcPts val="0"/>
              </a:spcBef>
              <a:spcAft>
                <a:spcPts val="0"/>
              </a:spcAft>
              <a:buClr>
                <a:srgbClr val="351C75"/>
              </a:buClr>
              <a:buSzPts val="1600"/>
              <a:buChar char="■"/>
            </a:pPr>
            <a:r>
              <a:rPr lang="vi" sz="1600">
                <a:solidFill>
                  <a:srgbClr val="351C75"/>
                </a:solidFill>
              </a:rPr>
              <a:t>あいさつ (Lời chào đầu thư)</a:t>
            </a:r>
            <a:endParaRPr sz="1600">
              <a:solidFill>
                <a:srgbClr val="351C75"/>
              </a:solidFill>
            </a:endParaRPr>
          </a:p>
          <a:p>
            <a:pPr indent="-330200" lvl="2" marL="1371600" rtl="0" algn="l">
              <a:lnSpc>
                <a:spcPct val="115000"/>
              </a:lnSpc>
              <a:spcBef>
                <a:spcPts val="0"/>
              </a:spcBef>
              <a:spcAft>
                <a:spcPts val="0"/>
              </a:spcAft>
              <a:buClr>
                <a:srgbClr val="351C75"/>
              </a:buClr>
              <a:buSzPts val="1600"/>
              <a:buChar char="■"/>
            </a:pPr>
            <a:r>
              <a:rPr lang="vi" sz="1600">
                <a:solidFill>
                  <a:srgbClr val="351C75"/>
                </a:solidFill>
              </a:rPr>
              <a:t>本文 (Nội dung chính)</a:t>
            </a:r>
            <a:endParaRPr sz="1600">
              <a:solidFill>
                <a:srgbClr val="351C75"/>
              </a:solidFill>
            </a:endParaRPr>
          </a:p>
          <a:p>
            <a:pPr indent="-330200" lvl="2" marL="1371600" rtl="0" algn="l">
              <a:lnSpc>
                <a:spcPct val="115000"/>
              </a:lnSpc>
              <a:spcBef>
                <a:spcPts val="0"/>
              </a:spcBef>
              <a:spcAft>
                <a:spcPts val="0"/>
              </a:spcAft>
              <a:buClr>
                <a:srgbClr val="351C75"/>
              </a:buClr>
              <a:buSzPts val="1600"/>
              <a:buChar char="■"/>
            </a:pPr>
            <a:r>
              <a:rPr lang="vi" sz="1600">
                <a:solidFill>
                  <a:srgbClr val="351C75"/>
                </a:solidFill>
              </a:rPr>
              <a:t>末文（Kết thư)</a:t>
            </a:r>
            <a:endParaRPr sz="1600">
              <a:solidFill>
                <a:srgbClr val="351C75"/>
              </a:solidFill>
            </a:endParaRPr>
          </a:p>
          <a:p>
            <a:pPr indent="-330200" lvl="2" marL="1371600" rtl="0" algn="l">
              <a:lnSpc>
                <a:spcPct val="115000"/>
              </a:lnSpc>
              <a:spcBef>
                <a:spcPts val="0"/>
              </a:spcBef>
              <a:spcAft>
                <a:spcPts val="0"/>
              </a:spcAft>
              <a:buClr>
                <a:srgbClr val="351C75"/>
              </a:buClr>
              <a:buSzPts val="1600"/>
              <a:buChar char="■"/>
            </a:pPr>
            <a:r>
              <a:rPr lang="vi" sz="1600">
                <a:solidFill>
                  <a:srgbClr val="351C75"/>
                </a:solidFill>
              </a:rPr>
              <a:t>署名 (Chữ ký)</a:t>
            </a:r>
            <a:endParaRPr sz="1600">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7" title="Mail edit.png"/>
          <p:cNvPicPr preferRelativeResize="0"/>
          <p:nvPr/>
        </p:nvPicPr>
        <p:blipFill>
          <a:blip r:embed="rId3">
            <a:alphaModFix/>
          </a:blip>
          <a:stretch>
            <a:fillRect/>
          </a:stretch>
        </p:blipFill>
        <p:spPr>
          <a:xfrm>
            <a:off x="827225" y="336753"/>
            <a:ext cx="7620852" cy="3859550"/>
          </a:xfrm>
          <a:prstGeom prst="rect">
            <a:avLst/>
          </a:prstGeom>
          <a:noFill/>
          <a:ln>
            <a:noFill/>
          </a:ln>
        </p:spPr>
      </p:pic>
      <p:sp>
        <p:nvSpPr>
          <p:cNvPr id="84" name="Google Shape;84;p17"/>
          <p:cNvSpPr txBox="1"/>
          <p:nvPr/>
        </p:nvSpPr>
        <p:spPr>
          <a:xfrm>
            <a:off x="2252954" y="652911"/>
            <a:ext cx="4007700" cy="5097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b="1" lang="vi" sz="1204">
                <a:solidFill>
                  <a:srgbClr val="351C75"/>
                </a:solidFill>
                <a:highlight>
                  <a:srgbClr val="FEFEFE"/>
                </a:highlight>
              </a:rPr>
              <a:t>Thiết lập dạng Plain text: hiển thị ổn định trên các hệ thống mail, không lỗi format</a:t>
            </a:r>
            <a:endParaRPr b="1" sz="1204">
              <a:solidFill>
                <a:srgbClr val="351C75"/>
              </a:solidFill>
              <a:highlight>
                <a:srgbClr val="FEFEFE"/>
              </a:highlight>
            </a:endParaRPr>
          </a:p>
        </p:txBody>
      </p:sp>
      <p:sp>
        <p:nvSpPr>
          <p:cNvPr id="85" name="Google Shape;85;p17"/>
          <p:cNvSpPr txBox="1"/>
          <p:nvPr/>
        </p:nvSpPr>
        <p:spPr>
          <a:xfrm>
            <a:off x="3112573" y="1183044"/>
            <a:ext cx="13782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highlight>
                  <a:srgbClr val="FFFFFF"/>
                </a:highlight>
              </a:rPr>
              <a:t>宛先, CC, BCC</a:t>
            </a:r>
            <a:endParaRPr sz="1204">
              <a:solidFill>
                <a:srgbClr val="351C75"/>
              </a:solidFill>
              <a:highlight>
                <a:srgbClr val="FFFFFF"/>
              </a:highlight>
            </a:endParaRPr>
          </a:p>
        </p:txBody>
      </p:sp>
      <p:sp>
        <p:nvSpPr>
          <p:cNvPr id="86" name="Google Shape;86;p17"/>
          <p:cNvSpPr txBox="1"/>
          <p:nvPr/>
        </p:nvSpPr>
        <p:spPr>
          <a:xfrm>
            <a:off x="2971198" y="1528086"/>
            <a:ext cx="7317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highlight>
                  <a:srgbClr val="FFFFFF"/>
                </a:highlight>
              </a:rPr>
              <a:t>　件名</a:t>
            </a:r>
            <a:endParaRPr sz="1204">
              <a:solidFill>
                <a:srgbClr val="351C75"/>
              </a:solidFill>
              <a:highlight>
                <a:srgbClr val="FFFFFF"/>
              </a:highlight>
            </a:endParaRPr>
          </a:p>
        </p:txBody>
      </p:sp>
      <p:sp>
        <p:nvSpPr>
          <p:cNvPr id="87" name="Google Shape;87;p17"/>
          <p:cNvSpPr txBox="1"/>
          <p:nvPr/>
        </p:nvSpPr>
        <p:spPr>
          <a:xfrm>
            <a:off x="2573242" y="1866148"/>
            <a:ext cx="11295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highlight>
                  <a:srgbClr val="FFFFFF"/>
                </a:highlight>
              </a:rPr>
              <a:t>添付ファイル</a:t>
            </a:r>
            <a:endParaRPr sz="1204">
              <a:solidFill>
                <a:srgbClr val="351C75"/>
              </a:solidFill>
              <a:highlight>
                <a:srgbClr val="FFFFFF"/>
              </a:highlight>
            </a:endParaRPr>
          </a:p>
        </p:txBody>
      </p:sp>
      <p:sp>
        <p:nvSpPr>
          <p:cNvPr id="88" name="Google Shape;88;p17"/>
          <p:cNvSpPr txBox="1"/>
          <p:nvPr/>
        </p:nvSpPr>
        <p:spPr>
          <a:xfrm>
            <a:off x="1792716" y="1944888"/>
            <a:ext cx="5001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rPr>
              <a:t>宛名</a:t>
            </a:r>
            <a:endParaRPr sz="1204">
              <a:solidFill>
                <a:srgbClr val="351C75"/>
              </a:solidFill>
            </a:endParaRPr>
          </a:p>
        </p:txBody>
      </p:sp>
      <p:sp>
        <p:nvSpPr>
          <p:cNvPr id="89" name="Google Shape;89;p17"/>
          <p:cNvSpPr txBox="1"/>
          <p:nvPr/>
        </p:nvSpPr>
        <p:spPr>
          <a:xfrm>
            <a:off x="3112579" y="2218167"/>
            <a:ext cx="7770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rPr>
              <a:t>あいさつ</a:t>
            </a:r>
            <a:endParaRPr sz="1204">
              <a:solidFill>
                <a:srgbClr val="351C75"/>
              </a:solidFill>
            </a:endParaRPr>
          </a:p>
        </p:txBody>
      </p:sp>
      <p:sp>
        <p:nvSpPr>
          <p:cNvPr id="90" name="Google Shape;90;p17"/>
          <p:cNvSpPr txBox="1"/>
          <p:nvPr/>
        </p:nvSpPr>
        <p:spPr>
          <a:xfrm>
            <a:off x="3279128" y="3690885"/>
            <a:ext cx="40077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rPr>
              <a:t>署名         ➡</a:t>
            </a:r>
            <a:endParaRPr sz="1204">
              <a:solidFill>
                <a:srgbClr val="351C75"/>
              </a:solidFill>
            </a:endParaRPr>
          </a:p>
        </p:txBody>
      </p:sp>
      <p:sp>
        <p:nvSpPr>
          <p:cNvPr id="91" name="Google Shape;91;p17"/>
          <p:cNvSpPr txBox="1"/>
          <p:nvPr/>
        </p:nvSpPr>
        <p:spPr>
          <a:xfrm>
            <a:off x="3112579" y="3181328"/>
            <a:ext cx="11295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rPr>
              <a:t>末文</a:t>
            </a:r>
            <a:endParaRPr sz="1204">
              <a:solidFill>
                <a:srgbClr val="351C75"/>
              </a:solidFill>
            </a:endParaRPr>
          </a:p>
        </p:txBody>
      </p:sp>
      <p:sp>
        <p:nvSpPr>
          <p:cNvPr id="92" name="Google Shape;92;p17"/>
          <p:cNvSpPr txBox="1"/>
          <p:nvPr/>
        </p:nvSpPr>
        <p:spPr>
          <a:xfrm>
            <a:off x="3105675" y="2718262"/>
            <a:ext cx="1606500" cy="324300"/>
          </a:xfrm>
          <a:prstGeom prst="rect">
            <a:avLst/>
          </a:prstGeom>
          <a:noFill/>
          <a:ln>
            <a:noFill/>
          </a:ln>
        </p:spPr>
        <p:txBody>
          <a:bodyPr anchorCtr="0" anchor="t" bIns="68800" lIns="68800" spcFirstLastPara="1" rIns="68800" wrap="square" tIns="68800">
            <a:spAutoFit/>
          </a:bodyPr>
          <a:lstStyle/>
          <a:p>
            <a:pPr indent="0" lvl="0" marL="0" rtl="0" algn="l">
              <a:lnSpc>
                <a:spcPct val="115000"/>
              </a:lnSpc>
              <a:spcBef>
                <a:spcPts val="0"/>
              </a:spcBef>
              <a:spcAft>
                <a:spcPts val="0"/>
              </a:spcAft>
              <a:buNone/>
            </a:pPr>
            <a:r>
              <a:rPr lang="vi" sz="1204">
                <a:solidFill>
                  <a:srgbClr val="351C75"/>
                </a:solidFill>
                <a:latin typeface="Roboto Mono"/>
                <a:ea typeface="Roboto Mono"/>
                <a:cs typeface="Roboto Mono"/>
                <a:sym typeface="Roboto Mono"/>
              </a:rPr>
              <a:t>本文    　➡</a:t>
            </a:r>
            <a:endParaRPr sz="1204">
              <a:solidFill>
                <a:srgbClr val="351C75"/>
              </a:solidFill>
            </a:endParaRPr>
          </a:p>
        </p:txBody>
      </p:sp>
      <p:sp>
        <p:nvSpPr>
          <p:cNvPr id="93" name="Google Shape;93;p17"/>
          <p:cNvSpPr txBox="1"/>
          <p:nvPr/>
        </p:nvSpPr>
        <p:spPr>
          <a:xfrm>
            <a:off x="4406236" y="2140413"/>
            <a:ext cx="2880600" cy="917400"/>
          </a:xfrm>
          <a:prstGeom prst="rect">
            <a:avLst/>
          </a:prstGeom>
          <a:noFill/>
          <a:ln>
            <a:noFill/>
          </a:ln>
        </p:spPr>
        <p:txBody>
          <a:bodyPr anchorCtr="0" anchor="t" bIns="68800" lIns="68800" spcFirstLastPara="1" rIns="68800" wrap="square" tIns="68800">
            <a:spAutoFit/>
          </a:bodyPr>
          <a:lstStyle/>
          <a:p>
            <a:pPr indent="0" lvl="0" marL="0" rtl="0" algn="l">
              <a:lnSpc>
                <a:spcPct val="115000"/>
              </a:lnSpc>
              <a:spcBef>
                <a:spcPts val="0"/>
              </a:spcBef>
              <a:spcAft>
                <a:spcPts val="0"/>
              </a:spcAft>
              <a:buNone/>
            </a:pPr>
            <a:r>
              <a:rPr lang="vi" sz="903">
                <a:solidFill>
                  <a:srgbClr val="351C75"/>
                </a:solidFill>
              </a:rPr>
              <a:t>★　Chia đoạn rõ ràng, trình bày dễ đọc</a:t>
            </a:r>
            <a:endParaRPr sz="903">
              <a:solidFill>
                <a:srgbClr val="351C75"/>
              </a:solidFill>
            </a:endParaRPr>
          </a:p>
          <a:p>
            <a:pPr indent="0" lvl="0" marL="0" rtl="0" algn="l">
              <a:lnSpc>
                <a:spcPct val="115000"/>
              </a:lnSpc>
              <a:spcBef>
                <a:spcPts val="0"/>
              </a:spcBef>
              <a:spcAft>
                <a:spcPts val="0"/>
              </a:spcAft>
              <a:buNone/>
            </a:pPr>
            <a:r>
              <a:rPr lang="vi" sz="903">
                <a:solidFill>
                  <a:srgbClr val="351C75"/>
                </a:solidFill>
              </a:rPr>
              <a:t>★　Trình bày trên ⅓ hoặc ½ màn hình</a:t>
            </a:r>
            <a:endParaRPr sz="903">
              <a:solidFill>
                <a:srgbClr val="351C75"/>
              </a:solidFill>
            </a:endParaRPr>
          </a:p>
          <a:p>
            <a:pPr indent="0" lvl="0" marL="0" rtl="0" algn="l">
              <a:lnSpc>
                <a:spcPct val="115000"/>
              </a:lnSpc>
              <a:spcBef>
                <a:spcPts val="0"/>
              </a:spcBef>
              <a:spcAft>
                <a:spcPts val="0"/>
              </a:spcAft>
              <a:buNone/>
            </a:pPr>
            <a:r>
              <a:rPr lang="vi" sz="903">
                <a:solidFill>
                  <a:srgbClr val="351C75"/>
                </a:solidFill>
              </a:rPr>
              <a:t>★　Có khoảng trắng giữa các đoạn</a:t>
            </a:r>
            <a:endParaRPr sz="903">
              <a:solidFill>
                <a:srgbClr val="351C75"/>
              </a:solidFill>
            </a:endParaRPr>
          </a:p>
          <a:p>
            <a:pPr indent="0" lvl="0" marL="0" rtl="0" algn="l">
              <a:lnSpc>
                <a:spcPct val="115000"/>
              </a:lnSpc>
              <a:spcBef>
                <a:spcPts val="0"/>
              </a:spcBef>
              <a:spcAft>
                <a:spcPts val="0"/>
              </a:spcAft>
              <a:buNone/>
            </a:pPr>
            <a:r>
              <a:rPr lang="vi" sz="903">
                <a:solidFill>
                  <a:srgbClr val="351C75"/>
                </a:solidFill>
              </a:rPr>
              <a:t>★　Dùng ký hiệu khi cần ・　■　〇 　★</a:t>
            </a:r>
            <a:endParaRPr sz="903">
              <a:solidFill>
                <a:srgbClr val="351C75"/>
              </a:solidFill>
            </a:endParaRPr>
          </a:p>
          <a:p>
            <a:pPr indent="0" lvl="0" marL="0" rtl="0" algn="l">
              <a:lnSpc>
                <a:spcPct val="115000"/>
              </a:lnSpc>
              <a:spcBef>
                <a:spcPts val="0"/>
              </a:spcBef>
              <a:spcAft>
                <a:spcPts val="0"/>
              </a:spcAft>
              <a:buNone/>
            </a:pPr>
            <a:r>
              <a:rPr lang="vi" sz="903">
                <a:solidFill>
                  <a:srgbClr val="351C75"/>
                </a:solidFill>
              </a:rPr>
              <a:t>★　Trích dẫn inline khi cần.</a:t>
            </a:r>
            <a:endParaRPr sz="903">
              <a:solidFill>
                <a:srgbClr val="351C75"/>
              </a:solidFill>
            </a:endParaRPr>
          </a:p>
        </p:txBody>
      </p:sp>
      <p:sp>
        <p:nvSpPr>
          <p:cNvPr id="94" name="Google Shape;94;p17"/>
          <p:cNvSpPr txBox="1"/>
          <p:nvPr/>
        </p:nvSpPr>
        <p:spPr>
          <a:xfrm>
            <a:off x="2180345" y="462831"/>
            <a:ext cx="6017100" cy="2664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b="1" lang="vi" sz="828">
                <a:solidFill>
                  <a:srgbClr val="FF0000"/>
                </a:solidFill>
                <a:highlight>
                  <a:srgbClr val="FFFFFF"/>
                </a:highlight>
              </a:rPr>
              <a:t>Dạng HTML: tùy hệ thống có thể lỗi format, có thể chứa link ẩn, mã độc, bị xem là thiếu kinh nghiệm</a:t>
            </a:r>
            <a:endParaRPr b="1" sz="828">
              <a:solidFill>
                <a:srgbClr val="FF0000"/>
              </a:solidFill>
              <a:highlight>
                <a:srgbClr val="FFFFFF"/>
              </a:highlight>
            </a:endParaRPr>
          </a:p>
        </p:txBody>
      </p:sp>
      <p:pic>
        <p:nvPicPr>
          <p:cNvPr id="95" name="Google Shape;95;p17"/>
          <p:cNvPicPr preferRelativeResize="0"/>
          <p:nvPr/>
        </p:nvPicPr>
        <p:blipFill>
          <a:blip r:embed="rId4">
            <a:alphaModFix/>
          </a:blip>
          <a:stretch>
            <a:fillRect/>
          </a:stretch>
        </p:blipFill>
        <p:spPr>
          <a:xfrm>
            <a:off x="893081" y="3598347"/>
            <a:ext cx="2299256" cy="569901"/>
          </a:xfrm>
          <a:prstGeom prst="rect">
            <a:avLst/>
          </a:prstGeom>
          <a:noFill/>
          <a:ln>
            <a:noFill/>
          </a:ln>
        </p:spPr>
      </p:pic>
      <p:sp>
        <p:nvSpPr>
          <p:cNvPr id="96" name="Google Shape;96;p17"/>
          <p:cNvSpPr txBox="1"/>
          <p:nvPr/>
        </p:nvSpPr>
        <p:spPr>
          <a:xfrm>
            <a:off x="4571993" y="3105123"/>
            <a:ext cx="1967100" cy="11088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900">
                <a:solidFill>
                  <a:srgbClr val="351C75"/>
                </a:solidFill>
              </a:rPr>
              <a:t>Tạo và chèn chữ ký:</a:t>
            </a:r>
            <a:endParaRPr sz="900">
              <a:solidFill>
                <a:srgbClr val="351C75"/>
              </a:solidFill>
            </a:endParaRPr>
          </a:p>
          <a:p>
            <a:pPr indent="0" lvl="0" marL="0" rtl="0" algn="l">
              <a:spcBef>
                <a:spcPts val="0"/>
              </a:spcBef>
              <a:spcAft>
                <a:spcPts val="0"/>
              </a:spcAft>
              <a:buNone/>
            </a:pPr>
            <a:r>
              <a:rPr lang="vi" sz="900">
                <a:solidFill>
                  <a:srgbClr val="351C75"/>
                </a:solidFill>
              </a:rPr>
              <a:t>会社名：</a:t>
            </a:r>
            <a:endParaRPr sz="900">
              <a:solidFill>
                <a:srgbClr val="351C75"/>
              </a:solidFill>
            </a:endParaRPr>
          </a:p>
          <a:p>
            <a:pPr indent="0" lvl="0" marL="0" rtl="0" algn="l">
              <a:spcBef>
                <a:spcPts val="0"/>
              </a:spcBef>
              <a:spcAft>
                <a:spcPts val="0"/>
              </a:spcAft>
              <a:buNone/>
            </a:pPr>
            <a:r>
              <a:rPr lang="vi" sz="900">
                <a:solidFill>
                  <a:srgbClr val="351C75"/>
                </a:solidFill>
              </a:rPr>
              <a:t>部署名：</a:t>
            </a:r>
            <a:endParaRPr sz="900">
              <a:solidFill>
                <a:srgbClr val="351C75"/>
              </a:solidFill>
            </a:endParaRPr>
          </a:p>
          <a:p>
            <a:pPr indent="0" lvl="0" marL="0" rtl="0" algn="l">
              <a:spcBef>
                <a:spcPts val="0"/>
              </a:spcBef>
              <a:spcAft>
                <a:spcPts val="0"/>
              </a:spcAft>
              <a:buNone/>
            </a:pPr>
            <a:r>
              <a:rPr lang="vi" sz="900">
                <a:solidFill>
                  <a:srgbClr val="351C75"/>
                </a:solidFill>
              </a:rPr>
              <a:t>名前：</a:t>
            </a:r>
            <a:endParaRPr sz="900">
              <a:solidFill>
                <a:srgbClr val="351C75"/>
              </a:solidFill>
            </a:endParaRPr>
          </a:p>
          <a:p>
            <a:pPr indent="0" lvl="0" marL="0" rtl="0" algn="l">
              <a:spcBef>
                <a:spcPts val="0"/>
              </a:spcBef>
              <a:spcAft>
                <a:spcPts val="0"/>
              </a:spcAft>
              <a:buNone/>
            </a:pPr>
            <a:r>
              <a:rPr lang="vi" sz="900">
                <a:solidFill>
                  <a:srgbClr val="351C75"/>
                </a:solidFill>
              </a:rPr>
              <a:t>住所：</a:t>
            </a:r>
            <a:endParaRPr sz="900">
              <a:solidFill>
                <a:srgbClr val="351C75"/>
              </a:solidFill>
            </a:endParaRPr>
          </a:p>
          <a:p>
            <a:pPr indent="0" lvl="0" marL="0" rtl="0" algn="l">
              <a:spcBef>
                <a:spcPts val="0"/>
              </a:spcBef>
              <a:spcAft>
                <a:spcPts val="0"/>
              </a:spcAft>
              <a:buNone/>
            </a:pPr>
            <a:r>
              <a:rPr lang="vi" sz="900">
                <a:solidFill>
                  <a:srgbClr val="351C75"/>
                </a:solidFill>
              </a:rPr>
              <a:t>電話番号：</a:t>
            </a:r>
            <a:endParaRPr sz="900">
              <a:solidFill>
                <a:srgbClr val="351C75"/>
              </a:solidFill>
            </a:endParaRPr>
          </a:p>
          <a:p>
            <a:pPr indent="0" lvl="0" marL="0" rtl="0" algn="l">
              <a:spcBef>
                <a:spcPts val="0"/>
              </a:spcBef>
              <a:spcAft>
                <a:spcPts val="0"/>
              </a:spcAft>
              <a:buNone/>
            </a:pPr>
            <a:r>
              <a:rPr lang="vi" sz="900">
                <a:solidFill>
                  <a:srgbClr val="351C75"/>
                </a:solidFill>
              </a:rPr>
              <a:t>メールアドレス：</a:t>
            </a:r>
            <a:endParaRPr sz="900">
              <a:solidFill>
                <a:srgbClr val="351C75"/>
              </a:solidFill>
              <a:latin typeface="Roboto Mono"/>
              <a:ea typeface="Roboto Mono"/>
              <a:cs typeface="Roboto Mono"/>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nvSpPr>
        <p:spPr>
          <a:xfrm>
            <a:off x="173700" y="186150"/>
            <a:ext cx="8796600" cy="738900"/>
          </a:xfrm>
          <a:prstGeom prst="rect">
            <a:avLst/>
          </a:prstGeom>
          <a:noFill/>
          <a:ln>
            <a:noFill/>
          </a:ln>
        </p:spPr>
        <p:txBody>
          <a:bodyPr anchorCtr="0" anchor="t" bIns="91425" lIns="91425" spcFirstLastPara="1" rIns="91425" wrap="square" tIns="91425">
            <a:spAutoFit/>
          </a:bodyPr>
          <a:lstStyle/>
          <a:p>
            <a:pPr indent="0" lvl="0" marL="914400" rtl="0" algn="ctr">
              <a:lnSpc>
                <a:spcPct val="115000"/>
              </a:lnSpc>
              <a:spcBef>
                <a:spcPts val="1200"/>
              </a:spcBef>
              <a:spcAft>
                <a:spcPts val="1200"/>
              </a:spcAft>
              <a:buClr>
                <a:schemeClr val="dk1"/>
              </a:buClr>
              <a:buSzPts val="1100"/>
              <a:buFont typeface="Arial"/>
              <a:buNone/>
            </a:pPr>
            <a:r>
              <a:rPr b="1" lang="vi" sz="3600">
                <a:solidFill>
                  <a:srgbClr val="351C75"/>
                </a:solidFill>
              </a:rPr>
              <a:t>件名 (tiêu đề</a:t>
            </a:r>
            <a:r>
              <a:rPr b="1" lang="vi" sz="3600">
                <a:solidFill>
                  <a:srgbClr val="351C75"/>
                </a:solidFill>
              </a:rPr>
              <a:t>)</a:t>
            </a:r>
            <a:endParaRPr b="1"/>
          </a:p>
        </p:txBody>
      </p:sp>
      <p:sp>
        <p:nvSpPr>
          <p:cNvPr id="102" name="Google Shape;102;p18"/>
          <p:cNvSpPr/>
          <p:nvPr/>
        </p:nvSpPr>
        <p:spPr>
          <a:xfrm>
            <a:off x="512000" y="1015350"/>
            <a:ext cx="8115300" cy="33507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vi" sz="1200">
                <a:solidFill>
                  <a:srgbClr val="351C75"/>
                </a:solidFill>
              </a:rPr>
              <a:t>🔹 Là cụm danh từ hoặc dạng danh từ hóa</a:t>
            </a:r>
            <a:r>
              <a:rPr lang="vi" sz="1200">
                <a:solidFill>
                  <a:srgbClr val="351C75"/>
                </a:solidFill>
              </a:rPr>
              <a:t> câu</a:t>
            </a:r>
            <a:endParaRPr sz="1200">
              <a:solidFill>
                <a:srgbClr val="351C75"/>
              </a:solidFill>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rPr>
              <a:t>🔹 Không viết câu hoàn chỉnh.</a:t>
            </a:r>
            <a:endParaRPr sz="1200">
              <a:solidFill>
                <a:srgbClr val="351C75"/>
              </a:solidFill>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rPr>
              <a:t>      Rõ ràng – dễ hiểu – sát nội dung mail. </a:t>
            </a:r>
            <a:endParaRPr sz="1200">
              <a:solidFill>
                <a:srgbClr val="351C75"/>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51C75"/>
              </a:solidFill>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rPr>
              <a:t>	X：仕様書を送付させていただきます</a:t>
            </a:r>
            <a:endParaRPr sz="1200">
              <a:solidFill>
                <a:srgbClr val="351C75"/>
              </a:solidFill>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rPr>
              <a:t>	O：仕様書送付の件　/　仕様書送付の件について / 仕様書送付のご連絡</a:t>
            </a:r>
            <a:endParaRPr sz="1200">
              <a:solidFill>
                <a:srgbClr val="351C75"/>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51C75"/>
              </a:solidFill>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rPr>
              <a:t>	X：テスト実施日程を相談する</a:t>
            </a:r>
            <a:endParaRPr sz="1200">
              <a:solidFill>
                <a:srgbClr val="351C75"/>
              </a:solidFill>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rPr>
              <a:t>	O：テスト実施日程のご相談</a:t>
            </a:r>
            <a:endParaRPr sz="1200">
              <a:solidFill>
                <a:srgbClr val="351C75"/>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51C75"/>
              </a:solidFill>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rPr>
              <a:t>🔹 Để dễ tìm kiếm bằng từ khóa, có thể thêm 【プロジェクト名】</a:t>
            </a:r>
            <a:endParaRPr sz="1200">
              <a:solidFill>
                <a:srgbClr val="351C75"/>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51C75"/>
              </a:solidFill>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rPr>
              <a:t>	Title:【AIOCR プロジェクト】テスト実施日程のご相談</a:t>
            </a:r>
            <a:endParaRPr sz="1200">
              <a:solidFill>
                <a:srgbClr val="351C75"/>
              </a:solidFill>
            </a:endParaRPr>
          </a:p>
          <a:p>
            <a:pPr indent="0" lvl="0" marL="0" rtl="0" algn="l">
              <a:lnSpc>
                <a:spcPct val="115000"/>
              </a:lnSpc>
              <a:spcBef>
                <a:spcPts val="0"/>
              </a:spcBef>
              <a:spcAft>
                <a:spcPts val="0"/>
              </a:spcAft>
              <a:buNone/>
            </a:pPr>
            <a:r>
              <a:rPr lang="vi" sz="1200">
                <a:solidFill>
                  <a:srgbClr val="351C75"/>
                </a:solidFill>
              </a:rPr>
              <a:t> 	        【LMS研修】納品日程のご変更について</a:t>
            </a:r>
            <a:endParaRPr b="1" sz="1200">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nvSpPr>
        <p:spPr>
          <a:xfrm>
            <a:off x="1959894" y="354350"/>
            <a:ext cx="4962900" cy="687000"/>
          </a:xfrm>
          <a:prstGeom prst="rect">
            <a:avLst/>
          </a:prstGeom>
          <a:noFill/>
          <a:ln>
            <a:noFill/>
          </a:ln>
        </p:spPr>
        <p:txBody>
          <a:bodyPr anchorCtr="0" anchor="t" bIns="65850" lIns="65850" spcFirstLastPara="1" rIns="65850" wrap="square" tIns="65850">
            <a:spAutoFit/>
          </a:bodyPr>
          <a:lstStyle/>
          <a:p>
            <a:pPr indent="0" lvl="0" marL="0" rtl="0" algn="ctr">
              <a:lnSpc>
                <a:spcPct val="115000"/>
              </a:lnSpc>
              <a:spcBef>
                <a:spcPts val="865"/>
              </a:spcBef>
              <a:spcAft>
                <a:spcPts val="865"/>
              </a:spcAft>
              <a:buNone/>
            </a:pPr>
            <a:r>
              <a:rPr b="1" lang="vi" sz="3600">
                <a:solidFill>
                  <a:srgbClr val="351C75"/>
                </a:solidFill>
              </a:rPr>
              <a:t>Đầu thư và Kết thư</a:t>
            </a:r>
            <a:endParaRPr b="1" sz="3600">
              <a:solidFill>
                <a:srgbClr val="351C75"/>
              </a:solidFill>
            </a:endParaRPr>
          </a:p>
        </p:txBody>
      </p:sp>
      <p:sp>
        <p:nvSpPr>
          <p:cNvPr id="108" name="Google Shape;108;p19"/>
          <p:cNvSpPr/>
          <p:nvPr/>
        </p:nvSpPr>
        <p:spPr>
          <a:xfrm>
            <a:off x="698850" y="977794"/>
            <a:ext cx="7746300" cy="3323400"/>
          </a:xfrm>
          <a:prstGeom prst="roundRect">
            <a:avLst>
              <a:gd fmla="val 16667" name="adj"/>
            </a:avLst>
          </a:prstGeom>
          <a:solidFill>
            <a:srgbClr val="FFF5F5"/>
          </a:solidFill>
          <a:ln cap="flat" cmpd="sng" w="6875">
            <a:solidFill>
              <a:srgbClr val="FFFFFF"/>
            </a:solidFill>
            <a:prstDash val="solid"/>
            <a:round/>
            <a:headEnd len="sm" w="sm" type="none"/>
            <a:tailEnd len="sm" w="sm" type="none"/>
          </a:ln>
        </p:spPr>
        <p:txBody>
          <a:bodyPr anchorCtr="0" anchor="ctr" bIns="65850" lIns="65850" spcFirstLastPara="1" rIns="65850" wrap="square" tIns="65850">
            <a:noAutofit/>
          </a:bodyPr>
          <a:lstStyle/>
          <a:p>
            <a:pPr indent="0" lvl="0" marL="0" rtl="0" algn="l">
              <a:lnSpc>
                <a:spcPct val="115000"/>
              </a:lnSpc>
              <a:spcBef>
                <a:spcPts val="865"/>
              </a:spcBef>
              <a:spcAft>
                <a:spcPts val="0"/>
              </a:spcAft>
              <a:buClr>
                <a:srgbClr val="000000"/>
              </a:buClr>
              <a:buSzPts val="793"/>
              <a:buFont typeface="Arial"/>
              <a:buNone/>
            </a:pPr>
            <a:r>
              <a:rPr b="1" lang="vi" sz="1200">
                <a:solidFill>
                  <a:srgbClr val="351C75"/>
                </a:solidFill>
              </a:rPr>
              <a:t>あいさつ / Lời chào đầu thư</a:t>
            </a:r>
            <a:endParaRPr b="1" sz="1200">
              <a:solidFill>
                <a:srgbClr val="351C75"/>
              </a:solidFill>
            </a:endParaRPr>
          </a:p>
          <a:p>
            <a:pPr indent="0" lvl="0" marL="0" rtl="0" algn="l">
              <a:lnSpc>
                <a:spcPct val="115000"/>
              </a:lnSpc>
              <a:spcBef>
                <a:spcPts val="865"/>
              </a:spcBef>
              <a:spcAft>
                <a:spcPts val="0"/>
              </a:spcAft>
              <a:buClr>
                <a:srgbClr val="000000"/>
              </a:buClr>
              <a:buSzPts val="793"/>
              <a:buFont typeface="Arial"/>
              <a:buNone/>
            </a:pPr>
            <a:r>
              <a:rPr b="1" lang="vi" sz="1200">
                <a:solidFill>
                  <a:srgbClr val="351C75"/>
                </a:solidFill>
              </a:rPr>
              <a:t>Lời chào lịch sự</a:t>
            </a:r>
            <a:endParaRPr b="1" sz="1200">
              <a:solidFill>
                <a:srgbClr val="351C75"/>
              </a:solidFill>
            </a:endParaRPr>
          </a:p>
          <a:p>
            <a:pPr indent="0" lvl="0" marL="0" rtl="0" algn="l">
              <a:lnSpc>
                <a:spcPct val="115000"/>
              </a:lnSpc>
              <a:spcBef>
                <a:spcPts val="0"/>
              </a:spcBef>
              <a:spcAft>
                <a:spcPts val="0"/>
              </a:spcAft>
              <a:buClr>
                <a:srgbClr val="000000"/>
              </a:buClr>
              <a:buSzPts val="793"/>
              <a:buFont typeface="Arial"/>
              <a:buNone/>
            </a:pPr>
            <a:r>
              <a:rPr lang="vi" sz="1200">
                <a:solidFill>
                  <a:srgbClr val="351C75"/>
                </a:solidFill>
              </a:rPr>
              <a:t>いつもお世話になっております。/お世話になっております。/お疲れ様です。</a:t>
            </a:r>
            <a:endParaRPr sz="1200">
              <a:solidFill>
                <a:srgbClr val="351C75"/>
              </a:solidFill>
            </a:endParaRPr>
          </a:p>
          <a:p>
            <a:pPr indent="0" lvl="0" marL="0" rtl="0" algn="l">
              <a:lnSpc>
                <a:spcPct val="115000"/>
              </a:lnSpc>
              <a:spcBef>
                <a:spcPts val="0"/>
              </a:spcBef>
              <a:spcAft>
                <a:spcPts val="0"/>
              </a:spcAft>
              <a:buClr>
                <a:srgbClr val="000000"/>
              </a:buClr>
              <a:buSzPts val="793"/>
              <a:buFont typeface="Arial"/>
              <a:buNone/>
            </a:pPr>
            <a:r>
              <a:rPr b="1" lang="vi" sz="1200">
                <a:solidFill>
                  <a:srgbClr val="351C75"/>
                </a:solidFill>
              </a:rPr>
              <a:t>Tên + giới thiệu công ty/đơn vị mình thuộc về</a:t>
            </a:r>
            <a:endParaRPr b="1" sz="1200">
              <a:solidFill>
                <a:srgbClr val="351C75"/>
              </a:solidFill>
            </a:endParaRPr>
          </a:p>
          <a:p>
            <a:pPr indent="0" lvl="0" marL="0" rtl="0" algn="l">
              <a:lnSpc>
                <a:spcPct val="115000"/>
              </a:lnSpc>
              <a:spcBef>
                <a:spcPts val="0"/>
              </a:spcBef>
              <a:spcAft>
                <a:spcPts val="0"/>
              </a:spcAft>
              <a:buClr>
                <a:srgbClr val="000000"/>
              </a:buClr>
              <a:buSzPts val="793"/>
              <a:buFont typeface="Arial"/>
              <a:buNone/>
            </a:pPr>
            <a:r>
              <a:rPr lang="vi" sz="1200">
                <a:solidFill>
                  <a:srgbClr val="351C75"/>
                </a:solidFill>
              </a:rPr>
              <a:t>株式会社ABCの山田でございます。/株式会社ABC 営業部の山田です。</a:t>
            </a:r>
            <a:endParaRPr sz="1200">
              <a:solidFill>
                <a:srgbClr val="351C75"/>
              </a:solidFill>
            </a:endParaRPr>
          </a:p>
          <a:p>
            <a:pPr indent="0" lvl="0" marL="0" rtl="0" algn="l">
              <a:lnSpc>
                <a:spcPct val="115000"/>
              </a:lnSpc>
              <a:spcBef>
                <a:spcPts val="0"/>
              </a:spcBef>
              <a:spcAft>
                <a:spcPts val="0"/>
              </a:spcAft>
              <a:buClr>
                <a:srgbClr val="000000"/>
              </a:buClr>
              <a:buSzPts val="793"/>
              <a:buFont typeface="Arial"/>
              <a:buNone/>
            </a:pPr>
            <a:r>
              <a:t/>
            </a:r>
            <a:endParaRPr sz="1200">
              <a:solidFill>
                <a:srgbClr val="351C75"/>
              </a:solidFill>
            </a:endParaRPr>
          </a:p>
          <a:p>
            <a:pPr indent="0" lvl="0" marL="0" rtl="0" algn="l">
              <a:lnSpc>
                <a:spcPct val="115000"/>
              </a:lnSpc>
              <a:spcBef>
                <a:spcPts val="0"/>
              </a:spcBef>
              <a:spcAft>
                <a:spcPts val="0"/>
              </a:spcAft>
              <a:buClr>
                <a:srgbClr val="000000"/>
              </a:buClr>
              <a:buSzPts val="793"/>
              <a:buFont typeface="Arial"/>
              <a:buNone/>
            </a:pPr>
            <a:r>
              <a:rPr lang="vi" sz="1200">
                <a:solidFill>
                  <a:srgbClr val="351C75"/>
                </a:solidFill>
              </a:rPr>
              <a:t>🟡 Việc bắt đầu email bằng lời chào là bắt buộc, ngay cả khi nội dung gấp.</a:t>
            </a:r>
            <a:endParaRPr sz="1200">
              <a:solidFill>
                <a:srgbClr val="351C75"/>
              </a:solidFill>
            </a:endParaRPr>
          </a:p>
          <a:p>
            <a:pPr indent="0" lvl="0" marL="0" rtl="0" algn="l">
              <a:lnSpc>
                <a:spcPct val="115000"/>
              </a:lnSpc>
              <a:spcBef>
                <a:spcPts val="0"/>
              </a:spcBef>
              <a:spcAft>
                <a:spcPts val="0"/>
              </a:spcAft>
              <a:buClr>
                <a:srgbClr val="000000"/>
              </a:buClr>
              <a:buSzPts val="793"/>
              <a:buFont typeface="Arial"/>
              <a:buNone/>
            </a:pPr>
            <a:r>
              <a:rPr lang="vi" sz="1200">
                <a:solidFill>
                  <a:srgbClr val="351C75"/>
                </a:solidFill>
              </a:rPr>
              <a:t>🟡 Không có lời chào đầu thư = thiếu phép lịch sự / mail chưa chuyên nghiệp</a:t>
            </a:r>
            <a:r>
              <a:rPr i="1" lang="vi" sz="1200">
                <a:solidFill>
                  <a:srgbClr val="351C75"/>
                </a:solidFill>
              </a:rPr>
              <a:t>.</a:t>
            </a:r>
            <a:endParaRPr i="1" sz="1200">
              <a:solidFill>
                <a:srgbClr val="351C75"/>
              </a:solidFill>
            </a:endParaRPr>
          </a:p>
          <a:p>
            <a:pPr indent="0" lvl="0" marL="0" rtl="0" algn="l">
              <a:lnSpc>
                <a:spcPct val="115000"/>
              </a:lnSpc>
              <a:spcBef>
                <a:spcPts val="0"/>
              </a:spcBef>
              <a:spcAft>
                <a:spcPts val="0"/>
              </a:spcAft>
              <a:buClr>
                <a:srgbClr val="000000"/>
              </a:buClr>
              <a:buSzPts val="793"/>
              <a:buFont typeface="Arial"/>
              <a:buNone/>
            </a:pPr>
            <a:r>
              <a:t/>
            </a:r>
            <a:endParaRPr i="1" sz="1200">
              <a:solidFill>
                <a:srgbClr val="351C75"/>
              </a:solidFill>
            </a:endParaRPr>
          </a:p>
          <a:p>
            <a:pPr indent="0" lvl="0" marL="0" rtl="0" algn="l">
              <a:lnSpc>
                <a:spcPct val="115000"/>
              </a:lnSpc>
              <a:spcBef>
                <a:spcPts val="865"/>
              </a:spcBef>
              <a:spcAft>
                <a:spcPts val="0"/>
              </a:spcAft>
              <a:buClr>
                <a:srgbClr val="000000"/>
              </a:buClr>
              <a:buSzPts val="793"/>
              <a:buFont typeface="Arial"/>
              <a:buNone/>
            </a:pPr>
            <a:r>
              <a:rPr b="1" lang="vi" sz="1200">
                <a:solidFill>
                  <a:srgbClr val="351C75"/>
                </a:solidFill>
              </a:rPr>
              <a:t>文末 /Kết thư</a:t>
            </a:r>
            <a:endParaRPr b="1" sz="1200">
              <a:solidFill>
                <a:srgbClr val="351C75"/>
              </a:solidFill>
            </a:endParaRPr>
          </a:p>
          <a:p>
            <a:pPr indent="0" lvl="0" marL="0" rtl="0" algn="l">
              <a:lnSpc>
                <a:spcPct val="115000"/>
              </a:lnSpc>
              <a:spcBef>
                <a:spcPts val="865"/>
              </a:spcBef>
              <a:spcAft>
                <a:spcPts val="0"/>
              </a:spcAft>
              <a:buClr>
                <a:srgbClr val="000000"/>
              </a:buClr>
              <a:buSzPts val="793"/>
              <a:buFont typeface="Arial"/>
              <a:buNone/>
            </a:pPr>
            <a:r>
              <a:rPr lang="vi" sz="1200">
                <a:solidFill>
                  <a:srgbClr val="351C75"/>
                </a:solidFill>
              </a:rPr>
              <a:t>ご確認お願いいたします。</a:t>
            </a:r>
            <a:endParaRPr sz="1200">
              <a:solidFill>
                <a:srgbClr val="351C75"/>
              </a:solidFill>
            </a:endParaRPr>
          </a:p>
          <a:p>
            <a:pPr indent="0" lvl="0" marL="0" rtl="0" algn="l">
              <a:lnSpc>
                <a:spcPct val="115000"/>
              </a:lnSpc>
              <a:spcBef>
                <a:spcPts val="0"/>
              </a:spcBef>
              <a:spcAft>
                <a:spcPts val="0"/>
              </a:spcAft>
              <a:buClr>
                <a:srgbClr val="000000"/>
              </a:buClr>
              <a:buSzPts val="793"/>
              <a:buFont typeface="Arial"/>
              <a:buNone/>
            </a:pPr>
            <a:r>
              <a:rPr lang="vi" sz="1200">
                <a:solidFill>
                  <a:srgbClr val="351C75"/>
                </a:solidFill>
              </a:rPr>
              <a:t>引き続きよろしくお願いいたします。</a:t>
            </a:r>
            <a:endParaRPr sz="1200">
              <a:solidFill>
                <a:srgbClr val="351C75"/>
              </a:solidFill>
            </a:endParaRPr>
          </a:p>
          <a:p>
            <a:pPr indent="0" lvl="0" marL="0" rtl="0" algn="l">
              <a:lnSpc>
                <a:spcPct val="115000"/>
              </a:lnSpc>
              <a:spcBef>
                <a:spcPts val="0"/>
              </a:spcBef>
              <a:spcAft>
                <a:spcPts val="0"/>
              </a:spcAft>
              <a:buClr>
                <a:srgbClr val="000000"/>
              </a:buClr>
              <a:buSzPts val="793"/>
              <a:buFont typeface="Arial"/>
              <a:buNone/>
            </a:pPr>
            <a:r>
              <a:rPr lang="vi" sz="1200">
                <a:solidFill>
                  <a:srgbClr val="351C75"/>
                </a:solidFill>
              </a:rPr>
              <a:t>お忙しいところ恐れ入りますが、よろしくお願いいたします。</a:t>
            </a:r>
            <a:endParaRPr b="1" sz="1200">
              <a:solidFill>
                <a:srgbClr val="351C75"/>
              </a:solidFill>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0" title="Mail edit.png"/>
          <p:cNvPicPr preferRelativeResize="0"/>
          <p:nvPr/>
        </p:nvPicPr>
        <p:blipFill>
          <a:blip r:embed="rId3">
            <a:alphaModFix/>
          </a:blip>
          <a:stretch>
            <a:fillRect/>
          </a:stretch>
        </p:blipFill>
        <p:spPr>
          <a:xfrm>
            <a:off x="827225" y="336753"/>
            <a:ext cx="7620852" cy="3859550"/>
          </a:xfrm>
          <a:prstGeom prst="rect">
            <a:avLst/>
          </a:prstGeom>
          <a:noFill/>
          <a:ln>
            <a:noFill/>
          </a:ln>
        </p:spPr>
      </p:pic>
      <p:sp>
        <p:nvSpPr>
          <p:cNvPr id="114" name="Google Shape;114;p20"/>
          <p:cNvSpPr txBox="1"/>
          <p:nvPr/>
        </p:nvSpPr>
        <p:spPr>
          <a:xfrm>
            <a:off x="2252954" y="652911"/>
            <a:ext cx="4007700" cy="5097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b="1" lang="vi" sz="1204">
                <a:solidFill>
                  <a:srgbClr val="351C75"/>
                </a:solidFill>
                <a:highlight>
                  <a:srgbClr val="FEFEFE"/>
                </a:highlight>
              </a:rPr>
              <a:t>Thiết lập dạng Plain text: hiển thị ổn định trên các hệ thống mail, không lỗi format</a:t>
            </a:r>
            <a:endParaRPr b="1" sz="1204">
              <a:solidFill>
                <a:srgbClr val="351C75"/>
              </a:solidFill>
              <a:highlight>
                <a:srgbClr val="FEFEFE"/>
              </a:highlight>
            </a:endParaRPr>
          </a:p>
        </p:txBody>
      </p:sp>
      <p:sp>
        <p:nvSpPr>
          <p:cNvPr id="115" name="Google Shape;115;p20"/>
          <p:cNvSpPr txBox="1"/>
          <p:nvPr/>
        </p:nvSpPr>
        <p:spPr>
          <a:xfrm>
            <a:off x="3112573" y="1183044"/>
            <a:ext cx="13782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highlight>
                  <a:srgbClr val="FFFFFF"/>
                </a:highlight>
              </a:rPr>
              <a:t>宛先, CC, BCC</a:t>
            </a:r>
            <a:endParaRPr sz="1204">
              <a:solidFill>
                <a:srgbClr val="351C75"/>
              </a:solidFill>
              <a:highlight>
                <a:srgbClr val="FFFFFF"/>
              </a:highlight>
            </a:endParaRPr>
          </a:p>
        </p:txBody>
      </p:sp>
      <p:sp>
        <p:nvSpPr>
          <p:cNvPr id="116" name="Google Shape;116;p20"/>
          <p:cNvSpPr txBox="1"/>
          <p:nvPr/>
        </p:nvSpPr>
        <p:spPr>
          <a:xfrm>
            <a:off x="2971198" y="1528086"/>
            <a:ext cx="7317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highlight>
                  <a:srgbClr val="FFFFFF"/>
                </a:highlight>
              </a:rPr>
              <a:t>　件名</a:t>
            </a:r>
            <a:endParaRPr sz="1204">
              <a:solidFill>
                <a:srgbClr val="351C75"/>
              </a:solidFill>
              <a:highlight>
                <a:srgbClr val="FFFFFF"/>
              </a:highlight>
            </a:endParaRPr>
          </a:p>
        </p:txBody>
      </p:sp>
      <p:sp>
        <p:nvSpPr>
          <p:cNvPr id="117" name="Google Shape;117;p20"/>
          <p:cNvSpPr txBox="1"/>
          <p:nvPr/>
        </p:nvSpPr>
        <p:spPr>
          <a:xfrm>
            <a:off x="2573242" y="1866148"/>
            <a:ext cx="11295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highlight>
                  <a:srgbClr val="FFFFFF"/>
                </a:highlight>
              </a:rPr>
              <a:t>添付ファイル</a:t>
            </a:r>
            <a:endParaRPr sz="1204">
              <a:solidFill>
                <a:srgbClr val="351C75"/>
              </a:solidFill>
              <a:highlight>
                <a:srgbClr val="FFFFFF"/>
              </a:highlight>
            </a:endParaRPr>
          </a:p>
        </p:txBody>
      </p:sp>
      <p:sp>
        <p:nvSpPr>
          <p:cNvPr id="118" name="Google Shape;118;p20"/>
          <p:cNvSpPr txBox="1"/>
          <p:nvPr/>
        </p:nvSpPr>
        <p:spPr>
          <a:xfrm>
            <a:off x="1792716" y="1944888"/>
            <a:ext cx="5001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rPr>
              <a:t>宛名</a:t>
            </a:r>
            <a:endParaRPr sz="1204">
              <a:solidFill>
                <a:srgbClr val="351C75"/>
              </a:solidFill>
            </a:endParaRPr>
          </a:p>
        </p:txBody>
      </p:sp>
      <p:sp>
        <p:nvSpPr>
          <p:cNvPr id="119" name="Google Shape;119;p20"/>
          <p:cNvSpPr txBox="1"/>
          <p:nvPr/>
        </p:nvSpPr>
        <p:spPr>
          <a:xfrm>
            <a:off x="3112579" y="2218167"/>
            <a:ext cx="7770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rPr>
              <a:t>あいさつ</a:t>
            </a:r>
            <a:endParaRPr sz="1204">
              <a:solidFill>
                <a:srgbClr val="351C75"/>
              </a:solidFill>
            </a:endParaRPr>
          </a:p>
        </p:txBody>
      </p:sp>
      <p:sp>
        <p:nvSpPr>
          <p:cNvPr id="120" name="Google Shape;120;p20"/>
          <p:cNvSpPr txBox="1"/>
          <p:nvPr/>
        </p:nvSpPr>
        <p:spPr>
          <a:xfrm>
            <a:off x="3279128" y="3690885"/>
            <a:ext cx="40077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rPr>
              <a:t>署名         ➡</a:t>
            </a:r>
            <a:endParaRPr sz="1204">
              <a:solidFill>
                <a:srgbClr val="351C75"/>
              </a:solidFill>
            </a:endParaRPr>
          </a:p>
        </p:txBody>
      </p:sp>
      <p:sp>
        <p:nvSpPr>
          <p:cNvPr id="121" name="Google Shape;121;p20"/>
          <p:cNvSpPr txBox="1"/>
          <p:nvPr/>
        </p:nvSpPr>
        <p:spPr>
          <a:xfrm>
            <a:off x="3112579" y="3181328"/>
            <a:ext cx="1129500" cy="3243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1204">
                <a:solidFill>
                  <a:srgbClr val="351C75"/>
                </a:solidFill>
              </a:rPr>
              <a:t>末文</a:t>
            </a:r>
            <a:endParaRPr sz="1204">
              <a:solidFill>
                <a:srgbClr val="351C75"/>
              </a:solidFill>
            </a:endParaRPr>
          </a:p>
        </p:txBody>
      </p:sp>
      <p:sp>
        <p:nvSpPr>
          <p:cNvPr id="122" name="Google Shape;122;p20"/>
          <p:cNvSpPr txBox="1"/>
          <p:nvPr/>
        </p:nvSpPr>
        <p:spPr>
          <a:xfrm>
            <a:off x="3105675" y="2718262"/>
            <a:ext cx="1606500" cy="324300"/>
          </a:xfrm>
          <a:prstGeom prst="rect">
            <a:avLst/>
          </a:prstGeom>
          <a:noFill/>
          <a:ln>
            <a:noFill/>
          </a:ln>
        </p:spPr>
        <p:txBody>
          <a:bodyPr anchorCtr="0" anchor="t" bIns="68800" lIns="68800" spcFirstLastPara="1" rIns="68800" wrap="square" tIns="68800">
            <a:spAutoFit/>
          </a:bodyPr>
          <a:lstStyle/>
          <a:p>
            <a:pPr indent="0" lvl="0" marL="0" rtl="0" algn="l">
              <a:lnSpc>
                <a:spcPct val="115000"/>
              </a:lnSpc>
              <a:spcBef>
                <a:spcPts val="0"/>
              </a:spcBef>
              <a:spcAft>
                <a:spcPts val="0"/>
              </a:spcAft>
              <a:buNone/>
            </a:pPr>
            <a:r>
              <a:rPr lang="vi" sz="1204">
                <a:solidFill>
                  <a:srgbClr val="351C75"/>
                </a:solidFill>
                <a:latin typeface="Roboto Mono"/>
                <a:ea typeface="Roboto Mono"/>
                <a:cs typeface="Roboto Mono"/>
                <a:sym typeface="Roboto Mono"/>
              </a:rPr>
              <a:t>本文    　➡</a:t>
            </a:r>
            <a:endParaRPr sz="1204">
              <a:solidFill>
                <a:srgbClr val="351C75"/>
              </a:solidFill>
            </a:endParaRPr>
          </a:p>
        </p:txBody>
      </p:sp>
      <p:sp>
        <p:nvSpPr>
          <p:cNvPr id="123" name="Google Shape;123;p20"/>
          <p:cNvSpPr txBox="1"/>
          <p:nvPr/>
        </p:nvSpPr>
        <p:spPr>
          <a:xfrm>
            <a:off x="4406224" y="2140425"/>
            <a:ext cx="3175500" cy="917400"/>
          </a:xfrm>
          <a:prstGeom prst="rect">
            <a:avLst/>
          </a:prstGeom>
          <a:noFill/>
          <a:ln>
            <a:noFill/>
          </a:ln>
        </p:spPr>
        <p:txBody>
          <a:bodyPr anchorCtr="0" anchor="t" bIns="68800" lIns="68800" spcFirstLastPara="1" rIns="68800" wrap="square" tIns="68800">
            <a:spAutoFit/>
          </a:bodyPr>
          <a:lstStyle/>
          <a:p>
            <a:pPr indent="0" lvl="0" marL="0" rtl="0" algn="l">
              <a:lnSpc>
                <a:spcPct val="115000"/>
              </a:lnSpc>
              <a:spcBef>
                <a:spcPts val="0"/>
              </a:spcBef>
              <a:spcAft>
                <a:spcPts val="0"/>
              </a:spcAft>
              <a:buNone/>
            </a:pPr>
            <a:r>
              <a:rPr lang="vi" sz="903">
                <a:solidFill>
                  <a:srgbClr val="351C75"/>
                </a:solidFill>
              </a:rPr>
              <a:t>★　Chia đoạn rõ ràng, trình bày logic từng phần dễ đọc</a:t>
            </a:r>
            <a:endParaRPr sz="903">
              <a:solidFill>
                <a:srgbClr val="351C75"/>
              </a:solidFill>
            </a:endParaRPr>
          </a:p>
          <a:p>
            <a:pPr indent="0" lvl="0" marL="0" rtl="0" algn="l">
              <a:lnSpc>
                <a:spcPct val="115000"/>
              </a:lnSpc>
              <a:spcBef>
                <a:spcPts val="0"/>
              </a:spcBef>
              <a:spcAft>
                <a:spcPts val="0"/>
              </a:spcAft>
              <a:buClr>
                <a:schemeClr val="dk1"/>
              </a:buClr>
              <a:buSzPts val="1100"/>
              <a:buFont typeface="Arial"/>
              <a:buNone/>
            </a:pPr>
            <a:r>
              <a:rPr lang="vi" sz="903">
                <a:solidFill>
                  <a:srgbClr val="351C75"/>
                </a:solidFill>
              </a:rPr>
              <a:t>★　Có khoảng trắng giữa các đoạn</a:t>
            </a:r>
            <a:endParaRPr sz="903">
              <a:solidFill>
                <a:srgbClr val="351C75"/>
              </a:solidFill>
            </a:endParaRPr>
          </a:p>
          <a:p>
            <a:pPr indent="0" lvl="0" marL="0" rtl="0" algn="l">
              <a:lnSpc>
                <a:spcPct val="115000"/>
              </a:lnSpc>
              <a:spcBef>
                <a:spcPts val="0"/>
              </a:spcBef>
              <a:spcAft>
                <a:spcPts val="0"/>
              </a:spcAft>
              <a:buNone/>
            </a:pPr>
            <a:r>
              <a:rPr lang="vi" sz="903">
                <a:solidFill>
                  <a:srgbClr val="351C75"/>
                </a:solidFill>
              </a:rPr>
              <a:t>★　Trình bày trên ⅓ hoặc ½ màn hình</a:t>
            </a:r>
            <a:endParaRPr sz="903">
              <a:solidFill>
                <a:srgbClr val="351C75"/>
              </a:solidFill>
            </a:endParaRPr>
          </a:p>
          <a:p>
            <a:pPr indent="0" lvl="0" marL="0" rtl="0" algn="l">
              <a:lnSpc>
                <a:spcPct val="115000"/>
              </a:lnSpc>
              <a:spcBef>
                <a:spcPts val="0"/>
              </a:spcBef>
              <a:spcAft>
                <a:spcPts val="0"/>
              </a:spcAft>
              <a:buNone/>
            </a:pPr>
            <a:r>
              <a:rPr lang="vi" sz="903">
                <a:solidFill>
                  <a:srgbClr val="351C75"/>
                </a:solidFill>
              </a:rPr>
              <a:t>★　Dùng ký hiệu khi cần ・　■　〇 　★</a:t>
            </a:r>
            <a:endParaRPr sz="903">
              <a:solidFill>
                <a:srgbClr val="351C75"/>
              </a:solidFill>
            </a:endParaRPr>
          </a:p>
          <a:p>
            <a:pPr indent="0" lvl="0" marL="0" rtl="0" algn="l">
              <a:lnSpc>
                <a:spcPct val="115000"/>
              </a:lnSpc>
              <a:spcBef>
                <a:spcPts val="0"/>
              </a:spcBef>
              <a:spcAft>
                <a:spcPts val="0"/>
              </a:spcAft>
              <a:buNone/>
            </a:pPr>
            <a:r>
              <a:rPr lang="vi" sz="903">
                <a:solidFill>
                  <a:srgbClr val="351C75"/>
                </a:solidFill>
              </a:rPr>
              <a:t>★　Trích dẫn inline khi cần.</a:t>
            </a:r>
            <a:endParaRPr sz="903">
              <a:solidFill>
                <a:srgbClr val="351C75"/>
              </a:solidFill>
            </a:endParaRPr>
          </a:p>
        </p:txBody>
      </p:sp>
      <p:sp>
        <p:nvSpPr>
          <p:cNvPr id="124" name="Google Shape;124;p20"/>
          <p:cNvSpPr txBox="1"/>
          <p:nvPr/>
        </p:nvSpPr>
        <p:spPr>
          <a:xfrm>
            <a:off x="2180345" y="462831"/>
            <a:ext cx="6017100" cy="2664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b="1" lang="vi" sz="828">
                <a:solidFill>
                  <a:srgbClr val="FF0000"/>
                </a:solidFill>
                <a:highlight>
                  <a:srgbClr val="FFFFFF"/>
                </a:highlight>
              </a:rPr>
              <a:t>Dạng HTML: tùy hệ thống có thể lỗi format, có thể chứa link ẩn, mã độc, bị xem là thiếu kinh nghiệm</a:t>
            </a:r>
            <a:endParaRPr b="1" sz="828">
              <a:solidFill>
                <a:srgbClr val="FF0000"/>
              </a:solidFill>
              <a:highlight>
                <a:srgbClr val="FFFFFF"/>
              </a:highlight>
            </a:endParaRPr>
          </a:p>
        </p:txBody>
      </p:sp>
      <p:pic>
        <p:nvPicPr>
          <p:cNvPr id="125" name="Google Shape;125;p20"/>
          <p:cNvPicPr preferRelativeResize="0"/>
          <p:nvPr/>
        </p:nvPicPr>
        <p:blipFill>
          <a:blip r:embed="rId4">
            <a:alphaModFix/>
          </a:blip>
          <a:stretch>
            <a:fillRect/>
          </a:stretch>
        </p:blipFill>
        <p:spPr>
          <a:xfrm>
            <a:off x="893081" y="3598347"/>
            <a:ext cx="2299256" cy="569901"/>
          </a:xfrm>
          <a:prstGeom prst="rect">
            <a:avLst/>
          </a:prstGeom>
          <a:noFill/>
          <a:ln>
            <a:noFill/>
          </a:ln>
        </p:spPr>
      </p:pic>
      <p:sp>
        <p:nvSpPr>
          <p:cNvPr id="126" name="Google Shape;126;p20"/>
          <p:cNvSpPr txBox="1"/>
          <p:nvPr/>
        </p:nvSpPr>
        <p:spPr>
          <a:xfrm>
            <a:off x="4571993" y="3105123"/>
            <a:ext cx="1967100" cy="1108800"/>
          </a:xfrm>
          <a:prstGeom prst="rect">
            <a:avLst/>
          </a:prstGeom>
          <a:noFill/>
          <a:ln>
            <a:noFill/>
          </a:ln>
        </p:spPr>
        <p:txBody>
          <a:bodyPr anchorCtr="0" anchor="t" bIns="68800" lIns="68800" spcFirstLastPara="1" rIns="68800" wrap="square" tIns="68800">
            <a:spAutoFit/>
          </a:bodyPr>
          <a:lstStyle/>
          <a:p>
            <a:pPr indent="0" lvl="0" marL="0" rtl="0" algn="l">
              <a:spcBef>
                <a:spcPts val="0"/>
              </a:spcBef>
              <a:spcAft>
                <a:spcPts val="0"/>
              </a:spcAft>
              <a:buNone/>
            </a:pPr>
            <a:r>
              <a:rPr lang="vi" sz="900">
                <a:solidFill>
                  <a:srgbClr val="351C75"/>
                </a:solidFill>
              </a:rPr>
              <a:t>Tạo và chèn chữ ký:</a:t>
            </a:r>
            <a:endParaRPr sz="900">
              <a:solidFill>
                <a:srgbClr val="351C75"/>
              </a:solidFill>
            </a:endParaRPr>
          </a:p>
          <a:p>
            <a:pPr indent="0" lvl="0" marL="0" rtl="0" algn="l">
              <a:spcBef>
                <a:spcPts val="0"/>
              </a:spcBef>
              <a:spcAft>
                <a:spcPts val="0"/>
              </a:spcAft>
              <a:buNone/>
            </a:pPr>
            <a:r>
              <a:rPr lang="vi" sz="900">
                <a:solidFill>
                  <a:srgbClr val="351C75"/>
                </a:solidFill>
              </a:rPr>
              <a:t>会社名：</a:t>
            </a:r>
            <a:endParaRPr sz="900">
              <a:solidFill>
                <a:srgbClr val="351C75"/>
              </a:solidFill>
            </a:endParaRPr>
          </a:p>
          <a:p>
            <a:pPr indent="0" lvl="0" marL="0" rtl="0" algn="l">
              <a:spcBef>
                <a:spcPts val="0"/>
              </a:spcBef>
              <a:spcAft>
                <a:spcPts val="0"/>
              </a:spcAft>
              <a:buNone/>
            </a:pPr>
            <a:r>
              <a:rPr lang="vi" sz="900">
                <a:solidFill>
                  <a:srgbClr val="351C75"/>
                </a:solidFill>
              </a:rPr>
              <a:t>部署名：</a:t>
            </a:r>
            <a:endParaRPr sz="900">
              <a:solidFill>
                <a:srgbClr val="351C75"/>
              </a:solidFill>
            </a:endParaRPr>
          </a:p>
          <a:p>
            <a:pPr indent="0" lvl="0" marL="0" rtl="0" algn="l">
              <a:spcBef>
                <a:spcPts val="0"/>
              </a:spcBef>
              <a:spcAft>
                <a:spcPts val="0"/>
              </a:spcAft>
              <a:buNone/>
            </a:pPr>
            <a:r>
              <a:rPr lang="vi" sz="900">
                <a:solidFill>
                  <a:srgbClr val="351C75"/>
                </a:solidFill>
              </a:rPr>
              <a:t>名前：</a:t>
            </a:r>
            <a:endParaRPr sz="900">
              <a:solidFill>
                <a:srgbClr val="351C75"/>
              </a:solidFill>
            </a:endParaRPr>
          </a:p>
          <a:p>
            <a:pPr indent="0" lvl="0" marL="0" rtl="0" algn="l">
              <a:spcBef>
                <a:spcPts val="0"/>
              </a:spcBef>
              <a:spcAft>
                <a:spcPts val="0"/>
              </a:spcAft>
              <a:buNone/>
            </a:pPr>
            <a:r>
              <a:rPr lang="vi" sz="900">
                <a:solidFill>
                  <a:srgbClr val="351C75"/>
                </a:solidFill>
              </a:rPr>
              <a:t>住所：</a:t>
            </a:r>
            <a:endParaRPr sz="900">
              <a:solidFill>
                <a:srgbClr val="351C75"/>
              </a:solidFill>
            </a:endParaRPr>
          </a:p>
          <a:p>
            <a:pPr indent="0" lvl="0" marL="0" rtl="0" algn="l">
              <a:spcBef>
                <a:spcPts val="0"/>
              </a:spcBef>
              <a:spcAft>
                <a:spcPts val="0"/>
              </a:spcAft>
              <a:buNone/>
            </a:pPr>
            <a:r>
              <a:rPr lang="vi" sz="900">
                <a:solidFill>
                  <a:srgbClr val="351C75"/>
                </a:solidFill>
              </a:rPr>
              <a:t>電話番号：</a:t>
            </a:r>
            <a:endParaRPr sz="900">
              <a:solidFill>
                <a:srgbClr val="351C75"/>
              </a:solidFill>
            </a:endParaRPr>
          </a:p>
          <a:p>
            <a:pPr indent="0" lvl="0" marL="0" rtl="0" algn="l">
              <a:spcBef>
                <a:spcPts val="0"/>
              </a:spcBef>
              <a:spcAft>
                <a:spcPts val="0"/>
              </a:spcAft>
              <a:buNone/>
            </a:pPr>
            <a:r>
              <a:rPr lang="vi" sz="900">
                <a:solidFill>
                  <a:srgbClr val="351C75"/>
                </a:solidFill>
              </a:rPr>
              <a:t>メールアドレス：</a:t>
            </a:r>
            <a:endParaRPr sz="900">
              <a:solidFill>
                <a:srgbClr val="351C75"/>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nvSpPr>
        <p:spPr>
          <a:xfrm>
            <a:off x="1327600" y="328925"/>
            <a:ext cx="63714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vi" sz="2400">
                <a:solidFill>
                  <a:srgbClr val="351C75"/>
                </a:solidFill>
              </a:rPr>
              <a:t>Dùng ký hiệu khi cần </a:t>
            </a:r>
            <a:r>
              <a:rPr lang="vi" sz="2400">
                <a:solidFill>
                  <a:srgbClr val="351C75"/>
                </a:solidFill>
                <a:latin typeface="MS Gothic"/>
                <a:ea typeface="MS Gothic"/>
                <a:cs typeface="MS Gothic"/>
                <a:sym typeface="MS Gothic"/>
              </a:rPr>
              <a:t>・　</a:t>
            </a:r>
            <a:r>
              <a:rPr lang="vi" sz="2400">
                <a:solidFill>
                  <a:srgbClr val="351C75"/>
                </a:solidFill>
              </a:rPr>
              <a:t>■</a:t>
            </a:r>
            <a:r>
              <a:rPr lang="vi" sz="2400">
                <a:solidFill>
                  <a:srgbClr val="351C75"/>
                </a:solidFill>
                <a:latin typeface="MS Gothic"/>
                <a:ea typeface="MS Gothic"/>
                <a:cs typeface="MS Gothic"/>
                <a:sym typeface="MS Gothic"/>
              </a:rPr>
              <a:t>　〇</a:t>
            </a:r>
            <a:r>
              <a:rPr lang="vi" sz="2400">
                <a:solidFill>
                  <a:srgbClr val="351C75"/>
                </a:solidFill>
              </a:rPr>
              <a:t> </a:t>
            </a:r>
            <a:r>
              <a:rPr lang="vi" sz="2400">
                <a:solidFill>
                  <a:srgbClr val="351C75"/>
                </a:solidFill>
                <a:latin typeface="MS Gothic"/>
                <a:ea typeface="MS Gothic"/>
                <a:cs typeface="MS Gothic"/>
                <a:sym typeface="MS Gothic"/>
              </a:rPr>
              <a:t>　</a:t>
            </a:r>
            <a:r>
              <a:rPr lang="vi" sz="2400">
                <a:solidFill>
                  <a:srgbClr val="351C75"/>
                </a:solidFill>
              </a:rPr>
              <a:t>★</a:t>
            </a:r>
            <a:endParaRPr sz="2400"/>
          </a:p>
        </p:txBody>
      </p:sp>
      <p:pic>
        <p:nvPicPr>
          <p:cNvPr id="132" name="Google Shape;132;p21"/>
          <p:cNvPicPr preferRelativeResize="0"/>
          <p:nvPr/>
        </p:nvPicPr>
        <p:blipFill>
          <a:blip r:embed="rId3">
            <a:alphaModFix/>
          </a:blip>
          <a:stretch>
            <a:fillRect/>
          </a:stretch>
        </p:blipFill>
        <p:spPr>
          <a:xfrm>
            <a:off x="1673925" y="1029625"/>
            <a:ext cx="5400549" cy="3392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2"/>
          <p:cNvPicPr preferRelativeResize="0"/>
          <p:nvPr/>
        </p:nvPicPr>
        <p:blipFill>
          <a:blip r:embed="rId3">
            <a:alphaModFix/>
          </a:blip>
          <a:stretch>
            <a:fillRect/>
          </a:stretch>
        </p:blipFill>
        <p:spPr>
          <a:xfrm>
            <a:off x="1327600" y="883025"/>
            <a:ext cx="6204575" cy="3537425"/>
          </a:xfrm>
          <a:prstGeom prst="rect">
            <a:avLst/>
          </a:prstGeom>
          <a:noFill/>
          <a:ln>
            <a:noFill/>
          </a:ln>
        </p:spPr>
      </p:pic>
      <p:sp>
        <p:nvSpPr>
          <p:cNvPr id="138" name="Google Shape;138;p22"/>
          <p:cNvSpPr txBox="1"/>
          <p:nvPr/>
        </p:nvSpPr>
        <p:spPr>
          <a:xfrm>
            <a:off x="1327600" y="328925"/>
            <a:ext cx="63714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vi" sz="2400">
                <a:solidFill>
                  <a:srgbClr val="351C75"/>
                </a:solidFill>
              </a:rPr>
              <a:t>Trích dẫn inline khi cần</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nvSpPr>
        <p:spPr>
          <a:xfrm>
            <a:off x="531637" y="789450"/>
            <a:ext cx="8080800" cy="569100"/>
          </a:xfrm>
          <a:prstGeom prst="rect">
            <a:avLst/>
          </a:prstGeom>
          <a:noFill/>
          <a:ln>
            <a:noFill/>
          </a:ln>
        </p:spPr>
        <p:txBody>
          <a:bodyPr anchorCtr="0" anchor="t" bIns="88450" lIns="88450" spcFirstLastPara="1" rIns="88450" wrap="square" tIns="88450">
            <a:noAutofit/>
          </a:bodyPr>
          <a:lstStyle/>
          <a:p>
            <a:pPr indent="0" lvl="0" marL="0" rtl="0" algn="l">
              <a:spcBef>
                <a:spcPts val="0"/>
              </a:spcBef>
              <a:spcAft>
                <a:spcPts val="0"/>
              </a:spcAft>
              <a:buNone/>
            </a:pPr>
            <a:r>
              <a:rPr lang="vi" sz="3600">
                <a:solidFill>
                  <a:srgbClr val="351C75"/>
                </a:solidFill>
              </a:rPr>
              <a:t>Không nên viết tràn toàn màn hình</a:t>
            </a:r>
            <a:endParaRPr sz="3600">
              <a:solidFill>
                <a:srgbClr val="351C75"/>
              </a:solidFill>
            </a:endParaRPr>
          </a:p>
        </p:txBody>
      </p:sp>
      <p:pic>
        <p:nvPicPr>
          <p:cNvPr id="144" name="Google Shape;144;p23"/>
          <p:cNvPicPr preferRelativeResize="0"/>
          <p:nvPr/>
        </p:nvPicPr>
        <p:blipFill>
          <a:blip r:embed="rId3">
            <a:alphaModFix/>
          </a:blip>
          <a:stretch>
            <a:fillRect/>
          </a:stretch>
        </p:blipFill>
        <p:spPr>
          <a:xfrm>
            <a:off x="469563" y="1848947"/>
            <a:ext cx="8204875" cy="2160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nvSpPr>
        <p:spPr>
          <a:xfrm>
            <a:off x="587173" y="588200"/>
            <a:ext cx="8076600" cy="568500"/>
          </a:xfrm>
          <a:prstGeom prst="rect">
            <a:avLst/>
          </a:prstGeom>
          <a:noFill/>
          <a:ln>
            <a:noFill/>
          </a:ln>
        </p:spPr>
        <p:txBody>
          <a:bodyPr anchorCtr="0" anchor="t" bIns="88425" lIns="88425" spcFirstLastPara="1" rIns="88425" wrap="square" tIns="88425">
            <a:noAutofit/>
          </a:bodyPr>
          <a:lstStyle/>
          <a:p>
            <a:pPr indent="0" lvl="0" marL="0" rtl="0" algn="l">
              <a:spcBef>
                <a:spcPts val="0"/>
              </a:spcBef>
              <a:spcAft>
                <a:spcPts val="0"/>
              </a:spcAft>
              <a:buNone/>
            </a:pPr>
            <a:r>
              <a:rPr lang="vi" sz="3600">
                <a:solidFill>
                  <a:srgbClr val="351C75"/>
                </a:solidFill>
              </a:rPr>
              <a:t>Viết trên ⅓ màn hình</a:t>
            </a:r>
            <a:endParaRPr sz="3600">
              <a:solidFill>
                <a:srgbClr val="351C75"/>
              </a:solidFill>
            </a:endParaRPr>
          </a:p>
        </p:txBody>
      </p:sp>
      <p:pic>
        <p:nvPicPr>
          <p:cNvPr id="150" name="Google Shape;150;p24"/>
          <p:cNvPicPr preferRelativeResize="0"/>
          <p:nvPr/>
        </p:nvPicPr>
        <p:blipFill>
          <a:blip r:embed="rId3">
            <a:alphaModFix/>
          </a:blip>
          <a:stretch>
            <a:fillRect/>
          </a:stretch>
        </p:blipFill>
        <p:spPr>
          <a:xfrm>
            <a:off x="480225" y="1657596"/>
            <a:ext cx="8076494" cy="25551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nvSpPr>
        <p:spPr>
          <a:xfrm>
            <a:off x="1007350" y="435825"/>
            <a:ext cx="6566700" cy="677400"/>
          </a:xfrm>
          <a:prstGeom prst="rect">
            <a:avLst/>
          </a:prstGeom>
          <a:noFill/>
          <a:ln>
            <a:noFill/>
          </a:ln>
        </p:spPr>
        <p:txBody>
          <a:bodyPr anchorCtr="0" anchor="t" bIns="61075" lIns="61075" spcFirstLastPara="1" rIns="61075" wrap="square" tIns="61075">
            <a:spAutoFit/>
          </a:bodyPr>
          <a:lstStyle/>
          <a:p>
            <a:pPr indent="0" lvl="0" marL="0" rtl="0" algn="ctr">
              <a:lnSpc>
                <a:spcPct val="115000"/>
              </a:lnSpc>
              <a:spcBef>
                <a:spcPts val="1203"/>
              </a:spcBef>
              <a:spcAft>
                <a:spcPts val="401"/>
              </a:spcAft>
              <a:buNone/>
            </a:pPr>
            <a:r>
              <a:rPr b="1" lang="vi" sz="3600">
                <a:solidFill>
                  <a:srgbClr val="351C75"/>
                </a:solidFill>
              </a:rPr>
              <a:t>Checklist trước khi gửi mail</a:t>
            </a:r>
            <a:endParaRPr b="1" sz="3600">
              <a:solidFill>
                <a:srgbClr val="351C75"/>
              </a:solidFill>
            </a:endParaRPr>
          </a:p>
        </p:txBody>
      </p:sp>
      <p:sp>
        <p:nvSpPr>
          <p:cNvPr id="156" name="Google Shape;156;p25"/>
          <p:cNvSpPr/>
          <p:nvPr/>
        </p:nvSpPr>
        <p:spPr>
          <a:xfrm>
            <a:off x="1788150" y="1514400"/>
            <a:ext cx="5567700" cy="2114700"/>
          </a:xfrm>
          <a:prstGeom prst="roundRect">
            <a:avLst>
              <a:gd fmla="val 16667" name="adj"/>
            </a:avLst>
          </a:prstGeom>
          <a:solidFill>
            <a:srgbClr val="FFF5F5"/>
          </a:solidFill>
          <a:ln cap="flat" cmpd="sng" w="6375">
            <a:solidFill>
              <a:srgbClr val="CA2F47"/>
            </a:solidFill>
            <a:prstDash val="solid"/>
            <a:round/>
            <a:headEnd len="sm" w="sm" type="none"/>
            <a:tailEnd len="sm" w="sm" type="none"/>
          </a:ln>
        </p:spPr>
        <p:txBody>
          <a:bodyPr anchorCtr="0" anchor="ctr" bIns="61075" lIns="61075" spcFirstLastPara="1" rIns="61075" wrap="square" tIns="61075">
            <a:noAutofit/>
          </a:bodyPr>
          <a:lstStyle/>
          <a:p>
            <a:pPr indent="0" lvl="0" marL="305622" rtl="0" algn="l">
              <a:spcBef>
                <a:spcPts val="0"/>
              </a:spcBef>
              <a:spcAft>
                <a:spcPts val="0"/>
              </a:spcAft>
              <a:buNone/>
            </a:pPr>
            <a:r>
              <a:rPr lang="vi" sz="1800">
                <a:solidFill>
                  <a:srgbClr val="08005F"/>
                </a:solidFill>
              </a:rPr>
              <a:t>Link: </a:t>
            </a:r>
            <a:r>
              <a:rPr lang="vi" sz="1800" u="sng">
                <a:solidFill>
                  <a:srgbClr val="304FFE"/>
                </a:solidFill>
                <a:hlinkClick r:id="rId3">
                  <a:extLst>
                    <a:ext uri="{A12FA001-AC4F-418D-AE19-62706E023703}">
                      <ahyp:hlinkClr val="tx"/>
                    </a:ext>
                  </a:extLst>
                </a:hlinkClick>
              </a:rPr>
              <a:t>https://docs.google.com/spreadsheets/d/1TyE8DgQEJ2eyStT3vBEZmDNMsxPPLqQgWmeSKVGXb7E/edit?usp=sharing</a:t>
            </a:r>
            <a:r>
              <a:rPr lang="vi" sz="1800">
                <a:solidFill>
                  <a:srgbClr val="08005F"/>
                </a:solidFill>
              </a:rPr>
              <a:t>  </a:t>
            </a:r>
            <a:endParaRPr sz="1800">
              <a:solidFill>
                <a:srgbClr val="08005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160" name="Shape 160"/>
        <p:cNvGrpSpPr/>
        <p:nvPr/>
      </p:nvGrpSpPr>
      <p:grpSpPr>
        <a:xfrm>
          <a:off x="0" y="0"/>
          <a:ext cx="0" cy="0"/>
          <a:chOff x="0" y="0"/>
          <a:chExt cx="0" cy="0"/>
        </a:xfrm>
      </p:grpSpPr>
      <p:sp>
        <p:nvSpPr>
          <p:cNvPr id="161" name="Google Shape;161;p26"/>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Thực hành 01</a:t>
            </a:r>
            <a:endParaRPr sz="3600">
              <a:solidFill>
                <a:srgbClr val="351C75"/>
              </a:solidFill>
            </a:endParaRPr>
          </a:p>
        </p:txBody>
      </p:sp>
      <p:sp>
        <p:nvSpPr>
          <p:cNvPr id="162" name="Google Shape;162;p26"/>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vi">
                <a:solidFill>
                  <a:srgbClr val="351C75"/>
                </a:solidFill>
              </a:rPr>
              <a:t>Dịch nội dung sau sang tiếng Việt để gửi cho team.</a:t>
            </a:r>
            <a:endParaRPr b="1">
              <a:solidFill>
                <a:srgbClr val="351C75"/>
              </a:solidFill>
            </a:endParaRPr>
          </a:p>
          <a:p>
            <a:pPr indent="0" lvl="0" marL="0" rtl="0" algn="l">
              <a:lnSpc>
                <a:spcPct val="115000"/>
              </a:lnSpc>
              <a:spcBef>
                <a:spcPts val="400"/>
              </a:spcBef>
              <a:spcAft>
                <a:spcPts val="0"/>
              </a:spcAft>
              <a:buClr>
                <a:schemeClr val="dk1"/>
              </a:buClr>
              <a:buSzPts val="1100"/>
              <a:buFont typeface="Arial"/>
              <a:buNone/>
            </a:pPr>
            <a:r>
              <a:t/>
            </a:r>
            <a:endParaRPr>
              <a:solidFill>
                <a:srgbClr val="351C75"/>
              </a:solidFill>
            </a:endParaRPr>
          </a:p>
          <a:p>
            <a:pPr indent="0" lvl="0" marL="0" rtl="0" algn="l">
              <a:spcBef>
                <a:spcPts val="0"/>
              </a:spcBef>
              <a:spcAft>
                <a:spcPts val="0"/>
              </a:spcAft>
              <a:buClr>
                <a:schemeClr val="dk1"/>
              </a:buClr>
              <a:buSzPts val="1100"/>
              <a:buFont typeface="Arial"/>
              <a:buNone/>
            </a:pPr>
            <a:r>
              <a:rPr lang="vi">
                <a:solidFill>
                  <a:srgbClr val="351C75"/>
                </a:solidFill>
              </a:rPr>
              <a:t>件名：バグ調査のお願い（ログイン画面）</a:t>
            </a:r>
            <a:endParaRPr>
              <a:solidFill>
                <a:srgbClr val="351C75"/>
              </a:solidFill>
            </a:endParaRPr>
          </a:p>
          <a:p>
            <a:pPr indent="0" lvl="0" marL="0" rtl="0" algn="l">
              <a:spcBef>
                <a:spcPts val="0"/>
              </a:spcBef>
              <a:spcAft>
                <a:spcPts val="0"/>
              </a:spcAft>
              <a:buClr>
                <a:schemeClr val="dk1"/>
              </a:buClr>
              <a:buSzPts val="1100"/>
              <a:buFont typeface="Arial"/>
              <a:buNone/>
            </a:pPr>
            <a:r>
              <a:t/>
            </a:r>
            <a:endParaRPr>
              <a:solidFill>
                <a:srgbClr val="351C75"/>
              </a:solidFill>
            </a:endParaRPr>
          </a:p>
          <a:p>
            <a:pPr indent="0" lvl="0" marL="0" rtl="0" algn="l">
              <a:spcBef>
                <a:spcPts val="0"/>
              </a:spcBef>
              <a:spcAft>
                <a:spcPts val="0"/>
              </a:spcAft>
              <a:buClr>
                <a:schemeClr val="dk1"/>
              </a:buClr>
              <a:buSzPts val="1100"/>
              <a:buFont typeface="Arial"/>
              <a:buNone/>
            </a:pPr>
            <a:r>
              <a:rPr lang="vi">
                <a:solidFill>
                  <a:srgbClr val="351C75"/>
                </a:solidFill>
              </a:rPr>
              <a:t>お疲れ様です。ABC株式会社の田中です。</a:t>
            </a:r>
            <a:endParaRPr>
              <a:solidFill>
                <a:srgbClr val="351C75"/>
              </a:solidFill>
            </a:endParaRPr>
          </a:p>
          <a:p>
            <a:pPr indent="0" lvl="0" marL="0" rtl="0" algn="l">
              <a:spcBef>
                <a:spcPts val="0"/>
              </a:spcBef>
              <a:spcAft>
                <a:spcPts val="0"/>
              </a:spcAft>
              <a:buClr>
                <a:schemeClr val="dk1"/>
              </a:buClr>
              <a:buSzPts val="1100"/>
              <a:buFont typeface="Arial"/>
              <a:buNone/>
            </a:pPr>
            <a:r>
              <a:t/>
            </a:r>
            <a:endParaRPr>
              <a:solidFill>
                <a:srgbClr val="351C75"/>
              </a:solidFill>
            </a:endParaRPr>
          </a:p>
          <a:p>
            <a:pPr indent="0" lvl="0" marL="0" rtl="0" algn="l">
              <a:spcBef>
                <a:spcPts val="0"/>
              </a:spcBef>
              <a:spcAft>
                <a:spcPts val="0"/>
              </a:spcAft>
              <a:buClr>
                <a:schemeClr val="dk1"/>
              </a:buClr>
              <a:buSzPts val="1100"/>
              <a:buFont typeface="Arial"/>
              <a:buNone/>
            </a:pPr>
            <a:r>
              <a:rPr lang="vi">
                <a:solidFill>
                  <a:srgbClr val="351C75"/>
                </a:solidFill>
              </a:rPr>
              <a:t>現在、ログイン画面にて一部のユーザーがログインできない不具合が発生しております。  </a:t>
            </a:r>
            <a:endParaRPr>
              <a:solidFill>
                <a:srgbClr val="351C75"/>
              </a:solidFill>
            </a:endParaRPr>
          </a:p>
          <a:p>
            <a:pPr indent="0" lvl="0" marL="0" rtl="0" algn="l">
              <a:spcBef>
                <a:spcPts val="0"/>
              </a:spcBef>
              <a:spcAft>
                <a:spcPts val="0"/>
              </a:spcAft>
              <a:buClr>
                <a:schemeClr val="dk1"/>
              </a:buClr>
              <a:buSzPts val="1100"/>
              <a:buFont typeface="Arial"/>
              <a:buNone/>
            </a:pPr>
            <a:r>
              <a:rPr lang="vi">
                <a:solidFill>
                  <a:srgbClr val="351C75"/>
                </a:solidFill>
              </a:rPr>
              <a:t>詳細は添付の再現手順ファイルをご参照ください。</a:t>
            </a:r>
            <a:endParaRPr>
              <a:solidFill>
                <a:srgbClr val="351C75"/>
              </a:solidFill>
            </a:endParaRPr>
          </a:p>
          <a:p>
            <a:pPr indent="0" lvl="0" marL="0" rtl="0" algn="l">
              <a:spcBef>
                <a:spcPts val="0"/>
              </a:spcBef>
              <a:spcAft>
                <a:spcPts val="0"/>
              </a:spcAft>
              <a:buClr>
                <a:schemeClr val="dk1"/>
              </a:buClr>
              <a:buSzPts val="1100"/>
              <a:buFont typeface="Arial"/>
              <a:buNone/>
            </a:pPr>
            <a:r>
              <a:t/>
            </a:r>
            <a:endParaRPr>
              <a:solidFill>
                <a:srgbClr val="351C75"/>
              </a:solidFill>
            </a:endParaRPr>
          </a:p>
          <a:p>
            <a:pPr indent="0" lvl="0" marL="0" rtl="0" algn="l">
              <a:spcBef>
                <a:spcPts val="0"/>
              </a:spcBef>
              <a:spcAft>
                <a:spcPts val="0"/>
              </a:spcAft>
              <a:buClr>
                <a:schemeClr val="dk1"/>
              </a:buClr>
              <a:buSzPts val="1100"/>
              <a:buFont typeface="Arial"/>
              <a:buNone/>
            </a:pPr>
            <a:r>
              <a:rPr lang="vi">
                <a:solidFill>
                  <a:srgbClr val="351C75"/>
                </a:solidFill>
              </a:rPr>
              <a:t>お手数ですが、原因の調査をお願いいたします。  </a:t>
            </a:r>
            <a:endParaRPr>
              <a:solidFill>
                <a:srgbClr val="351C75"/>
              </a:solidFill>
            </a:endParaRPr>
          </a:p>
          <a:p>
            <a:pPr indent="0" lvl="0" marL="0" rtl="0" algn="l">
              <a:spcBef>
                <a:spcPts val="0"/>
              </a:spcBef>
              <a:spcAft>
                <a:spcPts val="0"/>
              </a:spcAft>
              <a:buClr>
                <a:schemeClr val="dk1"/>
              </a:buClr>
              <a:buSzPts val="1100"/>
              <a:buFont typeface="Arial"/>
              <a:buNone/>
            </a:pPr>
            <a:r>
              <a:rPr lang="vi">
                <a:solidFill>
                  <a:srgbClr val="351C75"/>
                </a:solidFill>
              </a:rPr>
              <a:t>何か不明点がございましたらご連絡ください。</a:t>
            </a:r>
            <a:endParaRPr>
              <a:solidFill>
                <a:srgbClr val="351C75"/>
              </a:solidFill>
            </a:endParaRPr>
          </a:p>
          <a:p>
            <a:pPr indent="0" lvl="0" marL="0" rtl="0" algn="l">
              <a:spcBef>
                <a:spcPts val="0"/>
              </a:spcBef>
              <a:spcAft>
                <a:spcPts val="0"/>
              </a:spcAft>
              <a:buClr>
                <a:schemeClr val="dk1"/>
              </a:buClr>
              <a:buSzPts val="1100"/>
              <a:buFont typeface="Arial"/>
              <a:buNone/>
            </a:pPr>
            <a:r>
              <a:t/>
            </a:r>
            <a:endParaRPr>
              <a:solidFill>
                <a:srgbClr val="351C75"/>
              </a:solidFill>
            </a:endParaRPr>
          </a:p>
          <a:p>
            <a:pPr indent="0" lvl="0" marL="0" rtl="0" algn="l">
              <a:lnSpc>
                <a:spcPct val="115000"/>
              </a:lnSpc>
              <a:spcBef>
                <a:spcPts val="0"/>
              </a:spcBef>
              <a:spcAft>
                <a:spcPts val="0"/>
              </a:spcAft>
              <a:buClr>
                <a:schemeClr val="dk1"/>
              </a:buClr>
              <a:buSzPts val="1100"/>
              <a:buFont typeface="Arial"/>
              <a:buNone/>
            </a:pPr>
            <a:r>
              <a:rPr lang="vi">
                <a:solidFill>
                  <a:srgbClr val="351C75"/>
                </a:solidFill>
              </a:rPr>
              <a:t>よろしくお願いいたします。</a:t>
            </a:r>
            <a:endParaRPr b="1">
              <a:solidFill>
                <a:srgbClr val="351C75"/>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166" name="Shape 166"/>
        <p:cNvGrpSpPr/>
        <p:nvPr/>
      </p:nvGrpSpPr>
      <p:grpSpPr>
        <a:xfrm>
          <a:off x="0" y="0"/>
          <a:ext cx="0" cy="0"/>
          <a:chOff x="0" y="0"/>
          <a:chExt cx="0" cy="0"/>
        </a:xfrm>
      </p:grpSpPr>
      <p:sp>
        <p:nvSpPr>
          <p:cNvPr id="167" name="Google Shape;167;p27"/>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sz="3600">
              <a:solidFill>
                <a:srgbClr val="351C75"/>
              </a:solidFill>
            </a:endParaRPr>
          </a:p>
        </p:txBody>
      </p:sp>
      <p:sp>
        <p:nvSpPr>
          <p:cNvPr id="168" name="Google Shape;168;p27"/>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 sz="800">
                <a:solidFill>
                  <a:srgbClr val="2F5597"/>
                </a:solidFill>
              </a:rPr>
              <a:t>Cách 1: Khách hàng liên lạc nhờ mình điều tra bug trên màn login.</a:t>
            </a:r>
            <a:endParaRPr sz="800">
              <a:solidFill>
                <a:srgbClr val="2F5597"/>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2F5597"/>
                </a:solidFill>
              </a:rPr>
              <a:t>Hiện tại có 1 số user không login được nên khách nhờ điều tra nguyên nhân. Khách có gửi file trình tự tái hiện, team mình check file và điều tra, có gì ko hiểu thì hỏi lại khách hàng nhé.</a:t>
            </a:r>
            <a:endParaRPr sz="800">
              <a:solidFill>
                <a:srgbClr val="2F5597"/>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2F5597"/>
                </a:solidFill>
              </a:rPr>
              <a:t>Cách 2: Dear team, khách hàng liên lạc như sau:</a:t>
            </a:r>
            <a:endParaRPr sz="800">
              <a:solidFill>
                <a:srgbClr val="2F5597"/>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2F5597"/>
                </a:solidFill>
              </a:rPr>
              <a:t>----------</a:t>
            </a:r>
            <a:endParaRPr sz="800">
              <a:solidFill>
                <a:srgbClr val="2F5597"/>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2F5597"/>
                </a:solidFill>
              </a:rPr>
              <a:t>Nhờ điều tra bug（Màn hình login）</a:t>
            </a:r>
            <a:endParaRPr sz="800">
              <a:solidFill>
                <a:srgbClr val="2F5597"/>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2F5597"/>
                </a:solidFill>
              </a:rPr>
              <a:t>Tôi là Tanaka</a:t>
            </a:r>
            <a:endParaRPr sz="800">
              <a:solidFill>
                <a:srgbClr val="2F5597"/>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2F5597"/>
                </a:solidFill>
              </a:rPr>
              <a:t>Hiện tại đang phát sinh bug là trên màn hình login, một số user không thể login được.</a:t>
            </a:r>
            <a:endParaRPr sz="800">
              <a:solidFill>
                <a:srgbClr val="2F5597"/>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2F5597"/>
                </a:solidFill>
              </a:rPr>
              <a:t>Chi tiết nhờ các bạn xem file trình tự tái hiện mà tôi đính kèm.</a:t>
            </a:r>
            <a:endParaRPr sz="800">
              <a:solidFill>
                <a:srgbClr val="2F5597"/>
              </a:solidFill>
            </a:endParaRPr>
          </a:p>
          <a:p>
            <a:pPr indent="0" lvl="0" marL="0" rtl="0" algn="l">
              <a:lnSpc>
                <a:spcPct val="115000"/>
              </a:lnSpc>
              <a:spcBef>
                <a:spcPts val="1200"/>
              </a:spcBef>
              <a:spcAft>
                <a:spcPts val="0"/>
              </a:spcAft>
              <a:buNone/>
            </a:pPr>
            <a:r>
              <a:rPr lang="vi" sz="800">
                <a:solidFill>
                  <a:srgbClr val="2F5597"/>
                </a:solidFill>
              </a:rPr>
              <a:t>Phiền các bạn điều tra nguyên nhân giúp.</a:t>
            </a:r>
            <a:endParaRPr sz="800">
              <a:solidFill>
                <a:srgbClr val="2F5597"/>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2F5597"/>
                </a:solidFill>
              </a:rPr>
              <a:t>Nếu có gì chưa rõ thì các bạn cứ liên lạc hỏi tôi nhé. </a:t>
            </a:r>
            <a:endParaRPr b="1" sz="800">
              <a:solidFill>
                <a:srgbClr val="351C75"/>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172" name="Shape 172"/>
        <p:cNvGrpSpPr/>
        <p:nvPr/>
      </p:nvGrpSpPr>
      <p:grpSpPr>
        <a:xfrm>
          <a:off x="0" y="0"/>
          <a:ext cx="0" cy="0"/>
          <a:chOff x="0" y="0"/>
          <a:chExt cx="0" cy="0"/>
        </a:xfrm>
      </p:grpSpPr>
      <p:sp>
        <p:nvSpPr>
          <p:cNvPr id="173" name="Google Shape;173;p28"/>
          <p:cNvSpPr txBox="1"/>
          <p:nvPr/>
        </p:nvSpPr>
        <p:spPr>
          <a:xfrm>
            <a:off x="160950" y="321275"/>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Thực hành 02</a:t>
            </a:r>
            <a:endParaRPr sz="3600">
              <a:solidFill>
                <a:srgbClr val="351C75"/>
              </a:solidFill>
            </a:endParaRPr>
          </a:p>
        </p:txBody>
      </p:sp>
      <p:sp>
        <p:nvSpPr>
          <p:cNvPr id="174" name="Google Shape;174;p28"/>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vi">
                <a:solidFill>
                  <a:srgbClr val="351C75"/>
                </a:solidFill>
              </a:rPr>
              <a:t>Dịch nội dung sau sang tiếng Nhật để gửi cho khách hàng</a:t>
            </a:r>
            <a:endParaRPr b="1">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a:solidFill>
                  <a:schemeClr val="dk1"/>
                </a:solidFill>
              </a:rPr>
              <a:t>“Em ơi dịch hộ anh cái này gửi cho khách với. Team mình ko làm kịp nên xin lùi deadline nouhin 1 tuần em nhé. </a:t>
            </a:r>
            <a:br>
              <a:rPr lang="vi">
                <a:solidFill>
                  <a:schemeClr val="dk1"/>
                </a:solidFill>
              </a:rPr>
            </a:br>
            <a:r>
              <a:rPr lang="vi">
                <a:solidFill>
                  <a:schemeClr val="dk1"/>
                </a:solidFill>
              </a:rPr>
              <a:t>Trong lúc làm thì bên mình phát sinh nhiều cái phải xác nhận thêm quá, với lại anh cũng đánh giá chưa sát khối lượng công việc, nên tiến độ bị ảnh hưởng, bị chậm em ạ.</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
                <a:solidFill>
                  <a:schemeClr val="dk1"/>
                </a:solidFill>
              </a:rPr>
              <a:t>Hiện tại, team đang tập trung để hoàn thiện nốt rồi. Em bảo mong khách thông cảm và xin dời lịch nouhin chậm 1 tuần, là dời sang thứ Tư tuần sau nhá.</a:t>
            </a:r>
            <a:endParaRPr>
              <a:solidFill>
                <a:schemeClr val="dk1"/>
              </a:solidFill>
            </a:endParaRPr>
          </a:p>
          <a:p>
            <a:pPr indent="0" lvl="0" marL="0" rtl="0" algn="l">
              <a:lnSpc>
                <a:spcPct val="115000"/>
              </a:lnSpc>
              <a:spcBef>
                <a:spcPts val="1200"/>
              </a:spcBef>
              <a:spcAft>
                <a:spcPts val="1200"/>
              </a:spcAft>
              <a:buNone/>
            </a:pPr>
            <a:r>
              <a:rPr lang="vi">
                <a:solidFill>
                  <a:schemeClr val="dk1"/>
                </a:solidFill>
              </a:rPr>
              <a:t>Nhớ nói sao cho chân thành và xin lỗi khách hộ anh nhé.”</a:t>
            </a:r>
            <a:endParaRPr b="1">
              <a:solidFill>
                <a:srgbClr val="351C75"/>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178" name="Shape 178"/>
        <p:cNvGrpSpPr/>
        <p:nvPr/>
      </p:nvGrpSpPr>
      <p:grpSpPr>
        <a:xfrm>
          <a:off x="0" y="0"/>
          <a:ext cx="0" cy="0"/>
          <a:chOff x="0" y="0"/>
          <a:chExt cx="0" cy="0"/>
        </a:xfrm>
      </p:grpSpPr>
      <p:grpSp>
        <p:nvGrpSpPr>
          <p:cNvPr id="179" name="Google Shape;179;p29"/>
          <p:cNvGrpSpPr/>
          <p:nvPr/>
        </p:nvGrpSpPr>
        <p:grpSpPr>
          <a:xfrm>
            <a:off x="2902488" y="902232"/>
            <a:ext cx="3339000" cy="3339000"/>
            <a:chOff x="2902488" y="902232"/>
            <a:chExt cx="3339000" cy="3339000"/>
          </a:xfrm>
        </p:grpSpPr>
        <p:sp>
          <p:nvSpPr>
            <p:cNvPr id="180" name="Google Shape;180;p29"/>
            <p:cNvSpPr/>
            <p:nvPr/>
          </p:nvSpPr>
          <p:spPr>
            <a:xfrm rot="-5400000">
              <a:off x="2902488" y="902232"/>
              <a:ext cx="3339000" cy="3339000"/>
            </a:xfrm>
            <a:prstGeom prst="ellipse">
              <a:avLst/>
            </a:prstGeom>
            <a:noFill/>
            <a:ln cap="flat" cmpd="sng" w="19050">
              <a:solidFill>
                <a:srgbClr val="1D7E7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9"/>
            <p:cNvSpPr/>
            <p:nvPr/>
          </p:nvSpPr>
          <p:spPr>
            <a:xfrm>
              <a:off x="3123738" y="1123632"/>
              <a:ext cx="2896500" cy="2896200"/>
            </a:xfrm>
            <a:prstGeom prst="pie">
              <a:avLst>
                <a:gd fmla="val 21577108" name="adj1"/>
                <a:gd fmla="val 16214886" name="adj2"/>
              </a:avLst>
            </a:prstGeom>
            <a:solidFill>
              <a:srgbClr val="83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 name="Google Shape;182;p29"/>
          <p:cNvGrpSpPr/>
          <p:nvPr/>
        </p:nvGrpSpPr>
        <p:grpSpPr>
          <a:xfrm>
            <a:off x="3664038" y="1663782"/>
            <a:ext cx="1815900" cy="1815900"/>
            <a:chOff x="3664038" y="1663782"/>
            <a:chExt cx="1815900" cy="1815900"/>
          </a:xfrm>
        </p:grpSpPr>
        <p:sp>
          <p:nvSpPr>
            <p:cNvPr id="183" name="Google Shape;183;p29"/>
            <p:cNvSpPr/>
            <p:nvPr/>
          </p:nvSpPr>
          <p:spPr>
            <a:xfrm>
              <a:off x="3664038" y="1663782"/>
              <a:ext cx="1815900" cy="1815900"/>
            </a:xfrm>
            <a:prstGeom prst="ellipse">
              <a:avLst/>
            </a:prstGeom>
            <a:solidFill>
              <a:srgbClr val="1B786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9"/>
            <p:cNvSpPr txBox="1"/>
            <p:nvPr/>
          </p:nvSpPr>
          <p:spPr>
            <a:xfrm>
              <a:off x="3899988" y="2158482"/>
              <a:ext cx="1344000" cy="826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vi">
                  <a:solidFill>
                    <a:srgbClr val="FFFFFF"/>
                  </a:solidFill>
                  <a:latin typeface="Roboto"/>
                  <a:ea typeface="Roboto"/>
                  <a:cs typeface="Roboto"/>
                  <a:sym typeface="Roboto"/>
                </a:rPr>
                <a:t>Xử lý thông tin gốc</a:t>
              </a:r>
              <a:endParaRPr b="1">
                <a:solidFill>
                  <a:srgbClr val="FFFFFF"/>
                </a:solidFill>
                <a:latin typeface="Roboto"/>
                <a:ea typeface="Roboto"/>
                <a:cs typeface="Roboto"/>
                <a:sym typeface="Roboto"/>
              </a:endParaRPr>
            </a:p>
          </p:txBody>
        </p:sp>
      </p:grpSp>
      <p:grpSp>
        <p:nvGrpSpPr>
          <p:cNvPr id="185" name="Google Shape;185;p29"/>
          <p:cNvGrpSpPr/>
          <p:nvPr/>
        </p:nvGrpSpPr>
        <p:grpSpPr>
          <a:xfrm>
            <a:off x="4042065" y="445829"/>
            <a:ext cx="1068600" cy="1068600"/>
            <a:chOff x="2859873" y="853971"/>
            <a:chExt cx="1068600" cy="1068600"/>
          </a:xfrm>
        </p:grpSpPr>
        <p:sp>
          <p:nvSpPr>
            <p:cNvPr id="186" name="Google Shape;186;p29"/>
            <p:cNvSpPr/>
            <p:nvPr/>
          </p:nvSpPr>
          <p:spPr>
            <a:xfrm>
              <a:off x="2859873" y="853971"/>
              <a:ext cx="1068600" cy="1068600"/>
            </a:xfrm>
            <a:prstGeom prst="ellipse">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9"/>
            <p:cNvSpPr txBox="1"/>
            <p:nvPr/>
          </p:nvSpPr>
          <p:spPr>
            <a:xfrm>
              <a:off x="3012800" y="1022197"/>
              <a:ext cx="762600" cy="73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vi" sz="800">
                  <a:solidFill>
                    <a:srgbClr val="FFFFFF"/>
                  </a:solidFill>
                  <a:latin typeface="Roboto"/>
                  <a:ea typeface="Roboto"/>
                  <a:cs typeface="Roboto"/>
                  <a:sym typeface="Roboto"/>
                </a:rPr>
                <a:t>Mục đích chính của thông tin (Tiêu đề)</a:t>
              </a:r>
              <a:endParaRPr sz="800">
                <a:solidFill>
                  <a:srgbClr val="FFFFFF"/>
                </a:solidFill>
                <a:latin typeface="Roboto"/>
                <a:ea typeface="Roboto"/>
                <a:cs typeface="Roboto"/>
                <a:sym typeface="Roboto"/>
              </a:endParaRPr>
            </a:p>
          </p:txBody>
        </p:sp>
      </p:grpSp>
      <p:grpSp>
        <p:nvGrpSpPr>
          <p:cNvPr id="188" name="Google Shape;188;p29"/>
          <p:cNvGrpSpPr/>
          <p:nvPr/>
        </p:nvGrpSpPr>
        <p:grpSpPr>
          <a:xfrm>
            <a:off x="4032245" y="3633373"/>
            <a:ext cx="1068600" cy="1068600"/>
            <a:chOff x="5214448" y="3234278"/>
            <a:chExt cx="1068600" cy="1068600"/>
          </a:xfrm>
        </p:grpSpPr>
        <p:sp>
          <p:nvSpPr>
            <p:cNvPr id="189" name="Google Shape;189;p29"/>
            <p:cNvSpPr/>
            <p:nvPr/>
          </p:nvSpPr>
          <p:spPr>
            <a:xfrm>
              <a:off x="5214448" y="3234278"/>
              <a:ext cx="1068600" cy="1068600"/>
            </a:xfrm>
            <a:prstGeom prst="ellipse">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9"/>
            <p:cNvSpPr txBox="1"/>
            <p:nvPr/>
          </p:nvSpPr>
          <p:spPr>
            <a:xfrm>
              <a:off x="5367375" y="3402503"/>
              <a:ext cx="762600" cy="73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vi" sz="800">
                  <a:solidFill>
                    <a:srgbClr val="FFFFFF"/>
                  </a:solidFill>
                  <a:latin typeface="Roboto"/>
                  <a:ea typeface="Roboto"/>
                  <a:cs typeface="Roboto"/>
                  <a:sym typeface="Roboto"/>
                </a:rPr>
                <a:t>Hiệu đính lại</a:t>
              </a:r>
              <a:endParaRPr sz="800">
                <a:solidFill>
                  <a:srgbClr val="FFFFFF"/>
                </a:solidFill>
                <a:latin typeface="Roboto"/>
                <a:ea typeface="Roboto"/>
                <a:cs typeface="Roboto"/>
                <a:sym typeface="Roboto"/>
              </a:endParaRPr>
            </a:p>
          </p:txBody>
        </p:sp>
      </p:grpSp>
      <p:grpSp>
        <p:nvGrpSpPr>
          <p:cNvPr id="191" name="Google Shape;191;p29"/>
          <p:cNvGrpSpPr/>
          <p:nvPr/>
        </p:nvGrpSpPr>
        <p:grpSpPr>
          <a:xfrm>
            <a:off x="2445920" y="2041025"/>
            <a:ext cx="1068600" cy="1068600"/>
            <a:chOff x="5214448" y="3234278"/>
            <a:chExt cx="1068600" cy="1068600"/>
          </a:xfrm>
        </p:grpSpPr>
        <p:sp>
          <p:nvSpPr>
            <p:cNvPr id="192" name="Google Shape;192;p29"/>
            <p:cNvSpPr/>
            <p:nvPr/>
          </p:nvSpPr>
          <p:spPr>
            <a:xfrm>
              <a:off x="5214448" y="3234278"/>
              <a:ext cx="1068600" cy="1068600"/>
            </a:xfrm>
            <a:prstGeom prst="ellipse">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9"/>
            <p:cNvSpPr txBox="1"/>
            <p:nvPr/>
          </p:nvSpPr>
          <p:spPr>
            <a:xfrm>
              <a:off x="5367375" y="3402503"/>
              <a:ext cx="762600" cy="73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vi" sz="800">
                  <a:solidFill>
                    <a:srgbClr val="FFFFFF"/>
                  </a:solidFill>
                  <a:latin typeface="Roboto"/>
                  <a:ea typeface="Roboto"/>
                  <a:cs typeface="Roboto"/>
                  <a:sym typeface="Roboto"/>
                </a:rPr>
                <a:t>Chuyển ngữ</a:t>
              </a:r>
              <a:endParaRPr sz="800">
                <a:solidFill>
                  <a:srgbClr val="FFFFFF"/>
                </a:solidFill>
                <a:latin typeface="Roboto"/>
                <a:ea typeface="Roboto"/>
                <a:cs typeface="Roboto"/>
                <a:sym typeface="Roboto"/>
              </a:endParaRPr>
            </a:p>
          </p:txBody>
        </p:sp>
      </p:grpSp>
      <p:grpSp>
        <p:nvGrpSpPr>
          <p:cNvPr id="194" name="Google Shape;194;p29"/>
          <p:cNvGrpSpPr/>
          <p:nvPr/>
        </p:nvGrpSpPr>
        <p:grpSpPr>
          <a:xfrm>
            <a:off x="5631428" y="2041025"/>
            <a:ext cx="1068600" cy="1068600"/>
            <a:chOff x="5214448" y="3234278"/>
            <a:chExt cx="1068600" cy="1068600"/>
          </a:xfrm>
        </p:grpSpPr>
        <p:sp>
          <p:nvSpPr>
            <p:cNvPr id="195" name="Google Shape;195;p29"/>
            <p:cNvSpPr/>
            <p:nvPr/>
          </p:nvSpPr>
          <p:spPr>
            <a:xfrm>
              <a:off x="5214448" y="3234278"/>
              <a:ext cx="1068600" cy="1068600"/>
            </a:xfrm>
            <a:prstGeom prst="ellipse">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9"/>
            <p:cNvSpPr txBox="1"/>
            <p:nvPr/>
          </p:nvSpPr>
          <p:spPr>
            <a:xfrm>
              <a:off x="5367375" y="3402503"/>
              <a:ext cx="762600" cy="73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vi" sz="800">
                  <a:solidFill>
                    <a:srgbClr val="FFFFFF"/>
                  </a:solidFill>
                  <a:latin typeface="Roboto"/>
                  <a:ea typeface="Roboto"/>
                  <a:cs typeface="Roboto"/>
                  <a:sym typeface="Roboto"/>
                </a:rPr>
                <a:t>Xác định tính đầy đủ của thông tin</a:t>
              </a:r>
              <a:endParaRPr sz="800">
                <a:solidFill>
                  <a:srgbClr val="FFFFFF"/>
                </a:solidFill>
                <a:latin typeface="Roboto"/>
                <a:ea typeface="Roboto"/>
                <a:cs typeface="Roboto"/>
                <a:sym typeface="Roboto"/>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00" name="Shape 200"/>
        <p:cNvGrpSpPr/>
        <p:nvPr/>
      </p:nvGrpSpPr>
      <p:grpSpPr>
        <a:xfrm>
          <a:off x="0" y="0"/>
          <a:ext cx="0" cy="0"/>
          <a:chOff x="0" y="0"/>
          <a:chExt cx="0" cy="0"/>
        </a:xfrm>
      </p:grpSpPr>
      <p:sp>
        <p:nvSpPr>
          <p:cNvPr id="201" name="Google Shape;201;p30"/>
          <p:cNvSpPr txBox="1"/>
          <p:nvPr/>
        </p:nvSpPr>
        <p:spPr>
          <a:xfrm>
            <a:off x="99100" y="103275"/>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sz="3600">
              <a:solidFill>
                <a:srgbClr val="351C75"/>
              </a:solidFill>
            </a:endParaRPr>
          </a:p>
        </p:txBody>
      </p:sp>
      <p:sp>
        <p:nvSpPr>
          <p:cNvPr id="202" name="Google Shape;202;p30"/>
          <p:cNvSpPr/>
          <p:nvPr/>
        </p:nvSpPr>
        <p:spPr>
          <a:xfrm>
            <a:off x="4365400" y="724975"/>
            <a:ext cx="4663500" cy="42306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Title</a:t>
            </a:r>
            <a:r>
              <a:rPr lang="vi" sz="1100">
                <a:solidFill>
                  <a:srgbClr val="351C75"/>
                </a:solidFill>
                <a:latin typeface="MS Mincho"/>
                <a:ea typeface="MS Mincho"/>
                <a:cs typeface="MS Mincho"/>
                <a:sym typeface="MS Mincho"/>
              </a:rPr>
              <a:t>：</a:t>
            </a:r>
            <a:r>
              <a:rPr lang="vi" sz="1100">
                <a:solidFill>
                  <a:srgbClr val="351C75"/>
                </a:solidFill>
              </a:rPr>
              <a:t>Về việc xin thay đổi lịch nộp hàng lần này</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Dear anh Tanaka</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Tôi là An bên công ty ABC.</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Về việc nộp hàng lần này, trong quá trình phát triển đã phát sinh nhiều nội dung cần xác nhận dẫn đến mất thời gian hơn dự kiến. Thêm vào đó, khi test cũng phát sinh nhiều bug hơn dự kiến, nên cần phải test confirm lại chắc chắn sau khi fix bug.</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Hiện tại chúng tôi đang tập trung fix bug và re-test để đảm bảo chất lượng. Dự kiến là thứ 4 tuần sau sẽ hoàn thành. Vậy cho phép chúng tôi dời lịch nộp hàng sang thứ 4 tuần sau có được không.</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Chúng tôi thực sự xin lỗi, mong các bạn thông cảm và cân nhắc giúp chúng tôi.</a:t>
            </a:r>
            <a:endParaRPr sz="1100">
              <a:solidFill>
                <a:srgbClr val="351C75"/>
              </a:solidFill>
            </a:endParaRPr>
          </a:p>
          <a:p>
            <a:pPr indent="0" lvl="0" marL="0" rtl="0" algn="l">
              <a:lnSpc>
                <a:spcPct val="115000"/>
              </a:lnSpc>
              <a:spcBef>
                <a:spcPts val="1200"/>
              </a:spcBef>
              <a:spcAft>
                <a:spcPts val="1200"/>
              </a:spcAft>
              <a:buNone/>
            </a:pPr>
            <a:r>
              <a:rPr lang="vi" sz="1100">
                <a:solidFill>
                  <a:srgbClr val="351C75"/>
                </a:solidFill>
              </a:rPr>
              <a:t>Mong các bạn tiếp tục giúp đỡ. </a:t>
            </a:r>
            <a:endParaRPr b="1">
              <a:solidFill>
                <a:srgbClr val="351C75"/>
              </a:solidFill>
            </a:endParaRPr>
          </a:p>
        </p:txBody>
      </p:sp>
      <p:sp>
        <p:nvSpPr>
          <p:cNvPr id="203" name="Google Shape;203;p30"/>
          <p:cNvSpPr/>
          <p:nvPr/>
        </p:nvSpPr>
        <p:spPr>
          <a:xfrm>
            <a:off x="258525" y="1015350"/>
            <a:ext cx="41070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“Em ơi dịch hộ anh cái này gửi cho khách với. </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Team mình ko làm kịp nên xin lùi </a:t>
            </a:r>
            <a:r>
              <a:rPr lang="vi" sz="1100">
                <a:solidFill>
                  <a:srgbClr val="FF0000"/>
                </a:solidFill>
              </a:rPr>
              <a:t>deadline nouhin</a:t>
            </a:r>
            <a:r>
              <a:rPr lang="vi" sz="1100">
                <a:solidFill>
                  <a:srgbClr val="351C75"/>
                </a:solidFill>
              </a:rPr>
              <a:t>. </a:t>
            </a:r>
            <a:br>
              <a:rPr lang="vi" sz="1100">
                <a:solidFill>
                  <a:srgbClr val="351C75"/>
                </a:solidFill>
              </a:rPr>
            </a:br>
            <a:r>
              <a:rPr lang="vi" sz="1100">
                <a:solidFill>
                  <a:srgbClr val="351C75"/>
                </a:solidFill>
              </a:rPr>
              <a:t>Trong lúc coding thì bên mình phát sinh nhiều cái phải xác nhận thêm quá, với lại test cũng phát sinh nhiều bug hơn dự kiến, nên cần phải </a:t>
            </a:r>
            <a:r>
              <a:rPr lang="vi" sz="1100">
                <a:solidFill>
                  <a:srgbClr val="FF0000"/>
                </a:solidFill>
              </a:rPr>
              <a:t>test confirm</a:t>
            </a:r>
            <a:r>
              <a:rPr lang="vi" sz="1100">
                <a:solidFill>
                  <a:srgbClr val="351C75"/>
                </a:solidFill>
              </a:rPr>
              <a:t> lại chắc chắn sau khi fix bug.</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Hiện tại, team đang tập trung</a:t>
            </a:r>
            <a:r>
              <a:rPr lang="vi" sz="1100">
                <a:solidFill>
                  <a:srgbClr val="FF0000"/>
                </a:solidFill>
              </a:rPr>
              <a:t> fix bug</a:t>
            </a:r>
            <a:r>
              <a:rPr lang="vi" sz="1100">
                <a:solidFill>
                  <a:srgbClr val="351C75"/>
                </a:solidFill>
              </a:rPr>
              <a:t> và</a:t>
            </a:r>
            <a:r>
              <a:rPr lang="vi" sz="1100">
                <a:solidFill>
                  <a:srgbClr val="FF0000"/>
                </a:solidFill>
              </a:rPr>
              <a:t> re-test</a:t>
            </a:r>
            <a:r>
              <a:rPr lang="vi" sz="1100">
                <a:solidFill>
                  <a:srgbClr val="351C75"/>
                </a:solidFill>
              </a:rPr>
              <a:t> để đảm bảo chất lượng. Mong khách thông cảm và có thể cho mình dời lịch</a:t>
            </a:r>
            <a:r>
              <a:rPr lang="vi" sz="1100">
                <a:solidFill>
                  <a:srgbClr val="FF0000"/>
                </a:solidFill>
              </a:rPr>
              <a:t> deliver </a:t>
            </a:r>
            <a:r>
              <a:rPr lang="vi" sz="1100">
                <a:solidFill>
                  <a:srgbClr val="351C75"/>
                </a:solidFill>
              </a:rPr>
              <a:t>sang thứ Tư tuần sau có được không.</a:t>
            </a:r>
            <a:endParaRPr sz="1100">
              <a:solidFill>
                <a:srgbClr val="351C75"/>
              </a:solidFill>
            </a:endParaRPr>
          </a:p>
          <a:p>
            <a:pPr indent="0" lvl="0" marL="0" rtl="0" algn="l">
              <a:lnSpc>
                <a:spcPct val="115000"/>
              </a:lnSpc>
              <a:spcBef>
                <a:spcPts val="1200"/>
              </a:spcBef>
              <a:spcAft>
                <a:spcPts val="1200"/>
              </a:spcAft>
              <a:buNone/>
            </a:pPr>
            <a:r>
              <a:rPr lang="vi" sz="1100">
                <a:solidFill>
                  <a:srgbClr val="351C75"/>
                </a:solidFill>
              </a:rPr>
              <a:t>Nhớ nói sao cho chân thành và xin lỗi khách hộ anh nhé.”</a:t>
            </a:r>
            <a:endParaRPr b="1" sz="1100">
              <a:solidFill>
                <a:srgbClr val="351C75"/>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07" name="Shape 207"/>
        <p:cNvGrpSpPr/>
        <p:nvPr/>
      </p:nvGrpSpPr>
      <p:grpSpPr>
        <a:xfrm>
          <a:off x="0" y="0"/>
          <a:ext cx="0" cy="0"/>
          <a:chOff x="0" y="0"/>
          <a:chExt cx="0" cy="0"/>
        </a:xfrm>
      </p:grpSpPr>
      <p:sp>
        <p:nvSpPr>
          <p:cNvPr id="208" name="Google Shape;208;p31"/>
          <p:cNvSpPr txBox="1"/>
          <p:nvPr/>
        </p:nvSpPr>
        <p:spPr>
          <a:xfrm>
            <a:off x="160950" y="45175"/>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sz="3600">
              <a:solidFill>
                <a:srgbClr val="351C75"/>
              </a:solidFill>
            </a:endParaRPr>
          </a:p>
        </p:txBody>
      </p:sp>
      <p:sp>
        <p:nvSpPr>
          <p:cNvPr id="209" name="Google Shape;209;p31"/>
          <p:cNvSpPr/>
          <p:nvPr/>
        </p:nvSpPr>
        <p:spPr>
          <a:xfrm>
            <a:off x="4757550" y="626025"/>
            <a:ext cx="4386300" cy="4491600"/>
          </a:xfrm>
          <a:prstGeom prst="roundRect">
            <a:avLst>
              <a:gd fmla="val 16667" name="adj"/>
            </a:avLst>
          </a:prstGeom>
          <a:solidFill>
            <a:srgbClr val="FFF5F5"/>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 sz="1000">
                <a:solidFill>
                  <a:srgbClr val="351C75"/>
                </a:solidFill>
              </a:rPr>
              <a:t>田中様 </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t/>
            </a:r>
            <a:endParaRPr sz="1000">
              <a:solidFill>
                <a:srgbClr val="351C75"/>
              </a:solidFill>
            </a:endParaRPr>
          </a:p>
          <a:p>
            <a:pPr indent="0" lvl="0" marL="0" rtl="0" algn="l">
              <a:lnSpc>
                <a:spcPct val="115000"/>
              </a:lnSpc>
              <a:spcBef>
                <a:spcPts val="1200"/>
              </a:spcBef>
              <a:spcAft>
                <a:spcPts val="0"/>
              </a:spcAft>
              <a:buNone/>
            </a:pPr>
            <a:r>
              <a:rPr lang="vi" sz="1000">
                <a:solidFill>
                  <a:srgbClr val="351C75"/>
                </a:solidFill>
              </a:rPr>
              <a:t>いつもお世話になっております</a:t>
            </a:r>
            <a:r>
              <a:rPr lang="vi" sz="1000">
                <a:solidFill>
                  <a:srgbClr val="351C75"/>
                </a:solidFill>
              </a:rPr>
              <a:t>。</a:t>
            </a:r>
            <a:endParaRPr sz="1000">
              <a:solidFill>
                <a:srgbClr val="351C75"/>
              </a:solidFill>
            </a:endParaRPr>
          </a:p>
          <a:p>
            <a:pPr indent="0" lvl="0" marL="0" rtl="0" algn="l">
              <a:lnSpc>
                <a:spcPct val="115000"/>
              </a:lnSpc>
              <a:spcBef>
                <a:spcPts val="1200"/>
              </a:spcBef>
              <a:spcAft>
                <a:spcPts val="0"/>
              </a:spcAft>
              <a:buNone/>
            </a:pPr>
            <a:r>
              <a:rPr lang="vi" sz="1000">
                <a:solidFill>
                  <a:srgbClr val="351C75"/>
                </a:solidFill>
              </a:rPr>
              <a:t>株式会社ABCのNgaでございます。</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000">
                <a:solidFill>
                  <a:srgbClr val="351C75"/>
                </a:solidFill>
              </a:rPr>
              <a:t>この度の納品につきまして、開発過程で確認事項が多く発生し、当初の想定より時間を要してしまっております。</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000">
                <a:solidFill>
                  <a:srgbClr val="351C75"/>
                </a:solidFill>
              </a:rPr>
              <a:t>また、作業工数の見積もりも甘かったため、全体の進捗に影響が出ております。</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000">
                <a:solidFill>
                  <a:srgbClr val="351C75"/>
                </a:solidFill>
              </a:rPr>
              <a:t>現在、チーム一同で全力を挙げて対応しており、来週の水曜日までには納品可能な見込みでございます。</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000">
                <a:solidFill>
                  <a:srgbClr val="351C75"/>
                </a:solidFill>
              </a:rPr>
              <a:t>誠に勝手ながら、納品日を来週水曜日まで延期させていただけないかと考えております。</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000">
                <a:solidFill>
                  <a:srgbClr val="351C75"/>
                </a:solidFill>
              </a:rPr>
              <a:t>ご迷惑をおかけして大変恐縮ではございますが、何卒ご理解・ご検討のほどお願い申し上げます。</a:t>
            </a:r>
            <a:endParaRPr sz="1000">
              <a:solidFill>
                <a:srgbClr val="351C75"/>
              </a:solidFill>
            </a:endParaRPr>
          </a:p>
          <a:p>
            <a:pPr indent="0" lvl="0" marL="0" rtl="0" algn="l">
              <a:lnSpc>
                <a:spcPct val="115000"/>
              </a:lnSpc>
              <a:spcBef>
                <a:spcPts val="1200"/>
              </a:spcBef>
              <a:spcAft>
                <a:spcPts val="1200"/>
              </a:spcAft>
              <a:buNone/>
            </a:pPr>
            <a:r>
              <a:rPr lang="vi" sz="1000">
                <a:solidFill>
                  <a:srgbClr val="351C75"/>
                </a:solidFill>
              </a:rPr>
              <a:t>よろしくお願いいたします。</a:t>
            </a:r>
            <a:endParaRPr sz="1000">
              <a:solidFill>
                <a:srgbClr val="351C75"/>
              </a:solidFill>
            </a:endParaRPr>
          </a:p>
        </p:txBody>
      </p:sp>
      <p:sp>
        <p:nvSpPr>
          <p:cNvPr id="210" name="Google Shape;210;p31"/>
          <p:cNvSpPr/>
          <p:nvPr/>
        </p:nvSpPr>
        <p:spPr>
          <a:xfrm>
            <a:off x="0" y="651825"/>
            <a:ext cx="4757700" cy="4491600"/>
          </a:xfrm>
          <a:prstGeom prst="roundRect">
            <a:avLst>
              <a:gd fmla="val 16667" name="adj"/>
            </a:avLst>
          </a:prstGeom>
          <a:solidFill>
            <a:srgbClr val="FFF5F5"/>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Title</a:t>
            </a:r>
            <a:r>
              <a:rPr lang="vi" sz="1100">
                <a:solidFill>
                  <a:srgbClr val="351C75"/>
                </a:solidFill>
                <a:latin typeface="MS Mincho"/>
                <a:ea typeface="MS Mincho"/>
                <a:cs typeface="MS Mincho"/>
                <a:sym typeface="MS Mincho"/>
              </a:rPr>
              <a:t>：</a:t>
            </a:r>
            <a:r>
              <a:rPr lang="vi" sz="1100">
                <a:solidFill>
                  <a:srgbClr val="351C75"/>
                </a:solidFill>
              </a:rPr>
              <a:t>Về việc xin nhờ hoãn lịch nouhin sản phẩm lần này</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Dear anh Tanaka</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Tôi là Nga bên công ty ABC.</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Về việc nouhin sản phẩm lần này, do trong quá trình phát triển đã phát sinh nhiều nội dung cần xác nhận dẫn đến mất thời gian hơn dự kiến, thêm vào đó chúng tôi cũng chưa đánh giá sát được khối lượng công việc, nên tiến độ bị ảnh hường.</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Hiện tại chúng tôi đang cố gắng tập trung hoàn thành sản phẩm.</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Dự kiến là thứ 4 tuần sau sẽ hoàn thành. Mong các bạn thông cảm và cho phép chúng tôi hoãn lịch deliver/nouhin vào thứ 4 tuần sau có được không.</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Mong các bạn thông cảm và cân nhắc giúp chúng tôi.</a:t>
            </a:r>
            <a:endParaRPr sz="1100">
              <a:solidFill>
                <a:srgbClr val="351C75"/>
              </a:solidFill>
            </a:endParaRPr>
          </a:p>
          <a:p>
            <a:pPr indent="0" lvl="0" marL="0" rtl="0" algn="l">
              <a:lnSpc>
                <a:spcPct val="115000"/>
              </a:lnSpc>
              <a:spcBef>
                <a:spcPts val="1200"/>
              </a:spcBef>
              <a:spcAft>
                <a:spcPts val="1200"/>
              </a:spcAft>
              <a:buNone/>
            </a:pPr>
            <a:r>
              <a:rPr lang="vi" sz="1100">
                <a:solidFill>
                  <a:srgbClr val="351C75"/>
                </a:solidFill>
              </a:rPr>
              <a:t>Rất mong các bạn tiếp tục giúp đỡ. </a:t>
            </a:r>
            <a:endParaRPr b="1">
              <a:solidFill>
                <a:srgbClr val="351C75"/>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14" name="Shape 214"/>
        <p:cNvGrpSpPr/>
        <p:nvPr/>
      </p:nvGrpSpPr>
      <p:grpSpPr>
        <a:xfrm>
          <a:off x="0" y="0"/>
          <a:ext cx="0" cy="0"/>
          <a:chOff x="0" y="0"/>
          <a:chExt cx="0" cy="0"/>
        </a:xfrm>
      </p:grpSpPr>
      <p:sp>
        <p:nvSpPr>
          <p:cNvPr id="215" name="Google Shape;215;p32"/>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Thực hành 03</a:t>
            </a:r>
            <a:endParaRPr sz="3600">
              <a:solidFill>
                <a:srgbClr val="351C75"/>
              </a:solidFill>
            </a:endParaRPr>
          </a:p>
        </p:txBody>
      </p:sp>
      <p:sp>
        <p:nvSpPr>
          <p:cNvPr id="216" name="Google Shape;216;p32"/>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None/>
            </a:pPr>
            <a:r>
              <a:rPr b="1" lang="vi">
                <a:solidFill>
                  <a:srgbClr val="351C75"/>
                </a:solidFill>
              </a:rPr>
              <a:t>Dịch nội dung sau sang tiếng Nhật để gửi cho khách hàng</a:t>
            </a:r>
            <a:endParaRPr b="1">
              <a:solidFill>
                <a:srgbClr val="351C75"/>
              </a:solidFill>
            </a:endParaRPr>
          </a:p>
          <a:p>
            <a:pPr indent="0" lvl="0" marL="0" rtl="0" algn="l">
              <a:lnSpc>
                <a:spcPct val="115000"/>
              </a:lnSpc>
              <a:spcBef>
                <a:spcPts val="1200"/>
              </a:spcBef>
              <a:spcAft>
                <a:spcPts val="0"/>
              </a:spcAft>
              <a:buNone/>
            </a:pPr>
            <a:r>
              <a:rPr lang="vi">
                <a:solidFill>
                  <a:schemeClr val="dk1"/>
                </a:solidFill>
              </a:rPr>
              <a:t>“Hi em, nhờ em dịch giúp anh đoạn sau và gửi cho teachlead Tanaka nhé.</a:t>
            </a:r>
            <a:endParaRPr>
              <a:solidFill>
                <a:schemeClr val="dk1"/>
              </a:solidFill>
            </a:endParaRPr>
          </a:p>
          <a:p>
            <a:pPr indent="0" lvl="0" marL="0" rtl="0" algn="l">
              <a:lnSpc>
                <a:spcPct val="115000"/>
              </a:lnSpc>
              <a:spcBef>
                <a:spcPts val="1200"/>
              </a:spcBef>
              <a:spcAft>
                <a:spcPts val="0"/>
              </a:spcAft>
              <a:buNone/>
            </a:pPr>
            <a:r>
              <a:rPr lang="vi">
                <a:solidFill>
                  <a:schemeClr val="dk1"/>
                </a:solidFill>
              </a:rPr>
              <a:t>—-------------</a:t>
            </a:r>
            <a:endParaRPr>
              <a:solidFill>
                <a:schemeClr val="dk1"/>
              </a:solidFill>
            </a:endParaRPr>
          </a:p>
          <a:p>
            <a:pPr indent="0" lvl="0" marL="0" rtl="0" algn="l">
              <a:lnSpc>
                <a:spcPct val="115000"/>
              </a:lnSpc>
              <a:spcBef>
                <a:spcPts val="1200"/>
              </a:spcBef>
              <a:spcAft>
                <a:spcPts val="0"/>
              </a:spcAft>
              <a:buNone/>
            </a:pPr>
            <a:r>
              <a:rPr lang="vi">
                <a:solidFill>
                  <a:schemeClr val="dk1"/>
                </a:solidFill>
              </a:rPr>
              <a:t>Về specs của CR03 thì tôi đã đọc document các bạn gửi rồi, nhưng có nhiều điểm chưa rõ ràng về ý hiểu, nên tôi đã log vào file Q&amp;A này. Nhờ các bạn check file. (Em gửi file Q&amp;A, sheet CR03 ấy nhé). Tôi muốn book 1 buổi họp trong tuần này để nhận transfer về specs và giải đáp Q&amp;A có được không?</a:t>
            </a:r>
            <a:endParaRPr>
              <a:solidFill>
                <a:schemeClr val="dk1"/>
              </a:solidFill>
            </a:endParaRPr>
          </a:p>
          <a:p>
            <a:pPr indent="0" lvl="0" marL="0" rtl="0" algn="l">
              <a:lnSpc>
                <a:spcPct val="115000"/>
              </a:lnSpc>
              <a:spcBef>
                <a:spcPts val="1200"/>
              </a:spcBef>
              <a:spcAft>
                <a:spcPts val="1200"/>
              </a:spcAft>
              <a:buNone/>
            </a:pPr>
            <a:r>
              <a:rPr lang="vi">
                <a:solidFill>
                  <a:schemeClr val="dk1"/>
                </a:solidFill>
              </a:rPr>
              <a:t>Nếu được thì nhờ bạn cho lịch candidate của bên bạn để chúng tôi sắp xếp.</a:t>
            </a:r>
            <a:endParaRPr b="1">
              <a:solidFill>
                <a:srgbClr val="351C75"/>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20" name="Shape 220"/>
        <p:cNvGrpSpPr/>
        <p:nvPr/>
      </p:nvGrpSpPr>
      <p:grpSpPr>
        <a:xfrm>
          <a:off x="0" y="0"/>
          <a:ext cx="0" cy="0"/>
          <a:chOff x="0" y="0"/>
          <a:chExt cx="0" cy="0"/>
        </a:xfrm>
      </p:grpSpPr>
      <p:sp>
        <p:nvSpPr>
          <p:cNvPr id="221" name="Google Shape;221;p33"/>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sz="3600">
              <a:solidFill>
                <a:srgbClr val="351C75"/>
              </a:solidFill>
            </a:endParaRPr>
          </a:p>
        </p:txBody>
      </p:sp>
      <p:sp>
        <p:nvSpPr>
          <p:cNvPr id="222" name="Google Shape;222;p33"/>
          <p:cNvSpPr/>
          <p:nvPr/>
        </p:nvSpPr>
        <p:spPr>
          <a:xfrm>
            <a:off x="1472075" y="1015350"/>
            <a:ext cx="63708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 sz="800">
                <a:solidFill>
                  <a:srgbClr val="351C75"/>
                </a:solidFill>
              </a:rPr>
              <a:t>Title: Về việc nhờ họp transfer specs và giải đáp Q&amp;A</a:t>
            </a:r>
            <a:endParaRPr sz="8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351C75"/>
                </a:solidFill>
              </a:rPr>
              <a:t> </a:t>
            </a:r>
            <a:endParaRPr sz="8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351C75"/>
                </a:solidFill>
              </a:rPr>
              <a:t>Dear anh Tanaka</a:t>
            </a:r>
            <a:endParaRPr sz="8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351C75"/>
                </a:solidFill>
              </a:rPr>
              <a:t>Tôi là Nam công ty ABC</a:t>
            </a:r>
            <a:endParaRPr sz="8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351C75"/>
                </a:solidFill>
              </a:rPr>
              <a:t> </a:t>
            </a:r>
            <a:endParaRPr sz="8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351C75"/>
                </a:solidFill>
              </a:rPr>
              <a:t>Về specs của CR03, chúng tôi đã đọc tài liệu được cung cấp và có một số điểm chưa rõ ràng về ý hiểu, tôi đã log vào sheet CR03 trong file Q&amp;A rồi.</a:t>
            </a:r>
            <a:endParaRPr sz="8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351C75"/>
                </a:solidFill>
              </a:rPr>
              <a:t>Link:</a:t>
            </a:r>
            <a:endParaRPr sz="8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351C75"/>
                </a:solidFill>
              </a:rPr>
              <a:t>Chúng tôi muốn họp để được giải thích về specs và giải đáp Q&amp;A trực tiếp, không biết là trong tuần này liệu các bạn có sắp xếp được thời gian meeting không?</a:t>
            </a:r>
            <a:endParaRPr sz="8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800">
                <a:solidFill>
                  <a:srgbClr val="351C75"/>
                </a:solidFill>
              </a:rPr>
              <a:t>Nếu được thì nhờ bạn cho lịch candidate của bên bạn để chúng tôi sắp xếp. 4</a:t>
            </a:r>
            <a:endParaRPr sz="800">
              <a:solidFill>
                <a:srgbClr val="351C75"/>
              </a:solidFill>
            </a:endParaRPr>
          </a:p>
          <a:p>
            <a:pPr indent="0" lvl="0" marL="0" rtl="0" algn="l">
              <a:lnSpc>
                <a:spcPct val="115000"/>
              </a:lnSpc>
              <a:spcBef>
                <a:spcPts val="1200"/>
              </a:spcBef>
              <a:spcAft>
                <a:spcPts val="1200"/>
              </a:spcAft>
              <a:buNone/>
            </a:pPr>
            <a:r>
              <a:rPr lang="vi" sz="800">
                <a:solidFill>
                  <a:srgbClr val="351C75"/>
                </a:solidFill>
              </a:rPr>
              <a:t>Trong lúc bận rộn mà lại làm phiền bạn thế này, rất mong các bạn giúp đỡ. </a:t>
            </a:r>
            <a:endParaRPr b="1" sz="800">
              <a:solidFill>
                <a:srgbClr val="351C75"/>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26" name="Shape 226"/>
        <p:cNvGrpSpPr/>
        <p:nvPr/>
      </p:nvGrpSpPr>
      <p:grpSpPr>
        <a:xfrm>
          <a:off x="0" y="0"/>
          <a:ext cx="0" cy="0"/>
          <a:chOff x="0" y="0"/>
          <a:chExt cx="0" cy="0"/>
        </a:xfrm>
      </p:grpSpPr>
      <p:sp>
        <p:nvSpPr>
          <p:cNvPr id="227" name="Google Shape;227;p34"/>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sz="3600">
              <a:solidFill>
                <a:srgbClr val="351C75"/>
              </a:solidFill>
            </a:endParaRPr>
          </a:p>
        </p:txBody>
      </p:sp>
      <p:sp>
        <p:nvSpPr>
          <p:cNvPr id="228" name="Google Shape;228;p34"/>
          <p:cNvSpPr/>
          <p:nvPr/>
        </p:nvSpPr>
        <p:spPr>
          <a:xfrm>
            <a:off x="348575" y="1015350"/>
            <a:ext cx="85200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 sz="600">
                <a:solidFill>
                  <a:schemeClr val="dk1"/>
                </a:solidFill>
                <a:latin typeface="MS Mincho"/>
                <a:ea typeface="MS Mincho"/>
                <a:cs typeface="MS Mincho"/>
                <a:sym typeface="MS Mincho"/>
              </a:rPr>
              <a:t>件名：CR03の仕様説明とQ&amp;Aに関する打ち合わせのお願い</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Clr>
                <a:schemeClr val="dk1"/>
              </a:buClr>
              <a:buSzPts val="1100"/>
              <a:buFont typeface="Arial"/>
              <a:buNone/>
            </a:pPr>
            <a:r>
              <a:rPr lang="vi" sz="600">
                <a:solidFill>
                  <a:schemeClr val="dk1"/>
                </a:solidFill>
                <a:latin typeface="MS Mincho"/>
                <a:ea typeface="MS Mincho"/>
                <a:cs typeface="MS Mincho"/>
                <a:sym typeface="MS Mincho"/>
              </a:rPr>
              <a:t> </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Clr>
                <a:schemeClr val="dk1"/>
              </a:buClr>
              <a:buSzPts val="1100"/>
              <a:buFont typeface="Arial"/>
              <a:buNone/>
            </a:pPr>
            <a:r>
              <a:rPr lang="vi" sz="600">
                <a:solidFill>
                  <a:schemeClr val="dk1"/>
                </a:solidFill>
                <a:latin typeface="MS Mincho"/>
                <a:ea typeface="MS Mincho"/>
                <a:cs typeface="MS Mincho"/>
                <a:sym typeface="MS Mincho"/>
              </a:rPr>
              <a:t>田中様 </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Clr>
                <a:schemeClr val="dk1"/>
              </a:buClr>
              <a:buSzPts val="1100"/>
              <a:buFont typeface="Arial"/>
              <a:buNone/>
            </a:pPr>
            <a:r>
              <a:rPr lang="vi" sz="600">
                <a:solidFill>
                  <a:schemeClr val="dk1"/>
                </a:solidFill>
                <a:latin typeface="MS Mincho"/>
                <a:ea typeface="MS Mincho"/>
                <a:cs typeface="MS Mincho"/>
                <a:sym typeface="MS Mincho"/>
              </a:rPr>
              <a:t>いつもお世話になっております。 </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Clr>
                <a:schemeClr val="dk1"/>
              </a:buClr>
              <a:buSzPts val="1100"/>
              <a:buFont typeface="Arial"/>
              <a:buNone/>
            </a:pPr>
            <a:r>
              <a:rPr lang="vi" sz="600">
                <a:solidFill>
                  <a:schemeClr val="dk1"/>
                </a:solidFill>
                <a:latin typeface="MS Mincho"/>
                <a:ea typeface="MS Mincho"/>
                <a:cs typeface="MS Mincho"/>
                <a:sym typeface="MS Mincho"/>
              </a:rPr>
              <a:t>株式会社ABCのナムです。</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Clr>
                <a:schemeClr val="dk1"/>
              </a:buClr>
              <a:buSzPts val="1100"/>
              <a:buFont typeface="Arial"/>
              <a:buNone/>
            </a:pPr>
            <a:r>
              <a:rPr lang="vi" sz="600">
                <a:solidFill>
                  <a:schemeClr val="dk1"/>
                </a:solidFill>
                <a:latin typeface="MS Mincho"/>
                <a:ea typeface="MS Mincho"/>
                <a:cs typeface="MS Mincho"/>
                <a:sym typeface="MS Mincho"/>
              </a:rPr>
              <a:t> </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None/>
            </a:pPr>
            <a:r>
              <a:rPr lang="vi" sz="600">
                <a:solidFill>
                  <a:schemeClr val="dk1"/>
                </a:solidFill>
                <a:latin typeface="MS Mincho"/>
                <a:ea typeface="MS Mincho"/>
                <a:cs typeface="MS Mincho"/>
                <a:sym typeface="MS Mincho"/>
              </a:rPr>
              <a:t>CR03の仕様書につきまして資料を拝見いたしましたが、</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None/>
            </a:pPr>
            <a:r>
              <a:rPr lang="vi" sz="600">
                <a:solidFill>
                  <a:schemeClr val="dk1"/>
                </a:solidFill>
                <a:latin typeface="MS Mincho"/>
                <a:ea typeface="MS Mincho"/>
                <a:cs typeface="MS Mincho"/>
                <a:sym typeface="MS Mincho"/>
              </a:rPr>
              <a:t>いくつか不明点がございましたので、</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Clr>
                <a:schemeClr val="dk1"/>
              </a:buClr>
              <a:buSzPts val="1100"/>
              <a:buFont typeface="Arial"/>
              <a:buNone/>
            </a:pPr>
            <a:r>
              <a:rPr lang="vi" sz="600">
                <a:solidFill>
                  <a:schemeClr val="dk1"/>
                </a:solidFill>
                <a:latin typeface="MS Mincho"/>
                <a:ea typeface="MS Mincho"/>
                <a:cs typeface="MS Mincho"/>
                <a:sym typeface="MS Mincho"/>
              </a:rPr>
              <a:t>Q&amp;Aファイルの「CR03」シートに記載しております。 </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Clr>
                <a:schemeClr val="dk1"/>
              </a:buClr>
              <a:buSzPts val="1100"/>
              <a:buFont typeface="Arial"/>
              <a:buNone/>
            </a:pPr>
            <a:r>
              <a:rPr lang="vi" sz="600">
                <a:solidFill>
                  <a:schemeClr val="dk1"/>
                </a:solidFill>
                <a:latin typeface="MS Mincho"/>
                <a:ea typeface="MS Mincho"/>
                <a:cs typeface="MS Mincho"/>
                <a:sym typeface="MS Mincho"/>
              </a:rPr>
              <a:t>リンク：</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Clr>
                <a:schemeClr val="dk1"/>
              </a:buClr>
              <a:buSzPts val="1100"/>
              <a:buFont typeface="Arial"/>
              <a:buNone/>
            </a:pPr>
            <a:r>
              <a:rPr lang="vi" sz="600">
                <a:solidFill>
                  <a:schemeClr val="dk1"/>
                </a:solidFill>
                <a:latin typeface="MS Mincho"/>
                <a:ea typeface="MS Mincho"/>
                <a:cs typeface="MS Mincho"/>
                <a:sym typeface="MS Mincho"/>
              </a:rPr>
              <a:t> </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None/>
            </a:pPr>
            <a:r>
              <a:rPr lang="vi" sz="600">
                <a:solidFill>
                  <a:schemeClr val="dk1"/>
                </a:solidFill>
                <a:latin typeface="MS Mincho"/>
                <a:ea typeface="MS Mincho"/>
                <a:cs typeface="MS Mincho"/>
                <a:sym typeface="MS Mincho"/>
              </a:rPr>
              <a:t>つきましては、仕様のご説明およびQ&amp;Aのご回答をいただくために、</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Clr>
                <a:schemeClr val="dk1"/>
              </a:buClr>
              <a:buSzPts val="1100"/>
              <a:buFont typeface="Arial"/>
              <a:buNone/>
            </a:pPr>
            <a:r>
              <a:rPr lang="vi" sz="600">
                <a:solidFill>
                  <a:schemeClr val="dk1"/>
                </a:solidFill>
                <a:latin typeface="MS Mincho"/>
                <a:ea typeface="MS Mincho"/>
                <a:cs typeface="MS Mincho"/>
                <a:sym typeface="MS Mincho"/>
              </a:rPr>
              <a:t>今週中に打ち合わせのお時間を頂戴できればと存じます。 </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Clr>
                <a:schemeClr val="dk1"/>
              </a:buClr>
              <a:buSzPts val="1100"/>
              <a:buFont typeface="Arial"/>
              <a:buNone/>
            </a:pPr>
            <a:r>
              <a:rPr lang="vi" sz="600">
                <a:solidFill>
                  <a:schemeClr val="dk1"/>
                </a:solidFill>
                <a:latin typeface="MS Mincho"/>
                <a:ea typeface="MS Mincho"/>
                <a:cs typeface="MS Mincho"/>
                <a:sym typeface="MS Mincho"/>
              </a:rPr>
              <a:t>可能であれば、ご都合の良い候補日時をご共有いただけますと幸いです。</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0"/>
              </a:spcAft>
              <a:buClr>
                <a:schemeClr val="dk1"/>
              </a:buClr>
              <a:buSzPts val="1100"/>
              <a:buFont typeface="Arial"/>
              <a:buNone/>
            </a:pPr>
            <a:r>
              <a:rPr lang="vi" sz="600">
                <a:solidFill>
                  <a:schemeClr val="dk1"/>
                </a:solidFill>
                <a:latin typeface="MS Mincho"/>
                <a:ea typeface="MS Mincho"/>
                <a:cs typeface="MS Mincho"/>
                <a:sym typeface="MS Mincho"/>
              </a:rPr>
              <a:t> </a:t>
            </a:r>
            <a:endParaRPr sz="600">
              <a:solidFill>
                <a:schemeClr val="dk1"/>
              </a:solidFill>
              <a:latin typeface="MS Mincho"/>
              <a:ea typeface="MS Mincho"/>
              <a:cs typeface="MS Mincho"/>
              <a:sym typeface="MS Mincho"/>
            </a:endParaRPr>
          </a:p>
          <a:p>
            <a:pPr indent="0" lvl="0" marL="0" rtl="0" algn="l">
              <a:lnSpc>
                <a:spcPct val="115000"/>
              </a:lnSpc>
              <a:spcBef>
                <a:spcPts val="1200"/>
              </a:spcBef>
              <a:spcAft>
                <a:spcPts val="1200"/>
              </a:spcAft>
              <a:buNone/>
            </a:pPr>
            <a:r>
              <a:rPr lang="vi" sz="600">
                <a:solidFill>
                  <a:schemeClr val="dk1"/>
                </a:solidFill>
                <a:latin typeface="MS Mincho"/>
                <a:ea typeface="MS Mincho"/>
                <a:cs typeface="MS Mincho"/>
                <a:sym typeface="MS Mincho"/>
              </a:rPr>
              <a:t>お忙しいところ恐れ入りますが、何卒よろしくお願い申し上げます。</a:t>
            </a:r>
            <a:endParaRPr sz="600">
              <a:solidFill>
                <a:srgbClr val="351C75"/>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5"/>
          <p:cNvSpPr txBox="1"/>
          <p:nvPr/>
        </p:nvSpPr>
        <p:spPr>
          <a:xfrm>
            <a:off x="189399" y="388975"/>
            <a:ext cx="8740500" cy="509400"/>
          </a:xfrm>
          <a:prstGeom prst="rect">
            <a:avLst/>
          </a:prstGeom>
          <a:noFill/>
          <a:ln>
            <a:noFill/>
          </a:ln>
        </p:spPr>
        <p:txBody>
          <a:bodyPr anchorCtr="0" anchor="t" bIns="63025" lIns="63025" spcFirstLastPara="1" rIns="63025" wrap="square" tIns="63025">
            <a:spAutoFit/>
          </a:bodyPr>
          <a:lstStyle/>
          <a:p>
            <a:pPr indent="0" lvl="0" marL="0" rtl="0" algn="ctr">
              <a:lnSpc>
                <a:spcPct val="115000"/>
              </a:lnSpc>
              <a:spcBef>
                <a:spcPts val="1241"/>
              </a:spcBef>
              <a:spcAft>
                <a:spcPts val="414"/>
              </a:spcAft>
              <a:buNone/>
            </a:pPr>
            <a:r>
              <a:rPr b="1" lang="vi" sz="2482">
                <a:solidFill>
                  <a:srgbClr val="351C75"/>
                </a:solidFill>
              </a:rPr>
              <a:t>Dịch message/ tin nhắn (Slack, Chatwork, Teams…)</a:t>
            </a:r>
            <a:endParaRPr b="1" sz="2482">
              <a:solidFill>
                <a:srgbClr val="351C75"/>
              </a:solidFill>
            </a:endParaRPr>
          </a:p>
        </p:txBody>
      </p:sp>
      <p:sp>
        <p:nvSpPr>
          <p:cNvPr id="234" name="Google Shape;234;p35"/>
          <p:cNvSpPr/>
          <p:nvPr/>
        </p:nvSpPr>
        <p:spPr>
          <a:xfrm>
            <a:off x="1657375" y="1142050"/>
            <a:ext cx="5894400" cy="3106800"/>
          </a:xfrm>
          <a:prstGeom prst="roundRect">
            <a:avLst>
              <a:gd fmla="val 16667" name="adj"/>
            </a:avLst>
          </a:prstGeom>
          <a:solidFill>
            <a:srgbClr val="FFF5F5"/>
          </a:solidFill>
          <a:ln cap="flat" cmpd="sng" w="6575">
            <a:solidFill>
              <a:srgbClr val="FED48D"/>
            </a:solidFill>
            <a:prstDash val="solid"/>
            <a:round/>
            <a:headEnd len="sm" w="sm" type="none"/>
            <a:tailEnd len="sm" w="sm" type="none"/>
          </a:ln>
        </p:spPr>
        <p:txBody>
          <a:bodyPr anchorCtr="0" anchor="ctr" bIns="63025" lIns="63025" spcFirstLastPara="1" rIns="63025" wrap="square" tIns="63025">
            <a:noAutofit/>
          </a:bodyPr>
          <a:lstStyle/>
          <a:p>
            <a:pPr indent="0" lvl="0" marL="0" rtl="0" algn="l">
              <a:lnSpc>
                <a:spcPct val="115000"/>
              </a:lnSpc>
              <a:spcBef>
                <a:spcPts val="1400"/>
              </a:spcBef>
              <a:spcAft>
                <a:spcPts val="0"/>
              </a:spcAft>
              <a:buNone/>
            </a:pPr>
            <a:r>
              <a:rPr b="1" lang="vi" sz="1200">
                <a:solidFill>
                  <a:srgbClr val="351C75"/>
                </a:solidFill>
              </a:rPr>
              <a:t>✅ Nguyên tắc khi dịch Nhật → Việt:</a:t>
            </a:r>
            <a:endParaRPr b="1" sz="1200">
              <a:solidFill>
                <a:srgbClr val="351C75"/>
              </a:solidFill>
            </a:endParaRPr>
          </a:p>
          <a:p>
            <a:pPr indent="-304800" lvl="0" marL="457200" rtl="0" algn="l">
              <a:lnSpc>
                <a:spcPct val="115000"/>
              </a:lnSpc>
              <a:spcBef>
                <a:spcPts val="1200"/>
              </a:spcBef>
              <a:spcAft>
                <a:spcPts val="0"/>
              </a:spcAft>
              <a:buClr>
                <a:srgbClr val="351C75"/>
              </a:buClr>
              <a:buSzPts val="1200"/>
              <a:buChar char="●"/>
            </a:pPr>
            <a:r>
              <a:rPr lang="vi" sz="1200">
                <a:solidFill>
                  <a:srgbClr val="351C75"/>
                </a:solidFill>
              </a:rPr>
              <a:t>Hiểu rõ ngữ cảnh công việc để nắm bắt đúng ý của từng đoạn trao đổi.</a:t>
            </a:r>
            <a:endParaRPr sz="1200">
              <a:solidFill>
                <a:srgbClr val="351C75"/>
              </a:solidFill>
            </a:endParaRPr>
          </a:p>
          <a:p>
            <a:pPr indent="-304800" lvl="0" marL="457200" rtl="0" algn="l">
              <a:lnSpc>
                <a:spcPct val="115000"/>
              </a:lnSpc>
              <a:spcBef>
                <a:spcPts val="0"/>
              </a:spcBef>
              <a:spcAft>
                <a:spcPts val="0"/>
              </a:spcAft>
              <a:buClr>
                <a:srgbClr val="351C75"/>
              </a:buClr>
              <a:buSzPts val="1200"/>
              <a:buChar char="●"/>
            </a:pPr>
            <a:r>
              <a:rPr lang="vi" sz="1200">
                <a:solidFill>
                  <a:srgbClr val="351C75"/>
                </a:solidFill>
              </a:rPr>
              <a:t>Theo dõi và quản lý thread chặt chẽ, tránh bỏ sót nội dung (vì 1 chủ đề có thể chia nhỏ nhiều luồng).</a:t>
            </a:r>
            <a:endParaRPr sz="1200">
              <a:solidFill>
                <a:srgbClr val="351C75"/>
              </a:solidFill>
            </a:endParaRPr>
          </a:p>
          <a:p>
            <a:pPr indent="-304800" lvl="0" marL="457200" rtl="0" algn="l">
              <a:lnSpc>
                <a:spcPct val="115000"/>
              </a:lnSpc>
              <a:spcBef>
                <a:spcPts val="0"/>
              </a:spcBef>
              <a:spcAft>
                <a:spcPts val="0"/>
              </a:spcAft>
              <a:buClr>
                <a:srgbClr val="351C75"/>
              </a:buClr>
              <a:buSzPts val="1200"/>
              <a:buChar char="●"/>
            </a:pPr>
            <a:r>
              <a:rPr lang="vi" sz="1200">
                <a:solidFill>
                  <a:srgbClr val="351C75"/>
                </a:solidFill>
              </a:rPr>
              <a:t>Nhận diện sắc thái câu viết: bình thường, lịch sự, thân mật, nghiêm túc, không hài lòng… để dịch đúng giọng điệu và mức độ nghiêm trọng.</a:t>
            </a:r>
            <a:endParaRPr sz="1200">
              <a:solidFill>
                <a:srgbClr val="351C75"/>
              </a:solidFill>
            </a:endParaRPr>
          </a:p>
          <a:p>
            <a:pPr indent="0" lvl="0" marL="0" rtl="0" algn="l">
              <a:lnSpc>
                <a:spcPct val="115000"/>
              </a:lnSpc>
              <a:spcBef>
                <a:spcPts val="1400"/>
              </a:spcBef>
              <a:spcAft>
                <a:spcPts val="0"/>
              </a:spcAft>
              <a:buNone/>
            </a:pPr>
            <a:r>
              <a:rPr b="1" lang="vi" sz="1200">
                <a:solidFill>
                  <a:srgbClr val="351C75"/>
                </a:solidFill>
              </a:rPr>
              <a:t>✅ Nguyên tắc khi dịch Việt → Nhật:</a:t>
            </a:r>
            <a:endParaRPr b="1" sz="1200">
              <a:solidFill>
                <a:srgbClr val="351C75"/>
              </a:solidFill>
            </a:endParaRPr>
          </a:p>
          <a:p>
            <a:pPr indent="-304800" lvl="0" marL="457200" rtl="0" algn="l">
              <a:lnSpc>
                <a:spcPct val="115000"/>
              </a:lnSpc>
              <a:spcBef>
                <a:spcPts val="1200"/>
              </a:spcBef>
              <a:spcAft>
                <a:spcPts val="0"/>
              </a:spcAft>
              <a:buClr>
                <a:srgbClr val="351C75"/>
              </a:buClr>
              <a:buSzPts val="1200"/>
              <a:buChar char="●"/>
            </a:pPr>
            <a:r>
              <a:rPr lang="vi" sz="1200">
                <a:solidFill>
                  <a:srgbClr val="351C75"/>
                </a:solidFill>
              </a:rPr>
              <a:t>Ưu tiên văn phong lịch sự, rõ ràng, tự nhiên.</a:t>
            </a:r>
            <a:endParaRPr sz="1200">
              <a:solidFill>
                <a:srgbClr val="351C75"/>
              </a:solidFill>
            </a:endParaRPr>
          </a:p>
          <a:p>
            <a:pPr indent="-304800" lvl="0" marL="457200" rtl="0" algn="l">
              <a:lnSpc>
                <a:spcPct val="115000"/>
              </a:lnSpc>
              <a:spcBef>
                <a:spcPts val="0"/>
              </a:spcBef>
              <a:spcAft>
                <a:spcPts val="0"/>
              </a:spcAft>
              <a:buClr>
                <a:srgbClr val="351C75"/>
              </a:buClr>
              <a:buSzPts val="1200"/>
              <a:buChar char="●"/>
            </a:pPr>
            <a:r>
              <a:rPr lang="vi" sz="1200">
                <a:solidFill>
                  <a:srgbClr val="351C75"/>
                </a:solidFill>
              </a:rPr>
              <a:t>Tránh từ ngữ cảm tính hoặc xuồng xã.</a:t>
            </a:r>
            <a:endParaRPr sz="1200">
              <a:solidFill>
                <a:srgbClr val="351C75"/>
              </a:solidFill>
            </a:endParaRPr>
          </a:p>
          <a:p>
            <a:pPr indent="-304800" lvl="0" marL="457200" rtl="0" algn="l">
              <a:lnSpc>
                <a:spcPct val="115000"/>
              </a:lnSpc>
              <a:spcBef>
                <a:spcPts val="0"/>
              </a:spcBef>
              <a:spcAft>
                <a:spcPts val="0"/>
              </a:spcAft>
              <a:buClr>
                <a:srgbClr val="351C75"/>
              </a:buClr>
              <a:buSzPts val="1200"/>
              <a:buChar char="●"/>
            </a:pPr>
            <a:r>
              <a:rPr lang="vi" sz="1200">
                <a:solidFill>
                  <a:srgbClr val="351C75"/>
                </a:solidFill>
              </a:rPr>
              <a:t>Trong trường hợp tin nhắn rời rạc, nên tổng hợp và làm rõ mạch logic khi chuyển ngữ.</a:t>
            </a:r>
            <a:endParaRPr sz="1200">
              <a:solidFill>
                <a:srgbClr val="351C75"/>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nvSpPr>
        <p:spPr>
          <a:xfrm>
            <a:off x="189399" y="388975"/>
            <a:ext cx="8740500" cy="509400"/>
          </a:xfrm>
          <a:prstGeom prst="rect">
            <a:avLst/>
          </a:prstGeom>
          <a:noFill/>
          <a:ln>
            <a:noFill/>
          </a:ln>
        </p:spPr>
        <p:txBody>
          <a:bodyPr anchorCtr="0" anchor="t" bIns="63025" lIns="63025" spcFirstLastPara="1" rIns="63025" wrap="square" tIns="63025">
            <a:spAutoFit/>
          </a:bodyPr>
          <a:lstStyle/>
          <a:p>
            <a:pPr indent="0" lvl="0" marL="0" rtl="0" algn="ctr">
              <a:lnSpc>
                <a:spcPct val="115000"/>
              </a:lnSpc>
              <a:spcBef>
                <a:spcPts val="1241"/>
              </a:spcBef>
              <a:spcAft>
                <a:spcPts val="414"/>
              </a:spcAft>
              <a:buNone/>
            </a:pPr>
            <a:r>
              <a:rPr b="1" lang="vi" sz="2482">
                <a:solidFill>
                  <a:srgbClr val="351C75"/>
                </a:solidFill>
              </a:rPr>
              <a:t>Kiểm tra &amp; xác nhận trước khi phản hồi</a:t>
            </a:r>
            <a:endParaRPr b="1" sz="2482">
              <a:solidFill>
                <a:srgbClr val="351C75"/>
              </a:solidFill>
            </a:endParaRPr>
          </a:p>
        </p:txBody>
      </p:sp>
      <p:sp>
        <p:nvSpPr>
          <p:cNvPr id="240" name="Google Shape;240;p36"/>
          <p:cNvSpPr/>
          <p:nvPr/>
        </p:nvSpPr>
        <p:spPr>
          <a:xfrm>
            <a:off x="2105625" y="974575"/>
            <a:ext cx="5199600" cy="3591900"/>
          </a:xfrm>
          <a:prstGeom prst="roundRect">
            <a:avLst>
              <a:gd fmla="val 16667" name="adj"/>
            </a:avLst>
          </a:prstGeom>
          <a:solidFill>
            <a:srgbClr val="FFF5F5"/>
          </a:solidFill>
          <a:ln cap="flat" cmpd="sng" w="6575">
            <a:solidFill>
              <a:srgbClr val="FED48D"/>
            </a:solidFill>
            <a:prstDash val="solid"/>
            <a:round/>
            <a:headEnd len="sm" w="sm" type="none"/>
            <a:tailEnd len="sm" w="sm" type="none"/>
          </a:ln>
        </p:spPr>
        <p:txBody>
          <a:bodyPr anchorCtr="0" anchor="ctr" bIns="63025" lIns="63025" spcFirstLastPara="1" rIns="63025" wrap="square" tIns="63025">
            <a:noAutofit/>
          </a:bodyPr>
          <a:lstStyle/>
          <a:p>
            <a:pPr indent="0" lvl="0" marL="0" rtl="0" algn="l">
              <a:lnSpc>
                <a:spcPct val="115000"/>
              </a:lnSpc>
              <a:spcBef>
                <a:spcPts val="1400"/>
              </a:spcBef>
              <a:spcAft>
                <a:spcPts val="0"/>
              </a:spcAft>
              <a:buNone/>
            </a:pPr>
            <a:r>
              <a:rPr b="1" lang="vi" sz="1000">
                <a:solidFill>
                  <a:srgbClr val="351C75"/>
                </a:solidFill>
              </a:rPr>
              <a:t>✅ 1. Phân tích yêu cầu từ phía khách:</a:t>
            </a:r>
            <a:endParaRPr b="1" sz="1000">
              <a:solidFill>
                <a:srgbClr val="351C75"/>
              </a:solidFill>
            </a:endParaRPr>
          </a:p>
          <a:p>
            <a:pPr indent="-292100" lvl="0" marL="457200" rtl="0" algn="l">
              <a:lnSpc>
                <a:spcPct val="115000"/>
              </a:lnSpc>
              <a:spcBef>
                <a:spcPts val="1200"/>
              </a:spcBef>
              <a:spcAft>
                <a:spcPts val="0"/>
              </a:spcAft>
              <a:buClr>
                <a:srgbClr val="351C75"/>
              </a:buClr>
              <a:buSzPts val="1000"/>
              <a:buChar char="●"/>
            </a:pPr>
            <a:r>
              <a:rPr lang="vi" sz="1000">
                <a:solidFill>
                  <a:srgbClr val="351C75"/>
                </a:solidFill>
              </a:rPr>
              <a:t>Xác định có bao nhiêu ý chính trong nội dung khách gửi.</a:t>
            </a:r>
            <a:endParaRPr sz="1000">
              <a:solidFill>
                <a:srgbClr val="351C75"/>
              </a:solidFill>
            </a:endParaRPr>
          </a:p>
          <a:p>
            <a:pPr indent="-292100" lvl="0" marL="457200" rtl="0" algn="l">
              <a:lnSpc>
                <a:spcPct val="115000"/>
              </a:lnSpc>
              <a:spcBef>
                <a:spcPts val="0"/>
              </a:spcBef>
              <a:spcAft>
                <a:spcPts val="0"/>
              </a:spcAft>
              <a:buClr>
                <a:srgbClr val="351C75"/>
              </a:buClr>
              <a:buSzPts val="1000"/>
              <a:buChar char="●"/>
            </a:pPr>
            <a:r>
              <a:rPr lang="vi" sz="1000">
                <a:solidFill>
                  <a:srgbClr val="351C75"/>
                </a:solidFill>
              </a:rPr>
              <a:t>Làm rõ: cần phản hồi ý nào, mức độ chi tiết ra sao.</a:t>
            </a:r>
            <a:endParaRPr sz="1000">
              <a:solidFill>
                <a:srgbClr val="351C75"/>
              </a:solidFill>
            </a:endParaRPr>
          </a:p>
          <a:p>
            <a:pPr indent="0" lvl="0" marL="0" rtl="0" algn="l">
              <a:lnSpc>
                <a:spcPct val="115000"/>
              </a:lnSpc>
              <a:spcBef>
                <a:spcPts val="1400"/>
              </a:spcBef>
              <a:spcAft>
                <a:spcPts val="0"/>
              </a:spcAft>
              <a:buNone/>
            </a:pPr>
            <a:r>
              <a:rPr b="1" lang="vi" sz="1000">
                <a:solidFill>
                  <a:srgbClr val="351C75"/>
                </a:solidFill>
              </a:rPr>
              <a:t>✅ 2. Kiểm tra câu trả lời từ phía team nội bộ:</a:t>
            </a:r>
            <a:endParaRPr b="1" sz="1000">
              <a:solidFill>
                <a:srgbClr val="351C75"/>
              </a:solidFill>
            </a:endParaRPr>
          </a:p>
          <a:p>
            <a:pPr indent="-292100" lvl="0" marL="457200" rtl="0" algn="l">
              <a:lnSpc>
                <a:spcPct val="115000"/>
              </a:lnSpc>
              <a:spcBef>
                <a:spcPts val="1200"/>
              </a:spcBef>
              <a:spcAft>
                <a:spcPts val="0"/>
              </a:spcAft>
              <a:buClr>
                <a:srgbClr val="351C75"/>
              </a:buClr>
              <a:buSzPts val="1000"/>
              <a:buChar char="●"/>
            </a:pPr>
            <a:r>
              <a:rPr lang="vi" sz="1000">
                <a:solidFill>
                  <a:srgbClr val="351C75"/>
                </a:solidFill>
              </a:rPr>
              <a:t>Đối chiếu từng ý khách hỏi: team đã trả lời đầy đủ và chính xác chưa?</a:t>
            </a:r>
            <a:endParaRPr sz="1000">
              <a:solidFill>
                <a:srgbClr val="351C75"/>
              </a:solidFill>
            </a:endParaRPr>
          </a:p>
          <a:p>
            <a:pPr indent="-292100" lvl="0" marL="457200" rtl="0" algn="l">
              <a:lnSpc>
                <a:spcPct val="115000"/>
              </a:lnSpc>
              <a:spcBef>
                <a:spcPts val="0"/>
              </a:spcBef>
              <a:spcAft>
                <a:spcPts val="0"/>
              </a:spcAft>
              <a:buClr>
                <a:srgbClr val="351C75"/>
              </a:buClr>
              <a:buSzPts val="1000"/>
              <a:buChar char="●"/>
            </a:pPr>
            <a:r>
              <a:rPr lang="vi" sz="1000">
                <a:solidFill>
                  <a:srgbClr val="351C75"/>
                </a:solidFill>
              </a:rPr>
              <a:t>Kiểm tra tính logic và liên kết giữa các phần trả lời.</a:t>
            </a:r>
            <a:endParaRPr sz="1000">
              <a:solidFill>
                <a:srgbClr val="351C75"/>
              </a:solidFill>
            </a:endParaRPr>
          </a:p>
          <a:p>
            <a:pPr indent="-292100" lvl="0" marL="457200" rtl="0" algn="l">
              <a:lnSpc>
                <a:spcPct val="115000"/>
              </a:lnSpc>
              <a:spcBef>
                <a:spcPts val="0"/>
              </a:spcBef>
              <a:spcAft>
                <a:spcPts val="0"/>
              </a:spcAft>
              <a:buClr>
                <a:srgbClr val="351C75"/>
              </a:buClr>
              <a:buSzPts val="1000"/>
              <a:buChar char="●"/>
            </a:pPr>
            <a:r>
              <a:rPr lang="vi" sz="1000">
                <a:solidFill>
                  <a:srgbClr val="351C75"/>
                </a:solidFill>
              </a:rPr>
              <a:t>Xác định có chỗ nào mơ hồ, thiếu căn cứ, hoặc chưa đúng trọng tâm không.</a:t>
            </a:r>
            <a:endParaRPr sz="1000">
              <a:solidFill>
                <a:srgbClr val="351C75"/>
              </a:solidFill>
            </a:endParaRPr>
          </a:p>
          <a:p>
            <a:pPr indent="0" lvl="0" marL="0" rtl="0" algn="l">
              <a:lnSpc>
                <a:spcPct val="115000"/>
              </a:lnSpc>
              <a:spcBef>
                <a:spcPts val="1400"/>
              </a:spcBef>
              <a:spcAft>
                <a:spcPts val="0"/>
              </a:spcAft>
              <a:buNone/>
            </a:pPr>
            <a:r>
              <a:rPr b="1" lang="vi" sz="1000">
                <a:solidFill>
                  <a:srgbClr val="351C75"/>
                </a:solidFill>
              </a:rPr>
              <a:t>✅ 3. Nếu chưa đầy đủ:</a:t>
            </a:r>
            <a:endParaRPr b="1" sz="1000">
              <a:solidFill>
                <a:srgbClr val="351C75"/>
              </a:solidFill>
            </a:endParaRPr>
          </a:p>
          <a:p>
            <a:pPr indent="-292100" lvl="0" marL="457200" rtl="0" algn="l">
              <a:lnSpc>
                <a:spcPct val="115000"/>
              </a:lnSpc>
              <a:spcBef>
                <a:spcPts val="1200"/>
              </a:spcBef>
              <a:spcAft>
                <a:spcPts val="0"/>
              </a:spcAft>
              <a:buClr>
                <a:srgbClr val="351C75"/>
              </a:buClr>
              <a:buSzPts val="1000"/>
              <a:buChar char="●"/>
            </a:pPr>
            <a:r>
              <a:rPr lang="vi" sz="1000">
                <a:solidFill>
                  <a:srgbClr val="351C75"/>
                </a:solidFill>
              </a:rPr>
              <a:t>Chủ động xác nhận lại với team để yêu cầu trả lời bổ sung hoặc làm rõ.</a:t>
            </a:r>
            <a:endParaRPr sz="1000">
              <a:solidFill>
                <a:srgbClr val="351C75"/>
              </a:solidFill>
            </a:endParaRPr>
          </a:p>
          <a:p>
            <a:pPr indent="-292100" lvl="0" marL="457200" rtl="0" algn="l">
              <a:lnSpc>
                <a:spcPct val="115000"/>
              </a:lnSpc>
              <a:spcBef>
                <a:spcPts val="0"/>
              </a:spcBef>
              <a:spcAft>
                <a:spcPts val="0"/>
              </a:spcAft>
              <a:buClr>
                <a:srgbClr val="351C75"/>
              </a:buClr>
              <a:buSzPts val="1000"/>
              <a:buChar char="●"/>
            </a:pPr>
            <a:r>
              <a:rPr lang="vi" sz="1000">
                <a:solidFill>
                  <a:srgbClr val="351C75"/>
                </a:solidFill>
              </a:rPr>
              <a:t>Nếu cần, gợi ý cụ thể cho team nên trả lời như thế nào để đúng yêu cầu khách.</a:t>
            </a:r>
            <a:endParaRPr sz="1000">
              <a:solidFill>
                <a:srgbClr val="351C75"/>
              </a:solidFill>
            </a:endParaRPr>
          </a:p>
          <a:p>
            <a:pPr indent="0" lvl="0" marL="0" rtl="0" algn="l">
              <a:lnSpc>
                <a:spcPct val="115000"/>
              </a:lnSpc>
              <a:spcBef>
                <a:spcPts val="1400"/>
              </a:spcBef>
              <a:spcAft>
                <a:spcPts val="400"/>
              </a:spcAft>
              <a:buNone/>
            </a:pPr>
            <a:r>
              <a:rPr b="1" lang="vi" sz="1000">
                <a:solidFill>
                  <a:srgbClr val="351C75"/>
                </a:solidFill>
              </a:rPr>
              <a:t>✅ 4. Tổng hợp nội dung cần truyền đạt</a:t>
            </a:r>
            <a:endParaRPr sz="1000">
              <a:solidFill>
                <a:srgbClr val="351C75"/>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44" name="Shape 244"/>
        <p:cNvGrpSpPr/>
        <p:nvPr/>
      </p:nvGrpSpPr>
      <p:grpSpPr>
        <a:xfrm>
          <a:off x="0" y="0"/>
          <a:ext cx="0" cy="0"/>
          <a:chOff x="0" y="0"/>
          <a:chExt cx="0" cy="0"/>
        </a:xfrm>
      </p:grpSpPr>
      <p:sp>
        <p:nvSpPr>
          <p:cNvPr id="245" name="Google Shape;245;p37"/>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Thực hành 01</a:t>
            </a:r>
            <a:endParaRPr sz="3600">
              <a:solidFill>
                <a:srgbClr val="351C75"/>
              </a:solidFill>
            </a:endParaRPr>
          </a:p>
        </p:txBody>
      </p:sp>
      <p:sp>
        <p:nvSpPr>
          <p:cNvPr id="246" name="Google Shape;246;p37"/>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vi" sz="1200">
                <a:solidFill>
                  <a:srgbClr val="351C75"/>
                </a:solidFill>
              </a:rPr>
              <a:t>Dịch nội dung tin nhắn sau sang tiếng Việt và gửi lại cho team phát triển</a:t>
            </a:r>
            <a:endParaRPr b="1" sz="1200">
              <a:solidFill>
                <a:srgbClr val="351C75"/>
              </a:solidFill>
            </a:endParaRPr>
          </a:p>
          <a:p>
            <a:pPr indent="0" lvl="0" marL="0" rtl="0" algn="l">
              <a:lnSpc>
                <a:spcPct val="115000"/>
              </a:lnSpc>
              <a:spcBef>
                <a:spcPts val="400"/>
              </a:spcBef>
              <a:spcAft>
                <a:spcPts val="0"/>
              </a:spcAft>
              <a:buClr>
                <a:schemeClr val="dk1"/>
              </a:buClr>
              <a:buSzPts val="1100"/>
              <a:buFont typeface="Arial"/>
              <a:buNone/>
            </a:pPr>
            <a:r>
              <a:rPr lang="vi" sz="1200">
                <a:solidFill>
                  <a:srgbClr val="351C75"/>
                </a:solidFill>
                <a:highlight>
                  <a:srgbClr val="FFF5F5"/>
                </a:highlight>
              </a:rPr>
              <a:t>構成図をお送り頂きありがとうございます。</a:t>
            </a:r>
            <a:endParaRPr sz="12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51C75"/>
              </a:solidFill>
              <a:highlight>
                <a:srgbClr val="FFF5F5"/>
              </a:highlight>
            </a:endParaRPr>
          </a:p>
          <a:p>
            <a:pPr indent="0" lvl="0" marL="0" rtl="0" algn="l">
              <a:lnSpc>
                <a:spcPct val="115000"/>
              </a:lnSpc>
              <a:spcBef>
                <a:spcPts val="0"/>
              </a:spcBef>
              <a:spcAft>
                <a:spcPts val="0"/>
              </a:spcAft>
              <a:buNone/>
            </a:pPr>
            <a:r>
              <a:rPr lang="vi" sz="1200">
                <a:solidFill>
                  <a:srgbClr val="351C75"/>
                </a:solidFill>
                <a:highlight>
                  <a:srgbClr val="FFF5F5"/>
                </a:highlight>
              </a:rPr>
              <a:t>社内で確認していたところ、当初は田中と木村社長の間でサーバーレスではない、</a:t>
            </a:r>
            <a:endParaRPr sz="12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highlight>
                  <a:srgbClr val="FFF5F5"/>
                </a:highlight>
              </a:rPr>
              <a:t>一般的なサーバー構成でお話されていたと聞きました。</a:t>
            </a:r>
            <a:endParaRPr sz="12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highlight>
                  <a:srgbClr val="FFF5F5"/>
                </a:highlight>
              </a:rPr>
              <a:t>添付ファイルは御社からお送り頂いた概算見積となります。</a:t>
            </a:r>
            <a:endParaRPr sz="12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highlight>
                  <a:srgbClr val="FFF5F5"/>
                </a:highlight>
              </a:rPr>
              <a:t>つきましては比較のため、こちらの内容の構成もご提案いただく事は可能でしょうか。</a:t>
            </a:r>
            <a:endParaRPr sz="12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highlight>
                  <a:srgbClr val="FFF5F5"/>
                </a:highlight>
              </a:rPr>
              <a:t>それぞれのメリット・デメリットや費用などを考慮して決定したいと考えております。</a:t>
            </a:r>
            <a:endParaRPr sz="12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highlight>
                  <a:srgbClr val="FFF5F5"/>
                </a:highlight>
              </a:rPr>
              <a:t>こちらのスケジュールについては改めて調整する形で問題ございません。</a:t>
            </a:r>
            <a:endParaRPr sz="12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sz="1200">
                <a:solidFill>
                  <a:srgbClr val="351C75"/>
                </a:solidFill>
                <a:highlight>
                  <a:srgbClr val="FFF5F5"/>
                </a:highlight>
              </a:rPr>
              <a:t>余裕を持って確認・提案のご対応をして頂きたいと考えております。</a:t>
            </a:r>
            <a:endParaRPr sz="12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51C75"/>
              </a:solidFill>
              <a:highlight>
                <a:srgbClr val="FFF5F5"/>
              </a:highlight>
            </a:endParaRPr>
          </a:p>
          <a:p>
            <a:pPr indent="0" lvl="0" marL="0" rtl="0" algn="l">
              <a:lnSpc>
                <a:spcPct val="150000"/>
              </a:lnSpc>
              <a:spcBef>
                <a:spcPts val="0"/>
              </a:spcBef>
              <a:spcAft>
                <a:spcPts val="0"/>
              </a:spcAft>
              <a:buNone/>
            </a:pPr>
            <a:r>
              <a:rPr lang="vi" sz="1200">
                <a:solidFill>
                  <a:srgbClr val="351C75"/>
                </a:solidFill>
                <a:highlight>
                  <a:srgbClr val="FFF5F5"/>
                </a:highlight>
              </a:rPr>
              <a:t>よろしくお願いいたします。</a:t>
            </a:r>
            <a:endParaRPr b="1" sz="1200">
              <a:solidFill>
                <a:srgbClr val="351C75"/>
              </a:solidFill>
              <a:highlight>
                <a:srgbClr val="FFF5F5"/>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50" name="Shape 250"/>
        <p:cNvGrpSpPr/>
        <p:nvPr/>
      </p:nvGrpSpPr>
      <p:grpSpPr>
        <a:xfrm>
          <a:off x="0" y="0"/>
          <a:ext cx="0" cy="0"/>
          <a:chOff x="0" y="0"/>
          <a:chExt cx="0" cy="0"/>
        </a:xfrm>
      </p:grpSpPr>
      <p:sp>
        <p:nvSpPr>
          <p:cNvPr id="251" name="Google Shape;251;p38"/>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sz="3600">
              <a:solidFill>
                <a:srgbClr val="351C75"/>
              </a:solidFill>
            </a:endParaRPr>
          </a:p>
        </p:txBody>
      </p:sp>
      <p:sp>
        <p:nvSpPr>
          <p:cNvPr id="252" name="Google Shape;252;p38"/>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vi">
                <a:solidFill>
                  <a:srgbClr val="351C75"/>
                </a:solidFill>
                <a:highlight>
                  <a:srgbClr val="FFF5F5"/>
                </a:highlight>
              </a:rPr>
              <a:t>Cảm ơn bạn đã gửi sơ đồ cấu trúc.</a:t>
            </a:r>
            <a:endParaRPr>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a:solidFill>
                  <a:srgbClr val="351C75"/>
                </a:solidFill>
                <a:highlight>
                  <a:srgbClr val="FFF5F5"/>
                </a:highlight>
              </a:rPr>
              <a:t>Khi xác nhận nội bộ, tôi được biết rằng ban đầu giữa Tanaka và giám đốc Kimura đã</a:t>
            </a:r>
            <a:endParaRPr>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a:solidFill>
                  <a:srgbClr val="351C75"/>
                </a:solidFill>
                <a:highlight>
                  <a:srgbClr val="FFF5F5"/>
                </a:highlight>
              </a:rPr>
              <a:t>trao đổi với nhau về cấu hình server thông thường, không phải dạng serverless.</a:t>
            </a:r>
            <a:endParaRPr>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a:solidFill>
                  <a:srgbClr val="351C75"/>
                </a:solidFill>
                <a:highlight>
                  <a:srgbClr val="FFF5F5"/>
                </a:highlight>
              </a:rPr>
              <a:t>File đính kèm là bản báo giá sơ bộ mà bên bạn đã gửi cho chúng tôi.</a:t>
            </a:r>
            <a:endParaRPr>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a:solidFill>
                  <a:srgbClr val="351C75"/>
                </a:solidFill>
                <a:highlight>
                  <a:srgbClr val="FFF5F5"/>
                </a:highlight>
              </a:rPr>
              <a:t>Để so sánh, bạn có thể đề xuất cả cấu hình theo nội dung này được không?</a:t>
            </a:r>
            <a:endParaRPr>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a:solidFill>
                  <a:srgbClr val="351C75"/>
                </a:solidFill>
                <a:highlight>
                  <a:srgbClr val="FFF5F5"/>
                </a:highlight>
              </a:rPr>
              <a:t>Bên tôi sẽ quyết định sau khi cân nhắc các điểm mạnh, điểm yếu và chi phí của từng phương án.</a:t>
            </a:r>
            <a:endParaRPr>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a:solidFill>
                  <a:srgbClr val="351C75"/>
                </a:solidFill>
                <a:highlight>
                  <a:srgbClr val="FFF5F5"/>
                </a:highlight>
              </a:rPr>
              <a:t>Về lịch trình thì điều chỉnh lại cũng được, không vấn đề gì.</a:t>
            </a:r>
            <a:endParaRPr>
              <a:solidFill>
                <a:srgbClr val="351C75"/>
              </a:solidFill>
              <a:highlight>
                <a:srgbClr val="FFF5F5"/>
              </a:highlight>
            </a:endParaRPr>
          </a:p>
          <a:p>
            <a:pPr indent="0" lvl="0" marL="0" rtl="0" algn="l">
              <a:lnSpc>
                <a:spcPct val="115000"/>
              </a:lnSpc>
              <a:spcBef>
                <a:spcPts val="0"/>
              </a:spcBef>
              <a:spcAft>
                <a:spcPts val="0"/>
              </a:spcAft>
              <a:buNone/>
            </a:pPr>
            <a:r>
              <a:rPr lang="vi">
                <a:solidFill>
                  <a:srgbClr val="351C75"/>
                </a:solidFill>
                <a:highlight>
                  <a:srgbClr val="FFF5F5"/>
                </a:highlight>
              </a:rPr>
              <a:t>Nhờ bạn xác nhận và đưa ra đề xuất một cách kỹ lưỡng, không cần phải gấp hay vội vàng.</a:t>
            </a:r>
            <a:endParaRPr b="1">
              <a:solidFill>
                <a:srgbClr val="351C75"/>
              </a:solidFill>
              <a:highlight>
                <a:srgbClr val="FFF5F5"/>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56" name="Shape 256"/>
        <p:cNvGrpSpPr/>
        <p:nvPr/>
      </p:nvGrpSpPr>
      <p:grpSpPr>
        <a:xfrm>
          <a:off x="0" y="0"/>
          <a:ext cx="0" cy="0"/>
          <a:chOff x="0" y="0"/>
          <a:chExt cx="0" cy="0"/>
        </a:xfrm>
      </p:grpSpPr>
      <p:sp>
        <p:nvSpPr>
          <p:cNvPr id="257" name="Google Shape;257;p39"/>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Thực hành 02</a:t>
            </a:r>
            <a:endParaRPr sz="3600">
              <a:solidFill>
                <a:srgbClr val="351C75"/>
              </a:solidFill>
            </a:endParaRPr>
          </a:p>
        </p:txBody>
      </p:sp>
      <p:sp>
        <p:nvSpPr>
          <p:cNvPr id="258" name="Google Shape;258;p39"/>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vi" sz="1800">
                <a:solidFill>
                  <a:srgbClr val="351C75"/>
                </a:solidFill>
              </a:rPr>
              <a:t>Dịch request sau sang tiếng Nhật để gửi cho khách hàng.</a:t>
            </a:r>
            <a:endParaRPr b="1" sz="1800">
              <a:solidFill>
                <a:srgbClr val="351C75"/>
              </a:solidFill>
            </a:endParaRPr>
          </a:p>
          <a:p>
            <a:pPr indent="0" lvl="0" marL="0" rtl="0" algn="l">
              <a:lnSpc>
                <a:spcPct val="115000"/>
              </a:lnSpc>
              <a:spcBef>
                <a:spcPts val="400"/>
              </a:spcBef>
              <a:spcAft>
                <a:spcPts val="0"/>
              </a:spcAft>
              <a:buClr>
                <a:schemeClr val="dk1"/>
              </a:buClr>
              <a:buSzPts val="1100"/>
              <a:buFont typeface="Arial"/>
              <a:buNone/>
            </a:pPr>
            <a:r>
              <a:t/>
            </a:r>
            <a:endParaRPr sz="1800">
              <a:solidFill>
                <a:srgbClr val="351C75"/>
              </a:solidFill>
            </a:endParaRPr>
          </a:p>
          <a:p>
            <a:pPr indent="0" lvl="0" marL="0" rtl="0" algn="l">
              <a:lnSpc>
                <a:spcPct val="115000"/>
              </a:lnSpc>
              <a:spcBef>
                <a:spcPts val="0"/>
              </a:spcBef>
              <a:spcAft>
                <a:spcPts val="0"/>
              </a:spcAft>
              <a:buNone/>
            </a:pPr>
            <a:r>
              <a:rPr lang="vi" sz="1800">
                <a:solidFill>
                  <a:srgbClr val="351C75"/>
                </a:solidFill>
                <a:highlight>
                  <a:srgbClr val="FFF5F5"/>
                </a:highlight>
              </a:rPr>
              <a:t>“ Em báo khách là anh đã xác nhận nội bộ thì đúng là ban đầu mình đề xuất phương án cấu trúc server thông thường, nhưng sau khi nghiên cứu thì làm với serverless sẽ tối ưu hơn. Anh sẽ tạo thêm tài liệu theo hướng server thông thường để khách cân nhắc. </a:t>
            </a:r>
            <a:r>
              <a:rPr lang="vi" sz="1800">
                <a:solidFill>
                  <a:srgbClr val="351C75"/>
                </a:solidFill>
              </a:rPr>
              <a:t>Trong tuần sau anh gửi khách hàng nhé.”</a:t>
            </a:r>
            <a:endParaRPr b="1" sz="1200">
              <a:solidFill>
                <a:srgbClr val="351C75"/>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62" name="Shape 262"/>
        <p:cNvGrpSpPr/>
        <p:nvPr/>
      </p:nvGrpSpPr>
      <p:grpSpPr>
        <a:xfrm>
          <a:off x="0" y="0"/>
          <a:ext cx="0" cy="0"/>
          <a:chOff x="0" y="0"/>
          <a:chExt cx="0" cy="0"/>
        </a:xfrm>
      </p:grpSpPr>
      <p:sp>
        <p:nvSpPr>
          <p:cNvPr id="263" name="Google Shape;263;p40"/>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Hướng dẫn phân tích</a:t>
            </a:r>
            <a:endParaRPr sz="3600">
              <a:solidFill>
                <a:srgbClr val="351C75"/>
              </a:solidFill>
            </a:endParaRPr>
          </a:p>
        </p:txBody>
      </p:sp>
      <p:sp>
        <p:nvSpPr>
          <p:cNvPr id="264" name="Google Shape;264;p40"/>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vi" sz="1100">
                <a:solidFill>
                  <a:srgbClr val="351C75"/>
                </a:solidFill>
              </a:rPr>
              <a:t>Phân tích nội dung nhận từ khách hàng</a:t>
            </a:r>
            <a:endParaRPr sz="1100">
              <a:solidFill>
                <a:srgbClr val="351C75"/>
              </a:solidFill>
              <a:highlight>
                <a:schemeClr val="lt1"/>
              </a:highlight>
            </a:endParaRPr>
          </a:p>
          <a:p>
            <a:pPr indent="0" lvl="0" marL="0" rtl="0" algn="l">
              <a:lnSpc>
                <a:spcPct val="115000"/>
              </a:lnSpc>
              <a:spcBef>
                <a:spcPts val="400"/>
              </a:spcBef>
              <a:spcAft>
                <a:spcPts val="0"/>
              </a:spcAft>
              <a:buClr>
                <a:schemeClr val="dk1"/>
              </a:buClr>
              <a:buSzPts val="1100"/>
              <a:buFont typeface="Arial"/>
              <a:buNone/>
            </a:pPr>
            <a:r>
              <a:rPr lang="vi" sz="1100">
                <a:solidFill>
                  <a:srgbClr val="351C75"/>
                </a:solidFill>
                <a:highlight>
                  <a:srgbClr val="FFF5F5"/>
                </a:highlight>
              </a:rPr>
              <a:t>構成図をお送り頂きありがとうございます。</a:t>
            </a:r>
            <a:endParaRPr sz="11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rPr lang="vi" sz="1100">
                <a:solidFill>
                  <a:srgbClr val="351C75"/>
                </a:solidFill>
                <a:highlight>
                  <a:srgbClr val="FFF5F5"/>
                </a:highlight>
              </a:rPr>
              <a:t>社内で確認していたところ、</a:t>
            </a:r>
            <a:r>
              <a:rPr lang="vi" sz="1100">
                <a:solidFill>
                  <a:srgbClr val="351C75"/>
                </a:solidFill>
                <a:highlight>
                  <a:srgbClr val="FFD523"/>
                </a:highlight>
              </a:rPr>
              <a:t>当初は田中と木村社長の間でサーバーレスではない、一般的なサーバー構成でお話されていたと聞きました。</a:t>
            </a:r>
            <a:r>
              <a:rPr lang="vi" sz="1100">
                <a:solidFill>
                  <a:srgbClr val="351C75"/>
                </a:solidFill>
                <a:highlight>
                  <a:schemeClr val="lt1"/>
                </a:highlight>
              </a:rPr>
              <a:t> </a:t>
            </a:r>
            <a:endParaRPr b="1" sz="1100">
              <a:solidFill>
                <a:srgbClr val="351C75"/>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vi" sz="1100">
                <a:solidFill>
                  <a:srgbClr val="351C75"/>
                </a:solidFill>
                <a:highlight>
                  <a:srgbClr val="FFF5F5"/>
                </a:highlight>
              </a:rPr>
              <a:t>添付ファイルは御社からお送り頂いた概算見積となります。</a:t>
            </a:r>
            <a:endParaRPr sz="11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51C75"/>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vi" sz="1100">
                <a:solidFill>
                  <a:srgbClr val="351C75"/>
                </a:solidFill>
                <a:highlight>
                  <a:srgbClr val="FFF5F5"/>
                </a:highlight>
              </a:rPr>
              <a:t>つきましては比較のため、</a:t>
            </a:r>
            <a:r>
              <a:rPr lang="vi" sz="1100">
                <a:solidFill>
                  <a:srgbClr val="351C75"/>
                </a:solidFill>
                <a:highlight>
                  <a:srgbClr val="FFD523"/>
                </a:highlight>
              </a:rPr>
              <a:t>こちらの内容の構成もご提案いただく事は可能でしょうか。</a:t>
            </a:r>
            <a:endParaRPr sz="1100">
              <a:solidFill>
                <a:srgbClr val="351C75"/>
              </a:solidFill>
              <a:highlight>
                <a:srgbClr val="FFD523"/>
              </a:highlight>
            </a:endParaRPr>
          </a:p>
          <a:p>
            <a:pPr indent="0" lvl="0" marL="0" rtl="0" algn="l">
              <a:lnSpc>
                <a:spcPct val="115000"/>
              </a:lnSpc>
              <a:spcBef>
                <a:spcPts val="0"/>
              </a:spcBef>
              <a:spcAft>
                <a:spcPts val="0"/>
              </a:spcAft>
              <a:buClr>
                <a:schemeClr val="dk1"/>
              </a:buClr>
              <a:buSzPts val="1100"/>
              <a:buFont typeface="Arial"/>
              <a:buNone/>
            </a:pPr>
            <a:r>
              <a:rPr lang="vi" sz="1100">
                <a:solidFill>
                  <a:srgbClr val="351C75"/>
                </a:solidFill>
                <a:highlight>
                  <a:srgbClr val="FFF5F5"/>
                </a:highlight>
              </a:rPr>
              <a:t>それぞれの</a:t>
            </a:r>
            <a:r>
              <a:rPr lang="vi" sz="1100">
                <a:solidFill>
                  <a:srgbClr val="351C75"/>
                </a:solidFill>
                <a:highlight>
                  <a:srgbClr val="00FFFF"/>
                </a:highlight>
              </a:rPr>
              <a:t>メリット・デメリット</a:t>
            </a:r>
            <a:r>
              <a:rPr lang="vi" sz="1100">
                <a:solidFill>
                  <a:srgbClr val="351C75"/>
                </a:solidFill>
                <a:highlight>
                  <a:srgbClr val="FFF5F5"/>
                </a:highlight>
              </a:rPr>
              <a:t>や</a:t>
            </a:r>
            <a:r>
              <a:rPr lang="vi" sz="1100">
                <a:solidFill>
                  <a:srgbClr val="351C75"/>
                </a:solidFill>
                <a:highlight>
                  <a:srgbClr val="00FFFF"/>
                </a:highlight>
              </a:rPr>
              <a:t>費用</a:t>
            </a:r>
            <a:r>
              <a:rPr lang="vi" sz="1100">
                <a:solidFill>
                  <a:srgbClr val="351C75"/>
                </a:solidFill>
                <a:highlight>
                  <a:srgbClr val="FFF5F5"/>
                </a:highlight>
              </a:rPr>
              <a:t>などを考慮して決定したいと考えております。</a:t>
            </a:r>
            <a:endParaRPr sz="1100">
              <a:solidFill>
                <a:srgbClr val="351C75"/>
              </a:solidFill>
              <a:highlight>
                <a:srgbClr val="FFF5F5"/>
              </a:highlight>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51C75"/>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vi" sz="1100">
                <a:solidFill>
                  <a:srgbClr val="351C75"/>
                </a:solidFill>
                <a:highlight>
                  <a:srgbClr val="FFF5F5"/>
                </a:highlight>
              </a:rPr>
              <a:t>こちらの</a:t>
            </a:r>
            <a:r>
              <a:rPr lang="vi" sz="1100">
                <a:solidFill>
                  <a:srgbClr val="351C75"/>
                </a:solidFill>
                <a:highlight>
                  <a:srgbClr val="00FFFF"/>
                </a:highlight>
              </a:rPr>
              <a:t>スケジュール</a:t>
            </a:r>
            <a:r>
              <a:rPr lang="vi" sz="1100">
                <a:solidFill>
                  <a:srgbClr val="351C75"/>
                </a:solidFill>
                <a:highlight>
                  <a:srgbClr val="FFD523"/>
                </a:highlight>
              </a:rPr>
              <a:t>については改めて調整する形で問題ございません。</a:t>
            </a:r>
            <a:endParaRPr sz="1100">
              <a:solidFill>
                <a:srgbClr val="351C75"/>
              </a:solidFill>
              <a:highlight>
                <a:srgbClr val="FFD523"/>
              </a:highlight>
            </a:endParaRPr>
          </a:p>
          <a:p>
            <a:pPr indent="0" lvl="0" marL="0" rtl="0" algn="l">
              <a:lnSpc>
                <a:spcPct val="115000"/>
              </a:lnSpc>
              <a:spcBef>
                <a:spcPts val="0"/>
              </a:spcBef>
              <a:spcAft>
                <a:spcPts val="0"/>
              </a:spcAft>
              <a:buNone/>
            </a:pPr>
            <a:r>
              <a:rPr lang="vi" sz="1100">
                <a:solidFill>
                  <a:srgbClr val="351C75"/>
                </a:solidFill>
                <a:highlight>
                  <a:srgbClr val="FFF5F5"/>
                </a:highlight>
              </a:rPr>
              <a:t>余裕を持って確認・提案のご対応をして頂きたいと考えております。</a:t>
            </a:r>
            <a:endParaRPr sz="1100">
              <a:solidFill>
                <a:srgbClr val="351C75"/>
              </a:solidFill>
              <a:highlight>
                <a:srgbClr val="FFF5F5"/>
              </a:highlight>
            </a:endParaRPr>
          </a:p>
          <a:p>
            <a:pPr indent="0" lvl="0" marL="0" rtl="0" algn="l">
              <a:lnSpc>
                <a:spcPct val="115000"/>
              </a:lnSpc>
              <a:spcBef>
                <a:spcPts val="0"/>
              </a:spcBef>
              <a:spcAft>
                <a:spcPts val="0"/>
              </a:spcAft>
              <a:buNone/>
            </a:pPr>
            <a:r>
              <a:t/>
            </a:r>
            <a:endParaRPr sz="1100">
              <a:solidFill>
                <a:srgbClr val="351C75"/>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vi" sz="1100">
                <a:solidFill>
                  <a:srgbClr val="351C75"/>
                </a:solidFill>
                <a:highlight>
                  <a:srgbClr val="FFF5F5"/>
                </a:highlight>
              </a:rPr>
              <a:t>Chú ý:</a:t>
            </a:r>
            <a:endParaRPr sz="1100">
              <a:solidFill>
                <a:srgbClr val="351C75"/>
              </a:solidFill>
              <a:highlight>
                <a:srgbClr val="FFF5F5"/>
              </a:highlight>
            </a:endParaRPr>
          </a:p>
          <a:p>
            <a:pPr indent="0" lvl="0" marL="0" rtl="0" algn="l">
              <a:lnSpc>
                <a:spcPct val="150000"/>
              </a:lnSpc>
              <a:spcBef>
                <a:spcPts val="0"/>
              </a:spcBef>
              <a:spcAft>
                <a:spcPts val="0"/>
              </a:spcAft>
              <a:buClr>
                <a:schemeClr val="dk1"/>
              </a:buClr>
              <a:buSzPts val="1100"/>
              <a:buFont typeface="Arial"/>
              <a:buNone/>
            </a:pPr>
            <a:r>
              <a:rPr lang="vi" sz="1100">
                <a:solidFill>
                  <a:srgbClr val="351C75"/>
                </a:solidFill>
                <a:highlight>
                  <a:srgbClr val="FFF5F5"/>
                </a:highlight>
              </a:rPr>
              <a:t>1. Trả lời đủ ý khách hàng.</a:t>
            </a:r>
            <a:endParaRPr sz="1100">
              <a:solidFill>
                <a:srgbClr val="351C75"/>
              </a:solidFill>
              <a:highlight>
                <a:srgbClr val="FFF5F5"/>
              </a:highlight>
            </a:endParaRPr>
          </a:p>
          <a:p>
            <a:pPr indent="0" lvl="0" marL="0" rtl="0" algn="l">
              <a:lnSpc>
                <a:spcPct val="150000"/>
              </a:lnSpc>
              <a:spcBef>
                <a:spcPts val="0"/>
              </a:spcBef>
              <a:spcAft>
                <a:spcPts val="0"/>
              </a:spcAft>
              <a:buNone/>
            </a:pPr>
            <a:r>
              <a:rPr lang="vi" sz="1100">
                <a:solidFill>
                  <a:srgbClr val="351C75"/>
                </a:solidFill>
                <a:highlight>
                  <a:srgbClr val="FFF5F5"/>
                </a:highlight>
              </a:rPr>
              <a:t>2. PM: Khi tạo tài liệu, cần làm rõ 3 điểm: メリット・デメリット, 費用, スケジュール giữa 2 phương án.</a:t>
            </a:r>
            <a:endParaRPr b="1" sz="1100">
              <a:solidFill>
                <a:srgbClr val="351C75"/>
              </a:solidFill>
              <a:highlight>
                <a:srgbClr val="FFF5F5"/>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68" name="Shape 268"/>
        <p:cNvGrpSpPr/>
        <p:nvPr/>
      </p:nvGrpSpPr>
      <p:grpSpPr>
        <a:xfrm>
          <a:off x="0" y="0"/>
          <a:ext cx="0" cy="0"/>
          <a:chOff x="0" y="0"/>
          <a:chExt cx="0" cy="0"/>
        </a:xfrm>
      </p:grpSpPr>
      <p:sp>
        <p:nvSpPr>
          <p:cNvPr id="269" name="Google Shape;269;p41"/>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Hướng dẫn phân tích</a:t>
            </a:r>
            <a:endParaRPr sz="3600">
              <a:solidFill>
                <a:srgbClr val="351C75"/>
              </a:solidFill>
            </a:endParaRPr>
          </a:p>
        </p:txBody>
      </p:sp>
      <p:sp>
        <p:nvSpPr>
          <p:cNvPr id="270" name="Google Shape;270;p41"/>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vi" sz="900">
                <a:solidFill>
                  <a:srgbClr val="351C75"/>
                </a:solidFill>
              </a:rPr>
              <a:t>Phân tích câu trả lời của team</a:t>
            </a:r>
            <a:endParaRPr sz="900">
              <a:solidFill>
                <a:srgbClr val="351C75"/>
              </a:solidFill>
              <a:highlight>
                <a:schemeClr val="lt1"/>
              </a:highlight>
            </a:endParaRPr>
          </a:p>
          <a:p>
            <a:pPr indent="0" lvl="0" marL="0" rtl="0" algn="l">
              <a:lnSpc>
                <a:spcPct val="115000"/>
              </a:lnSpc>
              <a:spcBef>
                <a:spcPts val="400"/>
              </a:spcBef>
              <a:spcAft>
                <a:spcPts val="0"/>
              </a:spcAft>
              <a:buClr>
                <a:schemeClr val="dk1"/>
              </a:buClr>
              <a:buSzPts val="1100"/>
              <a:buFont typeface="Arial"/>
              <a:buNone/>
            </a:pPr>
            <a:r>
              <a:rPr lang="vi" sz="900">
                <a:solidFill>
                  <a:srgbClr val="351C75"/>
                </a:solidFill>
                <a:highlight>
                  <a:schemeClr val="lt1"/>
                </a:highlight>
              </a:rPr>
              <a:t>社内で確認していたところ、</a:t>
            </a:r>
            <a:r>
              <a:rPr lang="vi" sz="900">
                <a:solidFill>
                  <a:srgbClr val="351C75"/>
                </a:solidFill>
                <a:highlight>
                  <a:srgbClr val="FFD523"/>
                </a:highlight>
              </a:rPr>
              <a:t>当初は田中と木村社長の間でサーバーレスではない、一般的なサーバー構成でお話されていたと聞きました。</a:t>
            </a:r>
            <a:r>
              <a:rPr lang="vi" sz="900">
                <a:solidFill>
                  <a:srgbClr val="351C75"/>
                </a:solidFill>
                <a:highlight>
                  <a:schemeClr val="lt1"/>
                </a:highlight>
              </a:rPr>
              <a:t> </a:t>
            </a:r>
            <a:endParaRPr sz="900">
              <a:solidFill>
                <a:srgbClr val="351C75"/>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vi" sz="900">
                <a:solidFill>
                  <a:srgbClr val="351C75"/>
                </a:solidFill>
                <a:highlight>
                  <a:schemeClr val="lt1"/>
                </a:highlight>
              </a:rPr>
              <a:t>Em báo khách là anh đã xác nhận nội bộ thì đúng là ban đầu mình đề xuất phương án server thông thường, nhưng sau khi nghiên cứu thì làm với serverless sẽ tối ưu hơn. </a:t>
            </a:r>
            <a:endParaRPr sz="900">
              <a:solidFill>
                <a:srgbClr val="351C75"/>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sz="900">
              <a:solidFill>
                <a:srgbClr val="351C75"/>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vi" sz="900">
                <a:solidFill>
                  <a:srgbClr val="351C75"/>
                </a:solidFill>
                <a:highlight>
                  <a:schemeClr val="lt1"/>
                </a:highlight>
              </a:rPr>
              <a:t>つきましては比較のため、</a:t>
            </a:r>
            <a:r>
              <a:rPr lang="vi" sz="900">
                <a:solidFill>
                  <a:srgbClr val="351C75"/>
                </a:solidFill>
                <a:highlight>
                  <a:srgbClr val="FFD523"/>
                </a:highlight>
              </a:rPr>
              <a:t>こちらの内容の構成もご提案いただく事は可能でしょうか。</a:t>
            </a:r>
            <a:endParaRPr sz="900">
              <a:solidFill>
                <a:srgbClr val="351C75"/>
              </a:solidFill>
              <a:highlight>
                <a:srgbClr val="FFD523"/>
              </a:highlight>
            </a:endParaRPr>
          </a:p>
          <a:p>
            <a:pPr indent="0" lvl="0" marL="0" rtl="0" algn="l">
              <a:lnSpc>
                <a:spcPct val="115000"/>
              </a:lnSpc>
              <a:spcBef>
                <a:spcPts val="0"/>
              </a:spcBef>
              <a:spcAft>
                <a:spcPts val="0"/>
              </a:spcAft>
              <a:buClr>
                <a:schemeClr val="dk1"/>
              </a:buClr>
              <a:buSzPts val="1100"/>
              <a:buFont typeface="Arial"/>
              <a:buNone/>
            </a:pPr>
            <a:r>
              <a:rPr lang="vi" sz="900">
                <a:solidFill>
                  <a:srgbClr val="351C75"/>
                </a:solidFill>
                <a:highlight>
                  <a:schemeClr val="lt1"/>
                </a:highlight>
              </a:rPr>
              <a:t>Anh sẽ tạo thêm tài liệu theo hướng server thông thường để khách cân nhắc. </a:t>
            </a:r>
            <a:endParaRPr sz="900">
              <a:solidFill>
                <a:srgbClr val="351C75"/>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vi" sz="900">
                <a:solidFill>
                  <a:srgbClr val="351C75"/>
                </a:solidFill>
                <a:highlight>
                  <a:schemeClr val="lt1"/>
                </a:highlight>
              </a:rPr>
              <a:t>Trong tuần sau anh gửi khách hàng nhé.</a:t>
            </a:r>
            <a:endParaRPr sz="900">
              <a:solidFill>
                <a:srgbClr val="351C75"/>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sz="900">
              <a:solidFill>
                <a:srgbClr val="351C75"/>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b="1" lang="vi" sz="900">
                <a:solidFill>
                  <a:srgbClr val="351C75"/>
                </a:solidFill>
                <a:highlight>
                  <a:schemeClr val="lt1"/>
                </a:highlight>
              </a:rPr>
              <a:t>XÁC NHẬN LẠI</a:t>
            </a:r>
            <a:endParaRPr b="1" sz="900">
              <a:solidFill>
                <a:srgbClr val="351C75"/>
              </a:solidFill>
              <a:highlight>
                <a:schemeClr val="lt1"/>
              </a:highlight>
            </a:endParaRPr>
          </a:p>
          <a:p>
            <a:pPr indent="-285750" lvl="0" marL="457200" rtl="0" algn="l">
              <a:lnSpc>
                <a:spcPct val="115000"/>
              </a:lnSpc>
              <a:spcBef>
                <a:spcPts val="0"/>
              </a:spcBef>
              <a:spcAft>
                <a:spcPts val="0"/>
              </a:spcAft>
              <a:buClr>
                <a:srgbClr val="3D85C6"/>
              </a:buClr>
              <a:buSzPts val="900"/>
              <a:buChar char="-"/>
            </a:pPr>
            <a:r>
              <a:rPr b="1" i="1" lang="vi" sz="900">
                <a:solidFill>
                  <a:srgbClr val="3D85C6"/>
                </a:solidFill>
                <a:highlight>
                  <a:schemeClr val="lt1"/>
                </a:highlight>
              </a:rPr>
              <a:t>Comtor: </a:t>
            </a:r>
            <a:r>
              <a:rPr i="1" lang="vi" sz="900">
                <a:solidFill>
                  <a:srgbClr val="3D85C6"/>
                </a:solidFill>
                <a:highlight>
                  <a:schemeClr val="lt1"/>
                </a:highlight>
              </a:rPr>
              <a:t>Trong </a:t>
            </a:r>
            <a:r>
              <a:rPr b="1" i="1" lang="vi" sz="900">
                <a:solidFill>
                  <a:srgbClr val="3D85C6"/>
                </a:solidFill>
                <a:highlight>
                  <a:schemeClr val="lt1"/>
                </a:highlight>
              </a:rPr>
              <a:t>tuần sau cụ thể là thứ mấy </a:t>
            </a:r>
            <a:r>
              <a:rPr i="1" lang="vi" sz="900">
                <a:solidFill>
                  <a:srgbClr val="3D85C6"/>
                </a:solidFill>
                <a:highlight>
                  <a:schemeClr val="lt1"/>
                </a:highlight>
              </a:rPr>
              <a:t>anh ơi? </a:t>
            </a:r>
            <a:endParaRPr i="1" sz="900">
              <a:solidFill>
                <a:srgbClr val="3D85C6"/>
              </a:solidFill>
              <a:highlight>
                <a:schemeClr val="lt1"/>
              </a:highlight>
            </a:endParaRPr>
          </a:p>
          <a:p>
            <a:pPr indent="-285750" lvl="0" marL="457200" rtl="0" algn="l">
              <a:lnSpc>
                <a:spcPct val="115000"/>
              </a:lnSpc>
              <a:spcBef>
                <a:spcPts val="0"/>
              </a:spcBef>
              <a:spcAft>
                <a:spcPts val="0"/>
              </a:spcAft>
              <a:buClr>
                <a:srgbClr val="3D85C6"/>
              </a:buClr>
              <a:buSzPts val="900"/>
              <a:buChar char="-"/>
            </a:pPr>
            <a:r>
              <a:rPr b="1" i="1" lang="vi" sz="900">
                <a:solidFill>
                  <a:srgbClr val="3D85C6"/>
                </a:solidFill>
                <a:highlight>
                  <a:schemeClr val="lt1"/>
                </a:highlight>
              </a:rPr>
              <a:t>PM: thứ 3 t</a:t>
            </a:r>
            <a:r>
              <a:rPr i="1" lang="vi" sz="900">
                <a:solidFill>
                  <a:srgbClr val="3D85C6"/>
                </a:solidFill>
                <a:highlight>
                  <a:schemeClr val="lt1"/>
                </a:highlight>
              </a:rPr>
              <a:t>uần sau anh gửi cho khách nhé. </a:t>
            </a:r>
            <a:endParaRPr i="1" sz="900">
              <a:solidFill>
                <a:srgbClr val="3D85C6"/>
              </a:solidFill>
              <a:highlight>
                <a:schemeClr val="lt1"/>
              </a:highlight>
            </a:endParaRPr>
          </a:p>
          <a:p>
            <a:pPr indent="-285750" lvl="0" marL="457200" rtl="0" algn="l">
              <a:lnSpc>
                <a:spcPct val="115000"/>
              </a:lnSpc>
              <a:spcBef>
                <a:spcPts val="0"/>
              </a:spcBef>
              <a:spcAft>
                <a:spcPts val="0"/>
              </a:spcAft>
              <a:buClr>
                <a:srgbClr val="3D85C6"/>
              </a:buClr>
              <a:buSzPts val="900"/>
              <a:buChar char="-"/>
            </a:pPr>
            <a:r>
              <a:rPr b="1" i="1" lang="vi" sz="900">
                <a:solidFill>
                  <a:srgbClr val="3D85C6"/>
                </a:solidFill>
                <a:highlight>
                  <a:schemeClr val="lt1"/>
                </a:highlight>
              </a:rPr>
              <a:t>Comtor: </a:t>
            </a:r>
            <a:r>
              <a:rPr i="1" lang="vi" sz="900">
                <a:solidFill>
                  <a:srgbClr val="3D85C6"/>
                </a:solidFill>
                <a:highlight>
                  <a:schemeClr val="lt1"/>
                </a:highlight>
              </a:rPr>
              <a:t>Tài liệu dự kiến dài khoảng bao nhiêu hả anh? Thứ 3 anh gửi sáng hay chiều để em còn </a:t>
            </a:r>
            <a:r>
              <a:rPr b="1" i="1" lang="vi" sz="900">
                <a:solidFill>
                  <a:srgbClr val="3D85C6"/>
                </a:solidFill>
                <a:highlight>
                  <a:schemeClr val="lt1"/>
                </a:highlight>
              </a:rPr>
              <a:t>ước tính thời gian dịch</a:t>
            </a:r>
            <a:r>
              <a:rPr i="1" lang="vi" sz="900">
                <a:solidFill>
                  <a:srgbClr val="3D85C6"/>
                </a:solidFill>
                <a:highlight>
                  <a:schemeClr val="lt1"/>
                </a:highlight>
              </a:rPr>
              <a:t> ạ.</a:t>
            </a:r>
            <a:endParaRPr i="1" sz="900">
              <a:solidFill>
                <a:srgbClr val="3D85C6"/>
              </a:solidFill>
              <a:highlight>
                <a:schemeClr val="lt1"/>
              </a:highlight>
            </a:endParaRPr>
          </a:p>
          <a:p>
            <a:pPr indent="-285750" lvl="0" marL="457200" rtl="0" algn="l">
              <a:lnSpc>
                <a:spcPct val="115000"/>
              </a:lnSpc>
              <a:spcBef>
                <a:spcPts val="0"/>
              </a:spcBef>
              <a:spcAft>
                <a:spcPts val="0"/>
              </a:spcAft>
              <a:buClr>
                <a:srgbClr val="3D85C6"/>
              </a:buClr>
              <a:buSzPts val="900"/>
              <a:buChar char="-"/>
            </a:pPr>
            <a:r>
              <a:rPr b="1" i="1" lang="vi" sz="900">
                <a:solidFill>
                  <a:srgbClr val="3D85C6"/>
                </a:solidFill>
                <a:highlight>
                  <a:schemeClr val="lt1"/>
                </a:highlight>
              </a:rPr>
              <a:t>PM:</a:t>
            </a:r>
            <a:r>
              <a:rPr i="1" lang="vi" sz="900">
                <a:solidFill>
                  <a:srgbClr val="3D85C6"/>
                </a:solidFill>
                <a:highlight>
                  <a:schemeClr val="lt1"/>
                </a:highlight>
              </a:rPr>
              <a:t> Chiều thứ 3 anh gửi cho em dịch nhé, tầm 2 pages hoặc hơn tí em ạ.</a:t>
            </a:r>
            <a:endParaRPr i="1" sz="900">
              <a:solidFill>
                <a:srgbClr val="3D85C6"/>
              </a:solidFill>
              <a:highlight>
                <a:schemeClr val="lt1"/>
              </a:highlight>
            </a:endParaRPr>
          </a:p>
          <a:p>
            <a:pPr indent="-285750" lvl="0" marL="457200" rtl="0" algn="l">
              <a:lnSpc>
                <a:spcPct val="115000"/>
              </a:lnSpc>
              <a:spcBef>
                <a:spcPts val="0"/>
              </a:spcBef>
              <a:spcAft>
                <a:spcPts val="0"/>
              </a:spcAft>
              <a:buClr>
                <a:srgbClr val="3D85C6"/>
              </a:buClr>
              <a:buSzPts val="900"/>
              <a:buChar char="-"/>
            </a:pPr>
            <a:r>
              <a:rPr b="1" i="1" lang="vi" sz="900">
                <a:solidFill>
                  <a:srgbClr val="3D85C6"/>
                </a:solidFill>
                <a:highlight>
                  <a:schemeClr val="lt1"/>
                </a:highlight>
              </a:rPr>
              <a:t>Comtor:</a:t>
            </a:r>
            <a:r>
              <a:rPr i="1" lang="vi" sz="900">
                <a:solidFill>
                  <a:srgbClr val="3D85C6"/>
                </a:solidFill>
                <a:highlight>
                  <a:schemeClr val="lt1"/>
                </a:highlight>
              </a:rPr>
              <a:t> Vậy em còn các task khác nữa nên không dịch kịp gửi cho khách trong thứ 3 đâu ạ. Để chắc chắn thì em hẹn khách thứ 4 mình gửi anh nhé.</a:t>
            </a:r>
            <a:endParaRPr i="1" sz="900">
              <a:solidFill>
                <a:srgbClr val="3D85C6"/>
              </a:solidFill>
              <a:highlight>
                <a:schemeClr val="lt1"/>
              </a:highlight>
            </a:endParaRPr>
          </a:p>
          <a:p>
            <a:pPr indent="-285750" lvl="0" marL="457200" rtl="0" algn="l">
              <a:lnSpc>
                <a:spcPct val="115000"/>
              </a:lnSpc>
              <a:spcBef>
                <a:spcPts val="0"/>
              </a:spcBef>
              <a:spcAft>
                <a:spcPts val="0"/>
              </a:spcAft>
              <a:buClr>
                <a:srgbClr val="3D85C6"/>
              </a:buClr>
              <a:buSzPts val="900"/>
              <a:buChar char="-"/>
            </a:pPr>
            <a:r>
              <a:rPr b="1" i="1" lang="vi" sz="900">
                <a:solidFill>
                  <a:srgbClr val="3D85C6"/>
                </a:solidFill>
                <a:highlight>
                  <a:schemeClr val="lt1"/>
                </a:highlight>
              </a:rPr>
              <a:t>PM:</a:t>
            </a:r>
            <a:r>
              <a:rPr i="1" lang="vi" sz="900">
                <a:solidFill>
                  <a:srgbClr val="3D85C6"/>
                </a:solidFill>
                <a:highlight>
                  <a:schemeClr val="lt1"/>
                </a:highlight>
              </a:rPr>
              <a:t> Uh em, vậy chốt</a:t>
            </a:r>
            <a:r>
              <a:rPr b="1" i="1" lang="vi" sz="900">
                <a:solidFill>
                  <a:srgbClr val="3D85C6"/>
                </a:solidFill>
                <a:highlight>
                  <a:schemeClr val="lt1"/>
                </a:highlight>
              </a:rPr>
              <a:t> thứ 4 gửi khách</a:t>
            </a:r>
            <a:r>
              <a:rPr i="1" lang="vi" sz="900">
                <a:solidFill>
                  <a:srgbClr val="3D85C6"/>
                </a:solidFill>
                <a:highlight>
                  <a:schemeClr val="lt1"/>
                </a:highlight>
              </a:rPr>
              <a:t>. </a:t>
            </a:r>
            <a:endParaRPr sz="900">
              <a:solidFill>
                <a:srgbClr val="351C75"/>
              </a:solidFill>
              <a:highlight>
                <a:srgbClr val="FFF5F5"/>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74" name="Shape 274"/>
        <p:cNvGrpSpPr/>
        <p:nvPr/>
      </p:nvGrpSpPr>
      <p:grpSpPr>
        <a:xfrm>
          <a:off x="0" y="0"/>
          <a:ext cx="0" cy="0"/>
          <a:chOff x="0" y="0"/>
          <a:chExt cx="0" cy="0"/>
        </a:xfrm>
      </p:grpSpPr>
      <p:sp>
        <p:nvSpPr>
          <p:cNvPr id="275" name="Google Shape;275;p42"/>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Hướng dẫn phân tích</a:t>
            </a:r>
            <a:endParaRPr sz="3600">
              <a:solidFill>
                <a:srgbClr val="351C75"/>
              </a:solidFill>
            </a:endParaRPr>
          </a:p>
        </p:txBody>
      </p:sp>
      <p:sp>
        <p:nvSpPr>
          <p:cNvPr id="276" name="Google Shape;276;p42"/>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vi" sz="1100">
                <a:solidFill>
                  <a:srgbClr val="351C75"/>
                </a:solidFill>
                <a:highlight>
                  <a:schemeClr val="lt1"/>
                </a:highlight>
              </a:rPr>
              <a:t>ĐỀ XUẤT NHẮC NHỞ</a:t>
            </a:r>
            <a:endParaRPr b="1" sz="1100">
              <a:solidFill>
                <a:srgbClr val="351C75"/>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b="1" sz="1100">
              <a:solidFill>
                <a:srgbClr val="351C75"/>
              </a:solidFill>
              <a:highlight>
                <a:schemeClr val="lt1"/>
              </a:highlight>
            </a:endParaRPr>
          </a:p>
          <a:p>
            <a:pPr indent="0" lvl="0" marL="0" rtl="0" algn="l">
              <a:lnSpc>
                <a:spcPct val="115000"/>
              </a:lnSpc>
              <a:spcBef>
                <a:spcPts val="0"/>
              </a:spcBef>
              <a:spcAft>
                <a:spcPts val="0"/>
              </a:spcAft>
              <a:buNone/>
            </a:pPr>
            <a:r>
              <a:rPr lang="vi" sz="1100">
                <a:solidFill>
                  <a:srgbClr val="351C75"/>
                </a:solidFill>
                <a:highlight>
                  <a:schemeClr val="lt1"/>
                </a:highlight>
              </a:rPr>
              <a:t>それぞれの</a:t>
            </a:r>
            <a:r>
              <a:rPr lang="vi" sz="1100">
                <a:solidFill>
                  <a:srgbClr val="351C75"/>
                </a:solidFill>
                <a:highlight>
                  <a:srgbClr val="00FFFF"/>
                </a:highlight>
              </a:rPr>
              <a:t>メリット・デメリット</a:t>
            </a:r>
            <a:r>
              <a:rPr lang="vi" sz="1100">
                <a:solidFill>
                  <a:srgbClr val="351C75"/>
                </a:solidFill>
                <a:highlight>
                  <a:schemeClr val="lt1"/>
                </a:highlight>
              </a:rPr>
              <a:t>や</a:t>
            </a:r>
            <a:r>
              <a:rPr lang="vi" sz="1100">
                <a:solidFill>
                  <a:srgbClr val="351C75"/>
                </a:solidFill>
                <a:highlight>
                  <a:srgbClr val="00FFFF"/>
                </a:highlight>
              </a:rPr>
              <a:t>費用</a:t>
            </a:r>
            <a:r>
              <a:rPr lang="vi" sz="1100">
                <a:solidFill>
                  <a:srgbClr val="351C75"/>
                </a:solidFill>
                <a:highlight>
                  <a:schemeClr val="lt1"/>
                </a:highlight>
              </a:rPr>
              <a:t>などを考慮して決定したいと考えております。</a:t>
            </a:r>
            <a:endParaRPr sz="1100">
              <a:solidFill>
                <a:srgbClr val="351C75"/>
              </a:solidFill>
              <a:highlight>
                <a:schemeClr val="lt1"/>
              </a:highlight>
            </a:endParaRPr>
          </a:p>
          <a:p>
            <a:pPr indent="0" lvl="0" marL="0" rtl="0" algn="l">
              <a:lnSpc>
                <a:spcPct val="115000"/>
              </a:lnSpc>
              <a:spcBef>
                <a:spcPts val="0"/>
              </a:spcBef>
              <a:spcAft>
                <a:spcPts val="0"/>
              </a:spcAft>
              <a:buNone/>
            </a:pPr>
            <a:r>
              <a:t/>
            </a:r>
            <a:endParaRPr sz="1100">
              <a:solidFill>
                <a:srgbClr val="351C75"/>
              </a:solidFill>
              <a:highlight>
                <a:schemeClr val="lt1"/>
              </a:highlight>
            </a:endParaRPr>
          </a:p>
          <a:p>
            <a:pPr indent="0" lvl="0" marL="0" rtl="0" algn="l">
              <a:lnSpc>
                <a:spcPct val="115000"/>
              </a:lnSpc>
              <a:spcBef>
                <a:spcPts val="0"/>
              </a:spcBef>
              <a:spcAft>
                <a:spcPts val="0"/>
              </a:spcAft>
              <a:buNone/>
            </a:pPr>
            <a:r>
              <a:rPr lang="vi" sz="1100">
                <a:solidFill>
                  <a:srgbClr val="351C75"/>
                </a:solidFill>
                <a:highlight>
                  <a:schemeClr val="lt1"/>
                </a:highlight>
              </a:rPr>
              <a:t>こちらの</a:t>
            </a:r>
            <a:r>
              <a:rPr lang="vi" sz="1100">
                <a:solidFill>
                  <a:srgbClr val="351C75"/>
                </a:solidFill>
                <a:highlight>
                  <a:srgbClr val="00FFFF"/>
                </a:highlight>
              </a:rPr>
              <a:t>スケジュール</a:t>
            </a:r>
            <a:r>
              <a:rPr lang="vi" sz="1100">
                <a:solidFill>
                  <a:srgbClr val="351C75"/>
                </a:solidFill>
                <a:highlight>
                  <a:srgbClr val="FFD523"/>
                </a:highlight>
              </a:rPr>
              <a:t>については改めて調整する形で問題ございません。</a:t>
            </a:r>
            <a:endParaRPr sz="1100">
              <a:solidFill>
                <a:srgbClr val="351C75"/>
              </a:solidFill>
              <a:highlight>
                <a:srgbClr val="FFD523"/>
              </a:highlight>
            </a:endParaRPr>
          </a:p>
          <a:p>
            <a:pPr indent="0" lvl="0" marL="0" rtl="0" algn="l">
              <a:lnSpc>
                <a:spcPct val="115000"/>
              </a:lnSpc>
              <a:spcBef>
                <a:spcPts val="0"/>
              </a:spcBef>
              <a:spcAft>
                <a:spcPts val="0"/>
              </a:spcAft>
              <a:buNone/>
            </a:pPr>
            <a:r>
              <a:rPr lang="vi" sz="1100">
                <a:solidFill>
                  <a:srgbClr val="351C75"/>
                </a:solidFill>
                <a:highlight>
                  <a:schemeClr val="lt1"/>
                </a:highlight>
              </a:rPr>
              <a:t>余裕を持って確認・提案のご対応をして頂きたいと考えております。</a:t>
            </a:r>
            <a:endParaRPr sz="1100">
              <a:solidFill>
                <a:srgbClr val="351C75"/>
              </a:solidFill>
              <a:highlight>
                <a:schemeClr val="lt1"/>
              </a:highlight>
            </a:endParaRPr>
          </a:p>
          <a:p>
            <a:pPr indent="0" lvl="0" marL="0" rtl="0" algn="l">
              <a:lnSpc>
                <a:spcPct val="115000"/>
              </a:lnSpc>
              <a:spcBef>
                <a:spcPts val="0"/>
              </a:spcBef>
              <a:spcAft>
                <a:spcPts val="0"/>
              </a:spcAft>
              <a:buNone/>
            </a:pPr>
            <a:r>
              <a:t/>
            </a:r>
            <a:endParaRPr b="1" sz="1100">
              <a:solidFill>
                <a:srgbClr val="351C75"/>
              </a:solidFill>
              <a:highlight>
                <a:schemeClr val="lt1"/>
              </a:highlight>
            </a:endParaRPr>
          </a:p>
          <a:p>
            <a:pPr indent="0" lvl="0" marL="0" rtl="0" algn="l">
              <a:lnSpc>
                <a:spcPct val="115000"/>
              </a:lnSpc>
              <a:spcBef>
                <a:spcPts val="0"/>
              </a:spcBef>
              <a:spcAft>
                <a:spcPts val="0"/>
              </a:spcAft>
              <a:buNone/>
            </a:pPr>
            <a:r>
              <a:t/>
            </a:r>
            <a:endParaRPr sz="1100">
              <a:solidFill>
                <a:srgbClr val="351C75"/>
              </a:solidFill>
              <a:highlight>
                <a:schemeClr val="lt1"/>
              </a:highlight>
            </a:endParaRPr>
          </a:p>
          <a:p>
            <a:pPr indent="-298450" lvl="0" marL="457200" rtl="0" algn="l">
              <a:lnSpc>
                <a:spcPct val="115000"/>
              </a:lnSpc>
              <a:spcBef>
                <a:spcPts val="0"/>
              </a:spcBef>
              <a:spcAft>
                <a:spcPts val="0"/>
              </a:spcAft>
              <a:buClr>
                <a:srgbClr val="0B5394"/>
              </a:buClr>
              <a:buSzPts val="1100"/>
              <a:buChar char="-"/>
            </a:pPr>
            <a:r>
              <a:rPr b="1" i="1" lang="vi" sz="1100">
                <a:solidFill>
                  <a:srgbClr val="0B5394"/>
                </a:solidFill>
                <a:highlight>
                  <a:schemeClr val="lt1"/>
                </a:highlight>
              </a:rPr>
              <a:t>Comtor: </a:t>
            </a:r>
            <a:r>
              <a:rPr i="1" lang="vi" sz="1100">
                <a:solidFill>
                  <a:srgbClr val="0B5394"/>
                </a:solidFill>
                <a:highlight>
                  <a:schemeClr val="lt1"/>
                </a:highlight>
              </a:rPr>
              <a:t>Anh ơi khách muốn cân nhắc các điểm sau của 2 phương án: 1.  Ưu điểm, 2. Nhược điểm, 3. Chi phí, 4. Schedule, nên khi làm đề xuất mình cần làm rõ các điểm trên cho từng phương án để clear luôn từ đầu, tránh khách hỏi đi hỏi lại anh nhỉ?</a:t>
            </a:r>
            <a:endParaRPr i="1" sz="1100">
              <a:solidFill>
                <a:srgbClr val="0B5394"/>
              </a:solidFill>
              <a:highlight>
                <a:schemeClr val="lt1"/>
              </a:highlight>
            </a:endParaRPr>
          </a:p>
          <a:p>
            <a:pPr indent="0" lvl="0" marL="457200" rtl="0" algn="l">
              <a:lnSpc>
                <a:spcPct val="115000"/>
              </a:lnSpc>
              <a:spcBef>
                <a:spcPts val="0"/>
              </a:spcBef>
              <a:spcAft>
                <a:spcPts val="0"/>
              </a:spcAft>
              <a:buNone/>
            </a:pPr>
            <a:r>
              <a:t/>
            </a:r>
            <a:endParaRPr i="1" sz="1100">
              <a:solidFill>
                <a:srgbClr val="0B5394"/>
              </a:solidFill>
              <a:highlight>
                <a:schemeClr val="lt1"/>
              </a:highlight>
            </a:endParaRPr>
          </a:p>
          <a:p>
            <a:pPr indent="-298450" lvl="0" marL="457200" rtl="0" algn="l">
              <a:lnSpc>
                <a:spcPct val="115000"/>
              </a:lnSpc>
              <a:spcBef>
                <a:spcPts val="0"/>
              </a:spcBef>
              <a:spcAft>
                <a:spcPts val="0"/>
              </a:spcAft>
              <a:buClr>
                <a:srgbClr val="0B5394"/>
              </a:buClr>
              <a:buSzPts val="1100"/>
              <a:buChar char="-"/>
            </a:pPr>
            <a:r>
              <a:rPr b="1" i="1" lang="vi" sz="1100">
                <a:solidFill>
                  <a:srgbClr val="0B5394"/>
                </a:solidFill>
                <a:highlight>
                  <a:schemeClr val="lt1"/>
                </a:highlight>
              </a:rPr>
              <a:t>PM: </a:t>
            </a:r>
            <a:r>
              <a:rPr i="1" lang="vi" sz="1100">
                <a:solidFill>
                  <a:srgbClr val="0B5394"/>
                </a:solidFill>
                <a:highlight>
                  <a:schemeClr val="lt1"/>
                </a:highlight>
              </a:rPr>
              <a:t>Ok, anh sẽ làm rõ 4 điểm trên cho từng phương án để khách so sánh nhé.</a:t>
            </a:r>
            <a:endParaRPr sz="1100">
              <a:solidFill>
                <a:srgbClr val="351C75"/>
              </a:solidFill>
              <a:highlight>
                <a:schemeClr val="lt1"/>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80" name="Shape 280"/>
        <p:cNvGrpSpPr/>
        <p:nvPr/>
      </p:nvGrpSpPr>
      <p:grpSpPr>
        <a:xfrm>
          <a:off x="0" y="0"/>
          <a:ext cx="0" cy="0"/>
          <a:chOff x="0" y="0"/>
          <a:chExt cx="0" cy="0"/>
        </a:xfrm>
      </p:grpSpPr>
      <p:sp>
        <p:nvSpPr>
          <p:cNvPr id="281" name="Google Shape;281;p43"/>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Hướng dẫn phân tích</a:t>
            </a:r>
            <a:endParaRPr sz="3600">
              <a:solidFill>
                <a:srgbClr val="351C75"/>
              </a:solidFill>
            </a:endParaRPr>
          </a:p>
        </p:txBody>
      </p:sp>
      <p:sp>
        <p:nvSpPr>
          <p:cNvPr id="282" name="Google Shape;282;p43"/>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b="1" lang="vi" sz="1200">
                <a:solidFill>
                  <a:srgbClr val="351C75"/>
                </a:solidFill>
                <a:highlight>
                  <a:schemeClr val="lt1"/>
                </a:highlight>
              </a:rPr>
              <a:t>TỔNG HỢP NỘI DUNG CẦN TRUYỀN ĐẠT</a:t>
            </a:r>
            <a:endParaRPr b="1" sz="1200">
              <a:solidFill>
                <a:srgbClr val="351C75"/>
              </a:solidFill>
              <a:highlight>
                <a:schemeClr val="lt1"/>
              </a:highlight>
            </a:endParaRPr>
          </a:p>
          <a:p>
            <a:pPr indent="0" lvl="0" marL="457200" rtl="0" algn="l">
              <a:lnSpc>
                <a:spcPct val="115000"/>
              </a:lnSpc>
              <a:spcBef>
                <a:spcPts val="0"/>
              </a:spcBef>
              <a:spcAft>
                <a:spcPts val="0"/>
              </a:spcAft>
              <a:buNone/>
            </a:pPr>
            <a:r>
              <a:t/>
            </a:r>
            <a:endParaRPr b="1" sz="1200">
              <a:solidFill>
                <a:srgbClr val="351C75"/>
              </a:solidFill>
              <a:highlight>
                <a:schemeClr val="lt1"/>
              </a:highlight>
            </a:endParaRPr>
          </a:p>
          <a:p>
            <a:pPr indent="0" lvl="0" marL="457200" rtl="0" algn="l">
              <a:lnSpc>
                <a:spcPct val="115000"/>
              </a:lnSpc>
              <a:spcBef>
                <a:spcPts val="0"/>
              </a:spcBef>
              <a:spcAft>
                <a:spcPts val="0"/>
              </a:spcAft>
              <a:buClr>
                <a:schemeClr val="dk1"/>
              </a:buClr>
              <a:buSzPts val="1100"/>
              <a:buFont typeface="Arial"/>
              <a:buNone/>
            </a:pPr>
            <a:r>
              <a:rPr lang="vi" sz="1200">
                <a:solidFill>
                  <a:srgbClr val="351C75"/>
                </a:solidFill>
              </a:rPr>
              <a:t>“Cảm ơn bạn đã phản hồi. </a:t>
            </a:r>
            <a:endParaRPr sz="1200">
              <a:solidFill>
                <a:srgbClr val="351C75"/>
              </a:solidFill>
            </a:endParaRPr>
          </a:p>
          <a:p>
            <a:pPr indent="0" lvl="0" marL="457200" rtl="0" algn="l">
              <a:lnSpc>
                <a:spcPct val="115000"/>
              </a:lnSpc>
              <a:spcBef>
                <a:spcPts val="0"/>
              </a:spcBef>
              <a:spcAft>
                <a:spcPts val="0"/>
              </a:spcAft>
              <a:buClr>
                <a:schemeClr val="dk1"/>
              </a:buClr>
              <a:buSzPts val="1100"/>
              <a:buFont typeface="Arial"/>
              <a:buNone/>
            </a:pPr>
            <a:r>
              <a:t/>
            </a:r>
            <a:endParaRPr sz="1200">
              <a:solidFill>
                <a:srgbClr val="351C75"/>
              </a:solidFill>
            </a:endParaRPr>
          </a:p>
          <a:p>
            <a:pPr indent="0" lvl="0" marL="457200" rtl="0" algn="l">
              <a:lnSpc>
                <a:spcPct val="115000"/>
              </a:lnSpc>
              <a:spcBef>
                <a:spcPts val="0"/>
              </a:spcBef>
              <a:spcAft>
                <a:spcPts val="0"/>
              </a:spcAft>
              <a:buClr>
                <a:schemeClr val="dk1"/>
              </a:buClr>
              <a:buSzPts val="1100"/>
              <a:buFont typeface="Arial"/>
              <a:buNone/>
            </a:pPr>
            <a:r>
              <a:rPr lang="vi" sz="1200">
                <a:solidFill>
                  <a:srgbClr val="351C75"/>
                </a:solidFill>
              </a:rPr>
              <a:t>Tôi đã xác nhận nội bộ thì đúng là ban đầu đã nói đến cấu trúc server thông thường, nhưng sau khi nghiên cứu thì chúng tôi đánh giá </a:t>
            </a:r>
            <a:r>
              <a:rPr lang="vi" sz="1200">
                <a:solidFill>
                  <a:srgbClr val="351C75"/>
                </a:solidFill>
                <a:highlight>
                  <a:srgbClr val="FFF5F5"/>
                </a:highlight>
              </a:rPr>
              <a:t>làm với serverless sẽ tối ưu hơn. </a:t>
            </a:r>
            <a:endParaRPr sz="1200">
              <a:solidFill>
                <a:srgbClr val="351C75"/>
              </a:solidFill>
              <a:highlight>
                <a:srgbClr val="FFF5F5"/>
              </a:highlight>
            </a:endParaRPr>
          </a:p>
          <a:p>
            <a:pPr indent="0" lvl="0" marL="457200" rtl="0" algn="l">
              <a:lnSpc>
                <a:spcPct val="115000"/>
              </a:lnSpc>
              <a:spcBef>
                <a:spcPts val="0"/>
              </a:spcBef>
              <a:spcAft>
                <a:spcPts val="0"/>
              </a:spcAft>
              <a:buClr>
                <a:schemeClr val="dk1"/>
              </a:buClr>
              <a:buSzPts val="1100"/>
              <a:buFont typeface="Arial"/>
              <a:buNone/>
            </a:pPr>
            <a:r>
              <a:rPr lang="vi" sz="1200">
                <a:solidFill>
                  <a:srgbClr val="351C75"/>
                </a:solidFill>
                <a:highlight>
                  <a:srgbClr val="FFF5F5"/>
                </a:highlight>
              </a:rPr>
              <a:t>Như các bạn yêu cầu, chúng tôi sẽ tạo thêm tài liệu với server thông thường, nêu rõ ưu điểm, nhược điểm, chi phí, và thời gian cần thiết của từng phương án để các bạn cân nhắc.</a:t>
            </a:r>
            <a:endParaRPr sz="1200">
              <a:solidFill>
                <a:srgbClr val="351C75"/>
              </a:solidFill>
              <a:highlight>
                <a:srgbClr val="FFF5F5"/>
              </a:highlight>
            </a:endParaRPr>
          </a:p>
          <a:p>
            <a:pPr indent="0" lvl="0" marL="457200" rtl="0" algn="l">
              <a:lnSpc>
                <a:spcPct val="115000"/>
              </a:lnSpc>
              <a:spcBef>
                <a:spcPts val="0"/>
              </a:spcBef>
              <a:spcAft>
                <a:spcPts val="0"/>
              </a:spcAft>
              <a:buClr>
                <a:schemeClr val="dk1"/>
              </a:buClr>
              <a:buSzPts val="1100"/>
              <a:buFont typeface="Arial"/>
              <a:buNone/>
            </a:pPr>
            <a:r>
              <a:rPr lang="vi" sz="1200">
                <a:solidFill>
                  <a:srgbClr val="351C75"/>
                </a:solidFill>
              </a:rPr>
              <a:t>Dự kiến thứ 4 tuần sau chúng tôi sẽ gửi tài liệu, mong các bạn chờ một chút.</a:t>
            </a:r>
            <a:endParaRPr sz="1200">
              <a:solidFill>
                <a:srgbClr val="351C75"/>
              </a:solidFill>
            </a:endParaRPr>
          </a:p>
          <a:p>
            <a:pPr indent="0" lvl="0" marL="457200" rtl="0" algn="l">
              <a:lnSpc>
                <a:spcPct val="115000"/>
              </a:lnSpc>
              <a:spcBef>
                <a:spcPts val="0"/>
              </a:spcBef>
              <a:spcAft>
                <a:spcPts val="0"/>
              </a:spcAft>
              <a:buClr>
                <a:schemeClr val="dk1"/>
              </a:buClr>
              <a:buSzPts val="1100"/>
              <a:buFont typeface="Arial"/>
              <a:buNone/>
            </a:pPr>
            <a:r>
              <a:t/>
            </a:r>
            <a:endParaRPr sz="1200">
              <a:solidFill>
                <a:srgbClr val="351C75"/>
              </a:solidFill>
            </a:endParaRPr>
          </a:p>
          <a:p>
            <a:pPr indent="0" lvl="0" marL="457200" rtl="0" algn="l">
              <a:lnSpc>
                <a:spcPct val="115000"/>
              </a:lnSpc>
              <a:spcBef>
                <a:spcPts val="0"/>
              </a:spcBef>
              <a:spcAft>
                <a:spcPts val="0"/>
              </a:spcAft>
              <a:buClr>
                <a:schemeClr val="dk1"/>
              </a:buClr>
              <a:buSzPts val="1100"/>
              <a:buFont typeface="Arial"/>
              <a:buNone/>
            </a:pPr>
            <a:r>
              <a:rPr lang="vi" sz="1200">
                <a:solidFill>
                  <a:srgbClr val="351C75"/>
                </a:solidFill>
              </a:rPr>
              <a:t>Ngoài ra, nếu các bạn có thắc mắc gì khác thì dừng ngại cứ trao đổi với chúng tôi nhé.</a:t>
            </a:r>
            <a:endParaRPr sz="1200">
              <a:solidFill>
                <a:srgbClr val="351C75"/>
              </a:solidFill>
            </a:endParaRPr>
          </a:p>
          <a:p>
            <a:pPr indent="0" lvl="0" marL="457200" rtl="0" algn="l">
              <a:lnSpc>
                <a:spcPct val="115000"/>
              </a:lnSpc>
              <a:spcBef>
                <a:spcPts val="0"/>
              </a:spcBef>
              <a:spcAft>
                <a:spcPts val="0"/>
              </a:spcAft>
              <a:buClr>
                <a:schemeClr val="dk1"/>
              </a:buClr>
              <a:buSzPts val="1100"/>
              <a:buFont typeface="Arial"/>
              <a:buNone/>
            </a:pPr>
            <a:r>
              <a:rPr lang="vi" sz="1200">
                <a:solidFill>
                  <a:srgbClr val="351C75"/>
                </a:solidFill>
              </a:rPr>
              <a:t>Mong các bạn tiếp tục giúp đỡ.”</a:t>
            </a:r>
            <a:endParaRPr b="1" sz="1200">
              <a:solidFill>
                <a:srgbClr val="351C75"/>
              </a:solidFill>
              <a:highlight>
                <a:schemeClr val="lt1"/>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86" name="Shape 286"/>
        <p:cNvGrpSpPr/>
        <p:nvPr/>
      </p:nvGrpSpPr>
      <p:grpSpPr>
        <a:xfrm>
          <a:off x="0" y="0"/>
          <a:ext cx="0" cy="0"/>
          <a:chOff x="0" y="0"/>
          <a:chExt cx="0" cy="0"/>
        </a:xfrm>
      </p:grpSpPr>
      <p:sp>
        <p:nvSpPr>
          <p:cNvPr id="287" name="Google Shape;287;p44"/>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sz="3600">
              <a:solidFill>
                <a:srgbClr val="351C75"/>
              </a:solidFill>
            </a:endParaRPr>
          </a:p>
        </p:txBody>
      </p:sp>
      <p:sp>
        <p:nvSpPr>
          <p:cNvPr id="288" name="Google Shape;288;p44"/>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b="1" sz="1100">
              <a:solidFill>
                <a:srgbClr val="351C75"/>
              </a:solidFill>
              <a:highlight>
                <a:srgbClr val="FFF5F5"/>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92" name="Shape 292"/>
        <p:cNvGrpSpPr/>
        <p:nvPr/>
      </p:nvGrpSpPr>
      <p:grpSpPr>
        <a:xfrm>
          <a:off x="0" y="0"/>
          <a:ext cx="0" cy="0"/>
          <a:chOff x="0" y="0"/>
          <a:chExt cx="0" cy="0"/>
        </a:xfrm>
      </p:grpSpPr>
      <p:sp>
        <p:nvSpPr>
          <p:cNvPr id="293" name="Google Shape;293;p45"/>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Thực hành 03</a:t>
            </a:r>
            <a:endParaRPr sz="3600">
              <a:solidFill>
                <a:srgbClr val="351C75"/>
              </a:solidFill>
            </a:endParaRPr>
          </a:p>
        </p:txBody>
      </p:sp>
      <p:sp>
        <p:nvSpPr>
          <p:cNvPr id="294" name="Google Shape;294;p45"/>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vi" sz="1800">
                <a:solidFill>
                  <a:srgbClr val="351C75"/>
                </a:solidFill>
              </a:rPr>
              <a:t>Dịch request sau sang tiếng Nhật để gửi cho khách hàng.</a:t>
            </a:r>
            <a:endParaRPr b="1" sz="1800">
              <a:solidFill>
                <a:srgbClr val="351C75"/>
              </a:solidFill>
            </a:endParaRPr>
          </a:p>
          <a:p>
            <a:pPr indent="0" lvl="0" marL="0" rtl="0" algn="l">
              <a:lnSpc>
                <a:spcPct val="115000"/>
              </a:lnSpc>
              <a:spcBef>
                <a:spcPts val="400"/>
              </a:spcBef>
              <a:spcAft>
                <a:spcPts val="0"/>
              </a:spcAft>
              <a:buClr>
                <a:schemeClr val="dk1"/>
              </a:buClr>
              <a:buSzPts val="1100"/>
              <a:buFont typeface="Arial"/>
              <a:buNone/>
            </a:pPr>
            <a:r>
              <a:t/>
            </a:r>
            <a:endParaRPr sz="1800">
              <a:solidFill>
                <a:srgbClr val="351C75"/>
              </a:solidFill>
            </a:endParaRPr>
          </a:p>
          <a:p>
            <a:pPr indent="0" lvl="0" marL="0" rtl="0" algn="l">
              <a:lnSpc>
                <a:spcPct val="115000"/>
              </a:lnSpc>
              <a:spcBef>
                <a:spcPts val="0"/>
              </a:spcBef>
              <a:spcAft>
                <a:spcPts val="0"/>
              </a:spcAft>
              <a:buNone/>
            </a:pPr>
            <a:r>
              <a:rPr lang="vi" sz="1800">
                <a:solidFill>
                  <a:srgbClr val="351C75"/>
                </a:solidFill>
              </a:rPr>
              <a:t>“Chị ơi báo khách hộ em là em đã fix bug và deploy lại lên STG rồi, nhờ khách check hộ e với. Nguyên nhân bug em đã ghi trong file log bug của khách, chị dịch và gửi khách luôn hộ e nữa nhé.”</a:t>
            </a:r>
            <a:endParaRPr b="1" sz="1800">
              <a:solidFill>
                <a:srgbClr val="351C75"/>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298" name="Shape 298"/>
        <p:cNvGrpSpPr/>
        <p:nvPr/>
      </p:nvGrpSpPr>
      <p:grpSpPr>
        <a:xfrm>
          <a:off x="0" y="0"/>
          <a:ext cx="0" cy="0"/>
          <a:chOff x="0" y="0"/>
          <a:chExt cx="0" cy="0"/>
        </a:xfrm>
      </p:grpSpPr>
      <p:sp>
        <p:nvSpPr>
          <p:cNvPr id="299" name="Google Shape;299;p46"/>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Hướng dẫn phân tích</a:t>
            </a:r>
            <a:endParaRPr sz="3600">
              <a:solidFill>
                <a:srgbClr val="351C75"/>
              </a:solidFill>
            </a:endParaRPr>
          </a:p>
        </p:txBody>
      </p:sp>
      <p:sp>
        <p:nvSpPr>
          <p:cNvPr id="300" name="Google Shape;300;p46"/>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vi" sz="1800">
                <a:solidFill>
                  <a:srgbClr val="351C75"/>
                </a:solidFill>
              </a:rPr>
              <a:t>“Chị ơi </a:t>
            </a:r>
            <a:r>
              <a:rPr lang="vi" sz="1800">
                <a:solidFill>
                  <a:srgbClr val="351C75"/>
                </a:solidFill>
                <a:highlight>
                  <a:srgbClr val="FFD523"/>
                </a:highlight>
              </a:rPr>
              <a:t>báo khách</a:t>
            </a:r>
            <a:r>
              <a:rPr lang="vi" sz="1800">
                <a:solidFill>
                  <a:srgbClr val="351C75"/>
                </a:solidFill>
              </a:rPr>
              <a:t> hộ em là em </a:t>
            </a:r>
            <a:r>
              <a:rPr lang="vi" sz="1800">
                <a:solidFill>
                  <a:srgbClr val="351C75"/>
                </a:solidFill>
                <a:highlight>
                  <a:srgbClr val="FFD523"/>
                </a:highlight>
              </a:rPr>
              <a:t>đã fix bug và deploy lại lên STG rồi</a:t>
            </a:r>
            <a:r>
              <a:rPr lang="vi" sz="1800">
                <a:solidFill>
                  <a:srgbClr val="351C75"/>
                </a:solidFill>
              </a:rPr>
              <a:t>, nhờ khách check hộ e với. Nguyên nhân bug em đã ghi trong </a:t>
            </a:r>
            <a:r>
              <a:rPr lang="vi" sz="1800">
                <a:solidFill>
                  <a:srgbClr val="351C75"/>
                </a:solidFill>
                <a:highlight>
                  <a:schemeClr val="lt1"/>
                </a:highlight>
              </a:rPr>
              <a:t>file log bug</a:t>
            </a:r>
            <a:r>
              <a:rPr lang="vi" sz="1800">
                <a:solidFill>
                  <a:srgbClr val="351C75"/>
                </a:solidFill>
              </a:rPr>
              <a:t> của khách, chị</a:t>
            </a:r>
            <a:r>
              <a:rPr lang="vi" sz="1800">
                <a:solidFill>
                  <a:srgbClr val="351C75"/>
                </a:solidFill>
                <a:highlight>
                  <a:srgbClr val="FFD523"/>
                </a:highlight>
              </a:rPr>
              <a:t> dịch file log bug</a:t>
            </a:r>
            <a:r>
              <a:rPr lang="vi" sz="1800">
                <a:solidFill>
                  <a:srgbClr val="351C75"/>
                </a:solidFill>
                <a:highlight>
                  <a:schemeClr val="lt1"/>
                </a:highlight>
              </a:rPr>
              <a:t> </a:t>
            </a:r>
            <a:r>
              <a:rPr lang="vi" sz="1800">
                <a:solidFill>
                  <a:srgbClr val="351C75"/>
                </a:solidFill>
              </a:rPr>
              <a:t>và</a:t>
            </a:r>
            <a:r>
              <a:rPr lang="vi" sz="1800">
                <a:solidFill>
                  <a:srgbClr val="351C75"/>
                </a:solidFill>
                <a:highlight>
                  <a:srgbClr val="FFD523"/>
                </a:highlight>
              </a:rPr>
              <a:t> gửi khách</a:t>
            </a:r>
            <a:r>
              <a:rPr lang="vi" sz="1800">
                <a:solidFill>
                  <a:srgbClr val="351C75"/>
                </a:solidFill>
              </a:rPr>
              <a:t> luôn hộ e nữa nhé.”</a:t>
            </a:r>
            <a:endParaRPr sz="1800">
              <a:solidFill>
                <a:srgbClr val="351C75"/>
              </a:solidFill>
            </a:endParaRPr>
          </a:p>
          <a:p>
            <a:pPr indent="0" lvl="0" marL="0" rtl="0" algn="l">
              <a:spcBef>
                <a:spcPts val="0"/>
              </a:spcBef>
              <a:spcAft>
                <a:spcPts val="0"/>
              </a:spcAft>
              <a:buClr>
                <a:schemeClr val="dk1"/>
              </a:buClr>
              <a:buSzPts val="1100"/>
              <a:buFont typeface="Arial"/>
              <a:buNone/>
            </a:pPr>
            <a:r>
              <a:t/>
            </a:r>
            <a:endParaRPr sz="1800">
              <a:solidFill>
                <a:srgbClr val="351C75"/>
              </a:solidFill>
            </a:endParaRPr>
          </a:p>
          <a:p>
            <a:pPr indent="-342900" lvl="0" marL="457200" rtl="0" algn="l">
              <a:spcBef>
                <a:spcPts val="0"/>
              </a:spcBef>
              <a:spcAft>
                <a:spcPts val="0"/>
              </a:spcAft>
              <a:buClr>
                <a:srgbClr val="351C75"/>
              </a:buClr>
              <a:buSzPts val="1800"/>
              <a:buAutoNum type="arabicPeriod"/>
            </a:pPr>
            <a:r>
              <a:rPr lang="vi" sz="1800">
                <a:solidFill>
                  <a:srgbClr val="351C75"/>
                </a:solidFill>
              </a:rPr>
              <a:t>Dịch file log bug</a:t>
            </a:r>
            <a:endParaRPr sz="1800">
              <a:solidFill>
                <a:srgbClr val="351C75"/>
              </a:solidFill>
            </a:endParaRPr>
          </a:p>
          <a:p>
            <a:pPr indent="-342900" lvl="0" marL="457200" rtl="0" algn="l">
              <a:spcBef>
                <a:spcPts val="0"/>
              </a:spcBef>
              <a:spcAft>
                <a:spcPts val="0"/>
              </a:spcAft>
              <a:buClr>
                <a:srgbClr val="351C75"/>
              </a:buClr>
              <a:buSzPts val="1800"/>
              <a:buAutoNum type="arabicPeriod"/>
            </a:pPr>
            <a:r>
              <a:rPr lang="vi" sz="1800">
                <a:solidFill>
                  <a:srgbClr val="351C75"/>
                </a:solidFill>
              </a:rPr>
              <a:t>Chát báo khách </a:t>
            </a:r>
            <a:r>
              <a:rPr lang="vi" sz="1800">
                <a:solidFill>
                  <a:srgbClr val="351C75"/>
                </a:solidFill>
                <a:highlight>
                  <a:schemeClr val="lt1"/>
                </a:highlight>
              </a:rPr>
              <a:t>đã fix bug và deploy lại lên STG, kèm theo thông báo nguyên nhân trong file log bug</a:t>
            </a:r>
            <a:endParaRPr b="1" sz="1200">
              <a:solidFill>
                <a:srgbClr val="351C75"/>
              </a:solidFill>
              <a:highlight>
                <a:schemeClr val="lt1"/>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304" name="Shape 304"/>
        <p:cNvGrpSpPr/>
        <p:nvPr/>
      </p:nvGrpSpPr>
      <p:grpSpPr>
        <a:xfrm>
          <a:off x="0" y="0"/>
          <a:ext cx="0" cy="0"/>
          <a:chOff x="0" y="0"/>
          <a:chExt cx="0" cy="0"/>
        </a:xfrm>
      </p:grpSpPr>
      <p:sp>
        <p:nvSpPr>
          <p:cNvPr id="305" name="Google Shape;305;p47"/>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sz="3600">
              <a:solidFill>
                <a:srgbClr val="351C75"/>
              </a:solidFill>
            </a:endParaRPr>
          </a:p>
        </p:txBody>
      </p:sp>
      <p:sp>
        <p:nvSpPr>
          <p:cNvPr id="306" name="Google Shape;306;p47"/>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b="1" sz="1100">
              <a:solidFill>
                <a:srgbClr val="351C75"/>
              </a:solidFill>
              <a:highlight>
                <a:srgbClr val="FFF5F5"/>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8"/>
          <p:cNvSpPr txBox="1"/>
          <p:nvPr/>
        </p:nvSpPr>
        <p:spPr>
          <a:xfrm>
            <a:off x="160950" y="1934500"/>
            <a:ext cx="8822100" cy="738900"/>
          </a:xfrm>
          <a:prstGeom prst="rect">
            <a:avLst/>
          </a:prstGeom>
          <a:solidFill>
            <a:srgbClr val="CA2F47"/>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chemeClr val="lt1"/>
                </a:solidFill>
              </a:rPr>
              <a:t>Cách viết và dịch Q&amp;A</a:t>
            </a:r>
            <a:endParaRPr b="1" sz="3600">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315" name="Shape 315"/>
        <p:cNvGrpSpPr/>
        <p:nvPr/>
      </p:nvGrpSpPr>
      <p:grpSpPr>
        <a:xfrm>
          <a:off x="0" y="0"/>
          <a:ext cx="0" cy="0"/>
          <a:chOff x="0" y="0"/>
          <a:chExt cx="0" cy="0"/>
        </a:xfrm>
      </p:grpSpPr>
      <p:sp>
        <p:nvSpPr>
          <p:cNvPr id="316" name="Google Shape;316;p49"/>
          <p:cNvSpPr txBox="1"/>
          <p:nvPr/>
        </p:nvSpPr>
        <p:spPr>
          <a:xfrm>
            <a:off x="160950" y="184275"/>
            <a:ext cx="88221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600"/>
              </a:spcAft>
              <a:buNone/>
            </a:pPr>
            <a:r>
              <a:rPr b="1" lang="vi" sz="3600">
                <a:solidFill>
                  <a:srgbClr val="351C75"/>
                </a:solidFill>
              </a:rPr>
              <a:t>Phương pháp KTK (Kết-Thân-Kết) </a:t>
            </a:r>
            <a:endParaRPr b="1" sz="3600">
              <a:solidFill>
                <a:srgbClr val="351C75"/>
              </a:solidFill>
            </a:endParaRPr>
          </a:p>
        </p:txBody>
      </p:sp>
      <p:sp>
        <p:nvSpPr>
          <p:cNvPr id="317" name="Google Shape;317;p49"/>
          <p:cNvSpPr/>
          <p:nvPr/>
        </p:nvSpPr>
        <p:spPr>
          <a:xfrm>
            <a:off x="1535200" y="1122900"/>
            <a:ext cx="62676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vi" sz="1800">
                <a:solidFill>
                  <a:srgbClr val="351C75"/>
                </a:solidFill>
              </a:rPr>
              <a:t>Dạng câu hỏi chung</a:t>
            </a:r>
            <a:endParaRPr b="1" sz="18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200">
                <a:solidFill>
                  <a:srgbClr val="351C75"/>
                </a:solidFill>
              </a:rPr>
              <a:t>Không dịch word by word y nguyên nội dung nhận từ team</a:t>
            </a:r>
            <a:endParaRPr sz="1200">
              <a:solidFill>
                <a:srgbClr val="351C75"/>
              </a:solidFill>
            </a:endParaRPr>
          </a:p>
          <a:p>
            <a:pPr indent="0" lvl="0" marL="0" rtl="0" algn="l">
              <a:lnSpc>
                <a:spcPct val="115000"/>
              </a:lnSpc>
              <a:spcBef>
                <a:spcPts val="1200"/>
              </a:spcBef>
              <a:spcAft>
                <a:spcPts val="0"/>
              </a:spcAft>
              <a:buNone/>
            </a:pPr>
            <a:r>
              <a:rPr lang="vi" sz="1200">
                <a:solidFill>
                  <a:srgbClr val="351C75"/>
                </a:solidFill>
              </a:rPr>
              <a:t>Cần sắp xếp lại ý và diễn đạt lại rõ ràng khi dịch sang tiếng Nhật.</a:t>
            </a:r>
            <a:endParaRPr sz="1200">
              <a:solidFill>
                <a:srgbClr val="351C75"/>
              </a:solidFill>
            </a:endParaRPr>
          </a:p>
          <a:p>
            <a:pPr indent="0" lvl="0" marL="0" rtl="0" algn="l">
              <a:lnSpc>
                <a:spcPct val="115000"/>
              </a:lnSpc>
              <a:spcBef>
                <a:spcPts val="1200"/>
              </a:spcBef>
              <a:spcAft>
                <a:spcPts val="0"/>
              </a:spcAft>
              <a:buNone/>
            </a:pPr>
            <a:r>
              <a:rPr b="1" lang="vi" sz="1800">
                <a:solidFill>
                  <a:srgbClr val="351C75"/>
                </a:solidFill>
              </a:rPr>
              <a:t>Cấu trúc</a:t>
            </a:r>
            <a:endParaRPr sz="1800">
              <a:solidFill>
                <a:srgbClr val="351C75"/>
              </a:solidFill>
            </a:endParaRPr>
          </a:p>
          <a:p>
            <a:pPr indent="-304800" lvl="0" marL="457200" rtl="0" algn="l">
              <a:lnSpc>
                <a:spcPct val="115000"/>
              </a:lnSpc>
              <a:spcBef>
                <a:spcPts val="1200"/>
              </a:spcBef>
              <a:spcAft>
                <a:spcPts val="0"/>
              </a:spcAft>
              <a:buClr>
                <a:srgbClr val="351C75"/>
              </a:buClr>
              <a:buSzPts val="1200"/>
              <a:buAutoNum type="arabicPeriod"/>
            </a:pPr>
            <a:r>
              <a:rPr lang="vi" sz="1200">
                <a:solidFill>
                  <a:srgbClr val="351C75"/>
                </a:solidFill>
              </a:rPr>
              <a:t>Định hướng nội dung: </a:t>
            </a:r>
            <a:r>
              <a:rPr lang="vi" sz="1200">
                <a:solidFill>
                  <a:srgbClr val="351C75"/>
                </a:solidFill>
              </a:rPr>
              <a:t>Luôn </a:t>
            </a:r>
            <a:r>
              <a:rPr b="1" lang="vi" sz="1200">
                <a:solidFill>
                  <a:srgbClr val="351C75"/>
                </a:solidFill>
              </a:rPr>
              <a:t>TRÌNH BÀY KẾT LUẬN </a:t>
            </a:r>
            <a:r>
              <a:rPr lang="vi" sz="1200">
                <a:solidFill>
                  <a:srgbClr val="351C75"/>
                </a:solidFill>
              </a:rPr>
              <a:t>về</a:t>
            </a:r>
            <a:r>
              <a:rPr b="1" lang="vi" sz="1200">
                <a:solidFill>
                  <a:srgbClr val="351C75"/>
                </a:solidFill>
              </a:rPr>
              <a:t> NỘI DUNG LIÊN QUAN</a:t>
            </a:r>
            <a:r>
              <a:rPr lang="vi" sz="1200">
                <a:solidFill>
                  <a:srgbClr val="351C75"/>
                </a:solidFill>
              </a:rPr>
              <a:t> </a:t>
            </a:r>
            <a:r>
              <a:rPr b="1" lang="vi" sz="1200">
                <a:solidFill>
                  <a:srgbClr val="351C75"/>
                </a:solidFill>
              </a:rPr>
              <a:t>ở câu đầu tiên</a:t>
            </a:r>
            <a:r>
              <a:rPr lang="vi" sz="1200">
                <a:solidFill>
                  <a:srgbClr val="351C75"/>
                </a:solidFill>
              </a:rPr>
              <a:t>.</a:t>
            </a:r>
            <a:endParaRPr sz="1200">
              <a:solidFill>
                <a:srgbClr val="351C75"/>
              </a:solidFill>
            </a:endParaRPr>
          </a:p>
          <a:p>
            <a:pPr indent="0" lvl="0" marL="457200" rtl="0" algn="l">
              <a:lnSpc>
                <a:spcPct val="115000"/>
              </a:lnSpc>
              <a:spcBef>
                <a:spcPts val="0"/>
              </a:spcBef>
              <a:spcAft>
                <a:spcPts val="0"/>
              </a:spcAft>
              <a:buNone/>
            </a:pPr>
            <a:r>
              <a:rPr lang="vi" sz="1200">
                <a:solidFill>
                  <a:srgbClr val="CA2F47"/>
                </a:solidFill>
              </a:rPr>
              <a:t>V</a:t>
            </a:r>
            <a:r>
              <a:rPr lang="vi" sz="1200">
                <a:solidFill>
                  <a:srgbClr val="CA2F47"/>
                </a:solidFill>
              </a:rPr>
              <a:t>ề việc/Liên quan đến việc…, tôi muốn … </a:t>
            </a:r>
            <a:endParaRPr sz="1200">
              <a:solidFill>
                <a:srgbClr val="CA2F47"/>
              </a:solidFill>
            </a:endParaRPr>
          </a:p>
          <a:p>
            <a:pPr indent="0" lvl="0" marL="457200" rtl="0" algn="l">
              <a:lnSpc>
                <a:spcPct val="115000"/>
              </a:lnSpc>
              <a:spcBef>
                <a:spcPts val="0"/>
              </a:spcBef>
              <a:spcAft>
                <a:spcPts val="0"/>
              </a:spcAft>
              <a:buClr>
                <a:schemeClr val="dk1"/>
              </a:buClr>
              <a:buSzPts val="1100"/>
              <a:buFont typeface="Arial"/>
              <a:buNone/>
            </a:pPr>
            <a:r>
              <a:t/>
            </a:r>
            <a:endParaRPr sz="1200">
              <a:solidFill>
                <a:srgbClr val="351C75"/>
              </a:solidFill>
            </a:endParaRPr>
          </a:p>
          <a:p>
            <a:pPr indent="-304800" lvl="0" marL="457200" rtl="0" algn="l">
              <a:lnSpc>
                <a:spcPct val="115000"/>
              </a:lnSpc>
              <a:spcBef>
                <a:spcPts val="0"/>
              </a:spcBef>
              <a:spcAft>
                <a:spcPts val="0"/>
              </a:spcAft>
              <a:buClr>
                <a:srgbClr val="351C75"/>
              </a:buClr>
              <a:buSzPts val="1200"/>
              <a:buAutoNum type="arabicPeriod"/>
            </a:pPr>
            <a:r>
              <a:rPr lang="vi" sz="1200">
                <a:solidFill>
                  <a:srgbClr val="351C75"/>
                </a:solidFill>
              </a:rPr>
              <a:t>Trình bày hiện trạng</a:t>
            </a:r>
            <a:endParaRPr sz="1200">
              <a:solidFill>
                <a:srgbClr val="351C75"/>
              </a:solidFill>
            </a:endParaRPr>
          </a:p>
          <a:p>
            <a:pPr indent="0" lvl="0" marL="457200" rtl="0" algn="l">
              <a:lnSpc>
                <a:spcPct val="115000"/>
              </a:lnSpc>
              <a:spcBef>
                <a:spcPts val="0"/>
              </a:spcBef>
              <a:spcAft>
                <a:spcPts val="0"/>
              </a:spcAft>
              <a:buClr>
                <a:schemeClr val="dk1"/>
              </a:buClr>
              <a:buSzPts val="1100"/>
              <a:buFont typeface="Arial"/>
              <a:buNone/>
            </a:pPr>
            <a:r>
              <a:rPr lang="vi" sz="1200">
                <a:solidFill>
                  <a:srgbClr val="351C75"/>
                </a:solidFill>
              </a:rPr>
              <a:t>Kèm theo screenshot/ảnh minh họa nếu có</a:t>
            </a:r>
            <a:endParaRPr sz="1200">
              <a:solidFill>
                <a:srgbClr val="351C75"/>
              </a:solidFill>
            </a:endParaRPr>
          </a:p>
          <a:p>
            <a:pPr indent="0" lvl="0" marL="0" rtl="0" algn="l">
              <a:lnSpc>
                <a:spcPct val="115000"/>
              </a:lnSpc>
              <a:spcBef>
                <a:spcPts val="0"/>
              </a:spcBef>
              <a:spcAft>
                <a:spcPts val="0"/>
              </a:spcAft>
              <a:buNone/>
            </a:pPr>
            <a:r>
              <a:t/>
            </a:r>
            <a:endParaRPr sz="1200">
              <a:solidFill>
                <a:srgbClr val="351C75"/>
              </a:solidFill>
            </a:endParaRPr>
          </a:p>
          <a:p>
            <a:pPr indent="-304800" lvl="0" marL="457200" rtl="0" algn="l">
              <a:lnSpc>
                <a:spcPct val="115000"/>
              </a:lnSpc>
              <a:spcBef>
                <a:spcPts val="0"/>
              </a:spcBef>
              <a:spcAft>
                <a:spcPts val="0"/>
              </a:spcAft>
              <a:buClr>
                <a:srgbClr val="351C75"/>
              </a:buClr>
              <a:buSzPts val="1200"/>
              <a:buAutoNum type="arabicPeriod"/>
            </a:pPr>
            <a:r>
              <a:rPr lang="vi" sz="1200">
                <a:solidFill>
                  <a:srgbClr val="351C75"/>
                </a:solidFill>
              </a:rPr>
              <a:t>Nội dung cần hỏi</a:t>
            </a:r>
            <a:endParaRPr sz="1200">
              <a:solidFill>
                <a:srgbClr val="351C75"/>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321" name="Shape 321"/>
        <p:cNvGrpSpPr/>
        <p:nvPr/>
      </p:nvGrpSpPr>
      <p:grpSpPr>
        <a:xfrm>
          <a:off x="0" y="0"/>
          <a:ext cx="0" cy="0"/>
          <a:chOff x="0" y="0"/>
          <a:chExt cx="0" cy="0"/>
        </a:xfrm>
      </p:grpSpPr>
      <p:sp>
        <p:nvSpPr>
          <p:cNvPr id="322" name="Google Shape;322;p50"/>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Clr>
                <a:schemeClr val="dk1"/>
              </a:buClr>
              <a:buSzPts val="1100"/>
              <a:buFont typeface="Arial"/>
              <a:buNone/>
            </a:pPr>
            <a:r>
              <a:rPr b="1" lang="vi" sz="3600">
                <a:solidFill>
                  <a:srgbClr val="351C75"/>
                </a:solidFill>
              </a:rPr>
              <a:t>Ví dụ</a:t>
            </a:r>
            <a:endParaRPr sz="3600">
              <a:solidFill>
                <a:srgbClr val="351C75"/>
              </a:solidFill>
            </a:endParaRPr>
          </a:p>
        </p:txBody>
      </p:sp>
      <p:sp>
        <p:nvSpPr>
          <p:cNvPr id="323" name="Google Shape;323;p50"/>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 sz="1000">
                <a:solidFill>
                  <a:srgbClr val="351C75"/>
                </a:solidFill>
              </a:rPr>
              <a:t>Q&amp;A của team viết:</a:t>
            </a:r>
            <a:r>
              <a:rPr b="1" lang="vi" sz="1000">
                <a:solidFill>
                  <a:srgbClr val="351C75"/>
                </a:solidFill>
              </a:rPr>
              <a:t> </a:t>
            </a:r>
            <a:endParaRPr b="1"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000">
                <a:solidFill>
                  <a:srgbClr val="351C75"/>
                </a:solidFill>
              </a:rPr>
              <a:t>“Ở task DFS-7, chúng tôi đang tạo plugin để liên kết BOX với Dify và cần tài khoản BOX, bạn có thể cung cấp cho chúng tôi 1 tài khoản BOX enterprise để sử dụng không?”</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000">
                <a:solidFill>
                  <a:srgbClr val="351C75"/>
                </a:solidFill>
              </a:rPr>
              <a:t>Chốt nội dung sau khi xác nhận lại với team:</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000">
                <a:solidFill>
                  <a:srgbClr val="351C75"/>
                </a:solidFill>
              </a:rPr>
              <a:t>—---------------------------------</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b="1" lang="vi" sz="1000">
                <a:solidFill>
                  <a:srgbClr val="351C75"/>
                </a:solidFill>
              </a:rPr>
              <a:t>Liên quan đến</a:t>
            </a:r>
            <a:r>
              <a:rPr lang="vi" sz="1000">
                <a:solidFill>
                  <a:srgbClr val="351C75"/>
                </a:solidFill>
              </a:rPr>
              <a:t> task DFS-7, </a:t>
            </a:r>
            <a:r>
              <a:rPr b="1" lang="vi" sz="1000">
                <a:solidFill>
                  <a:srgbClr val="351C75"/>
                </a:solidFill>
              </a:rPr>
              <a:t>tôi cần</a:t>
            </a:r>
            <a:r>
              <a:rPr lang="vi" sz="1000">
                <a:solidFill>
                  <a:srgbClr val="351C75"/>
                </a:solidFill>
              </a:rPr>
              <a:t> tài khoản BOX enterprise để liên kết.</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b="1" lang="vi" sz="1000">
                <a:solidFill>
                  <a:srgbClr val="351C75"/>
                </a:solidFill>
              </a:rPr>
              <a:t>Hiện tại </a:t>
            </a:r>
            <a:r>
              <a:rPr lang="vi" sz="1000">
                <a:solidFill>
                  <a:srgbClr val="351C75"/>
                </a:solidFill>
              </a:rPr>
              <a:t>chúng tôi đang tạo plugin để liên kết BOX với Dify nhưng với tài khoản BOX free thì không thực hiện được. </a:t>
            </a:r>
            <a:r>
              <a:rPr b="1" lang="vi" sz="1000">
                <a:solidFill>
                  <a:srgbClr val="351C75"/>
                </a:solidFill>
              </a:rPr>
              <a:t>Lý do là: </a:t>
            </a:r>
            <a:r>
              <a:rPr lang="vi" sz="1000">
                <a:solidFill>
                  <a:srgbClr val="351C75"/>
                </a:solidFill>
              </a:rPr>
              <a:t>một số API quan trọng mà chúng tôi cần sử dụng (ví dụ: API quản lý người dùng, quản lý quyền truy cập folder, webhook, v.v.) chỉ khả dụng trên gói enterprise. Việc có tài khoản này sẽ giúp chúng tôi kiểm tra và xác minh tính tương thích đầy đủ của plugin với môi trường thực tế.</a:t>
            </a:r>
            <a:endParaRPr sz="1000">
              <a:solidFill>
                <a:srgbClr val="351C75"/>
              </a:solidFill>
            </a:endParaRPr>
          </a:p>
          <a:p>
            <a:pPr indent="0" lvl="0" marL="0" rtl="0" algn="l">
              <a:lnSpc>
                <a:spcPct val="115000"/>
              </a:lnSpc>
              <a:spcBef>
                <a:spcPts val="1200"/>
              </a:spcBef>
              <a:spcAft>
                <a:spcPts val="1200"/>
              </a:spcAft>
              <a:buNone/>
            </a:pPr>
            <a:r>
              <a:rPr b="1" lang="vi" sz="1000">
                <a:solidFill>
                  <a:srgbClr val="351C75"/>
                </a:solidFill>
              </a:rPr>
              <a:t>Bạn có thể cung cấp cho chúng tôi 1 tài khoản BOX enterprise để sử dụng không?</a:t>
            </a:r>
            <a:endParaRPr b="1" sz="1000">
              <a:solidFill>
                <a:srgbClr val="351C75"/>
              </a:solidFill>
              <a:highlight>
                <a:srgbClr val="FFF5F5"/>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1"/>
          <p:cNvSpPr txBox="1"/>
          <p:nvPr/>
        </p:nvSpPr>
        <p:spPr>
          <a:xfrm>
            <a:off x="1810482" y="332101"/>
            <a:ext cx="5900100" cy="712200"/>
          </a:xfrm>
          <a:prstGeom prst="rect">
            <a:avLst/>
          </a:prstGeom>
          <a:noFill/>
          <a:ln>
            <a:noFill/>
          </a:ln>
        </p:spPr>
        <p:txBody>
          <a:bodyPr anchorCtr="0" anchor="t" bIns="78325" lIns="78325" spcFirstLastPara="1" rIns="78325" wrap="square" tIns="78325">
            <a:spAutoFit/>
          </a:bodyPr>
          <a:lstStyle/>
          <a:p>
            <a:pPr indent="0" lvl="0" marL="0" rtl="0" algn="ctr">
              <a:lnSpc>
                <a:spcPct val="115000"/>
              </a:lnSpc>
              <a:spcBef>
                <a:spcPts val="1028"/>
              </a:spcBef>
              <a:spcAft>
                <a:spcPts val="1028"/>
              </a:spcAft>
              <a:buNone/>
            </a:pPr>
            <a:r>
              <a:rPr b="1" lang="vi" sz="3600">
                <a:solidFill>
                  <a:srgbClr val="351C75"/>
                </a:solidFill>
              </a:rPr>
              <a:t>Ví dụ</a:t>
            </a:r>
            <a:endParaRPr b="1" sz="3600">
              <a:solidFill>
                <a:srgbClr val="351C75"/>
              </a:solidFill>
            </a:endParaRPr>
          </a:p>
        </p:txBody>
      </p:sp>
      <p:sp>
        <p:nvSpPr>
          <p:cNvPr id="329" name="Google Shape;329;p51"/>
          <p:cNvSpPr/>
          <p:nvPr/>
        </p:nvSpPr>
        <p:spPr>
          <a:xfrm>
            <a:off x="1740075" y="1307251"/>
            <a:ext cx="5900100" cy="2834400"/>
          </a:xfrm>
          <a:prstGeom prst="roundRect">
            <a:avLst>
              <a:gd fmla="val 16667" name="adj"/>
            </a:avLst>
          </a:prstGeom>
          <a:solidFill>
            <a:srgbClr val="FFF5F5"/>
          </a:solidFill>
          <a:ln cap="flat" cmpd="sng" w="8150">
            <a:solidFill>
              <a:srgbClr val="CA2F47"/>
            </a:solidFill>
            <a:prstDash val="solid"/>
            <a:round/>
            <a:headEnd len="sm" w="sm" type="none"/>
            <a:tailEnd len="sm" w="sm" type="none"/>
          </a:ln>
        </p:spPr>
        <p:txBody>
          <a:bodyPr anchorCtr="0" anchor="ctr" bIns="78325" lIns="78325" spcFirstLastPara="1" rIns="78325" wrap="square" tIns="78325">
            <a:noAutofit/>
          </a:bodyPr>
          <a:lstStyle/>
          <a:p>
            <a:pPr indent="0" lvl="0" marL="0" rtl="0" algn="l">
              <a:lnSpc>
                <a:spcPct val="115000"/>
              </a:lnSpc>
              <a:spcBef>
                <a:spcPts val="0"/>
              </a:spcBef>
              <a:spcAft>
                <a:spcPts val="0"/>
              </a:spcAft>
              <a:buNone/>
            </a:pPr>
            <a:r>
              <a:rPr b="1" lang="vi" sz="1542">
                <a:solidFill>
                  <a:srgbClr val="351C75"/>
                </a:solidFill>
              </a:rPr>
              <a:t>Về nội dung</a:t>
            </a:r>
            <a:r>
              <a:rPr lang="vi" sz="1542">
                <a:solidFill>
                  <a:srgbClr val="351C75"/>
                </a:solidFill>
              </a:rPr>
              <a:t> của tài liệu thiết kế API, </a:t>
            </a:r>
            <a:r>
              <a:rPr b="1" lang="vi" sz="1542">
                <a:solidFill>
                  <a:srgbClr val="351C75"/>
                </a:solidFill>
              </a:rPr>
              <a:t>tôi muốn </a:t>
            </a:r>
            <a:r>
              <a:rPr lang="vi" sz="1542">
                <a:solidFill>
                  <a:srgbClr val="351C75"/>
                </a:solidFill>
              </a:rPr>
              <a:t>nhờ bên bạn </a:t>
            </a:r>
            <a:r>
              <a:rPr b="1" lang="vi" sz="1542">
                <a:solidFill>
                  <a:srgbClr val="351C75"/>
                </a:solidFill>
              </a:rPr>
              <a:t>xác nhận</a:t>
            </a:r>
            <a:r>
              <a:rPr lang="vi" sz="1542">
                <a:solidFill>
                  <a:srgbClr val="351C75"/>
                </a:solidFill>
              </a:rPr>
              <a:t> lại một điểm sau.</a:t>
            </a:r>
            <a:endParaRPr sz="1542">
              <a:solidFill>
                <a:srgbClr val="351C75"/>
              </a:solidFill>
            </a:endParaRPr>
          </a:p>
          <a:p>
            <a:pPr indent="0" lvl="0" marL="0" rtl="0" algn="l">
              <a:lnSpc>
                <a:spcPct val="115000"/>
              </a:lnSpc>
              <a:spcBef>
                <a:spcPts val="0"/>
              </a:spcBef>
              <a:spcAft>
                <a:spcPts val="0"/>
              </a:spcAft>
              <a:buClr>
                <a:srgbClr val="000000"/>
              </a:buClr>
              <a:buSzPts val="942"/>
              <a:buFont typeface="Arial"/>
              <a:buNone/>
            </a:pPr>
            <a:r>
              <a:t/>
            </a:r>
            <a:endParaRPr sz="1542">
              <a:solidFill>
                <a:srgbClr val="351C75"/>
              </a:solidFill>
            </a:endParaRPr>
          </a:p>
          <a:p>
            <a:pPr indent="0" lvl="0" marL="0" rtl="0" algn="l">
              <a:lnSpc>
                <a:spcPct val="115000"/>
              </a:lnSpc>
              <a:spcBef>
                <a:spcPts val="0"/>
              </a:spcBef>
              <a:spcAft>
                <a:spcPts val="0"/>
              </a:spcAft>
              <a:buNone/>
            </a:pPr>
            <a:r>
              <a:rPr b="1" lang="vi" sz="1542">
                <a:solidFill>
                  <a:srgbClr val="351C75"/>
                </a:solidFill>
              </a:rPr>
              <a:t>Hiện tại </a:t>
            </a:r>
            <a:r>
              <a:rPr lang="vi" sz="1542">
                <a:solidFill>
                  <a:srgbClr val="351C75"/>
                </a:solidFill>
              </a:rPr>
              <a:t>trong file spec có mô tả rằng tham số userId là bắt buộc, tuy nhiên trong phần xử lý backend hiện tại, hệ thống vẫn hoạt động được khi không truyền userId.</a:t>
            </a:r>
            <a:endParaRPr sz="1542">
              <a:solidFill>
                <a:srgbClr val="351C75"/>
              </a:solidFill>
            </a:endParaRPr>
          </a:p>
          <a:p>
            <a:pPr indent="0" lvl="0" marL="0" rtl="0" algn="l">
              <a:lnSpc>
                <a:spcPct val="115000"/>
              </a:lnSpc>
              <a:spcBef>
                <a:spcPts val="0"/>
              </a:spcBef>
              <a:spcAft>
                <a:spcPts val="0"/>
              </a:spcAft>
              <a:buClr>
                <a:srgbClr val="000000"/>
              </a:buClr>
              <a:buSzPts val="942"/>
              <a:buFont typeface="Arial"/>
              <a:buNone/>
            </a:pPr>
            <a:r>
              <a:t/>
            </a:r>
            <a:endParaRPr sz="1542">
              <a:solidFill>
                <a:srgbClr val="351C75"/>
              </a:solidFill>
            </a:endParaRPr>
          </a:p>
          <a:p>
            <a:pPr indent="0" lvl="0" marL="0" rtl="0" algn="l">
              <a:lnSpc>
                <a:spcPct val="115000"/>
              </a:lnSpc>
              <a:spcBef>
                <a:spcPts val="0"/>
              </a:spcBef>
              <a:spcAft>
                <a:spcPts val="0"/>
              </a:spcAft>
              <a:buNone/>
            </a:pPr>
            <a:r>
              <a:rPr b="1" lang="vi" sz="1542">
                <a:solidFill>
                  <a:srgbClr val="351C75"/>
                </a:solidFill>
              </a:rPr>
              <a:t>Vậy userId có thực sự là bắt buộc trong request này không?</a:t>
            </a:r>
            <a:endParaRPr b="1" sz="1542">
              <a:solidFill>
                <a:srgbClr val="351C75"/>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2"/>
          <p:cNvSpPr/>
          <p:nvPr/>
        </p:nvSpPr>
        <p:spPr>
          <a:xfrm>
            <a:off x="1140725" y="1081825"/>
            <a:ext cx="7006200" cy="3270300"/>
          </a:xfrm>
          <a:prstGeom prst="roundRect">
            <a:avLst>
              <a:gd fmla="val 16667" name="adj"/>
            </a:avLst>
          </a:prstGeom>
          <a:solidFill>
            <a:srgbClr val="FFF5F5"/>
          </a:solidFill>
          <a:ln cap="flat" cmpd="sng" w="7475">
            <a:solidFill>
              <a:srgbClr val="CA2F47"/>
            </a:solidFill>
            <a:prstDash val="solid"/>
            <a:round/>
            <a:headEnd len="sm" w="sm" type="none"/>
            <a:tailEnd len="sm" w="sm" type="none"/>
          </a:ln>
        </p:spPr>
        <p:txBody>
          <a:bodyPr anchorCtr="0" anchor="ctr" bIns="71600" lIns="71600" spcFirstLastPara="1" rIns="71600" wrap="square" tIns="71600">
            <a:noAutofit/>
          </a:bodyPr>
          <a:lstStyle/>
          <a:p>
            <a:pPr indent="-255237" lvl="0" marL="358074" rtl="0" algn="l">
              <a:spcBef>
                <a:spcPts val="0"/>
              </a:spcBef>
              <a:spcAft>
                <a:spcPts val="0"/>
              </a:spcAft>
              <a:buClr>
                <a:srgbClr val="351C75"/>
              </a:buClr>
              <a:buSzPts val="1200"/>
              <a:buAutoNum type="arabicPeriod"/>
            </a:pPr>
            <a:r>
              <a:rPr b="1" lang="vi" sz="1200">
                <a:solidFill>
                  <a:srgbClr val="351C75"/>
                </a:solidFill>
              </a:rPr>
              <a:t>Về tài liệu …, tôi muốn… -&gt; RÕ RÀNG MỤC TIÊU CÂU HỎI</a:t>
            </a:r>
            <a:endParaRPr sz="1200">
              <a:solidFill>
                <a:srgbClr val="351C75"/>
              </a:solidFill>
            </a:endParaRPr>
          </a:p>
          <a:p>
            <a:pPr indent="0" lvl="0" marL="358074" rtl="0" algn="l">
              <a:spcBef>
                <a:spcPts val="0"/>
              </a:spcBef>
              <a:spcAft>
                <a:spcPts val="0"/>
              </a:spcAft>
              <a:buNone/>
            </a:pPr>
            <a:r>
              <a:t/>
            </a:r>
            <a:endParaRPr sz="1200">
              <a:solidFill>
                <a:srgbClr val="351C75"/>
              </a:solidFill>
            </a:endParaRPr>
          </a:p>
          <a:p>
            <a:pPr indent="-255237" lvl="0" marL="358074" rtl="0" algn="l">
              <a:spcBef>
                <a:spcPts val="0"/>
              </a:spcBef>
              <a:spcAft>
                <a:spcPts val="0"/>
              </a:spcAft>
              <a:buClr>
                <a:srgbClr val="351C75"/>
              </a:buClr>
              <a:buSzPts val="1200"/>
              <a:buAutoNum type="arabicPeriod"/>
            </a:pPr>
            <a:r>
              <a:rPr b="1" lang="vi" sz="1200">
                <a:solidFill>
                  <a:srgbClr val="351C75"/>
                </a:solidFill>
              </a:rPr>
              <a:t>Nêu vị trí cần hỏi =&gt; ĐỊNH VỊ NHANH</a:t>
            </a:r>
            <a:endParaRPr b="1" sz="1200">
              <a:solidFill>
                <a:srgbClr val="351C75"/>
              </a:solidFill>
            </a:endParaRPr>
          </a:p>
          <a:p>
            <a:pPr indent="-255237" lvl="0" marL="358074" rtl="0" algn="l">
              <a:spcBef>
                <a:spcPts val="0"/>
              </a:spcBef>
              <a:spcAft>
                <a:spcPts val="0"/>
              </a:spcAft>
              <a:buClr>
                <a:srgbClr val="351C75"/>
              </a:buClr>
              <a:buSzPts val="1200"/>
              <a:buChar char="-"/>
            </a:pPr>
            <a:r>
              <a:rPr lang="vi" sz="1200">
                <a:solidFill>
                  <a:srgbClr val="351C75"/>
                </a:solidFill>
              </a:rPr>
              <a:t>Trường hợp file excel: Line bao nhiêu của excel, hoặc No. bao nhiêu trong bảng</a:t>
            </a:r>
            <a:endParaRPr sz="1200">
              <a:solidFill>
                <a:srgbClr val="351C75"/>
              </a:solidFill>
            </a:endParaRPr>
          </a:p>
          <a:p>
            <a:pPr indent="-255237" lvl="0" marL="358074" rtl="0" algn="l">
              <a:spcBef>
                <a:spcPts val="0"/>
              </a:spcBef>
              <a:spcAft>
                <a:spcPts val="0"/>
              </a:spcAft>
              <a:buClr>
                <a:srgbClr val="351C75"/>
              </a:buClr>
              <a:buSzPts val="1200"/>
              <a:buChar char="-"/>
            </a:pPr>
            <a:r>
              <a:rPr lang="vi" sz="1200">
                <a:solidFill>
                  <a:srgbClr val="351C75"/>
                </a:solidFill>
              </a:rPr>
              <a:t>Trường hợp file word, txt: Mục mấy, phần nào, trích dẫn đoạn cần hỏi, đưa vào " ".\</a:t>
            </a:r>
            <a:endParaRPr b="1" sz="1200">
              <a:solidFill>
                <a:srgbClr val="351C75"/>
              </a:solidFill>
            </a:endParaRPr>
          </a:p>
          <a:p>
            <a:pPr indent="0" lvl="0" marL="358074" rtl="0" algn="l">
              <a:spcBef>
                <a:spcPts val="0"/>
              </a:spcBef>
              <a:spcAft>
                <a:spcPts val="0"/>
              </a:spcAft>
              <a:buNone/>
            </a:pPr>
            <a:r>
              <a:t/>
            </a:r>
            <a:endParaRPr sz="1200">
              <a:solidFill>
                <a:srgbClr val="351C75"/>
              </a:solidFill>
            </a:endParaRPr>
          </a:p>
          <a:p>
            <a:pPr indent="-255237" lvl="0" marL="358074" rtl="0" algn="l">
              <a:spcBef>
                <a:spcPts val="0"/>
              </a:spcBef>
              <a:spcAft>
                <a:spcPts val="0"/>
              </a:spcAft>
              <a:buClr>
                <a:srgbClr val="351C75"/>
              </a:buClr>
              <a:buSzPts val="1200"/>
              <a:buAutoNum type="arabicPeriod"/>
            </a:pPr>
            <a:r>
              <a:rPr b="1" lang="vi" sz="1200">
                <a:solidFill>
                  <a:srgbClr val="351C75"/>
                </a:solidFill>
              </a:rPr>
              <a:t>Nội dung cần hỏi =&gt; PHÂN BIỆT RÕ “CHƯA CHẮC”&amp; “CHƯA HIỂU”</a:t>
            </a:r>
            <a:endParaRPr b="1" sz="1200">
              <a:solidFill>
                <a:srgbClr val="351C75"/>
              </a:solidFill>
            </a:endParaRPr>
          </a:p>
          <a:p>
            <a:pPr indent="-255237" lvl="0" marL="358074" rtl="0" algn="l">
              <a:spcBef>
                <a:spcPts val="0"/>
              </a:spcBef>
              <a:spcAft>
                <a:spcPts val="0"/>
              </a:spcAft>
              <a:buClr>
                <a:srgbClr val="351C75"/>
              </a:buClr>
              <a:buSzPts val="1200"/>
              <a:buChar char="-"/>
            </a:pPr>
            <a:r>
              <a:rPr lang="vi" sz="1200">
                <a:solidFill>
                  <a:srgbClr val="351C75"/>
                </a:solidFill>
              </a:rPr>
              <a:t>Trường hợp đã hiểu nhưng không chắc chắn về ý hiểu có đúng hay không, thì </a:t>
            </a:r>
            <a:r>
              <a:rPr b="1" lang="vi" sz="1200">
                <a:solidFill>
                  <a:srgbClr val="351C75"/>
                </a:solidFill>
              </a:rPr>
              <a:t>đưa câu hỏi về dạng Yes No Question</a:t>
            </a:r>
            <a:r>
              <a:rPr lang="vi" sz="1200">
                <a:solidFill>
                  <a:srgbClr val="351C75"/>
                </a:solidFill>
              </a:rPr>
              <a:t>: Về phần ..., chúng tôi hiểu là "...", hiểu như vậy có đúng không? Nếu chưa đúng, nhờ các bạn giải thích.</a:t>
            </a:r>
            <a:endParaRPr sz="1200">
              <a:solidFill>
                <a:srgbClr val="351C75"/>
              </a:solidFill>
            </a:endParaRPr>
          </a:p>
          <a:p>
            <a:pPr indent="-255237" lvl="0" marL="358074" rtl="0" algn="l">
              <a:spcBef>
                <a:spcPts val="0"/>
              </a:spcBef>
              <a:spcAft>
                <a:spcPts val="0"/>
              </a:spcAft>
              <a:buClr>
                <a:srgbClr val="351C75"/>
              </a:buClr>
              <a:buSzPts val="1200"/>
              <a:buChar char="-"/>
            </a:pPr>
            <a:r>
              <a:rPr lang="vi" sz="1200">
                <a:solidFill>
                  <a:srgbClr val="351C75"/>
                </a:solidFill>
              </a:rPr>
              <a:t>Trường hợp thật sự chưa hiểu: Về phần..., tôi chưa hiểu..., nhờ các bạn giải thích cụ thể cho chúng tôi được không?</a:t>
            </a:r>
            <a:endParaRPr sz="1200">
              <a:solidFill>
                <a:srgbClr val="351C75"/>
              </a:solidFill>
            </a:endParaRPr>
          </a:p>
          <a:p>
            <a:pPr indent="0" lvl="0" marL="358074" rtl="0" algn="l">
              <a:spcBef>
                <a:spcPts val="0"/>
              </a:spcBef>
              <a:spcAft>
                <a:spcPts val="0"/>
              </a:spcAft>
              <a:buNone/>
            </a:pPr>
            <a:r>
              <a:t/>
            </a:r>
            <a:endParaRPr sz="1200">
              <a:solidFill>
                <a:srgbClr val="351C75"/>
              </a:solidFill>
            </a:endParaRPr>
          </a:p>
          <a:p>
            <a:pPr indent="-255237" lvl="0" marL="358074" rtl="0" algn="l">
              <a:spcBef>
                <a:spcPts val="0"/>
              </a:spcBef>
              <a:spcAft>
                <a:spcPts val="0"/>
              </a:spcAft>
              <a:buClr>
                <a:srgbClr val="351C75"/>
              </a:buClr>
              <a:buSzPts val="1200"/>
              <a:buAutoNum type="arabicPeriod"/>
            </a:pPr>
            <a:r>
              <a:rPr b="1" lang="vi" sz="1200">
                <a:solidFill>
                  <a:srgbClr val="351C75"/>
                </a:solidFill>
              </a:rPr>
              <a:t>Update câu hỏi:</a:t>
            </a:r>
            <a:r>
              <a:rPr lang="vi" sz="1200">
                <a:solidFill>
                  <a:srgbClr val="351C75"/>
                </a:solidFill>
              </a:rPr>
              <a:t> </a:t>
            </a:r>
            <a:endParaRPr sz="1200">
              <a:solidFill>
                <a:srgbClr val="351C75"/>
              </a:solidFill>
            </a:endParaRPr>
          </a:p>
          <a:p>
            <a:pPr indent="0" lvl="0" marL="358074" rtl="0" algn="l">
              <a:spcBef>
                <a:spcPts val="0"/>
              </a:spcBef>
              <a:spcAft>
                <a:spcPts val="0"/>
              </a:spcAft>
              <a:buNone/>
            </a:pPr>
            <a:r>
              <a:rPr lang="vi" sz="1200">
                <a:solidFill>
                  <a:srgbClr val="351C75"/>
                </a:solidFill>
              </a:rPr>
              <a:t>Nếu đã nhận được trả lời của khách, mà vẫn chưa clear, thì update câu hỏi lên trên cùng, ghi thêm ngày và bôi đỏ nội dung update.</a:t>
            </a:r>
            <a:endParaRPr b="1" sz="1200">
              <a:solidFill>
                <a:srgbClr val="351C75"/>
              </a:solidFill>
            </a:endParaRPr>
          </a:p>
        </p:txBody>
      </p:sp>
      <p:sp>
        <p:nvSpPr>
          <p:cNvPr id="335" name="Google Shape;335;p52"/>
          <p:cNvSpPr txBox="1"/>
          <p:nvPr/>
        </p:nvSpPr>
        <p:spPr>
          <a:xfrm>
            <a:off x="694335" y="181929"/>
            <a:ext cx="7342500" cy="698700"/>
          </a:xfrm>
          <a:prstGeom prst="rect">
            <a:avLst/>
          </a:prstGeom>
          <a:noFill/>
          <a:ln>
            <a:noFill/>
          </a:ln>
        </p:spPr>
        <p:txBody>
          <a:bodyPr anchorCtr="0" anchor="t" bIns="71600" lIns="71600" spcFirstLastPara="1" rIns="71600" wrap="square" tIns="71600">
            <a:spAutoFit/>
          </a:bodyPr>
          <a:lstStyle/>
          <a:p>
            <a:pPr indent="0" lvl="0" marL="0" rtl="0" algn="ctr">
              <a:lnSpc>
                <a:spcPct val="115000"/>
              </a:lnSpc>
              <a:spcBef>
                <a:spcPts val="1410"/>
              </a:spcBef>
              <a:spcAft>
                <a:spcPts val="470"/>
              </a:spcAft>
              <a:buNone/>
            </a:pPr>
            <a:r>
              <a:rPr b="1" lang="vi" sz="3600">
                <a:solidFill>
                  <a:srgbClr val="351C75"/>
                </a:solidFill>
              </a:rPr>
              <a:t>Q&amp;A liên quan đến tài liệu</a:t>
            </a:r>
            <a:endParaRPr b="1" sz="3600">
              <a:solidFill>
                <a:srgbClr val="351C75"/>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3"/>
          <p:cNvSpPr txBox="1"/>
          <p:nvPr/>
        </p:nvSpPr>
        <p:spPr>
          <a:xfrm>
            <a:off x="1558690" y="267050"/>
            <a:ext cx="5238600" cy="694500"/>
          </a:xfrm>
          <a:prstGeom prst="rect">
            <a:avLst/>
          </a:prstGeom>
          <a:noFill/>
          <a:ln>
            <a:noFill/>
          </a:ln>
        </p:spPr>
        <p:txBody>
          <a:bodyPr anchorCtr="0" anchor="t" bIns="69525" lIns="69525" spcFirstLastPara="1" rIns="69525" wrap="square" tIns="69525">
            <a:spAutoFit/>
          </a:bodyPr>
          <a:lstStyle/>
          <a:p>
            <a:pPr indent="0" lvl="0" marL="0" rtl="0" algn="ctr">
              <a:lnSpc>
                <a:spcPct val="115000"/>
              </a:lnSpc>
              <a:spcBef>
                <a:spcPts val="913"/>
              </a:spcBef>
              <a:spcAft>
                <a:spcPts val="913"/>
              </a:spcAft>
              <a:buNone/>
            </a:pPr>
            <a:r>
              <a:rPr b="1" lang="vi" sz="3600">
                <a:solidFill>
                  <a:srgbClr val="351C75"/>
                </a:solidFill>
              </a:rPr>
              <a:t>Ví dụ</a:t>
            </a:r>
            <a:endParaRPr b="1" sz="3600">
              <a:solidFill>
                <a:srgbClr val="351C75"/>
              </a:solidFill>
            </a:endParaRPr>
          </a:p>
        </p:txBody>
      </p:sp>
      <p:sp>
        <p:nvSpPr>
          <p:cNvPr id="341" name="Google Shape;341;p53"/>
          <p:cNvSpPr/>
          <p:nvPr/>
        </p:nvSpPr>
        <p:spPr>
          <a:xfrm>
            <a:off x="623975" y="1132911"/>
            <a:ext cx="8019000" cy="2863500"/>
          </a:xfrm>
          <a:prstGeom prst="roundRect">
            <a:avLst>
              <a:gd fmla="val 16667" name="adj"/>
            </a:avLst>
          </a:prstGeom>
          <a:solidFill>
            <a:srgbClr val="FFF5F5"/>
          </a:solidFill>
          <a:ln cap="flat" cmpd="sng" w="7250">
            <a:solidFill>
              <a:srgbClr val="CA2F47"/>
            </a:solidFill>
            <a:prstDash val="solid"/>
            <a:round/>
            <a:headEnd len="sm" w="sm" type="none"/>
            <a:tailEnd len="sm" w="sm" type="none"/>
          </a:ln>
        </p:spPr>
        <p:txBody>
          <a:bodyPr anchorCtr="0" anchor="ctr" bIns="69525" lIns="69525" spcFirstLastPara="1" rIns="69525" wrap="square" tIns="69525">
            <a:noAutofit/>
          </a:bodyPr>
          <a:lstStyle/>
          <a:p>
            <a:pPr indent="0" lvl="0" marL="0" rtl="0" algn="l">
              <a:lnSpc>
                <a:spcPct val="115000"/>
              </a:lnSpc>
              <a:spcBef>
                <a:spcPts val="1065"/>
              </a:spcBef>
              <a:spcAft>
                <a:spcPts val="0"/>
              </a:spcAft>
              <a:buNone/>
            </a:pPr>
            <a:r>
              <a:rPr lang="vi">
                <a:solidFill>
                  <a:srgbClr val="351C75"/>
                </a:solidFill>
              </a:rPr>
              <a:t>✅ </a:t>
            </a:r>
            <a:r>
              <a:rPr b="1" lang="vi">
                <a:solidFill>
                  <a:srgbClr val="351C75"/>
                </a:solidFill>
              </a:rPr>
              <a:t>Ví dụ 1: Đã hiểu nhưng cần xác nhận lại</a:t>
            </a:r>
            <a:endParaRPr b="1">
              <a:solidFill>
                <a:srgbClr val="351C75"/>
              </a:solidFill>
            </a:endParaRPr>
          </a:p>
          <a:p>
            <a:pPr indent="0" lvl="0" marL="0" rtl="0" algn="l">
              <a:lnSpc>
                <a:spcPct val="115000"/>
              </a:lnSpc>
              <a:spcBef>
                <a:spcPts val="1065"/>
              </a:spcBef>
              <a:spcAft>
                <a:spcPts val="0"/>
              </a:spcAft>
              <a:buClr>
                <a:srgbClr val="000000"/>
              </a:buClr>
              <a:buSzPts val="837"/>
              <a:buFont typeface="Arial"/>
              <a:buNone/>
            </a:pPr>
            <a:r>
              <a:t/>
            </a:r>
            <a:endParaRPr>
              <a:solidFill>
                <a:srgbClr val="351C75"/>
              </a:solidFill>
            </a:endParaRPr>
          </a:p>
          <a:p>
            <a:pPr indent="0" lvl="0" marL="289763" marR="289763" rtl="0" algn="l">
              <a:lnSpc>
                <a:spcPct val="115000"/>
              </a:lnSpc>
              <a:spcBef>
                <a:spcPts val="913"/>
              </a:spcBef>
              <a:spcAft>
                <a:spcPts val="0"/>
              </a:spcAft>
              <a:buClr>
                <a:srgbClr val="000000"/>
              </a:buClr>
              <a:buSzPts val="837"/>
              <a:buFont typeface="Arial"/>
              <a:buNone/>
            </a:pPr>
            <a:r>
              <a:rPr lang="vi">
                <a:solidFill>
                  <a:srgbClr val="CA2F47"/>
                </a:solidFill>
              </a:rPr>
              <a:t>Về tài liệu </a:t>
            </a:r>
            <a:r>
              <a:rPr lang="vi">
                <a:solidFill>
                  <a:srgbClr val="351C75"/>
                </a:solidFill>
              </a:rPr>
              <a:t>仕様設計書.xlsx , </a:t>
            </a:r>
            <a:r>
              <a:rPr lang="vi">
                <a:solidFill>
                  <a:srgbClr val="CA2F47"/>
                </a:solidFill>
              </a:rPr>
              <a:t>tôi muốn </a:t>
            </a:r>
            <a:r>
              <a:rPr lang="vi">
                <a:solidFill>
                  <a:srgbClr val="351C75"/>
                </a:solidFill>
              </a:rPr>
              <a:t>xác nhận lại nội dung.</a:t>
            </a:r>
            <a:endParaRPr>
              <a:solidFill>
                <a:srgbClr val="351C75"/>
              </a:solidFill>
            </a:endParaRPr>
          </a:p>
          <a:p>
            <a:pPr indent="0" lvl="0" marL="289763" marR="289763" rtl="0" algn="l">
              <a:lnSpc>
                <a:spcPct val="115000"/>
              </a:lnSpc>
              <a:spcBef>
                <a:spcPts val="913"/>
              </a:spcBef>
              <a:spcAft>
                <a:spcPts val="0"/>
              </a:spcAft>
              <a:buClr>
                <a:srgbClr val="000000"/>
              </a:buClr>
              <a:buSzPts val="837"/>
              <a:buFont typeface="Arial"/>
              <a:buNone/>
            </a:pPr>
            <a:r>
              <a:rPr lang="vi">
                <a:solidFill>
                  <a:srgbClr val="351C75"/>
                </a:solidFill>
              </a:rPr>
              <a:t>Cụ thể, ở </a:t>
            </a:r>
            <a:r>
              <a:rPr lang="vi">
                <a:solidFill>
                  <a:srgbClr val="CA2F47"/>
                </a:solidFill>
              </a:rPr>
              <a:t>sheet</a:t>
            </a:r>
            <a:r>
              <a:rPr lang="vi">
                <a:solidFill>
                  <a:srgbClr val="351C75"/>
                </a:solidFill>
              </a:rPr>
              <a:t>「ログイン機能」, </a:t>
            </a:r>
            <a:r>
              <a:rPr lang="vi">
                <a:solidFill>
                  <a:srgbClr val="CA2F47"/>
                </a:solidFill>
              </a:rPr>
              <a:t>dòng</a:t>
            </a:r>
            <a:r>
              <a:rPr lang="vi">
                <a:solidFill>
                  <a:srgbClr val="351C75"/>
                </a:solidFill>
              </a:rPr>
              <a:t> 28, mục「認証チェックフロー」</a:t>
            </a:r>
            <a:r>
              <a:rPr lang="vi">
                <a:solidFill>
                  <a:srgbClr val="CA2F47"/>
                </a:solidFill>
              </a:rPr>
              <a:t>có ghi: </a:t>
            </a:r>
            <a:r>
              <a:rPr lang="vi">
                <a:solidFill>
                  <a:srgbClr val="351C75"/>
                </a:solidFill>
              </a:rPr>
              <a:t>“セッションIDが有効であればログイン成功とみなす”</a:t>
            </a:r>
            <a:endParaRPr>
              <a:solidFill>
                <a:srgbClr val="351C75"/>
              </a:solidFill>
            </a:endParaRPr>
          </a:p>
          <a:p>
            <a:pPr indent="0" lvl="0" marL="289763" marR="289763" rtl="0" algn="l">
              <a:lnSpc>
                <a:spcPct val="115000"/>
              </a:lnSpc>
              <a:spcBef>
                <a:spcPts val="913"/>
              </a:spcBef>
              <a:spcAft>
                <a:spcPts val="913"/>
              </a:spcAft>
              <a:buNone/>
            </a:pPr>
            <a:r>
              <a:rPr lang="vi">
                <a:solidFill>
                  <a:srgbClr val="351C75"/>
                </a:solidFill>
              </a:rPr>
              <a:t>Chúng tôi hiểu là: “Chỉ cần session ID còn hiệu lực thì hệ thống sẽ cho rằng người dùng đã đăng nhập thành công mà không cần xác thực lại”.</a:t>
            </a:r>
            <a:br>
              <a:rPr lang="vi">
                <a:solidFill>
                  <a:srgbClr val="351C75"/>
                </a:solidFill>
              </a:rPr>
            </a:br>
            <a:r>
              <a:rPr lang="vi">
                <a:solidFill>
                  <a:srgbClr val="CA2F47"/>
                </a:solidFill>
              </a:rPr>
              <a:t>Hiểu như vậy có đúng không? Nếu chưa đúng, nhờ các bạn giải thích giúp.</a:t>
            </a:r>
            <a:endParaRPr>
              <a:solidFill>
                <a:srgbClr val="CA2F47"/>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4"/>
          <p:cNvSpPr txBox="1"/>
          <p:nvPr/>
        </p:nvSpPr>
        <p:spPr>
          <a:xfrm>
            <a:off x="1826443" y="285824"/>
            <a:ext cx="4759200" cy="681600"/>
          </a:xfrm>
          <a:prstGeom prst="rect">
            <a:avLst/>
          </a:prstGeom>
          <a:noFill/>
          <a:ln>
            <a:noFill/>
          </a:ln>
        </p:spPr>
        <p:txBody>
          <a:bodyPr anchorCtr="0" anchor="t" bIns="63175" lIns="63175" spcFirstLastPara="1" rIns="63175" wrap="square" tIns="63175">
            <a:spAutoFit/>
          </a:bodyPr>
          <a:lstStyle/>
          <a:p>
            <a:pPr indent="0" lvl="0" marL="0" rtl="0" algn="ctr">
              <a:lnSpc>
                <a:spcPct val="115000"/>
              </a:lnSpc>
              <a:spcBef>
                <a:spcPts val="829"/>
              </a:spcBef>
              <a:spcAft>
                <a:spcPts val="829"/>
              </a:spcAft>
              <a:buNone/>
            </a:pPr>
            <a:r>
              <a:rPr b="1" lang="vi" sz="3600">
                <a:solidFill>
                  <a:srgbClr val="351C75"/>
                </a:solidFill>
              </a:rPr>
              <a:t>Ví dụ</a:t>
            </a:r>
            <a:endParaRPr b="1" sz="3600">
              <a:solidFill>
                <a:srgbClr val="351C75"/>
              </a:solidFill>
            </a:endParaRPr>
          </a:p>
        </p:txBody>
      </p:sp>
      <p:sp>
        <p:nvSpPr>
          <p:cNvPr id="347" name="Google Shape;347;p54"/>
          <p:cNvSpPr/>
          <p:nvPr/>
        </p:nvSpPr>
        <p:spPr>
          <a:xfrm>
            <a:off x="1069475" y="1115400"/>
            <a:ext cx="7284900" cy="3103200"/>
          </a:xfrm>
          <a:prstGeom prst="roundRect">
            <a:avLst>
              <a:gd fmla="val 16667" name="adj"/>
            </a:avLst>
          </a:prstGeom>
          <a:solidFill>
            <a:srgbClr val="FFF5F5"/>
          </a:solidFill>
          <a:ln cap="flat" cmpd="sng" w="6575">
            <a:solidFill>
              <a:srgbClr val="CA2F47"/>
            </a:solidFill>
            <a:prstDash val="solid"/>
            <a:round/>
            <a:headEnd len="sm" w="sm" type="none"/>
            <a:tailEnd len="sm" w="sm" type="none"/>
          </a:ln>
        </p:spPr>
        <p:txBody>
          <a:bodyPr anchorCtr="0" anchor="ctr" bIns="63175" lIns="63175" spcFirstLastPara="1" rIns="63175" wrap="square" tIns="63175">
            <a:noAutofit/>
          </a:bodyPr>
          <a:lstStyle/>
          <a:p>
            <a:pPr indent="0" lvl="0" marL="0" rtl="0" algn="l">
              <a:lnSpc>
                <a:spcPct val="115000"/>
              </a:lnSpc>
              <a:spcBef>
                <a:spcPts val="967"/>
              </a:spcBef>
              <a:spcAft>
                <a:spcPts val="0"/>
              </a:spcAft>
              <a:buClr>
                <a:srgbClr val="000000"/>
              </a:buClr>
              <a:buSzPts val="760"/>
              <a:buFont typeface="Arial"/>
              <a:buNone/>
            </a:pPr>
            <a:r>
              <a:rPr b="1" lang="vi">
                <a:solidFill>
                  <a:srgbClr val="351C75"/>
                </a:solidFill>
              </a:rPr>
              <a:t>✅ Ví dụ 2: Chưa hiểu rõ nội dung, nhờ giải thích thêm</a:t>
            </a:r>
            <a:endParaRPr b="1">
              <a:solidFill>
                <a:srgbClr val="351C75"/>
              </a:solidFill>
            </a:endParaRPr>
          </a:p>
          <a:p>
            <a:pPr indent="0" lvl="0" marL="263237" marR="263237" rtl="0" algn="l">
              <a:lnSpc>
                <a:spcPct val="115000"/>
              </a:lnSpc>
              <a:spcBef>
                <a:spcPts val="829"/>
              </a:spcBef>
              <a:spcAft>
                <a:spcPts val="0"/>
              </a:spcAft>
              <a:buClr>
                <a:srgbClr val="000000"/>
              </a:buClr>
              <a:buSzPts val="760"/>
              <a:buFont typeface="Arial"/>
              <a:buNone/>
            </a:pPr>
            <a:r>
              <a:rPr lang="vi">
                <a:solidFill>
                  <a:srgbClr val="CA2F47"/>
                </a:solidFill>
              </a:rPr>
              <a:t>Về tài liệu </a:t>
            </a:r>
            <a:r>
              <a:rPr lang="vi">
                <a:solidFill>
                  <a:srgbClr val="351C75"/>
                </a:solidFill>
              </a:rPr>
              <a:t>API仕様書_v2.docx,</a:t>
            </a:r>
            <a:r>
              <a:rPr lang="vi">
                <a:solidFill>
                  <a:srgbClr val="CA2F47"/>
                </a:solidFill>
              </a:rPr>
              <a:t> tôi muốn</a:t>
            </a:r>
            <a:r>
              <a:rPr lang="vi">
                <a:solidFill>
                  <a:srgbClr val="351C75"/>
                </a:solidFill>
              </a:rPr>
              <a:t> hỏi thêm thông tin.</a:t>
            </a:r>
            <a:endParaRPr>
              <a:solidFill>
                <a:srgbClr val="351C75"/>
              </a:solidFill>
            </a:endParaRPr>
          </a:p>
          <a:p>
            <a:pPr indent="0" lvl="0" marL="263237" marR="263237" rtl="0" algn="l">
              <a:lnSpc>
                <a:spcPct val="115000"/>
              </a:lnSpc>
              <a:spcBef>
                <a:spcPts val="829"/>
              </a:spcBef>
              <a:spcAft>
                <a:spcPts val="0"/>
              </a:spcAft>
              <a:buClr>
                <a:srgbClr val="000000"/>
              </a:buClr>
              <a:buSzPts val="760"/>
              <a:buFont typeface="Arial"/>
              <a:buNone/>
            </a:pPr>
            <a:r>
              <a:rPr lang="vi">
                <a:solidFill>
                  <a:srgbClr val="351C75"/>
                </a:solidFill>
              </a:rPr>
              <a:t>Cụ thể, ở </a:t>
            </a:r>
            <a:r>
              <a:rPr lang="vi">
                <a:solidFill>
                  <a:srgbClr val="CA2F47"/>
                </a:solidFill>
              </a:rPr>
              <a:t>mục </a:t>
            </a:r>
            <a:r>
              <a:rPr lang="vi">
                <a:solidFill>
                  <a:srgbClr val="351C75"/>
                </a:solidFill>
              </a:rPr>
              <a:t>3.2「ユーザー削除API」, </a:t>
            </a:r>
            <a:r>
              <a:rPr lang="vi">
                <a:solidFill>
                  <a:srgbClr val="CA2F47"/>
                </a:solidFill>
              </a:rPr>
              <a:t>có đoạn ghi:</a:t>
            </a:r>
            <a:br>
              <a:rPr lang="vi">
                <a:solidFill>
                  <a:srgbClr val="CA2F47"/>
                </a:solidFill>
              </a:rPr>
            </a:br>
            <a:r>
              <a:rPr lang="vi">
                <a:solidFill>
                  <a:srgbClr val="351C75"/>
                </a:solidFill>
              </a:rPr>
              <a:t> “物理削除ではなく、論理削除を行う”</a:t>
            </a:r>
            <a:endParaRPr>
              <a:solidFill>
                <a:srgbClr val="351C75"/>
              </a:solidFill>
            </a:endParaRPr>
          </a:p>
          <a:p>
            <a:pPr indent="0" lvl="0" marL="263237" marR="263237" rtl="0" algn="l">
              <a:lnSpc>
                <a:spcPct val="115000"/>
              </a:lnSpc>
              <a:spcBef>
                <a:spcPts val="829"/>
              </a:spcBef>
              <a:spcAft>
                <a:spcPts val="0"/>
              </a:spcAft>
              <a:buNone/>
            </a:pPr>
            <a:r>
              <a:rPr lang="vi">
                <a:solidFill>
                  <a:srgbClr val="351C75"/>
                </a:solidFill>
              </a:rPr>
              <a:t>Tôi chưa rõ “論理削除” trong trường hợp này cụ thể được thực hiện như thế nào? Có nghĩa là chỉ cập nhật flag trong DB, hay là chuyển dữ liệu sang bảng khác?</a:t>
            </a:r>
            <a:endParaRPr>
              <a:solidFill>
                <a:srgbClr val="351C75"/>
              </a:solidFill>
            </a:endParaRPr>
          </a:p>
          <a:p>
            <a:pPr indent="0" lvl="0" marL="263237" marR="263237" rtl="0" algn="l">
              <a:lnSpc>
                <a:spcPct val="115000"/>
              </a:lnSpc>
              <a:spcBef>
                <a:spcPts val="829"/>
              </a:spcBef>
              <a:spcAft>
                <a:spcPts val="829"/>
              </a:spcAft>
              <a:buNone/>
            </a:pPr>
            <a:br>
              <a:rPr lang="vi">
                <a:solidFill>
                  <a:srgbClr val="351C75"/>
                </a:solidFill>
              </a:rPr>
            </a:br>
            <a:r>
              <a:rPr lang="vi">
                <a:solidFill>
                  <a:srgbClr val="CA2F47"/>
                </a:solidFill>
              </a:rPr>
              <a:t>Nhờ các bạn giải thích </a:t>
            </a:r>
            <a:r>
              <a:rPr lang="vi">
                <a:solidFill>
                  <a:srgbClr val="351C75"/>
                </a:solidFill>
              </a:rPr>
              <a:t>cụ thể cho chúng tôi được không?</a:t>
            </a:r>
            <a:endParaRPr b="1">
              <a:solidFill>
                <a:srgbClr val="351C75"/>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5"/>
          <p:cNvSpPr txBox="1"/>
          <p:nvPr/>
        </p:nvSpPr>
        <p:spPr>
          <a:xfrm>
            <a:off x="1981780" y="378027"/>
            <a:ext cx="4767000" cy="681900"/>
          </a:xfrm>
          <a:prstGeom prst="rect">
            <a:avLst/>
          </a:prstGeom>
          <a:noFill/>
          <a:ln>
            <a:noFill/>
          </a:ln>
        </p:spPr>
        <p:txBody>
          <a:bodyPr anchorCtr="0" anchor="t" bIns="63275" lIns="63275" spcFirstLastPara="1" rIns="63275" wrap="square" tIns="63275">
            <a:spAutoFit/>
          </a:bodyPr>
          <a:lstStyle/>
          <a:p>
            <a:pPr indent="0" lvl="0" marL="0" rtl="0" algn="ctr">
              <a:lnSpc>
                <a:spcPct val="115000"/>
              </a:lnSpc>
              <a:spcBef>
                <a:spcPts val="969"/>
              </a:spcBef>
              <a:spcAft>
                <a:spcPts val="277"/>
              </a:spcAft>
              <a:buNone/>
            </a:pPr>
            <a:r>
              <a:rPr b="1" lang="vi" sz="3600">
                <a:solidFill>
                  <a:srgbClr val="351C75"/>
                </a:solidFill>
              </a:rPr>
              <a:t>T</a:t>
            </a:r>
            <a:r>
              <a:rPr b="1" lang="vi" sz="3600">
                <a:solidFill>
                  <a:srgbClr val="351C75"/>
                </a:solidFill>
              </a:rPr>
              <a:t>hực hành 01</a:t>
            </a:r>
            <a:endParaRPr b="1" sz="3600">
              <a:solidFill>
                <a:srgbClr val="351C75"/>
              </a:solidFill>
            </a:endParaRPr>
          </a:p>
        </p:txBody>
      </p:sp>
      <p:sp>
        <p:nvSpPr>
          <p:cNvPr id="353" name="Google Shape;353;p55"/>
          <p:cNvSpPr/>
          <p:nvPr/>
        </p:nvSpPr>
        <p:spPr>
          <a:xfrm>
            <a:off x="1628250" y="1256439"/>
            <a:ext cx="5887500" cy="3192000"/>
          </a:xfrm>
          <a:prstGeom prst="roundRect">
            <a:avLst>
              <a:gd fmla="val 16667" name="adj"/>
            </a:avLst>
          </a:prstGeom>
          <a:solidFill>
            <a:srgbClr val="FFF5F5"/>
          </a:solidFill>
          <a:ln cap="flat" cmpd="sng" w="6600">
            <a:solidFill>
              <a:srgbClr val="CA2F47"/>
            </a:solidFill>
            <a:prstDash val="solid"/>
            <a:round/>
            <a:headEnd len="sm" w="sm" type="none"/>
            <a:tailEnd len="sm" w="sm" type="none"/>
          </a:ln>
        </p:spPr>
        <p:txBody>
          <a:bodyPr anchorCtr="0" anchor="ctr" bIns="63275" lIns="63275" spcFirstLastPara="1" rIns="63275" wrap="square" tIns="63275">
            <a:noAutofit/>
          </a:bodyPr>
          <a:lstStyle/>
          <a:p>
            <a:pPr indent="0" lvl="0" marL="0" rtl="0" algn="l">
              <a:lnSpc>
                <a:spcPct val="115000"/>
              </a:lnSpc>
              <a:spcBef>
                <a:spcPts val="1246"/>
              </a:spcBef>
              <a:spcAft>
                <a:spcPts val="0"/>
              </a:spcAft>
              <a:buNone/>
            </a:pPr>
            <a:r>
              <a:rPr b="1" lang="vi">
                <a:solidFill>
                  <a:srgbClr val="351C75"/>
                </a:solidFill>
              </a:rPr>
              <a:t>Dịch câu Q&amp;A sau sang tiếng Nhật:</a:t>
            </a:r>
            <a:endParaRPr b="1">
              <a:solidFill>
                <a:srgbClr val="351C75"/>
              </a:solidFill>
            </a:endParaRPr>
          </a:p>
          <a:p>
            <a:pPr indent="0" lvl="0" marL="0" rtl="0" algn="l">
              <a:lnSpc>
                <a:spcPct val="115000"/>
              </a:lnSpc>
              <a:spcBef>
                <a:spcPts val="1246"/>
              </a:spcBef>
              <a:spcAft>
                <a:spcPts val="0"/>
              </a:spcAft>
              <a:buNone/>
            </a:pPr>
            <a:r>
              <a:rPr lang="vi">
                <a:solidFill>
                  <a:srgbClr val="351C75"/>
                </a:solidFill>
              </a:rPr>
              <a:t>—-----------------------------</a:t>
            </a:r>
            <a:endParaRPr>
              <a:solidFill>
                <a:srgbClr val="351C75"/>
              </a:solidFill>
            </a:endParaRPr>
          </a:p>
          <a:p>
            <a:pPr indent="0" lvl="0" marL="0" rtl="0" algn="l">
              <a:lnSpc>
                <a:spcPct val="115000"/>
              </a:lnSpc>
              <a:spcBef>
                <a:spcPts val="830"/>
              </a:spcBef>
              <a:spcAft>
                <a:spcPts val="0"/>
              </a:spcAft>
              <a:buClr>
                <a:srgbClr val="000000"/>
              </a:buClr>
              <a:buSzPts val="761"/>
              <a:buFont typeface="Arial"/>
              <a:buNone/>
            </a:pPr>
            <a:r>
              <a:rPr lang="vi">
                <a:solidFill>
                  <a:srgbClr val="351C75"/>
                </a:solidFill>
              </a:rPr>
              <a:t>Về tài liệu SOP_DBメンテナンス作業.docx, tôi muốn hỏi thêm.</a:t>
            </a:r>
            <a:br>
              <a:rPr lang="vi">
                <a:solidFill>
                  <a:srgbClr val="351C75"/>
                </a:solidFill>
              </a:rPr>
            </a:br>
            <a:r>
              <a:rPr lang="vi">
                <a:solidFill>
                  <a:srgbClr val="351C75"/>
                </a:solidFill>
              </a:rPr>
              <a:t> Ở mục 2.2「バックアップの取得」có đoạn:</a:t>
            </a:r>
            <a:br>
              <a:rPr lang="vi">
                <a:solidFill>
                  <a:srgbClr val="351C75"/>
                </a:solidFill>
              </a:rPr>
            </a:br>
            <a:r>
              <a:rPr lang="vi">
                <a:solidFill>
                  <a:srgbClr val="351C75"/>
                </a:solidFill>
              </a:rPr>
              <a:t> “週次で自動バックアップを取得し、14日間保持する。”</a:t>
            </a:r>
            <a:endParaRPr>
              <a:solidFill>
                <a:srgbClr val="351C75"/>
              </a:solidFill>
            </a:endParaRPr>
          </a:p>
          <a:p>
            <a:pPr indent="0" lvl="0" marL="0" rtl="0" algn="l">
              <a:lnSpc>
                <a:spcPct val="115000"/>
              </a:lnSpc>
              <a:spcBef>
                <a:spcPts val="830"/>
              </a:spcBef>
              <a:spcAft>
                <a:spcPts val="0"/>
              </a:spcAft>
              <a:buNone/>
            </a:pPr>
            <a:r>
              <a:rPr lang="vi">
                <a:solidFill>
                  <a:srgbClr val="351C75"/>
                </a:solidFill>
              </a:rPr>
              <a:t>Tôi chưa rõ: Sau 14 ngày dữ liệu backup có được chuyển sang nơi lưu trữ dài hạn nào không? Hay sẽ tự động xóa hoàn toàn?</a:t>
            </a:r>
            <a:br>
              <a:rPr lang="vi">
                <a:solidFill>
                  <a:srgbClr val="351C75"/>
                </a:solidFill>
              </a:rPr>
            </a:br>
            <a:r>
              <a:rPr lang="vi">
                <a:solidFill>
                  <a:srgbClr val="351C75"/>
                </a:solidFill>
              </a:rPr>
              <a:t> Nhờ các bạn làm rõ giúp.</a:t>
            </a:r>
            <a:endParaRPr>
              <a:solidFill>
                <a:srgbClr val="351C75"/>
              </a:solidFill>
            </a:endParaRPr>
          </a:p>
          <a:p>
            <a:pPr indent="0" lvl="0" marL="0" rtl="0" algn="l">
              <a:spcBef>
                <a:spcPts val="830"/>
              </a:spcBef>
              <a:spcAft>
                <a:spcPts val="0"/>
              </a:spcAft>
              <a:buNone/>
            </a:pPr>
            <a:r>
              <a:t/>
            </a:r>
            <a:endParaRPr>
              <a:solidFill>
                <a:srgbClr val="351C75"/>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357" name="Shape 357"/>
        <p:cNvGrpSpPr/>
        <p:nvPr/>
      </p:nvGrpSpPr>
      <p:grpSpPr>
        <a:xfrm>
          <a:off x="0" y="0"/>
          <a:ext cx="0" cy="0"/>
          <a:chOff x="0" y="0"/>
          <a:chExt cx="0" cy="0"/>
        </a:xfrm>
      </p:grpSpPr>
      <p:sp>
        <p:nvSpPr>
          <p:cNvPr id="358" name="Google Shape;358;p56"/>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sz="3600">
              <a:solidFill>
                <a:srgbClr val="351C75"/>
              </a:solidFill>
            </a:endParaRPr>
          </a:p>
        </p:txBody>
      </p:sp>
      <p:sp>
        <p:nvSpPr>
          <p:cNvPr id="359" name="Google Shape;359;p56"/>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1100">
              <a:solidFill>
                <a:srgbClr val="351C75"/>
              </a:solidFill>
              <a:highlight>
                <a:srgbClr val="FFF5F5"/>
              </a:highligh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7"/>
          <p:cNvSpPr txBox="1"/>
          <p:nvPr/>
        </p:nvSpPr>
        <p:spPr>
          <a:xfrm>
            <a:off x="1611914" y="285800"/>
            <a:ext cx="5217300" cy="693900"/>
          </a:xfrm>
          <a:prstGeom prst="rect">
            <a:avLst/>
          </a:prstGeom>
          <a:noFill/>
          <a:ln>
            <a:noFill/>
          </a:ln>
        </p:spPr>
        <p:txBody>
          <a:bodyPr anchorCtr="0" anchor="t" bIns="69250" lIns="69250" spcFirstLastPara="1" rIns="69250" wrap="square" tIns="69250">
            <a:spAutoFit/>
          </a:bodyPr>
          <a:lstStyle/>
          <a:p>
            <a:pPr indent="0" lvl="0" marL="0" rtl="0" algn="ctr">
              <a:lnSpc>
                <a:spcPct val="115000"/>
              </a:lnSpc>
              <a:spcBef>
                <a:spcPts val="1060"/>
              </a:spcBef>
              <a:spcAft>
                <a:spcPts val="303"/>
              </a:spcAft>
              <a:buNone/>
            </a:pPr>
            <a:r>
              <a:rPr b="1" lang="vi" sz="3600">
                <a:solidFill>
                  <a:srgbClr val="351C75"/>
                </a:solidFill>
              </a:rPr>
              <a:t>T</a:t>
            </a:r>
            <a:r>
              <a:rPr b="1" lang="vi" sz="3600">
                <a:solidFill>
                  <a:srgbClr val="351C75"/>
                </a:solidFill>
              </a:rPr>
              <a:t>hực hành 02</a:t>
            </a:r>
            <a:endParaRPr b="1" sz="3600">
              <a:solidFill>
                <a:srgbClr val="351C75"/>
              </a:solidFill>
            </a:endParaRPr>
          </a:p>
        </p:txBody>
      </p:sp>
      <p:sp>
        <p:nvSpPr>
          <p:cNvPr id="365" name="Google Shape;365;p57"/>
          <p:cNvSpPr/>
          <p:nvPr/>
        </p:nvSpPr>
        <p:spPr>
          <a:xfrm>
            <a:off x="1208175" y="1062281"/>
            <a:ext cx="6444000" cy="3493500"/>
          </a:xfrm>
          <a:prstGeom prst="roundRect">
            <a:avLst>
              <a:gd fmla="val 16667" name="adj"/>
            </a:avLst>
          </a:prstGeom>
          <a:solidFill>
            <a:srgbClr val="FFF5F5"/>
          </a:solidFill>
          <a:ln cap="flat" cmpd="sng" w="7225">
            <a:solidFill>
              <a:srgbClr val="CA2F47"/>
            </a:solidFill>
            <a:prstDash val="solid"/>
            <a:round/>
            <a:headEnd len="sm" w="sm" type="none"/>
            <a:tailEnd len="sm" w="sm" type="none"/>
          </a:ln>
        </p:spPr>
        <p:txBody>
          <a:bodyPr anchorCtr="0" anchor="ctr" bIns="69250" lIns="69250" spcFirstLastPara="1" rIns="69250" wrap="square" tIns="69250">
            <a:noAutofit/>
          </a:bodyPr>
          <a:lstStyle/>
          <a:p>
            <a:pPr indent="0" lvl="0" marL="0" rtl="0" algn="l">
              <a:lnSpc>
                <a:spcPct val="115000"/>
              </a:lnSpc>
              <a:spcBef>
                <a:spcPts val="1363"/>
              </a:spcBef>
              <a:spcAft>
                <a:spcPts val="0"/>
              </a:spcAft>
              <a:buNone/>
            </a:pPr>
            <a:r>
              <a:rPr lang="vi">
                <a:solidFill>
                  <a:srgbClr val="351C75"/>
                </a:solidFill>
              </a:rPr>
              <a:t>Dịch câu Q&amp;A sau sang tiếng Nhật</a:t>
            </a:r>
            <a:br>
              <a:rPr lang="vi">
                <a:solidFill>
                  <a:srgbClr val="351C75"/>
                </a:solidFill>
              </a:rPr>
            </a:br>
            <a:r>
              <a:rPr lang="vi">
                <a:solidFill>
                  <a:srgbClr val="351C75"/>
                </a:solidFill>
              </a:rPr>
              <a:t>—------------------</a:t>
            </a:r>
            <a:endParaRPr>
              <a:solidFill>
                <a:srgbClr val="351C75"/>
              </a:solidFill>
            </a:endParaRPr>
          </a:p>
          <a:p>
            <a:pPr indent="0" lvl="0" marL="0" rtl="0" algn="l">
              <a:lnSpc>
                <a:spcPct val="115000"/>
              </a:lnSpc>
              <a:spcBef>
                <a:spcPts val="909"/>
              </a:spcBef>
              <a:spcAft>
                <a:spcPts val="0"/>
              </a:spcAft>
              <a:buClr>
                <a:srgbClr val="000000"/>
              </a:buClr>
              <a:buSzPts val="833"/>
              <a:buFont typeface="Arial"/>
              <a:buNone/>
            </a:pPr>
            <a:r>
              <a:rPr lang="vi">
                <a:solidFill>
                  <a:srgbClr val="351C75"/>
                </a:solidFill>
              </a:rPr>
              <a:t>Về tài liệu 議事録_開発定例_20250716.docx, tôi có một điểm chưa rõ.</a:t>
            </a:r>
            <a:br>
              <a:rPr lang="vi">
                <a:solidFill>
                  <a:srgbClr val="351C75"/>
                </a:solidFill>
              </a:rPr>
            </a:br>
            <a:r>
              <a:rPr lang="vi">
                <a:solidFill>
                  <a:srgbClr val="351C75"/>
                </a:solidFill>
              </a:rPr>
              <a:t> Ở mục 2「今後の対応」có đoạn:</a:t>
            </a:r>
            <a:br>
              <a:rPr lang="vi">
                <a:solidFill>
                  <a:srgbClr val="351C75"/>
                </a:solidFill>
              </a:rPr>
            </a:br>
            <a:r>
              <a:rPr lang="vi">
                <a:solidFill>
                  <a:srgbClr val="351C75"/>
                </a:solidFill>
              </a:rPr>
              <a:t> “ログインAPIのエラー処理仕様を別途検討することになった。”</a:t>
            </a:r>
            <a:endParaRPr>
              <a:solidFill>
                <a:srgbClr val="351C75"/>
              </a:solidFill>
            </a:endParaRPr>
          </a:p>
          <a:p>
            <a:pPr indent="0" lvl="0" marL="0" rtl="0" algn="l">
              <a:lnSpc>
                <a:spcPct val="115000"/>
              </a:lnSpc>
              <a:spcBef>
                <a:spcPts val="909"/>
              </a:spcBef>
              <a:spcAft>
                <a:spcPts val="909"/>
              </a:spcAft>
              <a:buNone/>
            </a:pPr>
            <a:r>
              <a:rPr lang="vi">
                <a:solidFill>
                  <a:srgbClr val="351C75"/>
                </a:solidFill>
              </a:rPr>
              <a:t>Tôi chưa hiểu rõ: việc “別途検討” này sẽ do nhóm nào phụ trách và khi nào sẽ có cập nhật chính thức?</a:t>
            </a:r>
            <a:br>
              <a:rPr lang="vi">
                <a:solidFill>
                  <a:srgbClr val="351C75"/>
                </a:solidFill>
              </a:rPr>
            </a:br>
            <a:r>
              <a:rPr lang="vi">
                <a:solidFill>
                  <a:srgbClr val="351C75"/>
                </a:solidFill>
              </a:rPr>
              <a:t> Nhờ các bạn làm rõ giúp.</a:t>
            </a:r>
            <a:endParaRPr>
              <a:solidFill>
                <a:srgbClr val="351C75"/>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369" name="Shape 369"/>
        <p:cNvGrpSpPr/>
        <p:nvPr/>
      </p:nvGrpSpPr>
      <p:grpSpPr>
        <a:xfrm>
          <a:off x="0" y="0"/>
          <a:ext cx="0" cy="0"/>
          <a:chOff x="0" y="0"/>
          <a:chExt cx="0" cy="0"/>
        </a:xfrm>
      </p:grpSpPr>
      <p:sp>
        <p:nvSpPr>
          <p:cNvPr id="370" name="Google Shape;370;p58"/>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sz="3600">
              <a:solidFill>
                <a:srgbClr val="351C75"/>
              </a:solidFill>
            </a:endParaRPr>
          </a:p>
        </p:txBody>
      </p:sp>
      <p:sp>
        <p:nvSpPr>
          <p:cNvPr id="371" name="Google Shape;371;p58"/>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1100">
              <a:solidFill>
                <a:srgbClr val="351C75"/>
              </a:solidFill>
              <a:highlight>
                <a:srgbClr val="FFF5F5"/>
              </a:highligh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9"/>
          <p:cNvSpPr txBox="1"/>
          <p:nvPr/>
        </p:nvSpPr>
        <p:spPr>
          <a:xfrm>
            <a:off x="1611914" y="285800"/>
            <a:ext cx="5217300" cy="693900"/>
          </a:xfrm>
          <a:prstGeom prst="rect">
            <a:avLst/>
          </a:prstGeom>
          <a:noFill/>
          <a:ln>
            <a:noFill/>
          </a:ln>
        </p:spPr>
        <p:txBody>
          <a:bodyPr anchorCtr="0" anchor="t" bIns="69250" lIns="69250" spcFirstLastPara="1" rIns="69250" wrap="square" tIns="69250">
            <a:spAutoFit/>
          </a:bodyPr>
          <a:lstStyle/>
          <a:p>
            <a:pPr indent="0" lvl="0" marL="0" rtl="0" algn="ctr">
              <a:lnSpc>
                <a:spcPct val="115000"/>
              </a:lnSpc>
              <a:spcBef>
                <a:spcPts val="1060"/>
              </a:spcBef>
              <a:spcAft>
                <a:spcPts val="303"/>
              </a:spcAft>
              <a:buNone/>
            </a:pPr>
            <a:r>
              <a:rPr b="1" lang="vi" sz="3600">
                <a:solidFill>
                  <a:srgbClr val="351C75"/>
                </a:solidFill>
              </a:rPr>
              <a:t>Thực hành 03</a:t>
            </a:r>
            <a:endParaRPr b="1" sz="3600">
              <a:solidFill>
                <a:srgbClr val="351C75"/>
              </a:solidFill>
            </a:endParaRPr>
          </a:p>
        </p:txBody>
      </p:sp>
      <p:sp>
        <p:nvSpPr>
          <p:cNvPr id="377" name="Google Shape;377;p59"/>
          <p:cNvSpPr/>
          <p:nvPr/>
        </p:nvSpPr>
        <p:spPr>
          <a:xfrm>
            <a:off x="1269625" y="1338800"/>
            <a:ext cx="6444000" cy="2726400"/>
          </a:xfrm>
          <a:prstGeom prst="roundRect">
            <a:avLst>
              <a:gd fmla="val 16667" name="adj"/>
            </a:avLst>
          </a:prstGeom>
          <a:solidFill>
            <a:srgbClr val="FFF5F5"/>
          </a:solidFill>
          <a:ln cap="flat" cmpd="sng" w="7225">
            <a:solidFill>
              <a:srgbClr val="CA2F47"/>
            </a:solidFill>
            <a:prstDash val="solid"/>
            <a:round/>
            <a:headEnd len="sm" w="sm" type="none"/>
            <a:tailEnd len="sm" w="sm" type="none"/>
          </a:ln>
        </p:spPr>
        <p:txBody>
          <a:bodyPr anchorCtr="0" anchor="ctr" bIns="69250" lIns="69250" spcFirstLastPara="1" rIns="69250" wrap="square" tIns="69250">
            <a:noAutofit/>
          </a:bodyPr>
          <a:lstStyle/>
          <a:p>
            <a:pPr indent="0" lvl="0" marL="0" rtl="0" algn="l">
              <a:lnSpc>
                <a:spcPct val="115000"/>
              </a:lnSpc>
              <a:spcBef>
                <a:spcPts val="1200"/>
              </a:spcBef>
              <a:spcAft>
                <a:spcPts val="0"/>
              </a:spcAft>
              <a:buClr>
                <a:schemeClr val="dk1"/>
              </a:buClr>
              <a:buSzPts val="1100"/>
              <a:buFont typeface="Arial"/>
              <a:buNone/>
            </a:pPr>
            <a:r>
              <a:rPr lang="vi" sz="1200">
                <a:solidFill>
                  <a:srgbClr val="351C75"/>
                </a:solidFill>
              </a:rPr>
              <a:t>Dịch Q&amp;A sau sang tiếng Nhật</a:t>
            </a:r>
            <a:br>
              <a:rPr lang="vi" sz="1200">
                <a:solidFill>
                  <a:srgbClr val="351C75"/>
                </a:solidFill>
              </a:rPr>
            </a:br>
            <a:r>
              <a:rPr lang="vi" sz="1200">
                <a:solidFill>
                  <a:srgbClr val="351C75"/>
                </a:solidFill>
              </a:rPr>
              <a:t>—----------</a:t>
            </a:r>
            <a:endParaRPr sz="12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b="1" lang="vi" sz="1200">
                <a:solidFill>
                  <a:srgbClr val="351C75"/>
                </a:solidFill>
              </a:rPr>
              <a:t>Liên quan đến</a:t>
            </a:r>
            <a:r>
              <a:rPr lang="vi" sz="1200">
                <a:solidFill>
                  <a:srgbClr val="351C75"/>
                </a:solidFill>
              </a:rPr>
              <a:t> task DFS-7, </a:t>
            </a:r>
            <a:r>
              <a:rPr b="1" lang="vi" sz="1200">
                <a:solidFill>
                  <a:srgbClr val="351C75"/>
                </a:solidFill>
              </a:rPr>
              <a:t>tôi cần </a:t>
            </a:r>
            <a:r>
              <a:rPr lang="vi" sz="1200">
                <a:solidFill>
                  <a:srgbClr val="351C75"/>
                </a:solidFill>
              </a:rPr>
              <a:t>cung cấp tài khoản BOX enterprise.</a:t>
            </a:r>
            <a:endParaRPr sz="12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b="1" lang="vi" sz="1200">
                <a:solidFill>
                  <a:srgbClr val="351C75"/>
                </a:solidFill>
              </a:rPr>
              <a:t>Hiện tại </a:t>
            </a:r>
            <a:r>
              <a:rPr lang="vi" sz="1200">
                <a:solidFill>
                  <a:srgbClr val="351C75"/>
                </a:solidFill>
              </a:rPr>
              <a:t>chúng tôi đang tạo plugin để liên kết BOX với Dify nhưng với tài khoản BOX free thì không thực hiện được. Lý do là: một số API quan trọng mà chúng tôi cần sử dụng (ví dụ: API quản lý người dùng, quản lý quyền truy cập folder, webhook, v.v.) chỉ khả dụng trên gói enterprise. Việc có tài khoản này sẽ giúp chúng tôi kiểm tra và xác minh tính tương thích đầy đủ của plugin với môi trường thực tế.</a:t>
            </a:r>
            <a:endParaRPr sz="1200">
              <a:solidFill>
                <a:srgbClr val="351C75"/>
              </a:solidFill>
            </a:endParaRPr>
          </a:p>
          <a:p>
            <a:pPr indent="0" lvl="0" marL="0" rtl="0" algn="l">
              <a:lnSpc>
                <a:spcPct val="115000"/>
              </a:lnSpc>
              <a:spcBef>
                <a:spcPts val="1200"/>
              </a:spcBef>
              <a:spcAft>
                <a:spcPts val="1200"/>
              </a:spcAft>
              <a:buNone/>
            </a:pPr>
            <a:r>
              <a:rPr b="1" lang="vi" sz="1200">
                <a:solidFill>
                  <a:srgbClr val="351C75"/>
                </a:solidFill>
              </a:rPr>
              <a:t>Bạn có thể cung cấp cho chúng tôi 1 tài khoản BOX enterprise để sử dụng không?</a:t>
            </a:r>
            <a:endParaRPr sz="1200">
              <a:solidFill>
                <a:srgbClr val="351C75"/>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381" name="Shape 381"/>
        <p:cNvGrpSpPr/>
        <p:nvPr/>
      </p:nvGrpSpPr>
      <p:grpSpPr>
        <a:xfrm>
          <a:off x="0" y="0"/>
          <a:ext cx="0" cy="0"/>
          <a:chOff x="0" y="0"/>
          <a:chExt cx="0" cy="0"/>
        </a:xfrm>
      </p:grpSpPr>
      <p:sp>
        <p:nvSpPr>
          <p:cNvPr id="382" name="Google Shape;382;p60"/>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sz="3600">
              <a:solidFill>
                <a:srgbClr val="351C75"/>
              </a:solidFill>
            </a:endParaRPr>
          </a:p>
        </p:txBody>
      </p:sp>
      <p:sp>
        <p:nvSpPr>
          <p:cNvPr id="383" name="Google Shape;383;p60"/>
          <p:cNvSpPr/>
          <p:nvPr/>
        </p:nvSpPr>
        <p:spPr>
          <a:xfrm>
            <a:off x="951400" y="1015350"/>
            <a:ext cx="7353300" cy="33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1100">
              <a:solidFill>
                <a:srgbClr val="351C75"/>
              </a:solidFill>
              <a:highlight>
                <a:srgbClr val="FFF5F5"/>
              </a:high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nvSpPr>
        <p:spPr>
          <a:xfrm>
            <a:off x="160950" y="1934500"/>
            <a:ext cx="8822100" cy="738900"/>
          </a:xfrm>
          <a:prstGeom prst="rect">
            <a:avLst/>
          </a:prstGeom>
          <a:solidFill>
            <a:srgbClr val="CA2F47"/>
          </a:solid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Clr>
                <a:schemeClr val="dk1"/>
              </a:buClr>
              <a:buSzPts val="1100"/>
              <a:buFont typeface="Arial"/>
              <a:buNone/>
            </a:pPr>
            <a:r>
              <a:rPr b="1" lang="vi" sz="3600">
                <a:solidFill>
                  <a:srgbClr val="FFFFFF"/>
                </a:solidFill>
              </a:rPr>
              <a:t>Dịch Weekly Report và Biên Bản Họp</a:t>
            </a:r>
            <a:endParaRPr b="1" sz="3600">
              <a:solidFill>
                <a:srgbClr val="FFFFFF"/>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nvSpPr>
        <p:spPr>
          <a:xfrm>
            <a:off x="521250" y="199700"/>
            <a:ext cx="8101500" cy="701700"/>
          </a:xfrm>
          <a:prstGeom prst="rect">
            <a:avLst/>
          </a:prstGeom>
          <a:noFill/>
          <a:ln>
            <a:noFill/>
          </a:ln>
        </p:spPr>
        <p:txBody>
          <a:bodyPr anchorCtr="0" anchor="t" bIns="73050" lIns="73050" spcFirstLastPara="1" rIns="73050" wrap="square" tIns="73050">
            <a:spAutoFit/>
          </a:bodyPr>
          <a:lstStyle/>
          <a:p>
            <a:pPr indent="0" lvl="0" marL="0" rtl="0" algn="ctr">
              <a:lnSpc>
                <a:spcPct val="115000"/>
              </a:lnSpc>
              <a:spcBef>
                <a:spcPts val="1438"/>
              </a:spcBef>
              <a:spcAft>
                <a:spcPts val="320"/>
              </a:spcAft>
              <a:buClr>
                <a:srgbClr val="000000"/>
              </a:buClr>
              <a:buSzPts val="879"/>
              <a:buFont typeface="Arial"/>
              <a:buNone/>
            </a:pPr>
            <a:r>
              <a:rPr b="1" lang="vi" sz="3600">
                <a:solidFill>
                  <a:srgbClr val="351C75"/>
                </a:solidFill>
              </a:rPr>
              <a:t>Dịch Weekly Report (báo cáo tuần)</a:t>
            </a:r>
            <a:endParaRPr b="1" sz="3600">
              <a:solidFill>
                <a:srgbClr val="351C75"/>
              </a:solidFill>
            </a:endParaRPr>
          </a:p>
        </p:txBody>
      </p:sp>
      <p:sp>
        <p:nvSpPr>
          <p:cNvPr id="394" name="Google Shape;394;p62"/>
          <p:cNvSpPr/>
          <p:nvPr/>
        </p:nvSpPr>
        <p:spPr>
          <a:xfrm>
            <a:off x="1499017" y="1171149"/>
            <a:ext cx="6456600" cy="3146400"/>
          </a:xfrm>
          <a:prstGeom prst="roundRect">
            <a:avLst>
              <a:gd fmla="val 16667" name="adj"/>
            </a:avLst>
          </a:prstGeom>
          <a:solidFill>
            <a:srgbClr val="FFF5F5"/>
          </a:solidFill>
          <a:ln cap="flat" cmpd="sng" w="7600">
            <a:solidFill>
              <a:srgbClr val="CA2F47"/>
            </a:solidFill>
            <a:prstDash val="solid"/>
            <a:round/>
            <a:headEnd len="sm" w="sm" type="none"/>
            <a:tailEnd len="sm" w="sm" type="none"/>
          </a:ln>
        </p:spPr>
        <p:txBody>
          <a:bodyPr anchorCtr="0" anchor="ctr" bIns="73050" lIns="73050" spcFirstLastPara="1" rIns="73050" wrap="square" tIns="73050">
            <a:noAutofit/>
          </a:bodyPr>
          <a:lstStyle/>
          <a:p>
            <a:pPr indent="0" lvl="0" marL="0" rtl="0" algn="l">
              <a:lnSpc>
                <a:spcPct val="115000"/>
              </a:lnSpc>
              <a:spcBef>
                <a:spcPts val="1119"/>
              </a:spcBef>
              <a:spcAft>
                <a:spcPts val="0"/>
              </a:spcAft>
              <a:buNone/>
            </a:pPr>
            <a:r>
              <a:rPr b="1" lang="vi" sz="1438">
                <a:solidFill>
                  <a:srgbClr val="000000"/>
                </a:solidFill>
              </a:rPr>
              <a:t>🎯 Mục tiêu:</a:t>
            </a:r>
            <a:endParaRPr b="1" sz="1438">
              <a:solidFill>
                <a:srgbClr val="000000"/>
              </a:solidFill>
            </a:endParaRPr>
          </a:p>
          <a:p>
            <a:pPr indent="-273963" lvl="0" marL="365284" rtl="0" algn="l">
              <a:lnSpc>
                <a:spcPct val="115000"/>
              </a:lnSpc>
              <a:spcBef>
                <a:spcPts val="959"/>
              </a:spcBef>
              <a:spcAft>
                <a:spcPts val="0"/>
              </a:spcAft>
              <a:buClr>
                <a:srgbClr val="000000"/>
              </a:buClr>
              <a:buSzPts val="1438"/>
              <a:buChar char="●"/>
            </a:pPr>
            <a:r>
              <a:rPr lang="vi" sz="1438">
                <a:solidFill>
                  <a:srgbClr val="000000"/>
                </a:solidFill>
              </a:rPr>
              <a:t>Nắm bố cục báo cáo tuần</a:t>
            </a:r>
            <a:endParaRPr sz="1438">
              <a:solidFill>
                <a:srgbClr val="000000"/>
              </a:solidFill>
            </a:endParaRPr>
          </a:p>
          <a:p>
            <a:pPr indent="-273963" lvl="0" marL="365284" rtl="0" algn="l">
              <a:lnSpc>
                <a:spcPct val="115000"/>
              </a:lnSpc>
              <a:spcBef>
                <a:spcPts val="0"/>
              </a:spcBef>
              <a:spcAft>
                <a:spcPts val="0"/>
              </a:spcAft>
              <a:buClr>
                <a:srgbClr val="000000"/>
              </a:buClr>
              <a:buSzPts val="1438"/>
              <a:buChar char="●"/>
            </a:pPr>
            <a:r>
              <a:rPr lang="vi" sz="1438">
                <a:solidFill>
                  <a:srgbClr val="000000"/>
                </a:solidFill>
              </a:rPr>
              <a:t>Hiểu nội dung báo cáo, thực hiện báo cáo thay PM</a:t>
            </a:r>
            <a:endParaRPr sz="1438">
              <a:solidFill>
                <a:srgbClr val="000000"/>
              </a:solidFill>
            </a:endParaRPr>
          </a:p>
          <a:p>
            <a:pPr indent="-273963" lvl="0" marL="365284" rtl="0" algn="l">
              <a:lnSpc>
                <a:spcPct val="115000"/>
              </a:lnSpc>
              <a:spcBef>
                <a:spcPts val="0"/>
              </a:spcBef>
              <a:spcAft>
                <a:spcPts val="0"/>
              </a:spcAft>
              <a:buClr>
                <a:srgbClr val="000000"/>
              </a:buClr>
              <a:buSzPts val="1438"/>
              <a:buChar char="●"/>
            </a:pPr>
            <a:r>
              <a:rPr lang="vi" sz="1438">
                <a:solidFill>
                  <a:srgbClr val="000000"/>
                </a:solidFill>
              </a:rPr>
              <a:t>Nâng cao: follow hỗ trợ PM check lại các mốc deadline của task, status của task, nội dung chi tiết…xem đã đúng với thực tế chưa.</a:t>
            </a:r>
            <a:endParaRPr sz="1438">
              <a:solidFill>
                <a:srgbClr val="000000"/>
              </a:solidFill>
            </a:endParaRPr>
          </a:p>
          <a:p>
            <a:pPr indent="0" lvl="0" marL="0" rtl="0" algn="l">
              <a:lnSpc>
                <a:spcPct val="115000"/>
              </a:lnSpc>
              <a:spcBef>
                <a:spcPts val="959"/>
              </a:spcBef>
              <a:spcAft>
                <a:spcPts val="0"/>
              </a:spcAft>
              <a:buNone/>
            </a:pPr>
            <a:r>
              <a:rPr b="1" lang="vi" sz="1438">
                <a:solidFill>
                  <a:srgbClr val="000000"/>
                </a:solidFill>
              </a:rPr>
              <a:t>※ Chú ý dịch:</a:t>
            </a:r>
            <a:endParaRPr b="1" sz="1438">
              <a:solidFill>
                <a:srgbClr val="000000"/>
              </a:solidFill>
            </a:endParaRPr>
          </a:p>
          <a:p>
            <a:pPr indent="-273963" lvl="0" marL="365284" rtl="0" algn="l">
              <a:lnSpc>
                <a:spcPct val="115000"/>
              </a:lnSpc>
              <a:spcBef>
                <a:spcPts val="959"/>
              </a:spcBef>
              <a:spcAft>
                <a:spcPts val="0"/>
              </a:spcAft>
              <a:buClr>
                <a:srgbClr val="000000"/>
              </a:buClr>
              <a:buSzPts val="1438"/>
              <a:buChar char="●"/>
            </a:pPr>
            <a:r>
              <a:rPr lang="vi" sz="1438">
                <a:solidFill>
                  <a:srgbClr val="000000"/>
                </a:solidFill>
              </a:rPr>
              <a:t>Trong đoạn văn, dùng thể lịch sự, kính ngữ</a:t>
            </a:r>
            <a:endParaRPr sz="1438">
              <a:solidFill>
                <a:srgbClr val="000000"/>
              </a:solidFill>
            </a:endParaRPr>
          </a:p>
          <a:p>
            <a:pPr indent="-273963" lvl="0" marL="365284" rtl="0" algn="l">
              <a:lnSpc>
                <a:spcPct val="115000"/>
              </a:lnSpc>
              <a:spcBef>
                <a:spcPts val="0"/>
              </a:spcBef>
              <a:spcAft>
                <a:spcPts val="0"/>
              </a:spcAft>
              <a:buClr>
                <a:srgbClr val="000000"/>
              </a:buClr>
              <a:buSzPts val="1438"/>
              <a:buChar char="●"/>
            </a:pPr>
            <a:r>
              <a:rPr lang="vi" sz="1438">
                <a:solidFill>
                  <a:srgbClr val="000000"/>
                </a:solidFill>
              </a:rPr>
              <a:t>Trong bảng biểu, dùng thể ngắn</a:t>
            </a:r>
            <a:endParaRPr sz="1438">
              <a:solidFill>
                <a:srgbClr val="0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3"/>
          <p:cNvSpPr txBox="1"/>
          <p:nvPr/>
        </p:nvSpPr>
        <p:spPr>
          <a:xfrm>
            <a:off x="1244700" y="301175"/>
            <a:ext cx="6654600" cy="684000"/>
          </a:xfrm>
          <a:prstGeom prst="rect">
            <a:avLst/>
          </a:prstGeom>
          <a:noFill/>
          <a:ln>
            <a:noFill/>
          </a:ln>
        </p:spPr>
        <p:txBody>
          <a:bodyPr anchorCtr="0" anchor="t" bIns="64275" lIns="64275" spcFirstLastPara="1" rIns="64275" wrap="square" tIns="64275">
            <a:spAutoFit/>
          </a:bodyPr>
          <a:lstStyle/>
          <a:p>
            <a:pPr indent="0" lvl="0" marL="0" rtl="0" algn="ctr">
              <a:lnSpc>
                <a:spcPct val="115000"/>
              </a:lnSpc>
              <a:spcBef>
                <a:spcPts val="984"/>
              </a:spcBef>
              <a:spcAft>
                <a:spcPts val="281"/>
              </a:spcAft>
              <a:buNone/>
            </a:pPr>
            <a:r>
              <a:rPr b="1" lang="vi" sz="3600">
                <a:solidFill>
                  <a:srgbClr val="351C75"/>
                </a:solidFill>
              </a:rPr>
              <a:t>T</a:t>
            </a:r>
            <a:r>
              <a:rPr b="1" lang="vi" sz="3600">
                <a:solidFill>
                  <a:srgbClr val="351C75"/>
                </a:solidFill>
              </a:rPr>
              <a:t>hực hành</a:t>
            </a:r>
            <a:endParaRPr b="1" sz="3600">
              <a:solidFill>
                <a:srgbClr val="351C75"/>
              </a:solidFill>
            </a:endParaRPr>
          </a:p>
        </p:txBody>
      </p:sp>
      <p:sp>
        <p:nvSpPr>
          <p:cNvPr id="400" name="Google Shape;400;p63"/>
          <p:cNvSpPr/>
          <p:nvPr/>
        </p:nvSpPr>
        <p:spPr>
          <a:xfrm>
            <a:off x="1471758" y="1021780"/>
            <a:ext cx="5980200" cy="3242100"/>
          </a:xfrm>
          <a:prstGeom prst="roundRect">
            <a:avLst>
              <a:gd fmla="val 16667" name="adj"/>
            </a:avLst>
          </a:prstGeom>
          <a:solidFill>
            <a:srgbClr val="FFF5F5"/>
          </a:solidFill>
          <a:ln cap="flat" cmpd="sng" w="6700">
            <a:solidFill>
              <a:srgbClr val="CA2F47"/>
            </a:solidFill>
            <a:prstDash val="solid"/>
            <a:round/>
            <a:headEnd len="sm" w="sm" type="none"/>
            <a:tailEnd len="sm" w="sm" type="none"/>
          </a:ln>
        </p:spPr>
        <p:txBody>
          <a:bodyPr anchorCtr="0" anchor="ctr" bIns="64275" lIns="64275" spcFirstLastPara="1" rIns="64275" wrap="square" tIns="64275">
            <a:noAutofit/>
          </a:bodyPr>
          <a:lstStyle/>
          <a:p>
            <a:pPr indent="0" lvl="0" marL="0" rtl="0" algn="l">
              <a:lnSpc>
                <a:spcPct val="115000"/>
              </a:lnSpc>
              <a:spcBef>
                <a:spcPts val="0"/>
              </a:spcBef>
              <a:spcAft>
                <a:spcPts val="0"/>
              </a:spcAft>
              <a:buNone/>
            </a:pPr>
            <a:r>
              <a:rPr b="1" lang="vi">
                <a:solidFill>
                  <a:srgbClr val="351C75"/>
                </a:solidFill>
              </a:rPr>
              <a:t>Link đề:</a:t>
            </a:r>
            <a:endParaRPr b="1">
              <a:solidFill>
                <a:srgbClr val="351C75"/>
              </a:solidFill>
            </a:endParaRPr>
          </a:p>
          <a:p>
            <a:pPr indent="0" lvl="0" marL="0" rtl="0" algn="l">
              <a:lnSpc>
                <a:spcPct val="115000"/>
              </a:lnSpc>
              <a:spcBef>
                <a:spcPts val="0"/>
              </a:spcBef>
              <a:spcAft>
                <a:spcPts val="0"/>
              </a:spcAft>
              <a:buNone/>
            </a:pPr>
            <a:r>
              <a:t/>
            </a:r>
            <a:endParaRPr b="1">
              <a:solidFill>
                <a:srgbClr val="351C75"/>
              </a:solidFill>
            </a:endParaRPr>
          </a:p>
          <a:p>
            <a:pPr indent="0" lvl="0" marL="0" rtl="0" algn="l">
              <a:lnSpc>
                <a:spcPct val="115000"/>
              </a:lnSpc>
              <a:spcBef>
                <a:spcPts val="0"/>
              </a:spcBef>
              <a:spcAft>
                <a:spcPts val="0"/>
              </a:spcAft>
              <a:buNone/>
            </a:pPr>
            <a:r>
              <a:rPr b="1" lang="vi">
                <a:solidFill>
                  <a:srgbClr val="351C75"/>
                </a:solidFill>
              </a:rPr>
              <a:t>Link bài chữa:</a:t>
            </a:r>
            <a:endParaRPr b="1">
              <a:solidFill>
                <a:srgbClr val="351C75"/>
              </a:solidFill>
            </a:endParaRPr>
          </a:p>
          <a:p>
            <a:pPr indent="0" lvl="0" marL="0" rtl="0" algn="l">
              <a:lnSpc>
                <a:spcPct val="115000"/>
              </a:lnSpc>
              <a:spcBef>
                <a:spcPts val="0"/>
              </a:spcBef>
              <a:spcAft>
                <a:spcPts val="0"/>
              </a:spcAft>
              <a:buNone/>
            </a:pPr>
            <a:r>
              <a:t/>
            </a:r>
            <a:endParaRPr b="1">
              <a:solidFill>
                <a:srgbClr val="351C75"/>
              </a:solidFill>
            </a:endParaRPr>
          </a:p>
          <a:p>
            <a:pPr indent="0" lvl="0" marL="0" rtl="0" algn="l">
              <a:spcBef>
                <a:spcPts val="0"/>
              </a:spcBef>
              <a:spcAft>
                <a:spcPts val="0"/>
              </a:spcAft>
              <a:buNone/>
            </a:pPr>
            <a:r>
              <a:t/>
            </a:r>
            <a:endParaRPr>
              <a:solidFill>
                <a:srgbClr val="351C75"/>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4"/>
          <p:cNvSpPr txBox="1"/>
          <p:nvPr/>
        </p:nvSpPr>
        <p:spPr>
          <a:xfrm>
            <a:off x="1037800" y="362625"/>
            <a:ext cx="7538100" cy="699900"/>
          </a:xfrm>
          <a:prstGeom prst="rect">
            <a:avLst/>
          </a:prstGeom>
          <a:noFill/>
          <a:ln>
            <a:noFill/>
          </a:ln>
        </p:spPr>
        <p:txBody>
          <a:bodyPr anchorCtr="0" anchor="t" bIns="72200" lIns="72200" spcFirstLastPara="1" rIns="72200" wrap="square" tIns="72200">
            <a:spAutoFit/>
          </a:bodyPr>
          <a:lstStyle/>
          <a:p>
            <a:pPr indent="0" lvl="0" marL="0" rtl="0" algn="ctr">
              <a:lnSpc>
                <a:spcPct val="115000"/>
              </a:lnSpc>
              <a:spcBef>
                <a:spcPts val="1422"/>
              </a:spcBef>
              <a:spcAft>
                <a:spcPts val="316"/>
              </a:spcAft>
              <a:buClr>
                <a:srgbClr val="000000"/>
              </a:buClr>
              <a:buSzPts val="869"/>
              <a:buFont typeface="Arial"/>
              <a:buNone/>
            </a:pPr>
            <a:r>
              <a:rPr b="1" lang="vi" sz="3600">
                <a:solidFill>
                  <a:srgbClr val="351C75"/>
                </a:solidFill>
              </a:rPr>
              <a:t>Dịch Biên Bản Họp</a:t>
            </a:r>
            <a:endParaRPr b="1" sz="3600">
              <a:solidFill>
                <a:srgbClr val="351C75"/>
              </a:solidFill>
            </a:endParaRPr>
          </a:p>
        </p:txBody>
      </p:sp>
      <p:sp>
        <p:nvSpPr>
          <p:cNvPr id="406" name="Google Shape;406;p64"/>
          <p:cNvSpPr/>
          <p:nvPr/>
        </p:nvSpPr>
        <p:spPr>
          <a:xfrm>
            <a:off x="1615260" y="1250635"/>
            <a:ext cx="6383100" cy="3110400"/>
          </a:xfrm>
          <a:prstGeom prst="roundRect">
            <a:avLst>
              <a:gd fmla="val 16667" name="adj"/>
            </a:avLst>
          </a:prstGeom>
          <a:solidFill>
            <a:srgbClr val="FFF5F5"/>
          </a:solidFill>
          <a:ln cap="flat" cmpd="sng" w="7525">
            <a:solidFill>
              <a:srgbClr val="CA2F47"/>
            </a:solidFill>
            <a:prstDash val="solid"/>
            <a:round/>
            <a:headEnd len="sm" w="sm" type="none"/>
            <a:tailEnd len="sm" w="sm" type="none"/>
          </a:ln>
        </p:spPr>
        <p:txBody>
          <a:bodyPr anchorCtr="0" anchor="ctr" bIns="72200" lIns="72200" spcFirstLastPara="1" rIns="72200" wrap="square" tIns="72200">
            <a:noAutofit/>
          </a:bodyPr>
          <a:lstStyle/>
          <a:p>
            <a:pPr indent="0" lvl="0" marL="0" rtl="0" algn="l">
              <a:lnSpc>
                <a:spcPct val="115000"/>
              </a:lnSpc>
              <a:spcBef>
                <a:spcPts val="1106"/>
              </a:spcBef>
              <a:spcAft>
                <a:spcPts val="0"/>
              </a:spcAft>
              <a:buNone/>
            </a:pPr>
            <a:r>
              <a:rPr b="1" lang="vi" sz="1422">
                <a:solidFill>
                  <a:srgbClr val="000000"/>
                </a:solidFill>
              </a:rPr>
              <a:t>🎯 Mục tiêu:</a:t>
            </a:r>
            <a:endParaRPr b="1" sz="1422">
              <a:solidFill>
                <a:srgbClr val="000000"/>
              </a:solidFill>
            </a:endParaRPr>
          </a:p>
          <a:p>
            <a:pPr indent="-270841" lvl="0" marL="361121" rtl="0" algn="l">
              <a:lnSpc>
                <a:spcPct val="115000"/>
              </a:lnSpc>
              <a:spcBef>
                <a:spcPts val="948"/>
              </a:spcBef>
              <a:spcAft>
                <a:spcPts val="0"/>
              </a:spcAft>
              <a:buClr>
                <a:srgbClr val="000000"/>
              </a:buClr>
              <a:buSzPts val="1422"/>
              <a:buChar char="●"/>
            </a:pPr>
            <a:r>
              <a:rPr lang="vi" sz="1422">
                <a:solidFill>
                  <a:srgbClr val="000000"/>
                </a:solidFill>
              </a:rPr>
              <a:t>Nắm được format Biên Bản Họp</a:t>
            </a:r>
            <a:endParaRPr sz="1422">
              <a:solidFill>
                <a:srgbClr val="000000"/>
              </a:solidFill>
            </a:endParaRPr>
          </a:p>
          <a:p>
            <a:pPr indent="-270841" lvl="0" marL="361121" rtl="0" algn="l">
              <a:lnSpc>
                <a:spcPct val="115000"/>
              </a:lnSpc>
              <a:spcBef>
                <a:spcPts val="0"/>
              </a:spcBef>
              <a:spcAft>
                <a:spcPts val="0"/>
              </a:spcAft>
              <a:buClr>
                <a:srgbClr val="000000"/>
              </a:buClr>
              <a:buSzPts val="1422"/>
              <a:buChar char="●"/>
            </a:pPr>
            <a:r>
              <a:rPr lang="vi" sz="1422">
                <a:solidFill>
                  <a:srgbClr val="000000"/>
                </a:solidFill>
              </a:rPr>
              <a:t>Tóm tắt ngắn gọn, đủ ý nội dung họp</a:t>
            </a:r>
            <a:endParaRPr sz="1422">
              <a:solidFill>
                <a:srgbClr val="000000"/>
              </a:solidFill>
            </a:endParaRPr>
          </a:p>
          <a:p>
            <a:pPr indent="-270841" lvl="0" marL="361121" rtl="0" algn="l">
              <a:lnSpc>
                <a:spcPct val="115000"/>
              </a:lnSpc>
              <a:spcBef>
                <a:spcPts val="0"/>
              </a:spcBef>
              <a:spcAft>
                <a:spcPts val="0"/>
              </a:spcAft>
              <a:buClr>
                <a:srgbClr val="000000"/>
              </a:buClr>
              <a:buSzPts val="1422"/>
              <a:buChar char="●"/>
            </a:pPr>
            <a:r>
              <a:rPr lang="vi" sz="1422">
                <a:solidFill>
                  <a:srgbClr val="000000"/>
                </a:solidFill>
              </a:rPr>
              <a:t>Trình bày ở vai trò khách quan</a:t>
            </a:r>
            <a:endParaRPr sz="1422">
              <a:solidFill>
                <a:srgbClr val="000000"/>
              </a:solidFill>
            </a:endParaRPr>
          </a:p>
          <a:p>
            <a:pPr indent="0" lvl="0" marL="0" rtl="0" algn="l">
              <a:lnSpc>
                <a:spcPct val="115000"/>
              </a:lnSpc>
              <a:spcBef>
                <a:spcPts val="948"/>
              </a:spcBef>
              <a:spcAft>
                <a:spcPts val="0"/>
              </a:spcAft>
              <a:buNone/>
            </a:pPr>
            <a:r>
              <a:rPr b="1" lang="vi" sz="1422">
                <a:solidFill>
                  <a:srgbClr val="000000"/>
                </a:solidFill>
              </a:rPr>
              <a:t>※ Chú ý dịch:</a:t>
            </a:r>
            <a:endParaRPr b="1" sz="1422">
              <a:solidFill>
                <a:srgbClr val="000000"/>
              </a:solidFill>
            </a:endParaRPr>
          </a:p>
          <a:p>
            <a:pPr indent="-270841" lvl="0" marL="361121" rtl="0" algn="l">
              <a:lnSpc>
                <a:spcPct val="115000"/>
              </a:lnSpc>
              <a:spcBef>
                <a:spcPts val="948"/>
              </a:spcBef>
              <a:spcAft>
                <a:spcPts val="0"/>
              </a:spcAft>
              <a:buClr>
                <a:srgbClr val="000000"/>
              </a:buClr>
              <a:buSzPts val="1422"/>
              <a:buChar char="●"/>
            </a:pPr>
            <a:r>
              <a:rPr lang="vi" sz="1422">
                <a:solidFill>
                  <a:srgbClr val="000000"/>
                </a:solidFill>
              </a:rPr>
              <a:t>Trong đoạn văn, dùng thể lịch sự, kính ngữ</a:t>
            </a:r>
            <a:endParaRPr sz="1422">
              <a:solidFill>
                <a:srgbClr val="000000"/>
              </a:solidFill>
            </a:endParaRPr>
          </a:p>
          <a:p>
            <a:pPr indent="-270841" lvl="0" marL="361121" rtl="0" algn="l">
              <a:lnSpc>
                <a:spcPct val="115000"/>
              </a:lnSpc>
              <a:spcBef>
                <a:spcPts val="0"/>
              </a:spcBef>
              <a:spcAft>
                <a:spcPts val="0"/>
              </a:spcAft>
              <a:buClr>
                <a:srgbClr val="000000"/>
              </a:buClr>
              <a:buSzPts val="1422"/>
              <a:buChar char="●"/>
            </a:pPr>
            <a:r>
              <a:rPr lang="vi" sz="1422">
                <a:solidFill>
                  <a:srgbClr val="000000"/>
                </a:solidFill>
              </a:rPr>
              <a:t>Trong bảng biểu, dùng thể ngắn</a:t>
            </a:r>
            <a:endParaRPr sz="1422">
              <a:solidFill>
                <a:srgbClr val="000000"/>
              </a:solidFill>
            </a:endParaRPr>
          </a:p>
          <a:p>
            <a:pPr indent="0" lvl="0" marL="0" rtl="0" algn="l">
              <a:lnSpc>
                <a:spcPct val="115000"/>
              </a:lnSpc>
              <a:spcBef>
                <a:spcPts val="948"/>
              </a:spcBef>
              <a:spcAft>
                <a:spcPts val="948"/>
              </a:spcAft>
              <a:buNone/>
            </a:pPr>
            <a:r>
              <a:t/>
            </a:r>
            <a:endParaRPr sz="1422">
              <a:solidFill>
                <a:srgbClr val="00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5"/>
          <p:cNvSpPr txBox="1"/>
          <p:nvPr/>
        </p:nvSpPr>
        <p:spPr>
          <a:xfrm>
            <a:off x="1244700" y="301175"/>
            <a:ext cx="6654600" cy="684000"/>
          </a:xfrm>
          <a:prstGeom prst="rect">
            <a:avLst/>
          </a:prstGeom>
          <a:noFill/>
          <a:ln>
            <a:noFill/>
          </a:ln>
        </p:spPr>
        <p:txBody>
          <a:bodyPr anchorCtr="0" anchor="t" bIns="64275" lIns="64275" spcFirstLastPara="1" rIns="64275" wrap="square" tIns="64275">
            <a:spAutoFit/>
          </a:bodyPr>
          <a:lstStyle/>
          <a:p>
            <a:pPr indent="0" lvl="0" marL="0" rtl="0" algn="ctr">
              <a:lnSpc>
                <a:spcPct val="115000"/>
              </a:lnSpc>
              <a:spcBef>
                <a:spcPts val="984"/>
              </a:spcBef>
              <a:spcAft>
                <a:spcPts val="281"/>
              </a:spcAft>
              <a:buNone/>
            </a:pPr>
            <a:r>
              <a:rPr b="1" lang="vi" sz="3600">
                <a:solidFill>
                  <a:srgbClr val="351C75"/>
                </a:solidFill>
              </a:rPr>
              <a:t>Thực hành</a:t>
            </a:r>
            <a:endParaRPr b="1" sz="3600">
              <a:solidFill>
                <a:srgbClr val="351C75"/>
              </a:solidFill>
            </a:endParaRPr>
          </a:p>
        </p:txBody>
      </p:sp>
      <p:sp>
        <p:nvSpPr>
          <p:cNvPr id="412" name="Google Shape;412;p65"/>
          <p:cNvSpPr/>
          <p:nvPr/>
        </p:nvSpPr>
        <p:spPr>
          <a:xfrm>
            <a:off x="1471758" y="1021780"/>
            <a:ext cx="5980200" cy="3242100"/>
          </a:xfrm>
          <a:prstGeom prst="roundRect">
            <a:avLst>
              <a:gd fmla="val 16667" name="adj"/>
            </a:avLst>
          </a:prstGeom>
          <a:solidFill>
            <a:srgbClr val="FFF5F5"/>
          </a:solidFill>
          <a:ln cap="flat" cmpd="sng" w="6700">
            <a:solidFill>
              <a:srgbClr val="CA2F47"/>
            </a:solidFill>
            <a:prstDash val="solid"/>
            <a:round/>
            <a:headEnd len="sm" w="sm" type="none"/>
            <a:tailEnd len="sm" w="sm" type="none"/>
          </a:ln>
        </p:spPr>
        <p:txBody>
          <a:bodyPr anchorCtr="0" anchor="ctr" bIns="64275" lIns="64275" spcFirstLastPara="1" rIns="64275" wrap="square" tIns="64275">
            <a:noAutofit/>
          </a:bodyPr>
          <a:lstStyle/>
          <a:p>
            <a:pPr indent="0" lvl="0" marL="0" rtl="0" algn="l">
              <a:lnSpc>
                <a:spcPct val="115000"/>
              </a:lnSpc>
              <a:spcBef>
                <a:spcPts val="0"/>
              </a:spcBef>
              <a:spcAft>
                <a:spcPts val="0"/>
              </a:spcAft>
              <a:buNone/>
            </a:pPr>
            <a:r>
              <a:rPr b="1" lang="vi">
                <a:solidFill>
                  <a:srgbClr val="351C75"/>
                </a:solidFill>
              </a:rPr>
              <a:t>Link đề:</a:t>
            </a:r>
            <a:endParaRPr b="1">
              <a:solidFill>
                <a:srgbClr val="351C75"/>
              </a:solidFill>
            </a:endParaRPr>
          </a:p>
          <a:p>
            <a:pPr indent="0" lvl="0" marL="0" rtl="0" algn="l">
              <a:lnSpc>
                <a:spcPct val="115000"/>
              </a:lnSpc>
              <a:spcBef>
                <a:spcPts val="0"/>
              </a:spcBef>
              <a:spcAft>
                <a:spcPts val="0"/>
              </a:spcAft>
              <a:buNone/>
            </a:pPr>
            <a:r>
              <a:t/>
            </a:r>
            <a:endParaRPr b="1">
              <a:solidFill>
                <a:srgbClr val="351C75"/>
              </a:solidFill>
            </a:endParaRPr>
          </a:p>
          <a:p>
            <a:pPr indent="0" lvl="0" marL="0" rtl="0" algn="l">
              <a:lnSpc>
                <a:spcPct val="115000"/>
              </a:lnSpc>
              <a:spcBef>
                <a:spcPts val="0"/>
              </a:spcBef>
              <a:spcAft>
                <a:spcPts val="0"/>
              </a:spcAft>
              <a:buNone/>
            </a:pPr>
            <a:r>
              <a:rPr b="1" lang="vi">
                <a:solidFill>
                  <a:srgbClr val="351C75"/>
                </a:solidFill>
              </a:rPr>
              <a:t>Link bài chữa:</a:t>
            </a:r>
            <a:endParaRPr b="1">
              <a:solidFill>
                <a:srgbClr val="351C75"/>
              </a:solidFill>
            </a:endParaRPr>
          </a:p>
          <a:p>
            <a:pPr indent="0" lvl="0" marL="0" rtl="0" algn="l">
              <a:lnSpc>
                <a:spcPct val="115000"/>
              </a:lnSpc>
              <a:spcBef>
                <a:spcPts val="0"/>
              </a:spcBef>
              <a:spcAft>
                <a:spcPts val="0"/>
              </a:spcAft>
              <a:buNone/>
            </a:pPr>
            <a:r>
              <a:t/>
            </a:r>
            <a:endParaRPr b="1">
              <a:solidFill>
                <a:srgbClr val="351C75"/>
              </a:solidFill>
            </a:endParaRPr>
          </a:p>
          <a:p>
            <a:pPr indent="0" lvl="0" marL="0" rtl="0" algn="l">
              <a:spcBef>
                <a:spcPts val="0"/>
              </a:spcBef>
              <a:spcAft>
                <a:spcPts val="0"/>
              </a:spcAft>
              <a:buNone/>
            </a:pPr>
            <a:r>
              <a:t/>
            </a:r>
            <a:endParaRPr>
              <a:solidFill>
                <a:srgbClr val="351C75"/>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6"/>
          <p:cNvSpPr txBox="1"/>
          <p:nvPr/>
        </p:nvSpPr>
        <p:spPr>
          <a:xfrm>
            <a:off x="160950" y="1934500"/>
            <a:ext cx="8822100" cy="738900"/>
          </a:xfrm>
          <a:prstGeom prst="rect">
            <a:avLst/>
          </a:prstGeom>
          <a:solidFill>
            <a:srgbClr val="CA2F47"/>
          </a:solid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vi" sz="3600">
                <a:solidFill>
                  <a:srgbClr val="FFFFFF"/>
                </a:solidFill>
              </a:rPr>
              <a:t>Dịch Testcase và bug list</a:t>
            </a:r>
            <a:endParaRPr b="1" sz="3600">
              <a:solidFill>
                <a:srgbClr val="FFFFFF"/>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7"/>
          <p:cNvSpPr txBox="1"/>
          <p:nvPr/>
        </p:nvSpPr>
        <p:spPr>
          <a:xfrm>
            <a:off x="525900" y="1039575"/>
            <a:ext cx="2790900" cy="4230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vi" sz="1800">
                <a:solidFill>
                  <a:srgbClr val="351C75"/>
                </a:solidFill>
              </a:rPr>
              <a:t>Quy tắc dịch test case</a:t>
            </a:r>
            <a:endParaRPr b="1" sz="1800">
              <a:solidFill>
                <a:srgbClr val="351C75"/>
              </a:solidFill>
            </a:endParaRPr>
          </a:p>
        </p:txBody>
      </p:sp>
      <p:graphicFrame>
        <p:nvGraphicFramePr>
          <p:cNvPr id="423" name="Google Shape;423;p67"/>
          <p:cNvGraphicFramePr/>
          <p:nvPr/>
        </p:nvGraphicFramePr>
        <p:xfrm>
          <a:off x="734363" y="1554825"/>
          <a:ext cx="3000000" cy="3000000"/>
        </p:xfrm>
        <a:graphic>
          <a:graphicData uri="http://schemas.openxmlformats.org/drawingml/2006/table">
            <a:tbl>
              <a:tblPr>
                <a:noFill/>
                <a:tableStyleId>{D670AD9C-748C-4D71-9AD6-89DEFF92EBC2}</a:tableStyleId>
              </a:tblPr>
              <a:tblGrid>
                <a:gridCol w="2292150"/>
                <a:gridCol w="2906650"/>
                <a:gridCol w="2599400"/>
              </a:tblGrid>
              <a:tr h="311225">
                <a:tc>
                  <a:txBody>
                    <a:bodyPr/>
                    <a:lstStyle/>
                    <a:p>
                      <a:pPr indent="0" lvl="0" marL="0" rtl="0" algn="ctr">
                        <a:spcBef>
                          <a:spcPts val="0"/>
                        </a:spcBef>
                        <a:spcAft>
                          <a:spcPts val="0"/>
                        </a:spcAft>
                        <a:buNone/>
                      </a:pPr>
                      <a:r>
                        <a:rPr lang="vi">
                          <a:solidFill>
                            <a:srgbClr val="351C75"/>
                          </a:solidFill>
                        </a:rPr>
                        <a:t>Cột</a:t>
                      </a:r>
                      <a:endParaRPr>
                        <a:solidFill>
                          <a:srgbClr val="351C75"/>
                        </a:solidFill>
                      </a:endParaRPr>
                    </a:p>
                  </a:txBody>
                  <a:tcPr marT="91425" marB="91425" marR="91425" marL="91425"/>
                </a:tc>
                <a:tc>
                  <a:txBody>
                    <a:bodyPr/>
                    <a:lstStyle/>
                    <a:p>
                      <a:pPr indent="0" lvl="0" marL="0" rtl="0" algn="ctr">
                        <a:spcBef>
                          <a:spcPts val="0"/>
                        </a:spcBef>
                        <a:spcAft>
                          <a:spcPts val="0"/>
                        </a:spcAft>
                        <a:buNone/>
                      </a:pPr>
                      <a:r>
                        <a:rPr lang="vi">
                          <a:solidFill>
                            <a:srgbClr val="351C75"/>
                          </a:solidFill>
                        </a:rPr>
                        <a:t>Nội dung</a:t>
                      </a:r>
                      <a:endParaRPr>
                        <a:solidFill>
                          <a:srgbClr val="351C75"/>
                        </a:solidFill>
                      </a:endParaRPr>
                    </a:p>
                  </a:txBody>
                  <a:tcPr marT="91425" marB="91425" marR="91425" marL="91425"/>
                </a:tc>
                <a:tc>
                  <a:txBody>
                    <a:bodyPr/>
                    <a:lstStyle/>
                    <a:p>
                      <a:pPr indent="0" lvl="0" marL="0" rtl="0" algn="ctr">
                        <a:spcBef>
                          <a:spcPts val="0"/>
                        </a:spcBef>
                        <a:spcAft>
                          <a:spcPts val="0"/>
                        </a:spcAft>
                        <a:buNone/>
                      </a:pPr>
                      <a:r>
                        <a:rPr lang="vi">
                          <a:solidFill>
                            <a:srgbClr val="351C75"/>
                          </a:solidFill>
                        </a:rPr>
                        <a:t>Chú thích</a:t>
                      </a:r>
                      <a:endParaRPr>
                        <a:solidFill>
                          <a:srgbClr val="351C75"/>
                        </a:solidFill>
                      </a:endParaRPr>
                    </a:p>
                  </a:txBody>
                  <a:tcPr marT="91425" marB="91425" marR="91425" marL="91425"/>
                </a:tc>
              </a:tr>
              <a:tr h="646400">
                <a:tc>
                  <a:txBody>
                    <a:bodyPr/>
                    <a:lstStyle/>
                    <a:p>
                      <a:pPr indent="0" lvl="0" marL="0" rtl="0" algn="l">
                        <a:spcBef>
                          <a:spcPts val="0"/>
                        </a:spcBef>
                        <a:spcAft>
                          <a:spcPts val="0"/>
                        </a:spcAft>
                        <a:buNone/>
                      </a:pPr>
                      <a:r>
                        <a:rPr lang="vi">
                          <a:solidFill>
                            <a:srgbClr val="351C75"/>
                          </a:solidFill>
                        </a:rPr>
                        <a:t>Điều kiện tiền đề (前提条件)</a:t>
                      </a:r>
                      <a:endParaRPr>
                        <a:solidFill>
                          <a:srgbClr val="351C75"/>
                        </a:solidFill>
                      </a:endParaRPr>
                    </a:p>
                  </a:txBody>
                  <a:tcPr marT="91425" marB="91425" marR="91425" marL="91425"/>
                </a:tc>
                <a:tc>
                  <a:txBody>
                    <a:bodyPr/>
                    <a:lstStyle/>
                    <a:p>
                      <a:pPr indent="0" lvl="0" marL="0" rtl="0" algn="l">
                        <a:spcBef>
                          <a:spcPts val="0"/>
                        </a:spcBef>
                        <a:spcAft>
                          <a:spcPts val="0"/>
                        </a:spcAft>
                        <a:buNone/>
                      </a:pPr>
                      <a:r>
                        <a:rPr lang="vi">
                          <a:solidFill>
                            <a:srgbClr val="351C75"/>
                          </a:solidFill>
                        </a:rPr>
                        <a:t>Các điều kiện cần thiết để thực hiện test (login, data đã tồn tại, v.v.)</a:t>
                      </a:r>
                      <a:endParaRPr>
                        <a:solidFill>
                          <a:srgbClr val="351C75"/>
                        </a:solidFill>
                      </a:endParaRPr>
                    </a:p>
                  </a:txBody>
                  <a:tcPr marT="91425" marB="91425" marR="91425" marL="91425"/>
                </a:tc>
                <a:tc>
                  <a:txBody>
                    <a:bodyPr/>
                    <a:lstStyle/>
                    <a:p>
                      <a:pPr indent="0" lvl="0" marL="0" rtl="0" algn="l">
                        <a:spcBef>
                          <a:spcPts val="0"/>
                        </a:spcBef>
                        <a:spcAft>
                          <a:spcPts val="0"/>
                        </a:spcAft>
                        <a:buNone/>
                      </a:pPr>
                      <a:r>
                        <a:rPr lang="vi">
                          <a:solidFill>
                            <a:srgbClr val="351C75"/>
                          </a:solidFill>
                        </a:rPr>
                        <a:t>Dùng 「～こと」  cuối câu</a:t>
                      </a:r>
                      <a:endParaRPr>
                        <a:solidFill>
                          <a:srgbClr val="351C75"/>
                        </a:solidFill>
                      </a:endParaRPr>
                    </a:p>
                  </a:txBody>
                  <a:tcPr marT="91425" marB="91425" marR="91425" marL="91425"/>
                </a:tc>
              </a:tr>
              <a:tr h="478800">
                <a:tc>
                  <a:txBody>
                    <a:bodyPr/>
                    <a:lstStyle/>
                    <a:p>
                      <a:pPr indent="0" lvl="0" marL="0" rtl="0" algn="l">
                        <a:spcBef>
                          <a:spcPts val="0"/>
                        </a:spcBef>
                        <a:spcAft>
                          <a:spcPts val="0"/>
                        </a:spcAft>
                        <a:buNone/>
                      </a:pPr>
                      <a:r>
                        <a:rPr lang="vi">
                          <a:solidFill>
                            <a:srgbClr val="351C75"/>
                          </a:solidFill>
                        </a:rPr>
                        <a:t>Các bước thực hiện (操作手順)</a:t>
                      </a:r>
                      <a:endParaRPr>
                        <a:solidFill>
                          <a:srgbClr val="351C75"/>
                        </a:solidFill>
                      </a:endParaRPr>
                    </a:p>
                  </a:txBody>
                  <a:tcPr marT="91425" marB="91425" marR="91425" marL="91425"/>
                </a:tc>
                <a:tc>
                  <a:txBody>
                    <a:bodyPr/>
                    <a:lstStyle/>
                    <a:p>
                      <a:pPr indent="0" lvl="0" marL="0" rtl="0" algn="l">
                        <a:spcBef>
                          <a:spcPts val="0"/>
                        </a:spcBef>
                        <a:spcAft>
                          <a:spcPts val="0"/>
                        </a:spcAft>
                        <a:buNone/>
                      </a:pPr>
                      <a:r>
                        <a:rPr lang="vi">
                          <a:solidFill>
                            <a:srgbClr val="351C75"/>
                          </a:solidFill>
                        </a:rPr>
                        <a:t>Các thao tác cụ thể từng bước (click button, input text, v.v.)</a:t>
                      </a:r>
                      <a:endParaRPr>
                        <a:solidFill>
                          <a:srgbClr val="351C75"/>
                        </a:solidFill>
                      </a:endParaRPr>
                    </a:p>
                  </a:txBody>
                  <a:tcPr marT="91425" marB="91425" marR="91425" marL="91425"/>
                </a:tc>
                <a:tc>
                  <a:txBody>
                    <a:bodyPr/>
                    <a:lstStyle/>
                    <a:p>
                      <a:pPr indent="0" lvl="0" marL="0" rtl="0" algn="l">
                        <a:spcBef>
                          <a:spcPts val="0"/>
                        </a:spcBef>
                        <a:spcAft>
                          <a:spcPts val="0"/>
                        </a:spcAft>
                        <a:buNone/>
                      </a:pPr>
                      <a:r>
                        <a:rPr lang="vi">
                          <a:solidFill>
                            <a:srgbClr val="351C75"/>
                          </a:solidFill>
                        </a:rPr>
                        <a:t>Câu dạng động từ thực hiện hành động Vる</a:t>
                      </a:r>
                      <a:endParaRPr>
                        <a:solidFill>
                          <a:srgbClr val="351C75"/>
                        </a:solidFill>
                      </a:endParaRPr>
                    </a:p>
                  </a:txBody>
                  <a:tcPr marT="91425" marB="91425" marR="91425" marL="91425"/>
                </a:tc>
              </a:tr>
              <a:tr h="814000">
                <a:tc>
                  <a:txBody>
                    <a:bodyPr/>
                    <a:lstStyle/>
                    <a:p>
                      <a:pPr indent="0" lvl="0" marL="0" rtl="0" algn="l">
                        <a:spcBef>
                          <a:spcPts val="0"/>
                        </a:spcBef>
                        <a:spcAft>
                          <a:spcPts val="0"/>
                        </a:spcAft>
                        <a:buNone/>
                      </a:pPr>
                      <a:r>
                        <a:rPr lang="vi">
                          <a:solidFill>
                            <a:srgbClr val="351C75"/>
                          </a:solidFill>
                        </a:rPr>
                        <a:t>Kết quả mong muốn (期待結果)</a:t>
                      </a:r>
                      <a:endParaRPr>
                        <a:solidFill>
                          <a:srgbClr val="351C75"/>
                        </a:solidFill>
                      </a:endParaRPr>
                    </a:p>
                  </a:txBody>
                  <a:tcPr marT="91425" marB="91425" marR="91425" marL="91425"/>
                </a:tc>
                <a:tc>
                  <a:txBody>
                    <a:bodyPr/>
                    <a:lstStyle/>
                    <a:p>
                      <a:pPr indent="0" lvl="0" marL="0" rtl="0" algn="l">
                        <a:spcBef>
                          <a:spcPts val="0"/>
                        </a:spcBef>
                        <a:spcAft>
                          <a:spcPts val="0"/>
                        </a:spcAft>
                        <a:buNone/>
                      </a:pPr>
                      <a:r>
                        <a:rPr lang="vi">
                          <a:solidFill>
                            <a:srgbClr val="351C75"/>
                          </a:solidFill>
                        </a:rPr>
                        <a:t>Kết quả dự kiến sau thao tác</a:t>
                      </a:r>
                      <a:endParaRPr>
                        <a:solidFill>
                          <a:srgbClr val="351C75"/>
                        </a:solidFill>
                      </a:endParaRPr>
                    </a:p>
                  </a:txBody>
                  <a:tcPr marT="91425" marB="91425" marR="91425" marL="91425"/>
                </a:tc>
                <a:tc>
                  <a:txBody>
                    <a:bodyPr/>
                    <a:lstStyle/>
                    <a:p>
                      <a:pPr indent="0" lvl="0" marL="0" rtl="0" algn="l">
                        <a:spcBef>
                          <a:spcPts val="0"/>
                        </a:spcBef>
                        <a:spcAft>
                          <a:spcPts val="0"/>
                        </a:spcAft>
                        <a:buNone/>
                      </a:pPr>
                      <a:r>
                        <a:rPr lang="vi">
                          <a:solidFill>
                            <a:srgbClr val="351C75"/>
                          </a:solidFill>
                        </a:rPr>
                        <a:t>Dùng こと cuối câu</a:t>
                      </a:r>
                      <a:endParaRPr>
                        <a:solidFill>
                          <a:srgbClr val="351C75"/>
                        </a:solidFill>
                      </a:endParaRPr>
                    </a:p>
                    <a:p>
                      <a:pPr indent="0" lvl="0" marL="0" rtl="0" algn="l">
                        <a:spcBef>
                          <a:spcPts val="0"/>
                        </a:spcBef>
                        <a:spcAft>
                          <a:spcPts val="0"/>
                        </a:spcAft>
                        <a:buNone/>
                      </a:pPr>
                      <a:r>
                        <a:rPr lang="vi">
                          <a:solidFill>
                            <a:srgbClr val="351C75"/>
                          </a:solidFill>
                        </a:rPr>
                        <a:t>～が完了すること、</a:t>
                      </a:r>
                      <a:endParaRPr>
                        <a:solidFill>
                          <a:srgbClr val="351C75"/>
                        </a:solidFill>
                      </a:endParaRPr>
                    </a:p>
                    <a:p>
                      <a:pPr indent="0" lvl="0" marL="0" rtl="0" algn="l">
                        <a:spcBef>
                          <a:spcPts val="0"/>
                        </a:spcBef>
                        <a:spcAft>
                          <a:spcPts val="0"/>
                        </a:spcAft>
                        <a:buNone/>
                      </a:pPr>
                      <a:r>
                        <a:rPr lang="vi">
                          <a:solidFill>
                            <a:srgbClr val="351C75"/>
                          </a:solidFill>
                        </a:rPr>
                        <a:t>～が表示されること</a:t>
                      </a:r>
                      <a:endParaRPr>
                        <a:solidFill>
                          <a:srgbClr val="351C75"/>
                        </a:solidFill>
                      </a:endParaRPr>
                    </a:p>
                    <a:p>
                      <a:pPr indent="0" lvl="0" marL="0" rtl="0" algn="l">
                        <a:spcBef>
                          <a:spcPts val="0"/>
                        </a:spcBef>
                        <a:spcAft>
                          <a:spcPts val="0"/>
                        </a:spcAft>
                        <a:buNone/>
                      </a:pPr>
                      <a:r>
                        <a:rPr lang="vi">
                          <a:solidFill>
                            <a:srgbClr val="351C75"/>
                          </a:solidFill>
                        </a:rPr>
                        <a:t>～できないこと</a:t>
                      </a:r>
                      <a:endParaRPr>
                        <a:solidFill>
                          <a:srgbClr val="351C75"/>
                        </a:solidFill>
                      </a:endParaRPr>
                    </a:p>
                  </a:txBody>
                  <a:tcPr marT="91425" marB="91425" marR="91425" marL="91425"/>
                </a:tc>
              </a:tr>
            </a:tbl>
          </a:graphicData>
        </a:graphic>
      </p:graphicFrame>
      <p:sp>
        <p:nvSpPr>
          <p:cNvPr id="424" name="Google Shape;424;p67"/>
          <p:cNvSpPr txBox="1"/>
          <p:nvPr/>
        </p:nvSpPr>
        <p:spPr>
          <a:xfrm>
            <a:off x="277950" y="300675"/>
            <a:ext cx="85881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vi" sz="3600">
                <a:solidFill>
                  <a:srgbClr val="351C75"/>
                </a:solidFill>
              </a:rPr>
              <a:t>Dịch testcase</a:t>
            </a:r>
            <a:endParaRPr b="1" sz="3600">
              <a:solidFill>
                <a:srgbClr val="351C75"/>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8"/>
          <p:cNvSpPr txBox="1"/>
          <p:nvPr/>
        </p:nvSpPr>
        <p:spPr>
          <a:xfrm>
            <a:off x="1994950" y="165500"/>
            <a:ext cx="49083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vi" sz="3600">
                <a:solidFill>
                  <a:srgbClr val="351C75"/>
                </a:solidFill>
              </a:rPr>
              <a:t>Thực hành</a:t>
            </a:r>
            <a:endParaRPr b="1" sz="3600">
              <a:solidFill>
                <a:srgbClr val="351C75"/>
              </a:solidFill>
            </a:endParaRPr>
          </a:p>
        </p:txBody>
      </p:sp>
      <p:graphicFrame>
        <p:nvGraphicFramePr>
          <p:cNvPr id="430" name="Google Shape;430;p68"/>
          <p:cNvGraphicFramePr/>
          <p:nvPr/>
        </p:nvGraphicFramePr>
        <p:xfrm>
          <a:off x="802513" y="904400"/>
          <a:ext cx="3000000" cy="3000000"/>
        </p:xfrm>
        <a:graphic>
          <a:graphicData uri="http://schemas.openxmlformats.org/drawingml/2006/table">
            <a:tbl>
              <a:tblPr>
                <a:noFill/>
                <a:tableStyleId>{D670AD9C-748C-4D71-9AD6-89DEFF92EBC2}</a:tableStyleId>
              </a:tblPr>
              <a:tblGrid>
                <a:gridCol w="525225"/>
                <a:gridCol w="836275"/>
                <a:gridCol w="1289025"/>
                <a:gridCol w="1234475"/>
                <a:gridCol w="1916025"/>
                <a:gridCol w="897950"/>
                <a:gridCol w="1116500"/>
              </a:tblGrid>
              <a:tr h="729275">
                <a:tc>
                  <a:txBody>
                    <a:bodyPr/>
                    <a:lstStyle/>
                    <a:p>
                      <a:pPr indent="0" lvl="0" marL="0" rtl="0" algn="ctr">
                        <a:lnSpc>
                          <a:spcPct val="115000"/>
                        </a:lnSpc>
                        <a:spcBef>
                          <a:spcPts val="0"/>
                        </a:spcBef>
                        <a:spcAft>
                          <a:spcPts val="0"/>
                        </a:spcAft>
                        <a:buNone/>
                      </a:pPr>
                      <a:r>
                        <a:rPr b="1" lang="vi" sz="1000">
                          <a:solidFill>
                            <a:srgbClr val="351C75"/>
                          </a:solidFill>
                        </a:rPr>
                        <a:t>TC ID</a:t>
                      </a:r>
                      <a:endParaRPr b="1"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Test Item</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Description</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Precondition</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Test Steps</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Input</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Expected Resu</a:t>
                      </a:r>
                      <a:endParaRPr sz="1000">
                        <a:solidFill>
                          <a:srgbClr val="351C75"/>
                        </a:solidFill>
                      </a:endParaRPr>
                    </a:p>
                  </a:txBody>
                  <a:tcPr marT="91425" marB="91425" marR="91425" marL="91425"/>
                </a:tc>
              </a:tr>
              <a:tr h="844825">
                <a:tc>
                  <a:txBody>
                    <a:bodyPr/>
                    <a:lstStyle/>
                    <a:p>
                      <a:pPr indent="0" lvl="0" marL="0" rtl="0" algn="l">
                        <a:spcBef>
                          <a:spcPts val="0"/>
                        </a:spcBef>
                        <a:spcAft>
                          <a:spcPts val="0"/>
                        </a:spcAft>
                        <a:buNone/>
                      </a:pPr>
                      <a:r>
                        <a:rPr lang="vi" sz="1000">
                          <a:solidFill>
                            <a:srgbClr val="351C75"/>
                          </a:solidFill>
                        </a:rPr>
                        <a:t>TC001</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Login</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Kiểm tra đăng nhập với dữ liệu hợp lệ</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Màn hình login hiển thị</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1. Nhập Email </a:t>
                      </a:r>
                      <a:endParaRPr sz="1000">
                        <a:solidFill>
                          <a:srgbClr val="351C75"/>
                        </a:solidFill>
                      </a:endParaRPr>
                    </a:p>
                    <a:p>
                      <a:pPr indent="0" lvl="0" marL="0" rtl="0" algn="l">
                        <a:spcBef>
                          <a:spcPts val="0"/>
                        </a:spcBef>
                        <a:spcAft>
                          <a:spcPts val="0"/>
                        </a:spcAft>
                        <a:buNone/>
                      </a:pPr>
                      <a:r>
                        <a:rPr lang="vi" sz="1000">
                          <a:solidFill>
                            <a:srgbClr val="351C75"/>
                          </a:solidFill>
                        </a:rPr>
                        <a:t>2. Nhập Password </a:t>
                      </a:r>
                      <a:endParaRPr sz="1000">
                        <a:solidFill>
                          <a:srgbClr val="351C75"/>
                        </a:solidFill>
                      </a:endParaRPr>
                    </a:p>
                    <a:p>
                      <a:pPr indent="0" lvl="0" marL="0" rtl="0" algn="l">
                        <a:spcBef>
                          <a:spcPts val="0"/>
                        </a:spcBef>
                        <a:spcAft>
                          <a:spcPts val="0"/>
                        </a:spcAft>
                        <a:buNone/>
                      </a:pPr>
                      <a:r>
                        <a:rPr lang="vi" sz="1000">
                          <a:solidFill>
                            <a:srgbClr val="351C75"/>
                          </a:solidFill>
                        </a:rPr>
                        <a:t>3. Nhấn Login</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Email hợp lệ, Password hợp lệ</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Chuyển sang màn hình Dashboard</a:t>
                      </a:r>
                      <a:endParaRPr sz="1000">
                        <a:solidFill>
                          <a:srgbClr val="351C75"/>
                        </a:solidFill>
                      </a:endParaRPr>
                    </a:p>
                  </a:txBody>
                  <a:tcPr marT="91425" marB="91425" marR="91425" marL="91425"/>
                </a:tc>
              </a:tr>
              <a:tr h="844825">
                <a:tc>
                  <a:txBody>
                    <a:bodyPr/>
                    <a:lstStyle/>
                    <a:p>
                      <a:pPr indent="0" lvl="0" marL="0" rtl="0" algn="l">
                        <a:spcBef>
                          <a:spcPts val="0"/>
                        </a:spcBef>
                        <a:spcAft>
                          <a:spcPts val="0"/>
                        </a:spcAft>
                        <a:buNone/>
                      </a:pPr>
                      <a:r>
                        <a:rPr lang="vi" sz="1000">
                          <a:solidFill>
                            <a:srgbClr val="351C75"/>
                          </a:solidFill>
                        </a:rPr>
                        <a:t>TC002</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Login</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Kiểm tra khi bỏ trống Password</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Màn hình login hiển thị</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1. Nhập Email </a:t>
                      </a:r>
                      <a:endParaRPr sz="1000">
                        <a:solidFill>
                          <a:srgbClr val="351C75"/>
                        </a:solidFill>
                      </a:endParaRPr>
                    </a:p>
                    <a:p>
                      <a:pPr indent="0" lvl="0" marL="0" rtl="0" algn="l">
                        <a:spcBef>
                          <a:spcPts val="0"/>
                        </a:spcBef>
                        <a:spcAft>
                          <a:spcPts val="0"/>
                        </a:spcAft>
                        <a:buNone/>
                      </a:pPr>
                      <a:r>
                        <a:rPr lang="vi" sz="1000">
                          <a:solidFill>
                            <a:srgbClr val="351C75"/>
                          </a:solidFill>
                        </a:rPr>
                        <a:t>2. Để trống Password </a:t>
                      </a:r>
                      <a:endParaRPr sz="1000">
                        <a:solidFill>
                          <a:srgbClr val="351C75"/>
                        </a:solidFill>
                      </a:endParaRPr>
                    </a:p>
                    <a:p>
                      <a:pPr indent="0" lvl="0" marL="0" rtl="0" algn="l">
                        <a:spcBef>
                          <a:spcPts val="0"/>
                        </a:spcBef>
                        <a:spcAft>
                          <a:spcPts val="0"/>
                        </a:spcAft>
                        <a:buNone/>
                      </a:pPr>
                      <a:r>
                        <a:rPr lang="vi" sz="1000">
                          <a:solidFill>
                            <a:srgbClr val="351C75"/>
                          </a:solidFill>
                        </a:rPr>
                        <a:t>3. Nhấn Login</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Email hợp lệ</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Hiển thị lỗi: “Vui lòng nhập mật khẩu”</a:t>
                      </a:r>
                      <a:endParaRPr sz="1000">
                        <a:solidFill>
                          <a:srgbClr val="351C75"/>
                        </a:solidFill>
                      </a:endParaRPr>
                    </a:p>
                  </a:txBody>
                  <a:tcPr marT="91425" marB="91425" marR="91425" marL="91425"/>
                </a:tc>
              </a:tr>
              <a:tr h="991100">
                <a:tc>
                  <a:txBody>
                    <a:bodyPr/>
                    <a:lstStyle/>
                    <a:p>
                      <a:pPr indent="0" lvl="0" marL="0" rtl="0" algn="l">
                        <a:spcBef>
                          <a:spcPts val="0"/>
                        </a:spcBef>
                        <a:spcAft>
                          <a:spcPts val="0"/>
                        </a:spcAft>
                        <a:buNone/>
                      </a:pPr>
                      <a:r>
                        <a:rPr lang="vi" sz="1000">
                          <a:solidFill>
                            <a:srgbClr val="351C75"/>
                          </a:solidFill>
                        </a:rPr>
                        <a:t>TC003</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Change Password</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Thay đổi mật khẩu thành công</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Người dùng đã đăng nhập và vào trang đổi mật khẩu</a:t>
                      </a:r>
                      <a:endParaRPr sz="1000">
                        <a:solidFill>
                          <a:srgbClr val="351C75"/>
                        </a:solidFill>
                      </a:endParaRPr>
                    </a:p>
                  </a:txBody>
                  <a:tcPr marT="91425" marB="91425" marR="91425" marL="91425"/>
                </a:tc>
                <a:tc>
                  <a:txBody>
                    <a:bodyPr/>
                    <a:lstStyle/>
                    <a:p>
                      <a:pPr indent="0" lvl="0" marL="0" rtl="0" algn="l">
                        <a:lnSpc>
                          <a:spcPct val="115000"/>
                        </a:lnSpc>
                        <a:spcBef>
                          <a:spcPts val="0"/>
                        </a:spcBef>
                        <a:spcAft>
                          <a:spcPts val="0"/>
                        </a:spcAft>
                        <a:buNone/>
                      </a:pPr>
                      <a:r>
                        <a:rPr lang="vi" sz="1000">
                          <a:solidFill>
                            <a:srgbClr val="351C75"/>
                          </a:solidFill>
                        </a:rPr>
                        <a:t>1. Nhập mật khẩu cũ</a:t>
                      </a:r>
                      <a:endParaRPr sz="1000">
                        <a:solidFill>
                          <a:srgbClr val="351C75"/>
                        </a:solidFill>
                      </a:endParaRPr>
                    </a:p>
                    <a:p>
                      <a:pPr indent="0" lvl="0" marL="0" rtl="0" algn="l">
                        <a:lnSpc>
                          <a:spcPct val="115000"/>
                        </a:lnSpc>
                        <a:spcBef>
                          <a:spcPts val="0"/>
                        </a:spcBef>
                        <a:spcAft>
                          <a:spcPts val="0"/>
                        </a:spcAft>
                        <a:buNone/>
                      </a:pPr>
                      <a:r>
                        <a:rPr lang="vi" sz="1000">
                          <a:solidFill>
                            <a:srgbClr val="351C75"/>
                          </a:solidFill>
                        </a:rPr>
                        <a:t>2. Nhập mật khẩu mới</a:t>
                      </a:r>
                      <a:endParaRPr sz="1000">
                        <a:solidFill>
                          <a:srgbClr val="351C75"/>
                        </a:solidFill>
                      </a:endParaRPr>
                    </a:p>
                    <a:p>
                      <a:pPr indent="0" lvl="0" marL="0" rtl="0" algn="l">
                        <a:lnSpc>
                          <a:spcPct val="115000"/>
                        </a:lnSpc>
                        <a:spcBef>
                          <a:spcPts val="0"/>
                        </a:spcBef>
                        <a:spcAft>
                          <a:spcPts val="0"/>
                        </a:spcAft>
                        <a:buNone/>
                      </a:pPr>
                      <a:r>
                        <a:rPr lang="vi" sz="1000">
                          <a:solidFill>
                            <a:srgbClr val="351C75"/>
                          </a:solidFill>
                        </a:rPr>
                        <a:t>3. Xác nhận mật khẩu mới</a:t>
                      </a:r>
                      <a:endParaRPr sz="1000">
                        <a:solidFill>
                          <a:srgbClr val="351C75"/>
                        </a:solidFill>
                      </a:endParaRPr>
                    </a:p>
                    <a:p>
                      <a:pPr indent="0" lvl="0" marL="0" rtl="0" algn="l">
                        <a:spcBef>
                          <a:spcPts val="0"/>
                        </a:spcBef>
                        <a:spcAft>
                          <a:spcPts val="0"/>
                        </a:spcAft>
                        <a:buNone/>
                      </a:pPr>
                      <a:r>
                        <a:rPr lang="vi" sz="1000">
                          <a:solidFill>
                            <a:srgbClr val="351C75"/>
                          </a:solidFill>
                        </a:rPr>
                        <a:t>4. Nhấn 'Lưu'</a:t>
                      </a:r>
                      <a:endParaRPr sz="1000">
                        <a:solidFill>
                          <a:srgbClr val="351C75"/>
                        </a:solidFill>
                      </a:endParaRPr>
                    </a:p>
                  </a:txBody>
                  <a:tcPr marT="91425" marB="91425" marR="91425" marL="91425"/>
                </a:tc>
                <a:tc>
                  <a:txBody>
                    <a:bodyPr/>
                    <a:lstStyle/>
                    <a:p>
                      <a:pPr indent="0" lvl="0" marL="0" rtl="0" algn="l">
                        <a:lnSpc>
                          <a:spcPct val="115000"/>
                        </a:lnSpc>
                        <a:spcBef>
                          <a:spcPts val="0"/>
                        </a:spcBef>
                        <a:spcAft>
                          <a:spcPts val="0"/>
                        </a:spcAft>
                        <a:buNone/>
                      </a:pPr>
                      <a:r>
                        <a:rPr lang="vi" sz="1000">
                          <a:solidFill>
                            <a:srgbClr val="351C75"/>
                          </a:solidFill>
                        </a:rPr>
                        <a:t>Old: 123456</a:t>
                      </a:r>
                      <a:endParaRPr sz="1000">
                        <a:solidFill>
                          <a:srgbClr val="351C75"/>
                        </a:solidFill>
                      </a:endParaRPr>
                    </a:p>
                    <a:p>
                      <a:pPr indent="0" lvl="0" marL="0" rtl="0" algn="l">
                        <a:lnSpc>
                          <a:spcPct val="115000"/>
                        </a:lnSpc>
                        <a:spcBef>
                          <a:spcPts val="0"/>
                        </a:spcBef>
                        <a:spcAft>
                          <a:spcPts val="0"/>
                        </a:spcAft>
                        <a:buNone/>
                      </a:pPr>
                      <a:r>
                        <a:rPr lang="vi" sz="1000">
                          <a:solidFill>
                            <a:srgbClr val="351C75"/>
                          </a:solidFill>
                        </a:rPr>
                        <a:t>New: Abcd@2025</a:t>
                      </a:r>
                      <a:endParaRPr sz="1000">
                        <a:solidFill>
                          <a:srgbClr val="351C75"/>
                        </a:solidFill>
                      </a:endParaRPr>
                    </a:p>
                    <a:p>
                      <a:pPr indent="0" lvl="0" marL="0" rtl="0" algn="l">
                        <a:spcBef>
                          <a:spcPts val="0"/>
                        </a:spcBef>
                        <a:spcAft>
                          <a:spcPts val="0"/>
                        </a:spcAft>
                        <a:buNone/>
                      </a:pPr>
                      <a:r>
                        <a:rPr lang="vi" sz="1000">
                          <a:solidFill>
                            <a:srgbClr val="351C75"/>
                          </a:solidFill>
                        </a:rPr>
                        <a:t>Confirm: Abcd@2025</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Hiển thị thông báo: 'Đổi mật khẩu thành công'</a:t>
                      </a:r>
                      <a:endParaRPr sz="1000">
                        <a:solidFill>
                          <a:srgbClr val="351C75"/>
                        </a:solidFill>
                      </a:endParaRPr>
                    </a:p>
                  </a:txBody>
                  <a:tcPr marT="91425" marB="91425" marR="91425" marL="91425"/>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9"/>
          <p:cNvSpPr txBox="1"/>
          <p:nvPr/>
        </p:nvSpPr>
        <p:spPr>
          <a:xfrm>
            <a:off x="1994950" y="165500"/>
            <a:ext cx="49083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vi" sz="3600">
                <a:solidFill>
                  <a:srgbClr val="351C75"/>
                </a:solidFill>
              </a:rPr>
              <a:t>Bài chữa mẫu</a:t>
            </a:r>
            <a:endParaRPr b="1" sz="3600">
              <a:solidFill>
                <a:srgbClr val="351C75"/>
              </a:solidFill>
            </a:endParaRPr>
          </a:p>
        </p:txBody>
      </p:sp>
      <p:graphicFrame>
        <p:nvGraphicFramePr>
          <p:cNvPr id="436" name="Google Shape;436;p69"/>
          <p:cNvGraphicFramePr/>
          <p:nvPr/>
        </p:nvGraphicFramePr>
        <p:xfrm>
          <a:off x="253438" y="960450"/>
          <a:ext cx="3000000" cy="3000000"/>
        </p:xfrm>
        <a:graphic>
          <a:graphicData uri="http://schemas.openxmlformats.org/drawingml/2006/table">
            <a:tbl>
              <a:tblPr>
                <a:noFill/>
                <a:tableStyleId>{D670AD9C-748C-4D71-9AD6-89DEFF92EBC2}</a:tableStyleId>
              </a:tblPr>
              <a:tblGrid>
                <a:gridCol w="634975"/>
                <a:gridCol w="870900"/>
                <a:gridCol w="1375575"/>
                <a:gridCol w="1229300"/>
                <a:gridCol w="2284225"/>
                <a:gridCol w="1092575"/>
                <a:gridCol w="1302850"/>
              </a:tblGrid>
              <a:tr h="557500">
                <a:tc>
                  <a:txBody>
                    <a:bodyPr/>
                    <a:lstStyle/>
                    <a:p>
                      <a:pPr indent="0" lvl="0" marL="0" rtl="0" algn="ctr">
                        <a:lnSpc>
                          <a:spcPct val="115000"/>
                        </a:lnSpc>
                        <a:spcBef>
                          <a:spcPts val="0"/>
                        </a:spcBef>
                        <a:spcAft>
                          <a:spcPts val="0"/>
                        </a:spcAft>
                        <a:buNone/>
                      </a:pPr>
                      <a:r>
                        <a:rPr b="1" lang="vi" sz="1000">
                          <a:solidFill>
                            <a:srgbClr val="351C75"/>
                          </a:solidFill>
                        </a:rPr>
                        <a:t>TC ID</a:t>
                      </a:r>
                      <a:endParaRPr b="1" sz="1000">
                        <a:solidFill>
                          <a:srgbClr val="351C75"/>
                        </a:solidFill>
                      </a:endParaRPr>
                    </a:p>
                  </a:txBody>
                  <a:tcPr marT="91425" marB="91425" marR="91425" marL="91425"/>
                </a:tc>
                <a:tc>
                  <a:txBody>
                    <a:bodyPr/>
                    <a:lstStyle/>
                    <a:p>
                      <a:pPr indent="0" lvl="0" marL="0" rtl="0" algn="ctr">
                        <a:lnSpc>
                          <a:spcPct val="115000"/>
                        </a:lnSpc>
                        <a:spcBef>
                          <a:spcPts val="0"/>
                        </a:spcBef>
                        <a:spcAft>
                          <a:spcPts val="0"/>
                        </a:spcAft>
                        <a:buNone/>
                      </a:pPr>
                      <a:r>
                        <a:rPr b="1" lang="vi" sz="1000">
                          <a:solidFill>
                            <a:srgbClr val="351C75"/>
                          </a:solidFill>
                        </a:rPr>
                        <a:t>テスト</a:t>
                      </a:r>
                      <a:endParaRPr b="1" sz="1000">
                        <a:solidFill>
                          <a:srgbClr val="351C75"/>
                        </a:solidFill>
                      </a:endParaRPr>
                    </a:p>
                    <a:p>
                      <a:pPr indent="0" lvl="0" marL="0" rtl="0" algn="ctr">
                        <a:lnSpc>
                          <a:spcPct val="115000"/>
                        </a:lnSpc>
                        <a:spcBef>
                          <a:spcPts val="0"/>
                        </a:spcBef>
                        <a:spcAft>
                          <a:spcPts val="0"/>
                        </a:spcAft>
                        <a:buClr>
                          <a:schemeClr val="dk1"/>
                        </a:buClr>
                        <a:buSzPts val="1100"/>
                        <a:buFont typeface="Arial"/>
                        <a:buNone/>
                      </a:pPr>
                      <a:r>
                        <a:rPr b="1" lang="vi" sz="1000">
                          <a:solidFill>
                            <a:srgbClr val="351C75"/>
                          </a:solidFill>
                        </a:rPr>
                        <a:t>項目</a:t>
                      </a:r>
                      <a:endParaRPr b="1" sz="1000">
                        <a:solidFill>
                          <a:srgbClr val="351C75"/>
                        </a:solidFill>
                      </a:endParaRPr>
                    </a:p>
                    <a:p>
                      <a:pPr indent="0" lvl="0" marL="0" rtl="0" algn="l">
                        <a:spcBef>
                          <a:spcPts val="0"/>
                        </a:spcBef>
                        <a:spcAft>
                          <a:spcPts val="0"/>
                        </a:spcAft>
                        <a:buNone/>
                      </a:pPr>
                      <a:r>
                        <a:t/>
                      </a:r>
                      <a:endParaRPr sz="1000">
                        <a:solidFill>
                          <a:srgbClr val="351C75"/>
                        </a:solidFill>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vi" sz="1000">
                          <a:solidFill>
                            <a:srgbClr val="351C75"/>
                          </a:solidFill>
                        </a:rPr>
                        <a:t>説明</a:t>
                      </a:r>
                      <a:endParaRPr b="1" sz="1000">
                        <a:solidFill>
                          <a:srgbClr val="351C75"/>
                        </a:solidFill>
                      </a:endParaRPr>
                    </a:p>
                    <a:p>
                      <a:pPr indent="0" lvl="0" marL="0" rtl="0" algn="l">
                        <a:spcBef>
                          <a:spcPts val="0"/>
                        </a:spcBef>
                        <a:spcAft>
                          <a:spcPts val="0"/>
                        </a:spcAft>
                        <a:buNone/>
                      </a:pPr>
                      <a:r>
                        <a:t/>
                      </a:r>
                      <a:endParaRPr sz="1000">
                        <a:solidFill>
                          <a:srgbClr val="351C75"/>
                        </a:solidFill>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vi" sz="1000">
                          <a:solidFill>
                            <a:srgbClr val="351C75"/>
                          </a:solidFill>
                        </a:rPr>
                        <a:t>前提条件</a:t>
                      </a:r>
                      <a:endParaRPr b="1" sz="1000">
                        <a:solidFill>
                          <a:srgbClr val="351C75"/>
                        </a:solidFill>
                      </a:endParaRPr>
                    </a:p>
                    <a:p>
                      <a:pPr indent="0" lvl="0" marL="0" rtl="0" algn="l">
                        <a:spcBef>
                          <a:spcPts val="0"/>
                        </a:spcBef>
                        <a:spcAft>
                          <a:spcPts val="0"/>
                        </a:spcAft>
                        <a:buNone/>
                      </a:pPr>
                      <a:r>
                        <a:t/>
                      </a:r>
                      <a:endParaRPr sz="1000">
                        <a:solidFill>
                          <a:srgbClr val="351C75"/>
                        </a:solidFill>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vi" sz="1000">
                          <a:solidFill>
                            <a:srgbClr val="351C75"/>
                          </a:solidFill>
                        </a:rPr>
                        <a:t>テスト手順</a:t>
                      </a:r>
                      <a:endParaRPr b="1" sz="1000">
                        <a:solidFill>
                          <a:srgbClr val="351C75"/>
                        </a:solidFill>
                      </a:endParaRPr>
                    </a:p>
                    <a:p>
                      <a:pPr indent="0" lvl="0" marL="0" rtl="0" algn="l">
                        <a:spcBef>
                          <a:spcPts val="0"/>
                        </a:spcBef>
                        <a:spcAft>
                          <a:spcPts val="0"/>
                        </a:spcAft>
                        <a:buNone/>
                      </a:pPr>
                      <a:r>
                        <a:t/>
                      </a:r>
                      <a:endParaRPr sz="1000">
                        <a:solidFill>
                          <a:srgbClr val="351C75"/>
                        </a:solidFill>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vi" sz="1000">
                          <a:solidFill>
                            <a:srgbClr val="351C75"/>
                          </a:solidFill>
                        </a:rPr>
                        <a:t>入力値</a:t>
                      </a:r>
                      <a:endParaRPr b="1" sz="1000">
                        <a:solidFill>
                          <a:srgbClr val="351C75"/>
                        </a:solidFill>
                      </a:endParaRPr>
                    </a:p>
                    <a:p>
                      <a:pPr indent="0" lvl="0" marL="0" rtl="0" algn="l">
                        <a:spcBef>
                          <a:spcPts val="0"/>
                        </a:spcBef>
                        <a:spcAft>
                          <a:spcPts val="0"/>
                        </a:spcAft>
                        <a:buNone/>
                      </a:pPr>
                      <a:r>
                        <a:t/>
                      </a:r>
                      <a:endParaRPr sz="1000">
                        <a:solidFill>
                          <a:srgbClr val="351C75"/>
                        </a:solidFill>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vi" sz="1000">
                          <a:solidFill>
                            <a:srgbClr val="351C75"/>
                          </a:solidFill>
                        </a:rPr>
                        <a:t>入力値</a:t>
                      </a:r>
                      <a:endParaRPr b="1" sz="1000">
                        <a:solidFill>
                          <a:srgbClr val="351C75"/>
                        </a:solidFill>
                      </a:endParaRPr>
                    </a:p>
                    <a:p>
                      <a:pPr indent="0" lvl="0" marL="0" rtl="0" algn="l">
                        <a:spcBef>
                          <a:spcPts val="0"/>
                        </a:spcBef>
                        <a:spcAft>
                          <a:spcPts val="0"/>
                        </a:spcAft>
                        <a:buNone/>
                      </a:pPr>
                      <a:r>
                        <a:t/>
                      </a:r>
                      <a:endParaRPr sz="1000">
                        <a:solidFill>
                          <a:srgbClr val="351C75"/>
                        </a:solidFill>
                      </a:endParaRPr>
                    </a:p>
                  </a:txBody>
                  <a:tcPr marT="91425" marB="91425" marR="91425" marL="91425"/>
                </a:tc>
              </a:tr>
              <a:tr h="801500">
                <a:tc>
                  <a:txBody>
                    <a:bodyPr/>
                    <a:lstStyle/>
                    <a:p>
                      <a:pPr indent="0" lvl="0" marL="0" rtl="0" algn="l">
                        <a:spcBef>
                          <a:spcPts val="0"/>
                        </a:spcBef>
                        <a:spcAft>
                          <a:spcPts val="0"/>
                        </a:spcAft>
                        <a:buNone/>
                      </a:pPr>
                      <a:r>
                        <a:rPr lang="vi" sz="1000">
                          <a:solidFill>
                            <a:srgbClr val="351C75"/>
                          </a:solidFill>
                        </a:rPr>
                        <a:t>TC001</a:t>
                      </a:r>
                      <a:endParaRPr sz="1000">
                        <a:solidFill>
                          <a:srgbClr val="351C75"/>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vi" sz="1000">
                          <a:solidFill>
                            <a:srgbClr val="351C75"/>
                          </a:solidFill>
                        </a:rPr>
                        <a:t>ログイン</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ログイン画面が表示されていること</a:t>
                      </a:r>
                      <a:endParaRPr sz="1000"/>
                    </a:p>
                  </a:txBody>
                  <a:tcPr marT="91425" marB="91425" marR="91425" marL="91425"/>
                </a:tc>
                <a:tc>
                  <a:txBody>
                    <a:bodyPr/>
                    <a:lstStyle/>
                    <a:p>
                      <a:pPr indent="0" lvl="0" marL="0" rtl="0" algn="l">
                        <a:spcBef>
                          <a:spcPts val="0"/>
                        </a:spcBef>
                        <a:spcAft>
                          <a:spcPts val="0"/>
                        </a:spcAft>
                        <a:buNone/>
                      </a:pPr>
                      <a:r>
                        <a:rPr lang="vi" sz="1000">
                          <a:solidFill>
                            <a:srgbClr val="351C75"/>
                          </a:solidFill>
                        </a:rPr>
                        <a:t>ログイン画面が表示されていること</a:t>
                      </a:r>
                      <a:endParaRPr sz="10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vi" sz="1000">
                          <a:solidFill>
                            <a:srgbClr val="351C75"/>
                          </a:solidFill>
                        </a:rPr>
                        <a:t>1. メールアドレスを入力</a:t>
                      </a:r>
                      <a:endParaRPr sz="1000">
                        <a:solidFill>
                          <a:srgbClr val="351C75"/>
                        </a:solidFill>
                      </a:endParaRPr>
                    </a:p>
                    <a:p>
                      <a:pPr indent="0" lvl="0" marL="0" rtl="0" algn="l">
                        <a:spcBef>
                          <a:spcPts val="0"/>
                        </a:spcBef>
                        <a:spcAft>
                          <a:spcPts val="0"/>
                        </a:spcAft>
                        <a:buClr>
                          <a:schemeClr val="dk1"/>
                        </a:buClr>
                        <a:buSzPts val="1100"/>
                        <a:buFont typeface="Arial"/>
                        <a:buNone/>
                      </a:pPr>
                      <a:r>
                        <a:rPr lang="vi" sz="1000">
                          <a:solidFill>
                            <a:srgbClr val="351C75"/>
                          </a:solidFill>
                        </a:rPr>
                        <a:t>2. パスワードを入力</a:t>
                      </a:r>
                      <a:endParaRPr sz="1000">
                        <a:solidFill>
                          <a:srgbClr val="351C75"/>
                        </a:solidFill>
                      </a:endParaRPr>
                    </a:p>
                    <a:p>
                      <a:pPr indent="0" lvl="0" marL="0" rtl="0" algn="l">
                        <a:spcBef>
                          <a:spcPts val="0"/>
                        </a:spcBef>
                        <a:spcAft>
                          <a:spcPts val="0"/>
                        </a:spcAft>
                        <a:buNone/>
                      </a:pPr>
                      <a:r>
                        <a:rPr lang="vi" sz="1000">
                          <a:solidFill>
                            <a:srgbClr val="351C75"/>
                          </a:solidFill>
                        </a:rPr>
                        <a:t>3. 「ログイン」ボタンをクリック</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有効なメールアドレス、有効なパスワード</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ダッシュボード画面に遷移する</a:t>
                      </a:r>
                      <a:endParaRPr sz="1000">
                        <a:solidFill>
                          <a:srgbClr val="351C75"/>
                        </a:solidFill>
                      </a:endParaRPr>
                    </a:p>
                  </a:txBody>
                  <a:tcPr marT="91425" marB="91425" marR="91425" marL="91425"/>
                </a:tc>
              </a:tr>
              <a:tr h="966500">
                <a:tc>
                  <a:txBody>
                    <a:bodyPr/>
                    <a:lstStyle/>
                    <a:p>
                      <a:pPr indent="0" lvl="0" marL="0" rtl="0" algn="l">
                        <a:spcBef>
                          <a:spcPts val="0"/>
                        </a:spcBef>
                        <a:spcAft>
                          <a:spcPts val="0"/>
                        </a:spcAft>
                        <a:buNone/>
                      </a:pPr>
                      <a:r>
                        <a:rPr lang="vi" sz="1000">
                          <a:solidFill>
                            <a:srgbClr val="351C75"/>
                          </a:solidFill>
                        </a:rPr>
                        <a:t>TC002</a:t>
                      </a:r>
                      <a:endParaRPr sz="1000">
                        <a:solidFill>
                          <a:srgbClr val="351C75"/>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vi" sz="1000">
                          <a:solidFill>
                            <a:srgbClr val="351C75"/>
                          </a:solidFill>
                        </a:rPr>
                        <a:t>ログイン</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ログイン画面が表示されていること</a:t>
                      </a:r>
                      <a:endParaRPr sz="1000"/>
                    </a:p>
                  </a:txBody>
                  <a:tcPr marT="91425" marB="91425" marR="91425" marL="91425"/>
                </a:tc>
                <a:tc>
                  <a:txBody>
                    <a:bodyPr/>
                    <a:lstStyle/>
                    <a:p>
                      <a:pPr indent="0" lvl="0" marL="0" rtl="0" algn="l">
                        <a:spcBef>
                          <a:spcPts val="0"/>
                        </a:spcBef>
                        <a:spcAft>
                          <a:spcPts val="0"/>
                        </a:spcAft>
                        <a:buNone/>
                      </a:pPr>
                      <a:r>
                        <a:rPr lang="vi" sz="1000">
                          <a:solidFill>
                            <a:srgbClr val="351C75"/>
                          </a:solidFill>
                        </a:rPr>
                        <a:t>ログイン画面が表示されていること</a:t>
                      </a:r>
                      <a:endParaRPr sz="10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vi" sz="1000">
                          <a:solidFill>
                            <a:srgbClr val="351C75"/>
                          </a:solidFill>
                        </a:rPr>
                        <a:t>1. メールアドレスを入力</a:t>
                      </a:r>
                      <a:endParaRPr sz="1000">
                        <a:solidFill>
                          <a:srgbClr val="351C75"/>
                        </a:solidFill>
                      </a:endParaRPr>
                    </a:p>
                    <a:p>
                      <a:pPr indent="0" lvl="0" marL="0" rtl="0" algn="l">
                        <a:spcBef>
                          <a:spcPts val="0"/>
                        </a:spcBef>
                        <a:spcAft>
                          <a:spcPts val="0"/>
                        </a:spcAft>
                        <a:buClr>
                          <a:schemeClr val="dk1"/>
                        </a:buClr>
                        <a:buSzPts val="1100"/>
                        <a:buFont typeface="Arial"/>
                        <a:buNone/>
                      </a:pPr>
                      <a:r>
                        <a:rPr lang="vi" sz="1000">
                          <a:solidFill>
                            <a:srgbClr val="351C75"/>
                          </a:solidFill>
                        </a:rPr>
                        <a:t>2. パスワードを未入力</a:t>
                      </a:r>
                      <a:endParaRPr sz="1000">
                        <a:solidFill>
                          <a:srgbClr val="351C75"/>
                        </a:solidFill>
                      </a:endParaRPr>
                    </a:p>
                    <a:p>
                      <a:pPr indent="0" lvl="0" marL="0" rtl="0" algn="l">
                        <a:spcBef>
                          <a:spcPts val="0"/>
                        </a:spcBef>
                        <a:spcAft>
                          <a:spcPts val="0"/>
                        </a:spcAft>
                        <a:buClr>
                          <a:schemeClr val="dk1"/>
                        </a:buClr>
                        <a:buSzPts val="1100"/>
                        <a:buFont typeface="Arial"/>
                        <a:buNone/>
                      </a:pPr>
                      <a:r>
                        <a:rPr lang="vi" sz="1000">
                          <a:solidFill>
                            <a:srgbClr val="351C75"/>
                          </a:solidFill>
                        </a:rPr>
                        <a:t>3. 「ログイン」ボタンをクリック</a:t>
                      </a:r>
                      <a:endParaRPr sz="1000">
                        <a:solidFill>
                          <a:srgbClr val="351C75"/>
                        </a:solidFill>
                      </a:endParaRPr>
                    </a:p>
                    <a:p>
                      <a:pPr indent="0" lvl="0" marL="0" rtl="0" algn="l">
                        <a:spcBef>
                          <a:spcPts val="0"/>
                        </a:spcBef>
                        <a:spcAft>
                          <a:spcPts val="0"/>
                        </a:spcAft>
                        <a:buNone/>
                      </a:pPr>
                      <a:r>
                        <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有効なメールアドレス</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「パスワードを入力してください」というエラーが表示される</a:t>
                      </a:r>
                      <a:endParaRPr sz="1000">
                        <a:solidFill>
                          <a:srgbClr val="351C75"/>
                        </a:solidFill>
                      </a:endParaRPr>
                    </a:p>
                  </a:txBody>
                  <a:tcPr marT="91425" marB="91425" marR="91425" marL="91425"/>
                </a:tc>
              </a:tr>
              <a:tr h="1461575">
                <a:tc>
                  <a:txBody>
                    <a:bodyPr/>
                    <a:lstStyle/>
                    <a:p>
                      <a:pPr indent="0" lvl="0" marL="0" rtl="0" algn="l">
                        <a:spcBef>
                          <a:spcPts val="0"/>
                        </a:spcBef>
                        <a:spcAft>
                          <a:spcPts val="0"/>
                        </a:spcAft>
                        <a:buNone/>
                      </a:pPr>
                      <a:r>
                        <a:rPr lang="vi" sz="1000">
                          <a:solidFill>
                            <a:srgbClr val="351C75"/>
                          </a:solidFill>
                        </a:rPr>
                        <a:t>TC003</a:t>
                      </a:r>
                      <a:endParaRPr sz="1000">
                        <a:solidFill>
                          <a:srgbClr val="351C75"/>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vi" sz="1000">
                          <a:solidFill>
                            <a:srgbClr val="351C75"/>
                          </a:solidFill>
                        </a:rPr>
                        <a:t>パスワード変更</a:t>
                      </a:r>
                      <a:endParaRPr sz="1000">
                        <a:solidFill>
                          <a:srgbClr val="351C75"/>
                        </a:solidFill>
                      </a:endParaRPr>
                    </a:p>
                    <a:p>
                      <a:pPr indent="0" lvl="0" marL="0" rtl="0" algn="l">
                        <a:spcBef>
                          <a:spcPts val="0"/>
                        </a:spcBef>
                        <a:spcAft>
                          <a:spcPts val="0"/>
                        </a:spcAft>
                        <a:buNone/>
                      </a:pPr>
                      <a:r>
                        <a:t/>
                      </a:r>
                      <a:endParaRPr sz="1000">
                        <a:solidFill>
                          <a:srgbClr val="351C75"/>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vi" sz="1000">
                          <a:solidFill>
                            <a:srgbClr val="351C75"/>
                          </a:solidFill>
                        </a:rPr>
                        <a:t>パスワード変更の成功を確認</a:t>
                      </a:r>
                      <a:endParaRPr sz="1000">
                        <a:solidFill>
                          <a:srgbClr val="351C75"/>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vi" sz="1000">
                          <a:solidFill>
                            <a:srgbClr val="351C75"/>
                          </a:solidFill>
                        </a:rPr>
                        <a:t>ユーザーがログイン済みで、パスワード変更画面に遷移していること</a:t>
                      </a:r>
                      <a:endParaRPr sz="1000">
                        <a:solidFill>
                          <a:srgbClr val="351C75"/>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vi" sz="1000">
                          <a:solidFill>
                            <a:srgbClr val="351C75"/>
                          </a:solidFill>
                        </a:rPr>
                        <a:t>1. 現在のパスワードを入力</a:t>
                      </a:r>
                      <a:endParaRPr sz="1000">
                        <a:solidFill>
                          <a:srgbClr val="351C75"/>
                        </a:solidFill>
                      </a:endParaRPr>
                    </a:p>
                    <a:p>
                      <a:pPr indent="0" lvl="0" marL="0" rtl="0" algn="l">
                        <a:spcBef>
                          <a:spcPts val="0"/>
                        </a:spcBef>
                        <a:spcAft>
                          <a:spcPts val="0"/>
                        </a:spcAft>
                        <a:buClr>
                          <a:schemeClr val="dk1"/>
                        </a:buClr>
                        <a:buSzPts val="1100"/>
                        <a:buFont typeface="Arial"/>
                        <a:buNone/>
                      </a:pPr>
                      <a:r>
                        <a:rPr lang="vi" sz="1000">
                          <a:solidFill>
                            <a:srgbClr val="351C75"/>
                          </a:solidFill>
                        </a:rPr>
                        <a:t>2. 新しいパスワードを入力</a:t>
                      </a:r>
                      <a:endParaRPr sz="1000">
                        <a:solidFill>
                          <a:srgbClr val="351C75"/>
                        </a:solidFill>
                      </a:endParaRPr>
                    </a:p>
                    <a:p>
                      <a:pPr indent="0" lvl="0" marL="0" rtl="0" algn="l">
                        <a:spcBef>
                          <a:spcPts val="0"/>
                        </a:spcBef>
                        <a:spcAft>
                          <a:spcPts val="0"/>
                        </a:spcAft>
                        <a:buClr>
                          <a:schemeClr val="dk1"/>
                        </a:buClr>
                        <a:buSzPts val="1100"/>
                        <a:buFont typeface="Arial"/>
                        <a:buNone/>
                      </a:pPr>
                      <a:r>
                        <a:rPr lang="vi" sz="1000">
                          <a:solidFill>
                            <a:srgbClr val="351C75"/>
                          </a:solidFill>
                        </a:rPr>
                        <a:t>3. 新しいパスワードを再入力</a:t>
                      </a:r>
                      <a:endParaRPr sz="1000">
                        <a:solidFill>
                          <a:srgbClr val="351C75"/>
                        </a:solidFill>
                      </a:endParaRPr>
                    </a:p>
                    <a:p>
                      <a:pPr indent="0" lvl="0" marL="0" rtl="0" algn="l">
                        <a:spcBef>
                          <a:spcPts val="0"/>
                        </a:spcBef>
                        <a:spcAft>
                          <a:spcPts val="0"/>
                        </a:spcAft>
                        <a:buNone/>
                      </a:pPr>
                      <a:r>
                        <a:rPr lang="vi" sz="1000">
                          <a:solidFill>
                            <a:srgbClr val="351C75"/>
                          </a:solidFill>
                        </a:rPr>
                        <a:t>4. 「保存」ボタンをクリック</a:t>
                      </a:r>
                      <a:endParaRPr sz="1000">
                        <a:solidFill>
                          <a:srgbClr val="351C75"/>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vi" sz="1000">
                          <a:solidFill>
                            <a:srgbClr val="351C75"/>
                          </a:solidFill>
                        </a:rPr>
                        <a:t>現在: 123456</a:t>
                      </a:r>
                      <a:endParaRPr sz="1000">
                        <a:solidFill>
                          <a:srgbClr val="351C75"/>
                        </a:solidFill>
                      </a:endParaRPr>
                    </a:p>
                    <a:p>
                      <a:pPr indent="0" lvl="0" marL="0" rtl="0" algn="l">
                        <a:spcBef>
                          <a:spcPts val="0"/>
                        </a:spcBef>
                        <a:spcAft>
                          <a:spcPts val="0"/>
                        </a:spcAft>
                        <a:buClr>
                          <a:schemeClr val="dk1"/>
                        </a:buClr>
                        <a:buSzPts val="1100"/>
                        <a:buFont typeface="Arial"/>
                        <a:buNone/>
                      </a:pPr>
                      <a:r>
                        <a:rPr lang="vi" sz="1000">
                          <a:solidFill>
                            <a:srgbClr val="351C75"/>
                          </a:solidFill>
                        </a:rPr>
                        <a:t>新しい: Abcd@2025</a:t>
                      </a:r>
                      <a:endParaRPr sz="1000">
                        <a:solidFill>
                          <a:srgbClr val="351C75"/>
                        </a:solidFill>
                      </a:endParaRPr>
                    </a:p>
                    <a:p>
                      <a:pPr indent="0" lvl="0" marL="0" rtl="0" algn="l">
                        <a:spcBef>
                          <a:spcPts val="0"/>
                        </a:spcBef>
                        <a:spcAft>
                          <a:spcPts val="0"/>
                        </a:spcAft>
                        <a:buNone/>
                      </a:pPr>
                      <a:r>
                        <a:rPr lang="vi" sz="1000">
                          <a:solidFill>
                            <a:srgbClr val="351C75"/>
                          </a:solidFill>
                        </a:rPr>
                        <a:t>確認: Abcd@2025</a:t>
                      </a:r>
                      <a:endParaRPr sz="1000">
                        <a:solidFill>
                          <a:srgbClr val="351C75"/>
                        </a:solidFill>
                      </a:endParaRPr>
                    </a:p>
                  </a:txBody>
                  <a:tcPr marT="91425" marB="91425" marR="91425" marL="91425"/>
                </a:tc>
                <a:tc>
                  <a:txBody>
                    <a:bodyPr/>
                    <a:lstStyle/>
                    <a:p>
                      <a:pPr indent="0" lvl="0" marL="0" rtl="0" algn="l">
                        <a:spcBef>
                          <a:spcPts val="0"/>
                        </a:spcBef>
                        <a:spcAft>
                          <a:spcPts val="0"/>
                        </a:spcAft>
                        <a:buNone/>
                      </a:pPr>
                      <a:r>
                        <a:rPr lang="vi" sz="1000">
                          <a:solidFill>
                            <a:srgbClr val="351C75"/>
                          </a:solidFill>
                        </a:rPr>
                        <a:t>「パスワードを変更しました」というメッセージが表示される</a:t>
                      </a:r>
                      <a:endParaRPr sz="1000">
                        <a:solidFill>
                          <a:srgbClr val="351C75"/>
                        </a:solidFill>
                      </a:endParaRPr>
                    </a:p>
                  </a:txBody>
                  <a:tcPr marT="91425" marB="91425" marR="91425" marL="91425"/>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0"/>
          <p:cNvSpPr txBox="1"/>
          <p:nvPr/>
        </p:nvSpPr>
        <p:spPr>
          <a:xfrm>
            <a:off x="2117850" y="242850"/>
            <a:ext cx="4908300" cy="7389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1800"/>
              </a:spcBef>
              <a:spcAft>
                <a:spcPts val="400"/>
              </a:spcAft>
              <a:buNone/>
            </a:pPr>
            <a:r>
              <a:rPr b="1" lang="vi" sz="3600">
                <a:solidFill>
                  <a:srgbClr val="351C75"/>
                </a:solidFill>
              </a:rPr>
              <a:t>Dịch nâng cao</a:t>
            </a:r>
            <a:endParaRPr b="1" sz="3600">
              <a:solidFill>
                <a:srgbClr val="351C75"/>
              </a:solidFill>
            </a:endParaRPr>
          </a:p>
        </p:txBody>
      </p:sp>
      <p:sp>
        <p:nvSpPr>
          <p:cNvPr id="442" name="Google Shape;442;p70"/>
          <p:cNvSpPr/>
          <p:nvPr/>
        </p:nvSpPr>
        <p:spPr>
          <a:xfrm>
            <a:off x="1474875" y="1249425"/>
            <a:ext cx="6099300" cy="3194400"/>
          </a:xfrm>
          <a:prstGeom prst="roundRect">
            <a:avLst>
              <a:gd fmla="val 16667" name="adj"/>
            </a:avLst>
          </a:prstGeom>
          <a:solidFill>
            <a:srgbClr val="FFF5F5"/>
          </a:solidFill>
          <a:ln cap="flat" cmpd="sng" w="9525">
            <a:solidFill>
              <a:srgbClr val="CA2F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vi">
                <a:solidFill>
                  <a:srgbClr val="351C75"/>
                </a:solidFill>
              </a:rPr>
              <a:t>Link đề:</a:t>
            </a:r>
            <a:endParaRPr b="1">
              <a:solidFill>
                <a:srgbClr val="351C75"/>
              </a:solidFill>
            </a:endParaRPr>
          </a:p>
          <a:p>
            <a:pPr indent="0" lvl="0" marL="0" rtl="0" algn="l">
              <a:lnSpc>
                <a:spcPct val="115000"/>
              </a:lnSpc>
              <a:spcBef>
                <a:spcPts val="1200"/>
              </a:spcBef>
              <a:spcAft>
                <a:spcPts val="0"/>
              </a:spcAft>
              <a:buNone/>
            </a:pPr>
            <a:r>
              <a:rPr b="1" lang="vi" u="sng">
                <a:solidFill>
                  <a:srgbClr val="304FFE"/>
                </a:solidFill>
                <a:hlinkClick r:id="rId3">
                  <a:extLst>
                    <a:ext uri="{A12FA001-AC4F-418D-AE19-62706E023703}">
                      <ahyp:hlinkClr val="tx"/>
                    </a:ext>
                  </a:extLst>
                </a:hlinkClick>
              </a:rPr>
              <a:t>ttps://docs.google.com/document/d/1p8360NMekzFOOJLs6u0VB1QmMqg-sHKU/edit?usp=sharing&amp;ouid=104416917441975431198&amp;rtpof=true&amp;sd=true</a:t>
            </a:r>
            <a:endParaRPr b="1">
              <a:solidFill>
                <a:srgbClr val="351C75"/>
              </a:solidFill>
            </a:endParaRPr>
          </a:p>
          <a:p>
            <a:pPr indent="0" lvl="0" marL="0" rtl="0" algn="l">
              <a:lnSpc>
                <a:spcPct val="115000"/>
              </a:lnSpc>
              <a:spcBef>
                <a:spcPts val="1200"/>
              </a:spcBef>
              <a:spcAft>
                <a:spcPts val="0"/>
              </a:spcAft>
              <a:buNone/>
            </a:pPr>
            <a:r>
              <a:rPr b="1" lang="vi">
                <a:solidFill>
                  <a:srgbClr val="351C75"/>
                </a:solidFill>
              </a:rPr>
              <a:t>Link chữa mẫu tham khảo:</a:t>
            </a:r>
            <a:endParaRPr b="1">
              <a:solidFill>
                <a:srgbClr val="351C75"/>
              </a:solidFill>
            </a:endParaRPr>
          </a:p>
          <a:p>
            <a:pPr indent="0" lvl="0" marL="0" rtl="0" algn="l">
              <a:lnSpc>
                <a:spcPct val="115000"/>
              </a:lnSpc>
              <a:spcBef>
                <a:spcPts val="1200"/>
              </a:spcBef>
              <a:spcAft>
                <a:spcPts val="0"/>
              </a:spcAft>
              <a:buNone/>
            </a:pPr>
            <a:r>
              <a:rPr b="1" lang="vi" u="sng">
                <a:solidFill>
                  <a:srgbClr val="304FFE"/>
                </a:solidFill>
                <a:hlinkClick r:id="rId4">
                  <a:extLst>
                    <a:ext uri="{A12FA001-AC4F-418D-AE19-62706E023703}">
                      <ahyp:hlinkClr val="tx"/>
                    </a:ext>
                  </a:extLst>
                </a:hlinkClick>
              </a:rPr>
              <a:t>https://docs.google.com/document/d/1n75BdBo_M-OSBCPbuNLJ8ihGC8meS7HxMdM7Pe5poKs/edit?usp=sharing</a:t>
            </a:r>
            <a:endParaRPr b="1">
              <a:solidFill>
                <a:srgbClr val="351C75"/>
              </a:solidFill>
            </a:endParaRPr>
          </a:p>
          <a:p>
            <a:pPr indent="0" lvl="0" marL="0" rtl="0" algn="l">
              <a:lnSpc>
                <a:spcPct val="115000"/>
              </a:lnSpc>
              <a:spcBef>
                <a:spcPts val="1200"/>
              </a:spcBef>
              <a:spcAft>
                <a:spcPts val="1200"/>
              </a:spcAft>
              <a:buNone/>
            </a:pPr>
            <a:r>
              <a:t/>
            </a:r>
            <a:endParaRPr b="1">
              <a:solidFill>
                <a:srgbClr val="351C75"/>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1"/>
          <p:cNvSpPr txBox="1"/>
          <p:nvPr/>
        </p:nvSpPr>
        <p:spPr>
          <a:xfrm>
            <a:off x="1744875" y="270849"/>
            <a:ext cx="5430600" cy="496500"/>
          </a:xfrm>
          <a:prstGeom prst="rect">
            <a:avLst/>
          </a:prstGeom>
          <a:noFill/>
          <a:ln>
            <a:noFill/>
          </a:ln>
        </p:spPr>
        <p:txBody>
          <a:bodyPr anchorCtr="0" anchor="t" bIns="61425" lIns="61425" spcFirstLastPara="1" rIns="61425" wrap="square" tIns="61425">
            <a:spAutoFit/>
          </a:bodyPr>
          <a:lstStyle/>
          <a:p>
            <a:pPr indent="0" lvl="0" marL="0" rtl="0" algn="ctr">
              <a:lnSpc>
                <a:spcPct val="115000"/>
              </a:lnSpc>
              <a:spcBef>
                <a:spcPts val="1210"/>
              </a:spcBef>
              <a:spcAft>
                <a:spcPts val="269"/>
              </a:spcAft>
              <a:buNone/>
            </a:pPr>
            <a:r>
              <a:rPr b="1" lang="vi" sz="2419">
                <a:solidFill>
                  <a:srgbClr val="351C75"/>
                </a:solidFill>
              </a:rPr>
              <a:t>Dịch bug list</a:t>
            </a:r>
            <a:endParaRPr b="1" sz="2419">
              <a:solidFill>
                <a:srgbClr val="351C75"/>
              </a:solidFill>
            </a:endParaRPr>
          </a:p>
        </p:txBody>
      </p:sp>
      <p:sp>
        <p:nvSpPr>
          <p:cNvPr id="448" name="Google Shape;448;p71"/>
          <p:cNvSpPr/>
          <p:nvPr/>
        </p:nvSpPr>
        <p:spPr>
          <a:xfrm>
            <a:off x="1065082" y="1549888"/>
            <a:ext cx="2940600" cy="2646300"/>
          </a:xfrm>
          <a:prstGeom prst="roundRect">
            <a:avLst>
              <a:gd fmla="val 16667" name="adj"/>
            </a:avLst>
          </a:prstGeom>
          <a:solidFill>
            <a:srgbClr val="FFF5F5"/>
          </a:solidFill>
          <a:ln cap="flat" cmpd="sng" w="6400">
            <a:solidFill>
              <a:srgbClr val="CA2F47"/>
            </a:solidFill>
            <a:prstDash val="solid"/>
            <a:round/>
            <a:headEnd len="sm" w="sm" type="none"/>
            <a:tailEnd len="sm" w="sm" type="none"/>
          </a:ln>
        </p:spPr>
        <p:txBody>
          <a:bodyPr anchorCtr="0" anchor="ctr" bIns="61425" lIns="61425" spcFirstLastPara="1" rIns="61425" wrap="square" tIns="61425">
            <a:noAutofit/>
          </a:bodyPr>
          <a:lstStyle/>
          <a:p>
            <a:pPr indent="0" lvl="0" marL="0" rtl="0" algn="ctr">
              <a:lnSpc>
                <a:spcPct val="115000"/>
              </a:lnSpc>
              <a:spcBef>
                <a:spcPts val="806"/>
              </a:spcBef>
              <a:spcAft>
                <a:spcPts val="0"/>
              </a:spcAft>
              <a:buNone/>
            </a:pPr>
            <a:r>
              <a:rPr b="1" lang="vi" sz="1210">
                <a:solidFill>
                  <a:srgbClr val="351C75"/>
                </a:solidFill>
              </a:rPr>
              <a:t>Hiểu về log bug</a:t>
            </a:r>
            <a:endParaRPr b="1" sz="1210">
              <a:solidFill>
                <a:srgbClr val="351C75"/>
              </a:solidFill>
            </a:endParaRPr>
          </a:p>
          <a:p>
            <a:pPr indent="-230415" lvl="0" marL="307221" rtl="0" algn="l">
              <a:lnSpc>
                <a:spcPct val="115000"/>
              </a:lnSpc>
              <a:spcBef>
                <a:spcPts val="806"/>
              </a:spcBef>
              <a:spcAft>
                <a:spcPts val="0"/>
              </a:spcAft>
              <a:buClr>
                <a:srgbClr val="351C75"/>
              </a:buClr>
              <a:buSzPts val="1210"/>
              <a:buChar char="●"/>
            </a:pPr>
            <a:r>
              <a:rPr lang="vi" sz="1210">
                <a:solidFill>
                  <a:srgbClr val="351C75"/>
                </a:solidFill>
              </a:rPr>
              <a:t>Ghi nhận các lỗi (bug) phát sinh để chuyển cho bộ phận phát triển xử lý.</a:t>
            </a:r>
            <a:endParaRPr sz="1210">
              <a:solidFill>
                <a:srgbClr val="351C75"/>
              </a:solidFill>
            </a:endParaRPr>
          </a:p>
          <a:p>
            <a:pPr indent="-230415" lvl="0" marL="307221" rtl="0" algn="l">
              <a:lnSpc>
                <a:spcPct val="115000"/>
              </a:lnSpc>
              <a:spcBef>
                <a:spcPts val="0"/>
              </a:spcBef>
              <a:spcAft>
                <a:spcPts val="0"/>
              </a:spcAft>
              <a:buClr>
                <a:srgbClr val="351C75"/>
              </a:buClr>
              <a:buSzPts val="1210"/>
              <a:buChar char="●"/>
            </a:pPr>
            <a:r>
              <a:rPr lang="vi" sz="1210">
                <a:solidFill>
                  <a:srgbClr val="351C75"/>
                </a:solidFill>
              </a:rPr>
              <a:t>Giúp kỹ sư 2 bên Nhật, Việt hiểu đúng hiện tượng lỗi, tái hiện và xử lý.</a:t>
            </a:r>
            <a:endParaRPr sz="1210">
              <a:solidFill>
                <a:srgbClr val="351C75"/>
              </a:solidFill>
            </a:endParaRPr>
          </a:p>
          <a:p>
            <a:pPr indent="-230415" lvl="0" marL="307221" rtl="0" algn="l">
              <a:lnSpc>
                <a:spcPct val="115000"/>
              </a:lnSpc>
              <a:spcBef>
                <a:spcPts val="0"/>
              </a:spcBef>
              <a:spcAft>
                <a:spcPts val="0"/>
              </a:spcAft>
              <a:buClr>
                <a:srgbClr val="351C75"/>
              </a:buClr>
              <a:buSzPts val="1210"/>
              <a:buChar char="●"/>
            </a:pPr>
            <a:r>
              <a:rPr lang="vi" sz="1210">
                <a:solidFill>
                  <a:srgbClr val="351C75"/>
                </a:solidFill>
              </a:rPr>
              <a:t>Nội dung log bug thường do tester viết, comtor biên dịch lại.</a:t>
            </a:r>
            <a:endParaRPr sz="1210">
              <a:solidFill>
                <a:srgbClr val="351C75"/>
              </a:solidFill>
            </a:endParaRPr>
          </a:p>
        </p:txBody>
      </p:sp>
      <p:sp>
        <p:nvSpPr>
          <p:cNvPr id="449" name="Google Shape;449;p71"/>
          <p:cNvSpPr/>
          <p:nvPr/>
        </p:nvSpPr>
        <p:spPr>
          <a:xfrm>
            <a:off x="4211986" y="1270670"/>
            <a:ext cx="3765600" cy="3267300"/>
          </a:xfrm>
          <a:prstGeom prst="roundRect">
            <a:avLst>
              <a:gd fmla="val 16667" name="adj"/>
            </a:avLst>
          </a:prstGeom>
          <a:solidFill>
            <a:srgbClr val="FFF5F5"/>
          </a:solidFill>
          <a:ln cap="flat" cmpd="sng" w="6400">
            <a:solidFill>
              <a:srgbClr val="CA2F47"/>
            </a:solidFill>
            <a:prstDash val="solid"/>
            <a:round/>
            <a:headEnd len="sm" w="sm" type="none"/>
            <a:tailEnd len="sm" w="sm" type="none"/>
          </a:ln>
        </p:spPr>
        <p:txBody>
          <a:bodyPr anchorCtr="0" anchor="ctr" bIns="61425" lIns="61425" spcFirstLastPara="1" rIns="61425" wrap="square" tIns="61425">
            <a:noAutofit/>
          </a:bodyPr>
          <a:lstStyle/>
          <a:p>
            <a:pPr indent="0" lvl="0" marL="0" rtl="0" algn="ctr">
              <a:lnSpc>
                <a:spcPct val="115000"/>
              </a:lnSpc>
              <a:spcBef>
                <a:spcPts val="806"/>
              </a:spcBef>
              <a:spcAft>
                <a:spcPts val="0"/>
              </a:spcAft>
              <a:buNone/>
            </a:pPr>
            <a:r>
              <a:rPr b="1" lang="vi" sz="1210">
                <a:solidFill>
                  <a:srgbClr val="351C75"/>
                </a:solidFill>
              </a:rPr>
              <a:t>Cấu trúc điển hình của log bug</a:t>
            </a:r>
            <a:endParaRPr b="1" sz="1210">
              <a:solidFill>
                <a:srgbClr val="351C75"/>
              </a:solidFill>
            </a:endParaRPr>
          </a:p>
          <a:p>
            <a:pPr indent="-230415" lvl="0" marL="307221" rtl="0" algn="l">
              <a:lnSpc>
                <a:spcPct val="115000"/>
              </a:lnSpc>
              <a:spcBef>
                <a:spcPts val="806"/>
              </a:spcBef>
              <a:spcAft>
                <a:spcPts val="0"/>
              </a:spcAft>
              <a:buClr>
                <a:srgbClr val="351C75"/>
              </a:buClr>
              <a:buSzPts val="1210"/>
              <a:buChar char="●"/>
            </a:pPr>
            <a:r>
              <a:rPr lang="vi" sz="1210">
                <a:solidFill>
                  <a:srgbClr val="351C75"/>
                </a:solidFill>
              </a:rPr>
              <a:t>Bug ID</a:t>
            </a:r>
            <a:endParaRPr sz="1210">
              <a:solidFill>
                <a:srgbClr val="351C75"/>
              </a:solidFill>
            </a:endParaRPr>
          </a:p>
          <a:p>
            <a:pPr indent="-230415" lvl="0" marL="307221" rtl="0" algn="l">
              <a:lnSpc>
                <a:spcPct val="115000"/>
              </a:lnSpc>
              <a:spcBef>
                <a:spcPts val="0"/>
              </a:spcBef>
              <a:spcAft>
                <a:spcPts val="0"/>
              </a:spcAft>
              <a:buClr>
                <a:srgbClr val="351C75"/>
              </a:buClr>
              <a:buSzPts val="1210"/>
              <a:buChar char="●"/>
            </a:pPr>
            <a:r>
              <a:rPr lang="vi" sz="1210">
                <a:solidFill>
                  <a:srgbClr val="351C75"/>
                </a:solidFill>
              </a:rPr>
              <a:t>タイトル (Tiêu đề lỗi)</a:t>
            </a:r>
            <a:endParaRPr sz="1210">
              <a:solidFill>
                <a:srgbClr val="351C75"/>
              </a:solidFill>
            </a:endParaRPr>
          </a:p>
          <a:p>
            <a:pPr indent="-230415" lvl="0" marL="307221" rtl="0" algn="l">
              <a:lnSpc>
                <a:spcPct val="115000"/>
              </a:lnSpc>
              <a:spcBef>
                <a:spcPts val="0"/>
              </a:spcBef>
              <a:spcAft>
                <a:spcPts val="0"/>
              </a:spcAft>
              <a:buClr>
                <a:srgbClr val="351C75"/>
              </a:buClr>
              <a:buSzPts val="1210"/>
              <a:buChar char="●"/>
            </a:pPr>
            <a:r>
              <a:rPr lang="vi" sz="1210">
                <a:solidFill>
                  <a:srgbClr val="351C75"/>
                </a:solidFill>
              </a:rPr>
              <a:t>発生日 (Ngày phát sinh bug)</a:t>
            </a:r>
            <a:endParaRPr sz="1210">
              <a:solidFill>
                <a:srgbClr val="351C75"/>
              </a:solidFill>
            </a:endParaRPr>
          </a:p>
          <a:p>
            <a:pPr indent="-230415" lvl="0" marL="307221" rtl="0" algn="l">
              <a:lnSpc>
                <a:spcPct val="115000"/>
              </a:lnSpc>
              <a:spcBef>
                <a:spcPts val="0"/>
              </a:spcBef>
              <a:spcAft>
                <a:spcPts val="0"/>
              </a:spcAft>
              <a:buClr>
                <a:srgbClr val="351C75"/>
              </a:buClr>
              <a:buSzPts val="1210"/>
              <a:buChar char="●"/>
            </a:pPr>
            <a:r>
              <a:rPr lang="vi" sz="1210">
                <a:solidFill>
                  <a:srgbClr val="351C75"/>
                </a:solidFill>
              </a:rPr>
              <a:t>発生環境 (Môi trường phát sinh)</a:t>
            </a:r>
            <a:endParaRPr sz="1210">
              <a:solidFill>
                <a:srgbClr val="351C75"/>
              </a:solidFill>
            </a:endParaRPr>
          </a:p>
          <a:p>
            <a:pPr indent="-230415" lvl="0" marL="307221" rtl="0" algn="l">
              <a:lnSpc>
                <a:spcPct val="115000"/>
              </a:lnSpc>
              <a:spcBef>
                <a:spcPts val="0"/>
              </a:spcBef>
              <a:spcAft>
                <a:spcPts val="0"/>
              </a:spcAft>
              <a:buClr>
                <a:srgbClr val="CA2F47"/>
              </a:buClr>
              <a:buSzPts val="1210"/>
              <a:buChar char="●"/>
            </a:pPr>
            <a:r>
              <a:rPr lang="vi" sz="1210">
                <a:solidFill>
                  <a:srgbClr val="CA2F47"/>
                </a:solidFill>
              </a:rPr>
              <a:t>再現手順 (T	rình tự tái hiện): mô tả </a:t>
            </a:r>
            <a:r>
              <a:rPr b="1" lang="vi" sz="1210">
                <a:solidFill>
                  <a:srgbClr val="CA2F47"/>
                </a:solidFill>
              </a:rPr>
              <a:t>dạng động từ thực hiện hành động</a:t>
            </a:r>
            <a:endParaRPr b="1" sz="1210">
              <a:solidFill>
                <a:srgbClr val="CA2F47"/>
              </a:solidFill>
            </a:endParaRPr>
          </a:p>
          <a:p>
            <a:pPr indent="-230415" lvl="0" marL="307221" rtl="0" algn="l">
              <a:lnSpc>
                <a:spcPct val="115000"/>
              </a:lnSpc>
              <a:spcBef>
                <a:spcPts val="0"/>
              </a:spcBef>
              <a:spcAft>
                <a:spcPts val="0"/>
              </a:spcAft>
              <a:buClr>
                <a:srgbClr val="CA2F47"/>
              </a:buClr>
              <a:buSzPts val="1210"/>
              <a:buChar char="●"/>
            </a:pPr>
            <a:r>
              <a:rPr lang="vi" sz="1210">
                <a:solidFill>
                  <a:srgbClr val="CA2F47"/>
                </a:solidFill>
              </a:rPr>
              <a:t>期待結果 (Kết quả mong muốn): mô tả </a:t>
            </a:r>
            <a:r>
              <a:rPr b="1" lang="vi" sz="1210">
                <a:solidFill>
                  <a:srgbClr val="CA2F47"/>
                </a:solidFill>
              </a:rPr>
              <a:t>dạng câu bị động có こと</a:t>
            </a:r>
            <a:endParaRPr b="1" sz="1210">
              <a:solidFill>
                <a:srgbClr val="CA2F47"/>
              </a:solidFill>
            </a:endParaRPr>
          </a:p>
          <a:p>
            <a:pPr indent="-230415" lvl="0" marL="307221" rtl="0" algn="l">
              <a:lnSpc>
                <a:spcPct val="115000"/>
              </a:lnSpc>
              <a:spcBef>
                <a:spcPts val="0"/>
              </a:spcBef>
              <a:spcAft>
                <a:spcPts val="0"/>
              </a:spcAft>
              <a:buClr>
                <a:srgbClr val="CA2F47"/>
              </a:buClr>
              <a:buSzPts val="1210"/>
              <a:buChar char="●"/>
            </a:pPr>
            <a:r>
              <a:rPr lang="vi" sz="1210">
                <a:solidFill>
                  <a:srgbClr val="CA2F47"/>
                </a:solidFill>
              </a:rPr>
              <a:t>実際結果 (Kết quả thực tế): mô tả </a:t>
            </a:r>
            <a:r>
              <a:rPr b="1" lang="vi" sz="1210">
                <a:solidFill>
                  <a:srgbClr val="CA2F47"/>
                </a:solidFill>
              </a:rPr>
              <a:t>dạng câu bị động</a:t>
            </a:r>
            <a:endParaRPr b="1" sz="1210">
              <a:solidFill>
                <a:srgbClr val="CA2F47"/>
              </a:solidFill>
            </a:endParaRPr>
          </a:p>
          <a:p>
            <a:pPr indent="-230415" lvl="0" marL="307221" rtl="0" algn="l">
              <a:lnSpc>
                <a:spcPct val="115000"/>
              </a:lnSpc>
              <a:spcBef>
                <a:spcPts val="0"/>
              </a:spcBef>
              <a:spcAft>
                <a:spcPts val="0"/>
              </a:spcAft>
              <a:buClr>
                <a:srgbClr val="351C75"/>
              </a:buClr>
              <a:buSzPts val="1210"/>
              <a:buChar char="●"/>
            </a:pPr>
            <a:r>
              <a:rPr lang="vi" sz="1210">
                <a:solidFill>
                  <a:srgbClr val="351C75"/>
                </a:solidFill>
              </a:rPr>
              <a:t>スクリーンショット(ảnh chụp màn hình lỗi nếu có)</a:t>
            </a:r>
            <a:endParaRPr sz="1210">
              <a:solidFill>
                <a:srgbClr val="351C75"/>
              </a:solidFill>
            </a:endParaRPr>
          </a:p>
          <a:p>
            <a:pPr indent="-230415" lvl="0" marL="307221" rtl="0" algn="l">
              <a:lnSpc>
                <a:spcPct val="115000"/>
              </a:lnSpc>
              <a:spcBef>
                <a:spcPts val="0"/>
              </a:spcBef>
              <a:spcAft>
                <a:spcPts val="0"/>
              </a:spcAft>
              <a:buClr>
                <a:srgbClr val="351C75"/>
              </a:buClr>
              <a:buSzPts val="1210"/>
              <a:buChar char="●"/>
            </a:pPr>
            <a:r>
              <a:rPr lang="vi" sz="1210">
                <a:solidFill>
                  <a:srgbClr val="351C75"/>
                </a:solidFill>
              </a:rPr>
              <a:t>備考 (Ghi chú khác)</a:t>
            </a:r>
            <a:endParaRPr sz="1210">
              <a:solidFill>
                <a:srgbClr val="351C75"/>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72"/>
          <p:cNvSpPr txBox="1"/>
          <p:nvPr/>
        </p:nvSpPr>
        <p:spPr>
          <a:xfrm>
            <a:off x="439000" y="331100"/>
            <a:ext cx="84066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vi" sz="3600">
                <a:solidFill>
                  <a:srgbClr val="351C75"/>
                </a:solidFill>
              </a:rPr>
              <a:t>Thực hành</a:t>
            </a:r>
            <a:r>
              <a:rPr b="1" lang="vi" sz="3600">
                <a:solidFill>
                  <a:srgbClr val="351C75"/>
                </a:solidFill>
              </a:rPr>
              <a:t> 01</a:t>
            </a:r>
            <a:r>
              <a:rPr b="1" lang="vi" sz="2400">
                <a:solidFill>
                  <a:srgbClr val="351C75"/>
                </a:solidFill>
              </a:rPr>
              <a:t>		</a:t>
            </a:r>
            <a:endParaRPr b="1" sz="2400">
              <a:solidFill>
                <a:srgbClr val="351C75"/>
              </a:solidFill>
            </a:endParaRPr>
          </a:p>
        </p:txBody>
      </p:sp>
      <p:sp>
        <p:nvSpPr>
          <p:cNvPr id="455" name="Google Shape;455;p72"/>
          <p:cNvSpPr/>
          <p:nvPr/>
        </p:nvSpPr>
        <p:spPr>
          <a:xfrm>
            <a:off x="1769450" y="1070000"/>
            <a:ext cx="5468400" cy="3294300"/>
          </a:xfrm>
          <a:prstGeom prst="roundRect">
            <a:avLst>
              <a:gd fmla="val 16667" name="adj"/>
            </a:avLst>
          </a:prstGeom>
          <a:solidFill>
            <a:srgbClr val="FFF5F5"/>
          </a:solidFill>
          <a:ln cap="flat" cmpd="sng" w="5650">
            <a:solidFill>
              <a:srgbClr val="CA2F47"/>
            </a:solidFill>
            <a:prstDash val="solid"/>
            <a:round/>
            <a:headEnd len="sm" w="sm" type="none"/>
            <a:tailEnd len="sm" w="sm" type="none"/>
          </a:ln>
        </p:spPr>
        <p:txBody>
          <a:bodyPr anchorCtr="0" anchor="ctr" bIns="54100" lIns="54100" spcFirstLastPara="1" rIns="54100" wrap="square" tIns="54100">
            <a:noAutofit/>
          </a:bodyPr>
          <a:lstStyle/>
          <a:p>
            <a:pPr indent="0" lvl="0" marL="457200" rtl="0" algn="l">
              <a:lnSpc>
                <a:spcPct val="115000"/>
              </a:lnSpc>
              <a:spcBef>
                <a:spcPts val="710"/>
              </a:spcBef>
              <a:spcAft>
                <a:spcPts val="0"/>
              </a:spcAft>
              <a:buClr>
                <a:schemeClr val="dk1"/>
              </a:buClr>
              <a:buSzPts val="651"/>
              <a:buFont typeface="Arial"/>
              <a:buNone/>
            </a:pPr>
            <a:r>
              <a:rPr b="1" lang="vi" sz="881">
                <a:solidFill>
                  <a:srgbClr val="351C75"/>
                </a:solidFill>
              </a:rPr>
              <a:t>Bug ID</a:t>
            </a:r>
            <a:r>
              <a:rPr lang="vi" sz="881">
                <a:solidFill>
                  <a:srgbClr val="351C75"/>
                </a:solidFill>
              </a:rPr>
              <a:t>: BUG-2025-004  </a:t>
            </a:r>
            <a:endParaRPr sz="881">
              <a:solidFill>
                <a:srgbClr val="351C75"/>
              </a:solidFill>
            </a:endParaRPr>
          </a:p>
          <a:p>
            <a:pPr indent="0" lvl="0" marL="457200" rtl="0" algn="l">
              <a:lnSpc>
                <a:spcPct val="115000"/>
              </a:lnSpc>
              <a:spcBef>
                <a:spcPts val="710"/>
              </a:spcBef>
              <a:spcAft>
                <a:spcPts val="0"/>
              </a:spcAft>
              <a:buClr>
                <a:schemeClr val="dk1"/>
              </a:buClr>
              <a:buSzPts val="651"/>
              <a:buFont typeface="Arial"/>
              <a:buNone/>
            </a:pPr>
            <a:r>
              <a:rPr b="1" lang="vi" sz="881">
                <a:solidFill>
                  <a:srgbClr val="351C75"/>
                </a:solidFill>
              </a:rPr>
              <a:t>Tiêu đề</a:t>
            </a:r>
            <a:r>
              <a:rPr lang="vi" sz="881">
                <a:solidFill>
                  <a:srgbClr val="351C75"/>
                </a:solidFill>
              </a:rPr>
              <a:t>: Lỗi không hiển thị ảnh đại diện khi tạo mới tài khoản  </a:t>
            </a:r>
            <a:endParaRPr sz="881">
              <a:solidFill>
                <a:srgbClr val="351C75"/>
              </a:solidFill>
            </a:endParaRPr>
          </a:p>
          <a:p>
            <a:pPr indent="0" lvl="0" marL="457200" rtl="0" algn="l">
              <a:lnSpc>
                <a:spcPct val="115000"/>
              </a:lnSpc>
              <a:spcBef>
                <a:spcPts val="710"/>
              </a:spcBef>
              <a:spcAft>
                <a:spcPts val="0"/>
              </a:spcAft>
              <a:buClr>
                <a:schemeClr val="dk1"/>
              </a:buClr>
              <a:buSzPts val="651"/>
              <a:buFont typeface="Arial"/>
              <a:buNone/>
            </a:pPr>
            <a:r>
              <a:rPr b="1" lang="vi" sz="881">
                <a:solidFill>
                  <a:srgbClr val="351C75"/>
                </a:solidFill>
              </a:rPr>
              <a:t>Ngày phát sinh</a:t>
            </a:r>
            <a:r>
              <a:rPr lang="vi" sz="881">
                <a:solidFill>
                  <a:srgbClr val="351C75"/>
                </a:solidFill>
              </a:rPr>
              <a:t>: 2025/07/18  </a:t>
            </a:r>
            <a:endParaRPr sz="881">
              <a:solidFill>
                <a:srgbClr val="351C75"/>
              </a:solidFill>
            </a:endParaRPr>
          </a:p>
          <a:p>
            <a:pPr indent="0" lvl="0" marL="457200" rtl="0" algn="l">
              <a:lnSpc>
                <a:spcPct val="115000"/>
              </a:lnSpc>
              <a:spcBef>
                <a:spcPts val="710"/>
              </a:spcBef>
              <a:spcAft>
                <a:spcPts val="0"/>
              </a:spcAft>
              <a:buClr>
                <a:schemeClr val="dk1"/>
              </a:buClr>
              <a:buSzPts val="651"/>
              <a:buFont typeface="Arial"/>
              <a:buNone/>
            </a:pPr>
            <a:r>
              <a:rPr b="1" lang="vi" sz="881">
                <a:solidFill>
                  <a:srgbClr val="351C75"/>
                </a:solidFill>
              </a:rPr>
              <a:t>Môi trường phát sinh</a:t>
            </a:r>
            <a:r>
              <a:rPr lang="vi" sz="881">
                <a:solidFill>
                  <a:srgbClr val="351C75"/>
                </a:solidFill>
              </a:rPr>
              <a:t>: Chrome v114 / staging server  </a:t>
            </a:r>
            <a:endParaRPr b="1" sz="881">
              <a:solidFill>
                <a:srgbClr val="351C75"/>
              </a:solidFill>
            </a:endParaRPr>
          </a:p>
          <a:p>
            <a:pPr indent="0" lvl="0" marL="457200" rtl="0" algn="l">
              <a:lnSpc>
                <a:spcPct val="115000"/>
              </a:lnSpc>
              <a:spcBef>
                <a:spcPts val="710"/>
              </a:spcBef>
              <a:spcAft>
                <a:spcPts val="0"/>
              </a:spcAft>
              <a:buNone/>
            </a:pPr>
            <a:r>
              <a:rPr b="1" lang="vi" sz="881">
                <a:solidFill>
                  <a:srgbClr val="351C75"/>
                </a:solidFill>
              </a:rPr>
              <a:t>Trình tự tái hiện:</a:t>
            </a:r>
            <a:endParaRPr b="1" sz="881">
              <a:solidFill>
                <a:srgbClr val="351C75"/>
              </a:solidFill>
            </a:endParaRPr>
          </a:p>
          <a:p>
            <a:pPr indent="0" lvl="0" marL="727723" rtl="0" algn="l">
              <a:lnSpc>
                <a:spcPct val="115000"/>
              </a:lnSpc>
              <a:spcBef>
                <a:spcPts val="710"/>
              </a:spcBef>
              <a:spcAft>
                <a:spcPts val="0"/>
              </a:spcAft>
              <a:buNone/>
            </a:pPr>
            <a:r>
              <a:rPr lang="vi" sz="881">
                <a:solidFill>
                  <a:srgbClr val="351C75"/>
                </a:solidFill>
              </a:rPr>
              <a:t>1. Vào trang đăng ký tài khoản</a:t>
            </a:r>
            <a:endParaRPr sz="881">
              <a:solidFill>
                <a:srgbClr val="351C75"/>
              </a:solidFill>
            </a:endParaRPr>
          </a:p>
          <a:p>
            <a:pPr indent="0" lvl="0" marL="727723" rtl="0" algn="l">
              <a:lnSpc>
                <a:spcPct val="115000"/>
              </a:lnSpc>
              <a:spcBef>
                <a:spcPts val="710"/>
              </a:spcBef>
              <a:spcAft>
                <a:spcPts val="0"/>
              </a:spcAft>
              <a:buNone/>
            </a:pPr>
            <a:r>
              <a:rPr lang="vi" sz="881">
                <a:solidFill>
                  <a:srgbClr val="351C75"/>
                </a:solidFill>
              </a:rPr>
              <a:t>2. Nhập đầy đủ thông tin</a:t>
            </a:r>
            <a:endParaRPr sz="881">
              <a:solidFill>
                <a:srgbClr val="351C75"/>
              </a:solidFill>
            </a:endParaRPr>
          </a:p>
          <a:p>
            <a:pPr indent="0" lvl="0" marL="727723" rtl="0" algn="l">
              <a:lnSpc>
                <a:spcPct val="115000"/>
              </a:lnSpc>
              <a:spcBef>
                <a:spcPts val="710"/>
              </a:spcBef>
              <a:spcAft>
                <a:spcPts val="0"/>
              </a:spcAft>
              <a:buNone/>
            </a:pPr>
            <a:r>
              <a:rPr lang="vi" sz="881">
                <a:solidFill>
                  <a:srgbClr val="351C75"/>
                </a:solidFill>
              </a:rPr>
              <a:t>3. Upload ảnh đại diện định dạng .jpg (dưới 2MB)</a:t>
            </a:r>
            <a:endParaRPr sz="881">
              <a:solidFill>
                <a:srgbClr val="351C75"/>
              </a:solidFill>
            </a:endParaRPr>
          </a:p>
          <a:p>
            <a:pPr indent="0" lvl="0" marL="727723" rtl="0" algn="l">
              <a:lnSpc>
                <a:spcPct val="115000"/>
              </a:lnSpc>
              <a:spcBef>
                <a:spcPts val="710"/>
              </a:spcBef>
              <a:spcAft>
                <a:spcPts val="0"/>
              </a:spcAft>
              <a:buNone/>
            </a:pPr>
            <a:r>
              <a:rPr lang="vi" sz="881">
                <a:solidFill>
                  <a:srgbClr val="351C75"/>
                </a:solidFill>
              </a:rPr>
              <a:t>4. Nhấn nút “Đăng ký”</a:t>
            </a:r>
            <a:endParaRPr sz="881">
              <a:solidFill>
                <a:srgbClr val="351C75"/>
              </a:solidFill>
            </a:endParaRPr>
          </a:p>
          <a:p>
            <a:pPr indent="0" lvl="0" marL="457200" rtl="0" algn="l">
              <a:lnSpc>
                <a:spcPct val="115000"/>
              </a:lnSpc>
              <a:spcBef>
                <a:spcPts val="710"/>
              </a:spcBef>
              <a:spcAft>
                <a:spcPts val="0"/>
              </a:spcAft>
              <a:buNone/>
            </a:pPr>
            <a:r>
              <a:rPr b="1" lang="vi" sz="881">
                <a:solidFill>
                  <a:srgbClr val="351C75"/>
                </a:solidFill>
              </a:rPr>
              <a:t>Kết quả mong đợi:  </a:t>
            </a:r>
            <a:endParaRPr b="1" sz="881">
              <a:solidFill>
                <a:srgbClr val="351C75"/>
              </a:solidFill>
            </a:endParaRPr>
          </a:p>
          <a:p>
            <a:pPr indent="0" lvl="0" marL="727723" rtl="0" algn="l">
              <a:lnSpc>
                <a:spcPct val="115000"/>
              </a:lnSpc>
              <a:spcBef>
                <a:spcPts val="710"/>
              </a:spcBef>
              <a:spcAft>
                <a:spcPts val="0"/>
              </a:spcAft>
              <a:buNone/>
            </a:pPr>
            <a:r>
              <a:rPr lang="vi" sz="881">
                <a:solidFill>
                  <a:srgbClr val="351C75"/>
                </a:solidFill>
              </a:rPr>
              <a:t>Tài khoản được tạo và ảnh đại diện hiển thị trên trang thông tin cá nhân</a:t>
            </a:r>
            <a:endParaRPr sz="881">
              <a:solidFill>
                <a:srgbClr val="351C75"/>
              </a:solidFill>
            </a:endParaRPr>
          </a:p>
          <a:p>
            <a:pPr indent="0" lvl="0" marL="457200" rtl="0" algn="l">
              <a:lnSpc>
                <a:spcPct val="115000"/>
              </a:lnSpc>
              <a:spcBef>
                <a:spcPts val="710"/>
              </a:spcBef>
              <a:spcAft>
                <a:spcPts val="0"/>
              </a:spcAft>
              <a:buNone/>
            </a:pPr>
            <a:r>
              <a:rPr b="1" lang="vi" sz="881">
                <a:solidFill>
                  <a:srgbClr val="351C75"/>
                </a:solidFill>
              </a:rPr>
              <a:t>Kết quả thực tế:  </a:t>
            </a:r>
            <a:endParaRPr b="1" sz="881">
              <a:solidFill>
                <a:srgbClr val="351C75"/>
              </a:solidFill>
            </a:endParaRPr>
          </a:p>
          <a:p>
            <a:pPr indent="0" lvl="0" marL="727723" rtl="0" algn="l">
              <a:lnSpc>
                <a:spcPct val="115000"/>
              </a:lnSpc>
              <a:spcBef>
                <a:spcPts val="710"/>
              </a:spcBef>
              <a:spcAft>
                <a:spcPts val="710"/>
              </a:spcAft>
              <a:buNone/>
            </a:pPr>
            <a:r>
              <a:rPr lang="vi" sz="881">
                <a:solidFill>
                  <a:srgbClr val="351C75"/>
                </a:solidFill>
              </a:rPr>
              <a:t>Tài khoản được tạo nhưng ảnh đại diện không hiển thị. Trang bị vỡ layout.</a:t>
            </a:r>
            <a:endParaRPr sz="881">
              <a:solidFill>
                <a:srgbClr val="351C75"/>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3"/>
          <p:cNvSpPr txBox="1"/>
          <p:nvPr/>
        </p:nvSpPr>
        <p:spPr>
          <a:xfrm>
            <a:off x="439000" y="275075"/>
            <a:ext cx="84066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b="1" sz="3600">
              <a:solidFill>
                <a:srgbClr val="351C75"/>
              </a:solidFill>
            </a:endParaRPr>
          </a:p>
        </p:txBody>
      </p:sp>
      <p:sp>
        <p:nvSpPr>
          <p:cNvPr id="461" name="Google Shape;461;p73"/>
          <p:cNvSpPr/>
          <p:nvPr/>
        </p:nvSpPr>
        <p:spPr>
          <a:xfrm>
            <a:off x="1769450" y="1070000"/>
            <a:ext cx="5468400" cy="3294300"/>
          </a:xfrm>
          <a:prstGeom prst="roundRect">
            <a:avLst>
              <a:gd fmla="val 16667" name="adj"/>
            </a:avLst>
          </a:prstGeom>
          <a:solidFill>
            <a:srgbClr val="FFF5F5"/>
          </a:solidFill>
          <a:ln cap="flat" cmpd="sng" w="5650">
            <a:solidFill>
              <a:srgbClr val="CA2F47"/>
            </a:solidFill>
            <a:prstDash val="solid"/>
            <a:round/>
            <a:headEnd len="sm" w="sm" type="none"/>
            <a:tailEnd len="sm" w="sm" type="none"/>
          </a:ln>
        </p:spPr>
        <p:txBody>
          <a:bodyPr anchorCtr="0" anchor="ctr" bIns="54100" lIns="54100" spcFirstLastPara="1" rIns="54100" wrap="square" tIns="54100">
            <a:noAutofit/>
          </a:bodyPr>
          <a:lstStyle/>
          <a:p>
            <a:pPr indent="0" lvl="0" marL="0" rtl="0" algn="l">
              <a:lnSpc>
                <a:spcPct val="115000"/>
              </a:lnSpc>
              <a:spcBef>
                <a:spcPts val="1200"/>
              </a:spcBef>
              <a:spcAft>
                <a:spcPts val="0"/>
              </a:spcAft>
              <a:buClr>
                <a:schemeClr val="dk1"/>
              </a:buClr>
              <a:buSzPts val="1100"/>
              <a:buFont typeface="Arial"/>
              <a:buNone/>
            </a:pPr>
            <a:r>
              <a:t/>
            </a:r>
            <a:endParaRPr b="1" sz="800">
              <a:solidFill>
                <a:srgbClr val="351C75"/>
              </a:solidFill>
            </a:endParaRPr>
          </a:p>
          <a:p>
            <a:pPr indent="0" lvl="0" marL="457200" rtl="0" algn="l">
              <a:lnSpc>
                <a:spcPct val="115000"/>
              </a:lnSpc>
              <a:spcBef>
                <a:spcPts val="1200"/>
              </a:spcBef>
              <a:spcAft>
                <a:spcPts val="0"/>
              </a:spcAft>
              <a:buClr>
                <a:schemeClr val="dk1"/>
              </a:buClr>
              <a:buSzPts val="1100"/>
              <a:buFont typeface="Arial"/>
              <a:buNone/>
            </a:pPr>
            <a:r>
              <a:rPr b="1" lang="vi" sz="800">
                <a:solidFill>
                  <a:srgbClr val="CA2F47"/>
                </a:solidFill>
              </a:rPr>
              <a:t>バグ</a:t>
            </a:r>
            <a:r>
              <a:rPr b="1" lang="vi" sz="800">
                <a:solidFill>
                  <a:srgbClr val="351C75"/>
                </a:solidFill>
              </a:rPr>
              <a:t>ID</a:t>
            </a:r>
            <a:r>
              <a:rPr lang="vi" sz="800">
                <a:solidFill>
                  <a:srgbClr val="351C75"/>
                </a:solidFill>
              </a:rPr>
              <a:t>: BUG-2025-004  </a:t>
            </a:r>
            <a:endParaRPr sz="800">
              <a:solidFill>
                <a:srgbClr val="351C75"/>
              </a:solidFill>
            </a:endParaRPr>
          </a:p>
          <a:p>
            <a:pPr indent="0" lvl="0" marL="457200" rtl="0" algn="l">
              <a:lnSpc>
                <a:spcPct val="115000"/>
              </a:lnSpc>
              <a:spcBef>
                <a:spcPts val="1200"/>
              </a:spcBef>
              <a:spcAft>
                <a:spcPts val="0"/>
              </a:spcAft>
              <a:buClr>
                <a:schemeClr val="dk1"/>
              </a:buClr>
              <a:buSzPts val="1100"/>
              <a:buFont typeface="Arial"/>
              <a:buNone/>
            </a:pPr>
            <a:r>
              <a:rPr b="1" lang="vi" sz="800">
                <a:solidFill>
                  <a:srgbClr val="351C75"/>
                </a:solidFill>
              </a:rPr>
              <a:t>タイトル</a:t>
            </a:r>
            <a:r>
              <a:rPr lang="vi" sz="800">
                <a:solidFill>
                  <a:srgbClr val="351C75"/>
                </a:solidFill>
              </a:rPr>
              <a:t>: アカウント作成時、アバター画像が表示されない</a:t>
            </a:r>
            <a:r>
              <a:rPr b="1" lang="vi" sz="800">
                <a:solidFill>
                  <a:srgbClr val="CA2F47"/>
                </a:solidFill>
              </a:rPr>
              <a:t>不具合</a:t>
            </a:r>
            <a:r>
              <a:rPr lang="vi" sz="800">
                <a:solidFill>
                  <a:srgbClr val="351C75"/>
                </a:solidFill>
              </a:rPr>
              <a:t>  </a:t>
            </a:r>
            <a:endParaRPr sz="800">
              <a:solidFill>
                <a:srgbClr val="351C75"/>
              </a:solidFill>
            </a:endParaRPr>
          </a:p>
          <a:p>
            <a:pPr indent="0" lvl="0" marL="457200" rtl="0" algn="l">
              <a:lnSpc>
                <a:spcPct val="115000"/>
              </a:lnSpc>
              <a:spcBef>
                <a:spcPts val="1200"/>
              </a:spcBef>
              <a:spcAft>
                <a:spcPts val="0"/>
              </a:spcAft>
              <a:buClr>
                <a:schemeClr val="dk1"/>
              </a:buClr>
              <a:buSzPts val="1100"/>
              <a:buFont typeface="Arial"/>
              <a:buNone/>
            </a:pPr>
            <a:r>
              <a:rPr b="1" lang="vi" sz="800">
                <a:solidFill>
                  <a:srgbClr val="351C75"/>
                </a:solidFill>
              </a:rPr>
              <a:t>発生日</a:t>
            </a:r>
            <a:r>
              <a:rPr lang="vi" sz="800">
                <a:solidFill>
                  <a:srgbClr val="351C75"/>
                </a:solidFill>
              </a:rPr>
              <a:t>: 2025/07/18  </a:t>
            </a:r>
            <a:endParaRPr sz="800">
              <a:solidFill>
                <a:srgbClr val="351C75"/>
              </a:solidFill>
            </a:endParaRPr>
          </a:p>
          <a:p>
            <a:pPr indent="0" lvl="0" marL="457200" rtl="0" algn="l">
              <a:lnSpc>
                <a:spcPct val="115000"/>
              </a:lnSpc>
              <a:spcBef>
                <a:spcPts val="1200"/>
              </a:spcBef>
              <a:spcAft>
                <a:spcPts val="0"/>
              </a:spcAft>
              <a:buClr>
                <a:schemeClr val="dk1"/>
              </a:buClr>
              <a:buSzPts val="1100"/>
              <a:buFont typeface="Arial"/>
              <a:buNone/>
            </a:pPr>
            <a:r>
              <a:rPr b="1" lang="vi" sz="800">
                <a:solidFill>
                  <a:srgbClr val="351C75"/>
                </a:solidFill>
              </a:rPr>
              <a:t>発生環境</a:t>
            </a:r>
            <a:r>
              <a:rPr lang="vi" sz="800">
                <a:solidFill>
                  <a:srgbClr val="351C75"/>
                </a:solidFill>
              </a:rPr>
              <a:t>: Chrome v114 / </a:t>
            </a:r>
            <a:r>
              <a:rPr b="1" lang="vi" sz="800">
                <a:solidFill>
                  <a:srgbClr val="CA2F47"/>
                </a:solidFill>
              </a:rPr>
              <a:t>ステージング</a:t>
            </a:r>
            <a:r>
              <a:rPr lang="vi" sz="800">
                <a:solidFill>
                  <a:srgbClr val="351C75"/>
                </a:solidFill>
              </a:rPr>
              <a:t>環境</a:t>
            </a:r>
            <a:endParaRPr b="1" sz="800">
              <a:solidFill>
                <a:srgbClr val="351C75"/>
              </a:solidFill>
            </a:endParaRPr>
          </a:p>
          <a:p>
            <a:pPr indent="0" lvl="0" marL="457200" rtl="0" algn="l">
              <a:lnSpc>
                <a:spcPct val="115000"/>
              </a:lnSpc>
              <a:spcBef>
                <a:spcPts val="1200"/>
              </a:spcBef>
              <a:spcAft>
                <a:spcPts val="0"/>
              </a:spcAft>
              <a:buClr>
                <a:schemeClr val="dk1"/>
              </a:buClr>
              <a:buSzPts val="1100"/>
              <a:buFont typeface="Arial"/>
              <a:buNone/>
            </a:pPr>
            <a:r>
              <a:rPr b="1" lang="vi" sz="800">
                <a:solidFill>
                  <a:srgbClr val="351C75"/>
                </a:solidFill>
              </a:rPr>
              <a:t>再現手順:</a:t>
            </a:r>
            <a:endParaRPr b="1" sz="8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1. アカウント登録画面にアクセス</a:t>
            </a:r>
            <a:r>
              <a:rPr b="1" lang="vi" sz="800">
                <a:solidFill>
                  <a:srgbClr val="CA2F47"/>
                </a:solidFill>
              </a:rPr>
              <a:t>する</a:t>
            </a:r>
            <a:endParaRPr b="1" sz="800">
              <a:solidFill>
                <a:srgbClr val="CA2F47"/>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2. 全項目を入力</a:t>
            </a:r>
            <a:r>
              <a:rPr b="1" lang="vi" sz="800">
                <a:solidFill>
                  <a:srgbClr val="CA2F47"/>
                </a:solidFill>
              </a:rPr>
              <a:t>する</a:t>
            </a:r>
            <a:endParaRPr b="1" sz="800">
              <a:solidFill>
                <a:srgbClr val="CA2F47"/>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3. .jpg形式（2MB未満）のアバター画像をアップロード</a:t>
            </a:r>
            <a:r>
              <a:rPr b="1" lang="vi" sz="800">
                <a:solidFill>
                  <a:srgbClr val="CA2F47"/>
                </a:solidFill>
              </a:rPr>
              <a:t>する</a:t>
            </a:r>
            <a:endParaRPr b="1" sz="800">
              <a:solidFill>
                <a:srgbClr val="CA2F47"/>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4. 「登録」ボタンをクリック</a:t>
            </a:r>
            <a:r>
              <a:rPr b="1" lang="vi" sz="800">
                <a:solidFill>
                  <a:srgbClr val="CA2F47"/>
                </a:solidFill>
              </a:rPr>
              <a:t>する</a:t>
            </a:r>
            <a:endParaRPr b="1" sz="800">
              <a:solidFill>
                <a:srgbClr val="CA2F47"/>
              </a:solidFill>
            </a:endParaRPr>
          </a:p>
          <a:p>
            <a:pPr indent="0" lvl="0" marL="457200" rtl="0" algn="l">
              <a:lnSpc>
                <a:spcPct val="115000"/>
              </a:lnSpc>
              <a:spcBef>
                <a:spcPts val="1200"/>
              </a:spcBef>
              <a:spcAft>
                <a:spcPts val="0"/>
              </a:spcAft>
              <a:buClr>
                <a:schemeClr val="dk1"/>
              </a:buClr>
              <a:buSzPts val="1100"/>
              <a:buFont typeface="Arial"/>
              <a:buNone/>
            </a:pPr>
            <a:r>
              <a:rPr b="1" lang="vi" sz="800">
                <a:solidFill>
                  <a:srgbClr val="351C75"/>
                </a:solidFill>
              </a:rPr>
              <a:t>期待結果:  </a:t>
            </a:r>
            <a:r>
              <a:rPr lang="vi" sz="800">
                <a:solidFill>
                  <a:srgbClr val="351C75"/>
                </a:solidFill>
              </a:rPr>
              <a:t>アカウントが正常に作成され、プロフィールページにアバター画像が表示</a:t>
            </a:r>
            <a:r>
              <a:rPr b="1" lang="vi" sz="800">
                <a:solidFill>
                  <a:srgbClr val="CA2F47"/>
                </a:solidFill>
              </a:rPr>
              <a:t>されること</a:t>
            </a:r>
            <a:endParaRPr b="1" sz="800">
              <a:solidFill>
                <a:srgbClr val="CA2F47"/>
              </a:solidFill>
            </a:endParaRPr>
          </a:p>
          <a:p>
            <a:pPr indent="0" lvl="0" marL="457200" rtl="0" algn="l">
              <a:lnSpc>
                <a:spcPct val="115000"/>
              </a:lnSpc>
              <a:spcBef>
                <a:spcPts val="1200"/>
              </a:spcBef>
              <a:spcAft>
                <a:spcPts val="0"/>
              </a:spcAft>
              <a:buClr>
                <a:schemeClr val="dk1"/>
              </a:buClr>
              <a:buSzPts val="1100"/>
              <a:buFont typeface="Arial"/>
              <a:buNone/>
            </a:pPr>
            <a:r>
              <a:rPr b="1" lang="vi" sz="800">
                <a:solidFill>
                  <a:srgbClr val="351C75"/>
                </a:solidFill>
              </a:rPr>
              <a:t>実際結果:</a:t>
            </a:r>
            <a:r>
              <a:rPr lang="vi" sz="800">
                <a:solidFill>
                  <a:srgbClr val="351C75"/>
                </a:solidFill>
              </a:rPr>
              <a:t>  アカウントは作成</a:t>
            </a:r>
            <a:r>
              <a:rPr b="1" lang="vi" sz="800">
                <a:solidFill>
                  <a:srgbClr val="CA2F47"/>
                </a:solidFill>
              </a:rPr>
              <a:t>される</a:t>
            </a:r>
            <a:r>
              <a:rPr lang="vi" sz="800">
                <a:solidFill>
                  <a:srgbClr val="351C75"/>
                </a:solidFill>
              </a:rPr>
              <a:t>が、アバター画像</a:t>
            </a:r>
            <a:r>
              <a:rPr b="1" lang="vi" sz="800">
                <a:solidFill>
                  <a:srgbClr val="CA2F47"/>
                </a:solidFill>
              </a:rPr>
              <a:t>が</a:t>
            </a:r>
            <a:r>
              <a:rPr lang="vi" sz="800">
                <a:solidFill>
                  <a:srgbClr val="351C75"/>
                </a:solidFill>
              </a:rPr>
              <a:t>表示</a:t>
            </a:r>
            <a:r>
              <a:rPr b="1" lang="vi" sz="800">
                <a:solidFill>
                  <a:srgbClr val="CA2F47"/>
                </a:solidFill>
              </a:rPr>
              <a:t>されず</a:t>
            </a:r>
            <a:r>
              <a:rPr lang="vi" sz="800">
                <a:solidFill>
                  <a:srgbClr val="351C75"/>
                </a:solidFill>
              </a:rPr>
              <a:t>、ページのレイアウト</a:t>
            </a:r>
            <a:r>
              <a:rPr b="1" lang="vi" sz="800">
                <a:solidFill>
                  <a:srgbClr val="CA2F47"/>
                </a:solidFill>
              </a:rPr>
              <a:t>が崩れる</a:t>
            </a:r>
            <a:r>
              <a:rPr lang="vi" sz="800">
                <a:solidFill>
                  <a:srgbClr val="351C75"/>
                </a:solidFill>
              </a:rPr>
              <a:t>。</a:t>
            </a:r>
            <a:endParaRPr sz="800">
              <a:solidFill>
                <a:srgbClr val="351C75"/>
              </a:solidFill>
            </a:endParaRPr>
          </a:p>
          <a:p>
            <a:pPr indent="0" lvl="0" marL="727723" rtl="0" algn="l">
              <a:lnSpc>
                <a:spcPct val="115000"/>
              </a:lnSpc>
              <a:spcBef>
                <a:spcPts val="1200"/>
              </a:spcBef>
              <a:spcAft>
                <a:spcPts val="710"/>
              </a:spcAft>
              <a:buNone/>
            </a:pPr>
            <a:r>
              <a:t/>
            </a:r>
            <a:endParaRPr b="1" sz="800">
              <a:solidFill>
                <a:srgbClr val="351C75"/>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4"/>
          <p:cNvSpPr txBox="1"/>
          <p:nvPr/>
        </p:nvSpPr>
        <p:spPr>
          <a:xfrm>
            <a:off x="439000" y="331100"/>
            <a:ext cx="84066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vi" sz="3600">
                <a:solidFill>
                  <a:srgbClr val="351C75"/>
                </a:solidFill>
              </a:rPr>
              <a:t>Thực hành 02</a:t>
            </a:r>
            <a:r>
              <a:rPr b="1" lang="vi" sz="2400">
                <a:solidFill>
                  <a:srgbClr val="351C75"/>
                </a:solidFill>
              </a:rPr>
              <a:t>		</a:t>
            </a:r>
            <a:endParaRPr b="1" sz="2400">
              <a:solidFill>
                <a:srgbClr val="351C75"/>
              </a:solidFill>
            </a:endParaRPr>
          </a:p>
        </p:txBody>
      </p:sp>
      <p:sp>
        <p:nvSpPr>
          <p:cNvPr id="467" name="Google Shape;467;p74"/>
          <p:cNvSpPr/>
          <p:nvPr/>
        </p:nvSpPr>
        <p:spPr>
          <a:xfrm>
            <a:off x="1769450" y="1070000"/>
            <a:ext cx="6163200" cy="3294300"/>
          </a:xfrm>
          <a:prstGeom prst="roundRect">
            <a:avLst>
              <a:gd fmla="val 16667" name="adj"/>
            </a:avLst>
          </a:prstGeom>
          <a:solidFill>
            <a:srgbClr val="FFF5F5"/>
          </a:solidFill>
          <a:ln cap="flat" cmpd="sng" w="5650">
            <a:solidFill>
              <a:srgbClr val="CA2F47"/>
            </a:solidFill>
            <a:prstDash val="solid"/>
            <a:round/>
            <a:headEnd len="sm" w="sm" type="none"/>
            <a:tailEnd len="sm" w="sm" type="none"/>
          </a:ln>
        </p:spPr>
        <p:txBody>
          <a:bodyPr anchorCtr="0" anchor="ctr" bIns="54100" lIns="54100" spcFirstLastPara="1" rIns="54100" wrap="square" tIns="54100">
            <a:noAutofit/>
          </a:bodyPr>
          <a:lstStyle/>
          <a:p>
            <a:pPr indent="0" lvl="0" marL="457200" rtl="0" algn="l">
              <a:lnSpc>
                <a:spcPct val="115000"/>
              </a:lnSpc>
              <a:spcBef>
                <a:spcPts val="1200"/>
              </a:spcBef>
              <a:spcAft>
                <a:spcPts val="0"/>
              </a:spcAft>
              <a:buClr>
                <a:schemeClr val="dk1"/>
              </a:buClr>
              <a:buSzPts val="1100"/>
              <a:buFont typeface="Arial"/>
              <a:buNone/>
            </a:pPr>
            <a:r>
              <a:rPr b="1" lang="vi" sz="1000">
                <a:solidFill>
                  <a:srgbClr val="351C75"/>
                </a:solidFill>
              </a:rPr>
              <a:t>Bug ID</a:t>
            </a:r>
            <a:r>
              <a:rPr lang="vi" sz="1000">
                <a:solidFill>
                  <a:srgbClr val="351C75"/>
                </a:solidFill>
              </a:rPr>
              <a:t>: BUG-2025-007  </a:t>
            </a:r>
            <a:endParaRPr sz="1000">
              <a:solidFill>
                <a:srgbClr val="351C75"/>
              </a:solidFill>
            </a:endParaRPr>
          </a:p>
          <a:p>
            <a:pPr indent="0" lvl="0" marL="457200" rtl="0" algn="l">
              <a:lnSpc>
                <a:spcPct val="115000"/>
              </a:lnSpc>
              <a:spcBef>
                <a:spcPts val="1200"/>
              </a:spcBef>
              <a:spcAft>
                <a:spcPts val="0"/>
              </a:spcAft>
              <a:buClr>
                <a:schemeClr val="dk1"/>
              </a:buClr>
              <a:buSzPts val="1100"/>
              <a:buFont typeface="Arial"/>
              <a:buNone/>
            </a:pPr>
            <a:r>
              <a:rPr b="1" lang="vi" sz="1000">
                <a:solidFill>
                  <a:srgbClr val="351C75"/>
                </a:solidFill>
              </a:rPr>
              <a:t>Tiêu đề:</a:t>
            </a:r>
            <a:r>
              <a:rPr lang="vi" sz="1000">
                <a:solidFill>
                  <a:srgbClr val="351C75"/>
                </a:solidFill>
              </a:rPr>
              <a:t> Lỗi không thể chọn ngày trong popup lịch  </a:t>
            </a:r>
            <a:endParaRPr sz="1000">
              <a:solidFill>
                <a:srgbClr val="351C75"/>
              </a:solidFill>
            </a:endParaRPr>
          </a:p>
          <a:p>
            <a:pPr indent="0" lvl="0" marL="457200" rtl="0" algn="l">
              <a:lnSpc>
                <a:spcPct val="115000"/>
              </a:lnSpc>
              <a:spcBef>
                <a:spcPts val="1200"/>
              </a:spcBef>
              <a:spcAft>
                <a:spcPts val="0"/>
              </a:spcAft>
              <a:buClr>
                <a:schemeClr val="dk1"/>
              </a:buClr>
              <a:buSzPts val="1100"/>
              <a:buFont typeface="Arial"/>
              <a:buNone/>
            </a:pPr>
            <a:r>
              <a:rPr b="1" lang="vi" sz="1000">
                <a:solidFill>
                  <a:srgbClr val="351C75"/>
                </a:solidFill>
              </a:rPr>
              <a:t>Ngày phát hiện</a:t>
            </a:r>
            <a:r>
              <a:rPr lang="vi" sz="1000">
                <a:solidFill>
                  <a:srgbClr val="351C75"/>
                </a:solidFill>
              </a:rPr>
              <a:t>: 2025/07/19  </a:t>
            </a:r>
            <a:endParaRPr sz="1000">
              <a:solidFill>
                <a:srgbClr val="351C75"/>
              </a:solidFill>
            </a:endParaRPr>
          </a:p>
          <a:p>
            <a:pPr indent="0" lvl="0" marL="457200" rtl="0" algn="l">
              <a:lnSpc>
                <a:spcPct val="115000"/>
              </a:lnSpc>
              <a:spcBef>
                <a:spcPts val="1200"/>
              </a:spcBef>
              <a:spcAft>
                <a:spcPts val="0"/>
              </a:spcAft>
              <a:buClr>
                <a:schemeClr val="dk1"/>
              </a:buClr>
              <a:buSzPts val="1100"/>
              <a:buFont typeface="Arial"/>
              <a:buNone/>
            </a:pPr>
            <a:r>
              <a:rPr b="1" lang="vi" sz="1000">
                <a:solidFill>
                  <a:srgbClr val="351C75"/>
                </a:solidFill>
              </a:rPr>
              <a:t>Môi trường:</a:t>
            </a:r>
            <a:r>
              <a:rPr lang="vi" sz="1000">
                <a:solidFill>
                  <a:srgbClr val="351C75"/>
                </a:solidFill>
              </a:rPr>
              <a:t> Firefox 115 / Production </a:t>
            </a:r>
            <a:endParaRPr b="1" sz="1000">
              <a:solidFill>
                <a:srgbClr val="351C75"/>
              </a:solidFill>
            </a:endParaRPr>
          </a:p>
          <a:p>
            <a:pPr indent="0" lvl="0" marL="457200" rtl="0" algn="l">
              <a:lnSpc>
                <a:spcPct val="115000"/>
              </a:lnSpc>
              <a:spcBef>
                <a:spcPts val="1200"/>
              </a:spcBef>
              <a:spcAft>
                <a:spcPts val="0"/>
              </a:spcAft>
              <a:buClr>
                <a:schemeClr val="dk1"/>
              </a:buClr>
              <a:buSzPts val="1100"/>
              <a:buFont typeface="Arial"/>
              <a:buNone/>
            </a:pPr>
            <a:r>
              <a:rPr b="1" lang="vi" sz="1000">
                <a:solidFill>
                  <a:srgbClr val="351C75"/>
                </a:solidFill>
              </a:rPr>
              <a:t>Bước tái hiện:</a:t>
            </a:r>
            <a:endParaRPr b="1" sz="10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1000">
                <a:solidFill>
                  <a:srgbClr val="351C75"/>
                </a:solidFill>
              </a:rPr>
              <a:t>1. Mở form đăng ký sự kiện</a:t>
            </a:r>
            <a:endParaRPr sz="10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1000">
                <a:solidFill>
                  <a:srgbClr val="351C75"/>
                </a:solidFill>
              </a:rPr>
              <a:t>2. Click vào Datetime picker</a:t>
            </a:r>
            <a:endParaRPr sz="10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1000">
                <a:solidFill>
                  <a:srgbClr val="351C75"/>
                </a:solidFill>
              </a:rPr>
              <a:t>3. Datetime picker được hiển thị, thực hiện click chọn ngày tùy ý.</a:t>
            </a:r>
            <a:endParaRPr sz="1000">
              <a:solidFill>
                <a:srgbClr val="351C75"/>
              </a:solidFill>
            </a:endParaRPr>
          </a:p>
          <a:p>
            <a:pPr indent="0" lvl="0" marL="457200" rtl="0" algn="l">
              <a:lnSpc>
                <a:spcPct val="115000"/>
              </a:lnSpc>
              <a:spcBef>
                <a:spcPts val="1200"/>
              </a:spcBef>
              <a:spcAft>
                <a:spcPts val="0"/>
              </a:spcAft>
              <a:buClr>
                <a:schemeClr val="dk1"/>
              </a:buClr>
              <a:buSzPts val="1100"/>
              <a:buFont typeface="Arial"/>
              <a:buNone/>
            </a:pPr>
            <a:r>
              <a:rPr b="1" lang="vi" sz="1000">
                <a:solidFill>
                  <a:srgbClr val="351C75"/>
                </a:solidFill>
              </a:rPr>
              <a:t>Kết quả mong đợi:  </a:t>
            </a:r>
            <a:r>
              <a:rPr lang="vi" sz="1000">
                <a:solidFill>
                  <a:srgbClr val="351C75"/>
                </a:solidFill>
              </a:rPr>
              <a:t>Có thể chọn được ngày, ngày đã chọn được hiển thị trong ô.</a:t>
            </a:r>
            <a:endParaRPr sz="1000">
              <a:solidFill>
                <a:srgbClr val="351C75"/>
              </a:solidFill>
            </a:endParaRPr>
          </a:p>
          <a:p>
            <a:pPr indent="0" lvl="0" marL="457200" rtl="0" algn="l">
              <a:lnSpc>
                <a:spcPct val="115000"/>
              </a:lnSpc>
              <a:spcBef>
                <a:spcPts val="1200"/>
              </a:spcBef>
              <a:spcAft>
                <a:spcPts val="1200"/>
              </a:spcAft>
              <a:buNone/>
            </a:pPr>
            <a:r>
              <a:rPr b="1" lang="vi" sz="1000">
                <a:solidFill>
                  <a:srgbClr val="351C75"/>
                </a:solidFill>
              </a:rPr>
              <a:t>Kết quả thực tế:  </a:t>
            </a:r>
            <a:r>
              <a:rPr lang="vi" sz="1000">
                <a:solidFill>
                  <a:srgbClr val="351C75"/>
                </a:solidFill>
              </a:rPr>
              <a:t>Click vào ngày không có phản hồi, không có giá trị nào được nhập vào ô.</a:t>
            </a:r>
            <a:endParaRPr b="1" sz="1000">
              <a:solidFill>
                <a:srgbClr val="351C75"/>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5"/>
          <p:cNvSpPr txBox="1"/>
          <p:nvPr/>
        </p:nvSpPr>
        <p:spPr>
          <a:xfrm>
            <a:off x="439000" y="275075"/>
            <a:ext cx="84066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b="1" sz="3600">
              <a:solidFill>
                <a:srgbClr val="351C75"/>
              </a:solidFill>
            </a:endParaRPr>
          </a:p>
        </p:txBody>
      </p:sp>
      <p:sp>
        <p:nvSpPr>
          <p:cNvPr id="473" name="Google Shape;473;p75"/>
          <p:cNvSpPr/>
          <p:nvPr/>
        </p:nvSpPr>
        <p:spPr>
          <a:xfrm>
            <a:off x="1769450" y="1070000"/>
            <a:ext cx="5468400" cy="3294300"/>
          </a:xfrm>
          <a:prstGeom prst="roundRect">
            <a:avLst>
              <a:gd fmla="val 16667" name="adj"/>
            </a:avLst>
          </a:prstGeom>
          <a:solidFill>
            <a:srgbClr val="FFF5F5"/>
          </a:solidFill>
          <a:ln cap="flat" cmpd="sng" w="5650">
            <a:solidFill>
              <a:srgbClr val="CA2F47"/>
            </a:solidFill>
            <a:prstDash val="solid"/>
            <a:round/>
            <a:headEnd len="sm" w="sm" type="none"/>
            <a:tailEnd len="sm" w="sm" type="none"/>
          </a:ln>
        </p:spPr>
        <p:txBody>
          <a:bodyPr anchorCtr="0" anchor="ctr" bIns="54100" lIns="54100" spcFirstLastPara="1" rIns="54100" wrap="square" tIns="54100">
            <a:noAutofit/>
          </a:bodyPr>
          <a:lstStyle/>
          <a:p>
            <a:pPr indent="0" lvl="0" marL="914400" rtl="0" algn="l">
              <a:lnSpc>
                <a:spcPct val="115000"/>
              </a:lnSpc>
              <a:spcBef>
                <a:spcPts val="1200"/>
              </a:spcBef>
              <a:spcAft>
                <a:spcPts val="0"/>
              </a:spcAft>
              <a:buClr>
                <a:schemeClr val="dk1"/>
              </a:buClr>
              <a:buSzPts val="1100"/>
              <a:buFont typeface="Arial"/>
              <a:buNone/>
            </a:pPr>
            <a:r>
              <a:rPr lang="vi" sz="800">
                <a:solidFill>
                  <a:srgbClr val="0B5394"/>
                </a:solidFill>
              </a:rPr>
              <a:t>バグ</a:t>
            </a:r>
            <a:r>
              <a:rPr lang="vi" sz="800">
                <a:solidFill>
                  <a:srgbClr val="351C75"/>
                </a:solidFill>
              </a:rPr>
              <a:t>ID: BUG-2025-007  </a:t>
            </a:r>
            <a:endParaRPr sz="8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タイトル: カレンダーポップアップで日付が選択できない不具合  </a:t>
            </a:r>
            <a:endParaRPr sz="8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発生日: 2025/07/19  </a:t>
            </a:r>
            <a:endParaRPr sz="8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発生環境: Firefox 115 / </a:t>
            </a:r>
            <a:r>
              <a:rPr lang="vi" sz="800">
                <a:solidFill>
                  <a:srgbClr val="CA2F47"/>
                </a:solidFill>
              </a:rPr>
              <a:t>本番</a:t>
            </a:r>
            <a:r>
              <a:rPr lang="vi" sz="800">
                <a:solidFill>
                  <a:srgbClr val="351C75"/>
                </a:solidFill>
              </a:rPr>
              <a:t>環境</a:t>
            </a:r>
            <a:r>
              <a:rPr lang="vi" sz="800">
                <a:solidFill>
                  <a:srgbClr val="CA2F47"/>
                </a:solidFill>
              </a:rPr>
              <a:t> </a:t>
            </a:r>
            <a:endParaRPr sz="800">
              <a:solidFill>
                <a:srgbClr val="CA2F47"/>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再現手順：</a:t>
            </a:r>
            <a:endParaRPr sz="800">
              <a:solidFill>
                <a:srgbClr val="351C75"/>
              </a:solidFill>
            </a:endParaRPr>
          </a:p>
          <a:p>
            <a:pPr indent="-279400" lvl="0" marL="1371600" rtl="0" algn="l">
              <a:lnSpc>
                <a:spcPct val="115000"/>
              </a:lnSpc>
              <a:spcBef>
                <a:spcPts val="1200"/>
              </a:spcBef>
              <a:spcAft>
                <a:spcPts val="0"/>
              </a:spcAft>
              <a:buClr>
                <a:schemeClr val="dk1"/>
              </a:buClr>
              <a:buSzPts val="800"/>
              <a:buAutoNum type="arabicPeriod"/>
            </a:pPr>
            <a:r>
              <a:rPr lang="vi" sz="800">
                <a:solidFill>
                  <a:srgbClr val="351C75"/>
                </a:solidFill>
              </a:rPr>
              <a:t>イベント登録フォームを開く</a:t>
            </a:r>
            <a:endParaRPr sz="800">
              <a:solidFill>
                <a:srgbClr val="351C75"/>
              </a:solidFill>
            </a:endParaRPr>
          </a:p>
          <a:p>
            <a:pPr indent="-279400" lvl="0" marL="1371600" rtl="0" algn="l">
              <a:lnSpc>
                <a:spcPct val="115000"/>
              </a:lnSpc>
              <a:spcBef>
                <a:spcPts val="0"/>
              </a:spcBef>
              <a:spcAft>
                <a:spcPts val="0"/>
              </a:spcAft>
              <a:buClr>
                <a:schemeClr val="dk1"/>
              </a:buClr>
              <a:buSzPts val="800"/>
              <a:buAutoNum type="arabicPeriod"/>
            </a:pPr>
            <a:r>
              <a:rPr lang="vi" sz="800">
                <a:solidFill>
                  <a:srgbClr val="351C75"/>
                </a:solidFill>
              </a:rPr>
              <a:t>日時ピッカーをクリックする</a:t>
            </a:r>
            <a:endParaRPr sz="800">
              <a:solidFill>
                <a:srgbClr val="351C75"/>
              </a:solidFill>
            </a:endParaRPr>
          </a:p>
          <a:p>
            <a:pPr indent="-279400" lvl="0" marL="1371600" rtl="0" algn="l">
              <a:lnSpc>
                <a:spcPct val="115000"/>
              </a:lnSpc>
              <a:spcBef>
                <a:spcPts val="0"/>
              </a:spcBef>
              <a:spcAft>
                <a:spcPts val="0"/>
              </a:spcAft>
              <a:buClr>
                <a:schemeClr val="dk1"/>
              </a:buClr>
              <a:buSzPts val="800"/>
              <a:buAutoNum type="arabicPeriod"/>
            </a:pPr>
            <a:r>
              <a:rPr lang="vi" sz="800">
                <a:solidFill>
                  <a:srgbClr val="351C75"/>
                </a:solidFill>
              </a:rPr>
              <a:t>日時ピッカーが表示され、任意の日付をクリックして選択する</a:t>
            </a:r>
            <a:endParaRPr sz="8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期待結果：</a:t>
            </a:r>
            <a:br>
              <a:rPr lang="vi" sz="800">
                <a:solidFill>
                  <a:srgbClr val="351C75"/>
                </a:solidFill>
              </a:rPr>
            </a:br>
            <a:r>
              <a:rPr lang="vi" sz="800">
                <a:solidFill>
                  <a:srgbClr val="351C75"/>
                </a:solidFill>
              </a:rPr>
              <a:t> 日付を選択でき、選択した日付が入力欄に表示されること</a:t>
            </a:r>
            <a:endParaRPr sz="800">
              <a:solidFill>
                <a:srgbClr val="351C75"/>
              </a:solidFill>
            </a:endParaRPr>
          </a:p>
          <a:p>
            <a:pPr indent="0" lvl="0" marL="914400" rtl="0" algn="l">
              <a:lnSpc>
                <a:spcPct val="115000"/>
              </a:lnSpc>
              <a:spcBef>
                <a:spcPts val="1200"/>
              </a:spcBef>
              <a:spcAft>
                <a:spcPts val="1200"/>
              </a:spcAft>
              <a:buNone/>
            </a:pPr>
            <a:r>
              <a:rPr lang="vi" sz="800">
                <a:solidFill>
                  <a:srgbClr val="351C75"/>
                </a:solidFill>
              </a:rPr>
              <a:t>実際の結果：</a:t>
            </a:r>
            <a:br>
              <a:rPr lang="vi" sz="800">
                <a:solidFill>
                  <a:srgbClr val="351C75"/>
                </a:solidFill>
              </a:rPr>
            </a:br>
            <a:r>
              <a:rPr lang="vi" sz="800">
                <a:solidFill>
                  <a:srgbClr val="351C75"/>
                </a:solidFill>
              </a:rPr>
              <a:t> 日付をクリックしても反応がなく、入力欄に値が反映されない</a:t>
            </a:r>
            <a:endParaRPr sz="800">
              <a:solidFill>
                <a:srgbClr val="351C75"/>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6"/>
          <p:cNvSpPr txBox="1"/>
          <p:nvPr/>
        </p:nvSpPr>
        <p:spPr>
          <a:xfrm>
            <a:off x="439000" y="331100"/>
            <a:ext cx="84066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vi" sz="3600">
                <a:solidFill>
                  <a:srgbClr val="351C75"/>
                </a:solidFill>
              </a:rPr>
              <a:t>Thực hành 03</a:t>
            </a:r>
            <a:r>
              <a:rPr b="1" lang="vi" sz="2400">
                <a:solidFill>
                  <a:srgbClr val="351C75"/>
                </a:solidFill>
              </a:rPr>
              <a:t>		</a:t>
            </a:r>
            <a:endParaRPr b="1" sz="2400">
              <a:solidFill>
                <a:srgbClr val="351C75"/>
              </a:solidFill>
            </a:endParaRPr>
          </a:p>
        </p:txBody>
      </p:sp>
      <p:sp>
        <p:nvSpPr>
          <p:cNvPr id="479" name="Google Shape;479;p76"/>
          <p:cNvSpPr/>
          <p:nvPr/>
        </p:nvSpPr>
        <p:spPr>
          <a:xfrm>
            <a:off x="1769450" y="1070000"/>
            <a:ext cx="6163200" cy="3294300"/>
          </a:xfrm>
          <a:prstGeom prst="roundRect">
            <a:avLst>
              <a:gd fmla="val 16667" name="adj"/>
            </a:avLst>
          </a:prstGeom>
          <a:solidFill>
            <a:srgbClr val="FFF5F5"/>
          </a:solidFill>
          <a:ln cap="flat" cmpd="sng" w="5650">
            <a:solidFill>
              <a:srgbClr val="CA2F47"/>
            </a:solidFill>
            <a:prstDash val="solid"/>
            <a:round/>
            <a:headEnd len="sm" w="sm" type="none"/>
            <a:tailEnd len="sm" w="sm" type="none"/>
          </a:ln>
        </p:spPr>
        <p:txBody>
          <a:bodyPr anchorCtr="0" anchor="ctr" bIns="54100" lIns="54100" spcFirstLastPara="1" rIns="54100" wrap="square" tIns="54100">
            <a:noAutofit/>
          </a:bodyPr>
          <a:lstStyle/>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Bug ID: BUG-2025-021  </a:t>
            </a:r>
            <a:endParaRPr sz="8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タイトル: タブを切り替えると、入力中のデータが保存されない  </a:t>
            </a:r>
            <a:endParaRPr sz="8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発生日: 2025/07/20  </a:t>
            </a:r>
            <a:endParaRPr sz="8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発生環境: Edge 120 / ステージング環境  </a:t>
            </a:r>
            <a:endParaRPr sz="8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再現手順:  </a:t>
            </a:r>
            <a:endParaRPr sz="800">
              <a:solidFill>
                <a:srgbClr val="351C75"/>
              </a:solidFill>
            </a:endParaRPr>
          </a:p>
          <a:p>
            <a:pPr indent="0" lvl="0" marL="1371600" rtl="0" algn="l">
              <a:lnSpc>
                <a:spcPct val="115000"/>
              </a:lnSpc>
              <a:spcBef>
                <a:spcPts val="1200"/>
              </a:spcBef>
              <a:spcAft>
                <a:spcPts val="0"/>
              </a:spcAft>
              <a:buClr>
                <a:schemeClr val="dk1"/>
              </a:buClr>
              <a:buSzPts val="1100"/>
              <a:buFont typeface="Arial"/>
              <a:buNone/>
            </a:pPr>
            <a:r>
              <a:rPr lang="vi" sz="800">
                <a:solidFill>
                  <a:srgbClr val="351C75"/>
                </a:solidFill>
              </a:rPr>
              <a:t>1. 従業員管理画面を開く  </a:t>
            </a:r>
            <a:endParaRPr sz="800">
              <a:solidFill>
                <a:srgbClr val="351C75"/>
              </a:solidFill>
            </a:endParaRPr>
          </a:p>
          <a:p>
            <a:pPr indent="0" lvl="0" marL="1371600" rtl="0" algn="l">
              <a:lnSpc>
                <a:spcPct val="115000"/>
              </a:lnSpc>
              <a:spcBef>
                <a:spcPts val="1200"/>
              </a:spcBef>
              <a:spcAft>
                <a:spcPts val="0"/>
              </a:spcAft>
              <a:buClr>
                <a:schemeClr val="dk1"/>
              </a:buClr>
              <a:buSzPts val="1100"/>
              <a:buFont typeface="Arial"/>
              <a:buNone/>
            </a:pPr>
            <a:r>
              <a:rPr lang="vi" sz="800">
                <a:solidFill>
                  <a:srgbClr val="351C75"/>
                </a:solidFill>
              </a:rPr>
              <a:t>2. 新規作成フォームに情報を入力する</a:t>
            </a:r>
            <a:endParaRPr sz="800">
              <a:solidFill>
                <a:srgbClr val="351C75"/>
              </a:solidFill>
            </a:endParaRPr>
          </a:p>
          <a:p>
            <a:pPr indent="0" lvl="0" marL="1371600" rtl="0" algn="l">
              <a:lnSpc>
                <a:spcPct val="115000"/>
              </a:lnSpc>
              <a:spcBef>
                <a:spcPts val="1200"/>
              </a:spcBef>
              <a:spcAft>
                <a:spcPts val="0"/>
              </a:spcAft>
              <a:buClr>
                <a:schemeClr val="dk1"/>
              </a:buClr>
              <a:buSzPts val="1100"/>
              <a:buFont typeface="Arial"/>
              <a:buNone/>
            </a:pPr>
            <a:r>
              <a:rPr lang="vi" sz="800">
                <a:solidFill>
                  <a:srgbClr val="351C75"/>
                </a:solidFill>
              </a:rPr>
              <a:t>3. 保存せずに別タブへ移動する  </a:t>
            </a:r>
            <a:endParaRPr sz="800">
              <a:solidFill>
                <a:srgbClr val="351C75"/>
              </a:solidFill>
            </a:endParaRPr>
          </a:p>
          <a:p>
            <a:pPr indent="0" lvl="0" marL="1371600" rtl="0" algn="l">
              <a:lnSpc>
                <a:spcPct val="115000"/>
              </a:lnSpc>
              <a:spcBef>
                <a:spcPts val="1200"/>
              </a:spcBef>
              <a:spcAft>
                <a:spcPts val="0"/>
              </a:spcAft>
              <a:buClr>
                <a:schemeClr val="dk1"/>
              </a:buClr>
              <a:buSzPts val="1100"/>
              <a:buFont typeface="Arial"/>
              <a:buNone/>
            </a:pPr>
            <a:r>
              <a:rPr lang="vi" sz="800">
                <a:solidFill>
                  <a:srgbClr val="351C75"/>
                </a:solidFill>
              </a:rPr>
              <a:t>4. 元のタブに戻る  </a:t>
            </a:r>
            <a:endParaRPr sz="800">
              <a:solidFill>
                <a:srgbClr val="351C75"/>
              </a:solidFill>
            </a:endParaRPr>
          </a:p>
          <a:p>
            <a:pPr indent="0" lvl="0" marL="914400" rtl="0" algn="l">
              <a:lnSpc>
                <a:spcPct val="115000"/>
              </a:lnSpc>
              <a:spcBef>
                <a:spcPts val="1200"/>
              </a:spcBef>
              <a:spcAft>
                <a:spcPts val="0"/>
              </a:spcAft>
              <a:buClr>
                <a:schemeClr val="dk1"/>
              </a:buClr>
              <a:buSzPts val="1100"/>
              <a:buFont typeface="Arial"/>
              <a:buNone/>
            </a:pPr>
            <a:r>
              <a:rPr lang="vi" sz="800">
                <a:solidFill>
                  <a:srgbClr val="351C75"/>
                </a:solidFill>
              </a:rPr>
              <a:t>期待結果:  入力した内容が保持されていること  </a:t>
            </a:r>
            <a:endParaRPr sz="800">
              <a:solidFill>
                <a:srgbClr val="351C75"/>
              </a:solidFill>
            </a:endParaRPr>
          </a:p>
          <a:p>
            <a:pPr indent="0" lvl="0" marL="914400" rtl="0" algn="l">
              <a:lnSpc>
                <a:spcPct val="115000"/>
              </a:lnSpc>
              <a:spcBef>
                <a:spcPts val="1200"/>
              </a:spcBef>
              <a:spcAft>
                <a:spcPts val="1200"/>
              </a:spcAft>
              <a:buNone/>
            </a:pPr>
            <a:r>
              <a:rPr lang="vi" sz="800">
                <a:solidFill>
                  <a:srgbClr val="351C75"/>
                </a:solidFill>
              </a:rPr>
              <a:t>実際結果:  すべてのデータが消去され、フォームが初期状態に戻る。</a:t>
            </a:r>
            <a:endParaRPr b="1" sz="800">
              <a:solidFill>
                <a:srgbClr val="351C75"/>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483" name="Shape 483"/>
        <p:cNvGrpSpPr/>
        <p:nvPr/>
      </p:nvGrpSpPr>
      <p:grpSpPr>
        <a:xfrm>
          <a:off x="0" y="0"/>
          <a:ext cx="0" cy="0"/>
          <a:chOff x="0" y="0"/>
          <a:chExt cx="0" cy="0"/>
        </a:xfrm>
      </p:grpSpPr>
      <p:sp>
        <p:nvSpPr>
          <p:cNvPr id="484" name="Google Shape;484;p77"/>
          <p:cNvSpPr txBox="1"/>
          <p:nvPr/>
        </p:nvSpPr>
        <p:spPr>
          <a:xfrm>
            <a:off x="190550" y="7620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Bài chữa mẫu</a:t>
            </a:r>
            <a:endParaRPr sz="3600">
              <a:solidFill>
                <a:srgbClr val="351C75"/>
              </a:solidFill>
            </a:endParaRPr>
          </a:p>
        </p:txBody>
      </p:sp>
      <p:sp>
        <p:nvSpPr>
          <p:cNvPr id="485" name="Google Shape;485;p77"/>
          <p:cNvSpPr/>
          <p:nvPr/>
        </p:nvSpPr>
        <p:spPr>
          <a:xfrm>
            <a:off x="2072125" y="815100"/>
            <a:ext cx="5736300" cy="37140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vi" sz="1000">
                <a:solidFill>
                  <a:srgbClr val="351C75"/>
                </a:solidFill>
              </a:rPr>
              <a:t>Bug ID</a:t>
            </a:r>
            <a:r>
              <a:rPr lang="vi" sz="1000">
                <a:solidFill>
                  <a:srgbClr val="351C75"/>
                </a:solidFill>
              </a:rPr>
              <a:t>: BUG-2025-021  </a:t>
            </a:r>
            <a:endParaRPr sz="1000">
              <a:solidFill>
                <a:srgbClr val="351C75"/>
              </a:solidFill>
            </a:endParaRPr>
          </a:p>
          <a:p>
            <a:pPr indent="0" lvl="0" marL="0" rtl="0" algn="l">
              <a:lnSpc>
                <a:spcPct val="115000"/>
              </a:lnSpc>
              <a:spcBef>
                <a:spcPts val="1200"/>
              </a:spcBef>
              <a:spcAft>
                <a:spcPts val="0"/>
              </a:spcAft>
              <a:buNone/>
            </a:pPr>
            <a:r>
              <a:rPr b="1" lang="vi" sz="1000">
                <a:solidFill>
                  <a:srgbClr val="351C75"/>
                </a:solidFill>
              </a:rPr>
              <a:t>Tiêu đề:</a:t>
            </a:r>
            <a:r>
              <a:rPr lang="vi" sz="1000">
                <a:solidFill>
                  <a:srgbClr val="351C75"/>
                </a:solidFill>
              </a:rPr>
              <a:t> Dữ liệu đang nhập không được lưu khi chuyển tab  </a:t>
            </a:r>
            <a:endParaRPr sz="1000">
              <a:solidFill>
                <a:srgbClr val="351C75"/>
              </a:solidFill>
            </a:endParaRPr>
          </a:p>
          <a:p>
            <a:pPr indent="0" lvl="0" marL="0" rtl="0" algn="l">
              <a:lnSpc>
                <a:spcPct val="115000"/>
              </a:lnSpc>
              <a:spcBef>
                <a:spcPts val="1200"/>
              </a:spcBef>
              <a:spcAft>
                <a:spcPts val="0"/>
              </a:spcAft>
              <a:buNone/>
            </a:pPr>
            <a:r>
              <a:rPr b="1" lang="vi" sz="1000">
                <a:solidFill>
                  <a:srgbClr val="351C75"/>
                </a:solidFill>
              </a:rPr>
              <a:t>Ngày phát hiện:</a:t>
            </a:r>
            <a:r>
              <a:rPr lang="vi" sz="1000">
                <a:solidFill>
                  <a:srgbClr val="351C75"/>
                </a:solidFill>
              </a:rPr>
              <a:t> 2025/07/20  </a:t>
            </a:r>
            <a:endParaRPr sz="1000">
              <a:solidFill>
                <a:srgbClr val="351C75"/>
              </a:solidFill>
            </a:endParaRPr>
          </a:p>
          <a:p>
            <a:pPr indent="0" lvl="0" marL="0" rtl="0" algn="l">
              <a:lnSpc>
                <a:spcPct val="115000"/>
              </a:lnSpc>
              <a:spcBef>
                <a:spcPts val="1200"/>
              </a:spcBef>
              <a:spcAft>
                <a:spcPts val="0"/>
              </a:spcAft>
              <a:buNone/>
            </a:pPr>
            <a:r>
              <a:rPr b="1" lang="vi" sz="1000">
                <a:solidFill>
                  <a:srgbClr val="351C75"/>
                </a:solidFill>
              </a:rPr>
              <a:t>Môi trường</a:t>
            </a:r>
            <a:r>
              <a:rPr lang="vi" sz="1000">
                <a:solidFill>
                  <a:srgbClr val="351C75"/>
                </a:solidFill>
              </a:rPr>
              <a:t>: Edge 120 / </a:t>
            </a:r>
            <a:r>
              <a:rPr b="1" lang="vi" sz="1000">
                <a:solidFill>
                  <a:srgbClr val="CA2F47"/>
                </a:solidFill>
              </a:rPr>
              <a:t>STG</a:t>
            </a:r>
            <a:endParaRPr b="1" sz="1000">
              <a:solidFill>
                <a:srgbClr val="351C75"/>
              </a:solidFill>
            </a:endParaRPr>
          </a:p>
          <a:p>
            <a:pPr indent="0" lvl="0" marL="0" rtl="0" algn="l">
              <a:lnSpc>
                <a:spcPct val="115000"/>
              </a:lnSpc>
              <a:spcBef>
                <a:spcPts val="1200"/>
              </a:spcBef>
              <a:spcAft>
                <a:spcPts val="0"/>
              </a:spcAft>
              <a:buNone/>
            </a:pPr>
            <a:r>
              <a:rPr b="1" lang="vi" sz="1000">
                <a:solidFill>
                  <a:srgbClr val="351C75"/>
                </a:solidFill>
              </a:rPr>
              <a:t>Bước tái hiện:</a:t>
            </a:r>
            <a:endParaRPr b="1" sz="1000">
              <a:solidFill>
                <a:srgbClr val="351C75"/>
              </a:solidFill>
            </a:endParaRPr>
          </a:p>
          <a:p>
            <a:pPr indent="0" lvl="0" marL="457200" rtl="0" algn="l">
              <a:lnSpc>
                <a:spcPct val="115000"/>
              </a:lnSpc>
              <a:spcBef>
                <a:spcPts val="1200"/>
              </a:spcBef>
              <a:spcAft>
                <a:spcPts val="0"/>
              </a:spcAft>
              <a:buNone/>
            </a:pPr>
            <a:r>
              <a:rPr lang="vi" sz="1000">
                <a:solidFill>
                  <a:srgbClr val="351C75"/>
                </a:solidFill>
              </a:rPr>
              <a:t>1. Mở màn hình quản lý nhân viên</a:t>
            </a:r>
            <a:endParaRPr sz="1000">
              <a:solidFill>
                <a:srgbClr val="351C75"/>
              </a:solidFill>
            </a:endParaRPr>
          </a:p>
          <a:p>
            <a:pPr indent="0" lvl="0" marL="457200" rtl="0" algn="l">
              <a:lnSpc>
                <a:spcPct val="115000"/>
              </a:lnSpc>
              <a:spcBef>
                <a:spcPts val="1200"/>
              </a:spcBef>
              <a:spcAft>
                <a:spcPts val="0"/>
              </a:spcAft>
              <a:buNone/>
            </a:pPr>
            <a:r>
              <a:rPr lang="vi" sz="1000">
                <a:solidFill>
                  <a:srgbClr val="351C75"/>
                </a:solidFill>
              </a:rPr>
              <a:t>2. Nhập thông tin vào form tạo mới</a:t>
            </a:r>
            <a:endParaRPr sz="1000">
              <a:solidFill>
                <a:srgbClr val="351C75"/>
              </a:solidFill>
            </a:endParaRPr>
          </a:p>
          <a:p>
            <a:pPr indent="0" lvl="0" marL="457200" rtl="0" algn="l">
              <a:lnSpc>
                <a:spcPct val="115000"/>
              </a:lnSpc>
              <a:spcBef>
                <a:spcPts val="1200"/>
              </a:spcBef>
              <a:spcAft>
                <a:spcPts val="0"/>
              </a:spcAft>
              <a:buNone/>
            </a:pPr>
            <a:r>
              <a:rPr lang="vi" sz="1000">
                <a:solidFill>
                  <a:srgbClr val="351C75"/>
                </a:solidFill>
              </a:rPr>
              <a:t>3. Chuyển sang tab khác mà không nhấn lưu</a:t>
            </a:r>
            <a:endParaRPr sz="1000">
              <a:solidFill>
                <a:srgbClr val="351C75"/>
              </a:solidFill>
            </a:endParaRPr>
          </a:p>
          <a:p>
            <a:pPr indent="0" lvl="0" marL="457200" rtl="0" algn="l">
              <a:lnSpc>
                <a:spcPct val="115000"/>
              </a:lnSpc>
              <a:spcBef>
                <a:spcPts val="1200"/>
              </a:spcBef>
              <a:spcAft>
                <a:spcPts val="0"/>
              </a:spcAft>
              <a:buNone/>
            </a:pPr>
            <a:r>
              <a:rPr lang="vi" sz="1000">
                <a:solidFill>
                  <a:srgbClr val="351C75"/>
                </a:solidFill>
              </a:rPr>
              <a:t>4. Quay lại tab ban đầu</a:t>
            </a:r>
            <a:endParaRPr sz="1000">
              <a:solidFill>
                <a:srgbClr val="351C75"/>
              </a:solidFill>
            </a:endParaRPr>
          </a:p>
          <a:p>
            <a:pPr indent="0" lvl="0" marL="0" rtl="0" algn="l">
              <a:lnSpc>
                <a:spcPct val="115000"/>
              </a:lnSpc>
              <a:spcBef>
                <a:spcPts val="1200"/>
              </a:spcBef>
              <a:spcAft>
                <a:spcPts val="0"/>
              </a:spcAft>
              <a:buNone/>
            </a:pPr>
            <a:r>
              <a:rPr b="1" lang="vi" sz="1000">
                <a:solidFill>
                  <a:srgbClr val="351C75"/>
                </a:solidFill>
              </a:rPr>
              <a:t>Kết quả mong đợi:  </a:t>
            </a:r>
            <a:r>
              <a:rPr lang="vi" sz="1000">
                <a:solidFill>
                  <a:srgbClr val="351C75"/>
                </a:solidFill>
              </a:rPr>
              <a:t>Nội dung đã nhập vẫn được giữ nguyên</a:t>
            </a:r>
            <a:endParaRPr sz="1000">
              <a:solidFill>
                <a:srgbClr val="351C75"/>
              </a:solidFill>
            </a:endParaRPr>
          </a:p>
          <a:p>
            <a:pPr indent="0" lvl="0" marL="0" rtl="0" algn="l">
              <a:lnSpc>
                <a:spcPct val="115000"/>
              </a:lnSpc>
              <a:spcBef>
                <a:spcPts val="1200"/>
              </a:spcBef>
              <a:spcAft>
                <a:spcPts val="1200"/>
              </a:spcAft>
              <a:buNone/>
            </a:pPr>
            <a:r>
              <a:rPr b="1" lang="vi" sz="1000">
                <a:solidFill>
                  <a:srgbClr val="351C75"/>
                </a:solidFill>
              </a:rPr>
              <a:t>Kết quả thực tế: </a:t>
            </a:r>
            <a:r>
              <a:rPr lang="vi" sz="1000">
                <a:solidFill>
                  <a:srgbClr val="351C75"/>
                </a:solidFill>
              </a:rPr>
              <a:t> Toàn bộ dữ liệu bị mất, form trở về trạng thái khởi tạo trống</a:t>
            </a:r>
            <a:endParaRPr b="1" sz="1000">
              <a:solidFill>
                <a:srgbClr val="351C75"/>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8"/>
          <p:cNvSpPr txBox="1"/>
          <p:nvPr/>
        </p:nvSpPr>
        <p:spPr>
          <a:xfrm>
            <a:off x="549976" y="409050"/>
            <a:ext cx="8337900" cy="525300"/>
          </a:xfrm>
          <a:prstGeom prst="rect">
            <a:avLst/>
          </a:prstGeom>
          <a:noFill/>
          <a:ln>
            <a:noFill/>
          </a:ln>
        </p:spPr>
        <p:txBody>
          <a:bodyPr anchorCtr="0" anchor="t" bIns="65000" lIns="65000" spcFirstLastPara="1" rIns="65000" wrap="square" tIns="65000">
            <a:spAutoFit/>
          </a:bodyPr>
          <a:lstStyle/>
          <a:p>
            <a:pPr indent="0" lvl="0" marL="0" rtl="0" algn="ctr">
              <a:lnSpc>
                <a:spcPct val="115000"/>
              </a:lnSpc>
              <a:spcBef>
                <a:spcPts val="1280"/>
              </a:spcBef>
              <a:spcAft>
                <a:spcPts val="284"/>
              </a:spcAft>
              <a:buNone/>
            </a:pPr>
            <a:r>
              <a:rPr b="1" lang="vi" sz="2560">
                <a:solidFill>
                  <a:srgbClr val="351C75"/>
                </a:solidFill>
              </a:rPr>
              <a:t>Luyện tập dịch nâng cao</a:t>
            </a:r>
            <a:endParaRPr b="1" sz="2560">
              <a:solidFill>
                <a:srgbClr val="351C75"/>
              </a:solidFill>
            </a:endParaRPr>
          </a:p>
        </p:txBody>
      </p:sp>
      <p:sp>
        <p:nvSpPr>
          <p:cNvPr id="491" name="Google Shape;491;p78"/>
          <p:cNvSpPr/>
          <p:nvPr/>
        </p:nvSpPr>
        <p:spPr>
          <a:xfrm>
            <a:off x="1334400" y="1781222"/>
            <a:ext cx="6475200" cy="1886100"/>
          </a:xfrm>
          <a:prstGeom prst="roundRect">
            <a:avLst>
              <a:gd fmla="val 16667" name="adj"/>
            </a:avLst>
          </a:prstGeom>
          <a:solidFill>
            <a:srgbClr val="FFF5F5"/>
          </a:solidFill>
          <a:ln cap="flat" cmpd="sng" w="6775">
            <a:solidFill>
              <a:srgbClr val="CA2F47"/>
            </a:solidFill>
            <a:prstDash val="solid"/>
            <a:round/>
            <a:headEnd len="sm" w="sm" type="none"/>
            <a:tailEnd len="sm" w="sm" type="none"/>
          </a:ln>
        </p:spPr>
        <p:txBody>
          <a:bodyPr anchorCtr="0" anchor="ctr" bIns="65000" lIns="65000" spcFirstLastPara="1" rIns="65000" wrap="square" tIns="65000">
            <a:noAutofit/>
          </a:bodyPr>
          <a:lstStyle/>
          <a:p>
            <a:pPr indent="0" lvl="0" marL="0" rtl="0" algn="l">
              <a:lnSpc>
                <a:spcPct val="115000"/>
              </a:lnSpc>
              <a:spcBef>
                <a:spcPts val="853"/>
              </a:spcBef>
              <a:spcAft>
                <a:spcPts val="0"/>
              </a:spcAft>
              <a:buNone/>
            </a:pPr>
            <a:r>
              <a:rPr b="1" lang="vi">
                <a:solidFill>
                  <a:srgbClr val="CA2F47"/>
                </a:solidFill>
              </a:rPr>
              <a:t>Đề:</a:t>
            </a:r>
            <a:endParaRPr b="1">
              <a:solidFill>
                <a:srgbClr val="CA2F47"/>
              </a:solidFill>
            </a:endParaRPr>
          </a:p>
          <a:p>
            <a:pPr indent="0" lvl="0" marL="0" rtl="0" algn="l">
              <a:lnSpc>
                <a:spcPct val="115000"/>
              </a:lnSpc>
              <a:spcBef>
                <a:spcPts val="853"/>
              </a:spcBef>
              <a:spcAft>
                <a:spcPts val="0"/>
              </a:spcAft>
              <a:buNone/>
            </a:pPr>
            <a:r>
              <a:rPr b="1" lang="vi" u="sng">
                <a:solidFill>
                  <a:srgbClr val="304FFE"/>
                </a:solidFill>
                <a:hlinkClick r:id="rId3">
                  <a:extLst>
                    <a:ext uri="{A12FA001-AC4F-418D-AE19-62706E023703}">
                      <ahyp:hlinkClr val="tx"/>
                    </a:ext>
                  </a:extLst>
                </a:hlinkClick>
              </a:rPr>
              <a:t>https://docs.google.com/document/d/1kFdrIVL1kZ1vCyXLiiJm3ZOOVEI2qJU3bjFMnq4ikXk/edit?usp=sharing</a:t>
            </a:r>
            <a:r>
              <a:rPr b="1" lang="vi">
                <a:solidFill>
                  <a:srgbClr val="CA2F47"/>
                </a:solidFill>
              </a:rPr>
              <a:t> </a:t>
            </a:r>
            <a:endParaRPr b="1">
              <a:solidFill>
                <a:srgbClr val="CA2F47"/>
              </a:solidFill>
            </a:endParaRPr>
          </a:p>
          <a:p>
            <a:pPr indent="0" lvl="0" marL="0" rtl="0" algn="l">
              <a:lnSpc>
                <a:spcPct val="115000"/>
              </a:lnSpc>
              <a:spcBef>
                <a:spcPts val="853"/>
              </a:spcBef>
              <a:spcAft>
                <a:spcPts val="853"/>
              </a:spcAft>
              <a:buNone/>
            </a:pPr>
            <a:r>
              <a:rPr b="1" lang="vi">
                <a:solidFill>
                  <a:srgbClr val="CA2F47"/>
                </a:solidFill>
              </a:rPr>
              <a:t>Bài chữa: </a:t>
            </a:r>
            <a:r>
              <a:rPr b="1" lang="vi" u="sng">
                <a:solidFill>
                  <a:srgbClr val="304FFE"/>
                </a:solidFill>
                <a:hlinkClick r:id="rId4">
                  <a:extLst>
                    <a:ext uri="{A12FA001-AC4F-418D-AE19-62706E023703}">
                      <ahyp:hlinkClr val="tx"/>
                    </a:ext>
                  </a:extLst>
                </a:hlinkClick>
              </a:rPr>
              <a:t>https://docs.google.com/document/d/1dOFf97B844mezIRF3ROkpX8lbjL2CKxx8lH8BVon1d0/edit?usp=sharing</a:t>
            </a:r>
            <a:r>
              <a:rPr b="1" lang="vi">
                <a:solidFill>
                  <a:srgbClr val="CA2F47"/>
                </a:solidFill>
              </a:rPr>
              <a:t> </a:t>
            </a:r>
            <a:endParaRPr b="1">
              <a:solidFill>
                <a:srgbClr val="CA2F47"/>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9"/>
          <p:cNvSpPr txBox="1"/>
          <p:nvPr/>
        </p:nvSpPr>
        <p:spPr>
          <a:xfrm>
            <a:off x="275100" y="334475"/>
            <a:ext cx="8593800" cy="667500"/>
          </a:xfrm>
          <a:prstGeom prst="rect">
            <a:avLst/>
          </a:prstGeom>
          <a:noFill/>
          <a:ln>
            <a:noFill/>
          </a:ln>
        </p:spPr>
        <p:txBody>
          <a:bodyPr anchorCtr="0" anchor="t" bIns="56100" lIns="56100" spcFirstLastPara="1" rIns="56100" wrap="square" tIns="56100">
            <a:spAutoFit/>
          </a:bodyPr>
          <a:lstStyle/>
          <a:p>
            <a:pPr indent="0" lvl="0" marL="0" rtl="0" algn="ctr">
              <a:lnSpc>
                <a:spcPct val="115000"/>
              </a:lnSpc>
              <a:spcBef>
                <a:spcPts val="1105"/>
              </a:spcBef>
              <a:spcAft>
                <a:spcPts val="245"/>
              </a:spcAft>
              <a:buNone/>
            </a:pPr>
            <a:r>
              <a:rPr b="1" lang="vi" sz="3600">
                <a:solidFill>
                  <a:srgbClr val="351C75"/>
                </a:solidFill>
              </a:rPr>
              <a:t>Dịch message</a:t>
            </a:r>
            <a:endParaRPr b="1" sz="3600">
              <a:solidFill>
                <a:srgbClr val="351C75"/>
              </a:solidFill>
            </a:endParaRPr>
          </a:p>
        </p:txBody>
      </p:sp>
      <p:sp>
        <p:nvSpPr>
          <p:cNvPr id="497" name="Google Shape;497;p79"/>
          <p:cNvSpPr/>
          <p:nvPr/>
        </p:nvSpPr>
        <p:spPr>
          <a:xfrm>
            <a:off x="1798366" y="1001985"/>
            <a:ext cx="6241500" cy="1307400"/>
          </a:xfrm>
          <a:prstGeom prst="roundRect">
            <a:avLst>
              <a:gd fmla="val 16667" name="adj"/>
            </a:avLst>
          </a:prstGeom>
          <a:solidFill>
            <a:srgbClr val="FFF5F5"/>
          </a:solidFill>
          <a:ln cap="flat" cmpd="sng" w="5850">
            <a:solidFill>
              <a:srgbClr val="CA2F47"/>
            </a:solidFill>
            <a:prstDash val="solid"/>
            <a:round/>
            <a:headEnd len="sm" w="sm" type="none"/>
            <a:tailEnd len="sm" w="sm" type="none"/>
          </a:ln>
        </p:spPr>
        <p:txBody>
          <a:bodyPr anchorCtr="0" anchor="ctr" bIns="56100" lIns="56100" spcFirstLastPara="1" rIns="56100" wrap="square" tIns="56100">
            <a:noAutofit/>
          </a:bodyPr>
          <a:lstStyle/>
          <a:p>
            <a:pPr indent="0" lvl="0" marL="0" rtl="0" algn="l">
              <a:lnSpc>
                <a:spcPct val="115000"/>
              </a:lnSpc>
              <a:spcBef>
                <a:spcPts val="736"/>
              </a:spcBef>
              <a:spcAft>
                <a:spcPts val="0"/>
              </a:spcAft>
              <a:buNone/>
            </a:pPr>
            <a:r>
              <a:rPr b="1" lang="vi" sz="1105">
                <a:solidFill>
                  <a:srgbClr val="351C75"/>
                </a:solidFill>
              </a:rPr>
              <a:t>Hiểu về message</a:t>
            </a:r>
            <a:endParaRPr b="1" sz="1105">
              <a:solidFill>
                <a:srgbClr val="351C75"/>
              </a:solidFill>
            </a:endParaRPr>
          </a:p>
          <a:p>
            <a:pPr indent="-210413" lvl="0" marL="280551" rtl="0" algn="l">
              <a:spcBef>
                <a:spcPts val="736"/>
              </a:spcBef>
              <a:spcAft>
                <a:spcPts val="0"/>
              </a:spcAft>
              <a:buClr>
                <a:srgbClr val="351C75"/>
              </a:buClr>
              <a:buSzPts val="1105"/>
              <a:buChar char="-"/>
            </a:pPr>
            <a:r>
              <a:rPr lang="vi" sz="1105">
                <a:solidFill>
                  <a:srgbClr val="351C75"/>
                </a:solidFill>
              </a:rPr>
              <a:t>Là các thông điệp hiển thị trên màn hình để truyền đạt chính xác tình trạng của hệ thống, ví dụ như popup, thông báo lỗi (error message), cảnh báo (warning), xác nhận (confirmation), thông báo hệ thống (system message), v.v.</a:t>
            </a:r>
            <a:endParaRPr sz="1105">
              <a:solidFill>
                <a:srgbClr val="351C75"/>
              </a:solidFill>
            </a:endParaRPr>
          </a:p>
          <a:p>
            <a:pPr indent="-210413" lvl="0" marL="280551" rtl="0" algn="l">
              <a:spcBef>
                <a:spcPts val="0"/>
              </a:spcBef>
              <a:spcAft>
                <a:spcPts val="0"/>
              </a:spcAft>
              <a:buClr>
                <a:srgbClr val="351C75"/>
              </a:buClr>
              <a:buSzPts val="1105"/>
              <a:buChar char="-"/>
            </a:pPr>
            <a:r>
              <a:rPr lang="vi" sz="1105">
                <a:solidFill>
                  <a:srgbClr val="351C75"/>
                </a:solidFill>
              </a:rPr>
              <a:t>Dùng </a:t>
            </a:r>
            <a:r>
              <a:rPr b="1" lang="vi" sz="1105">
                <a:solidFill>
                  <a:srgbClr val="351C75"/>
                </a:solidFill>
              </a:rPr>
              <a:t>thể lịch sự</a:t>
            </a:r>
            <a:r>
              <a:rPr lang="vi" sz="1105">
                <a:solidFill>
                  <a:srgbClr val="351C75"/>
                </a:solidFill>
              </a:rPr>
              <a:t>  </a:t>
            </a:r>
            <a:r>
              <a:rPr b="1" lang="vi" sz="1105">
                <a:solidFill>
                  <a:srgbClr val="351C75"/>
                </a:solidFill>
              </a:rPr>
              <a:t>ます, です, できません…</a:t>
            </a:r>
            <a:endParaRPr sz="1105">
              <a:solidFill>
                <a:srgbClr val="351C75"/>
              </a:solidFill>
            </a:endParaRPr>
          </a:p>
          <a:p>
            <a:pPr indent="-210413" lvl="0" marL="280551" rtl="0" algn="l">
              <a:spcBef>
                <a:spcPts val="0"/>
              </a:spcBef>
              <a:spcAft>
                <a:spcPts val="0"/>
              </a:spcAft>
              <a:buClr>
                <a:srgbClr val="351C75"/>
              </a:buClr>
              <a:buSzPts val="1105"/>
              <a:buChar char="-"/>
            </a:pPr>
            <a:r>
              <a:rPr b="1" lang="vi" sz="1105">
                <a:solidFill>
                  <a:srgbClr val="351C75"/>
                </a:solidFill>
              </a:rPr>
              <a:t>Thường dùng </a:t>
            </a:r>
            <a:r>
              <a:rPr lang="vi" sz="1105">
                <a:solidFill>
                  <a:srgbClr val="351C75"/>
                </a:solidFill>
              </a:rPr>
              <a:t>chữ Hán Nhật thay vì okurigana (ví dụ: dùng 選択 thay vì 選ぶ)</a:t>
            </a:r>
            <a:endParaRPr sz="1105">
              <a:solidFill>
                <a:srgbClr val="351C75"/>
              </a:solidFill>
            </a:endParaRPr>
          </a:p>
        </p:txBody>
      </p:sp>
      <p:sp>
        <p:nvSpPr>
          <p:cNvPr id="498" name="Google Shape;498;p79"/>
          <p:cNvSpPr/>
          <p:nvPr/>
        </p:nvSpPr>
        <p:spPr>
          <a:xfrm>
            <a:off x="1798366" y="2547511"/>
            <a:ext cx="2856300" cy="1894500"/>
          </a:xfrm>
          <a:prstGeom prst="roundRect">
            <a:avLst>
              <a:gd fmla="val 16667" name="adj"/>
            </a:avLst>
          </a:prstGeom>
          <a:solidFill>
            <a:srgbClr val="FFF5F5"/>
          </a:solidFill>
          <a:ln cap="flat" cmpd="sng" w="5850">
            <a:solidFill>
              <a:srgbClr val="CA2F47"/>
            </a:solidFill>
            <a:prstDash val="solid"/>
            <a:round/>
            <a:headEnd len="sm" w="sm" type="none"/>
            <a:tailEnd len="sm" w="sm" type="none"/>
          </a:ln>
        </p:spPr>
        <p:txBody>
          <a:bodyPr anchorCtr="0" anchor="ctr" bIns="56100" lIns="56100" spcFirstLastPara="1" rIns="56100" wrap="square" tIns="56100">
            <a:noAutofit/>
          </a:bodyPr>
          <a:lstStyle/>
          <a:p>
            <a:pPr indent="0" lvl="0" marL="0" rtl="0" algn="l">
              <a:spcBef>
                <a:spcPts val="0"/>
              </a:spcBef>
              <a:spcAft>
                <a:spcPts val="0"/>
              </a:spcAft>
              <a:buClr>
                <a:srgbClr val="000000"/>
              </a:buClr>
              <a:buSzPts val="675"/>
              <a:buFont typeface="Arial"/>
              <a:buNone/>
            </a:pPr>
            <a:r>
              <a:rPr lang="vi" sz="1105">
                <a:solidFill>
                  <a:srgbClr val="351C75"/>
                </a:solidFill>
              </a:rPr>
              <a:t>Không có gì được chọn</a:t>
            </a:r>
            <a:endParaRPr sz="1105">
              <a:solidFill>
                <a:srgbClr val="351C75"/>
              </a:solidFill>
            </a:endParaRPr>
          </a:p>
          <a:p>
            <a:pPr indent="0" lvl="0" marL="0" rtl="0" algn="l">
              <a:spcBef>
                <a:spcPts val="0"/>
              </a:spcBef>
              <a:spcAft>
                <a:spcPts val="0"/>
              </a:spcAft>
              <a:buClr>
                <a:srgbClr val="000000"/>
              </a:buClr>
              <a:buSzPts val="675"/>
              <a:buFont typeface="Arial"/>
              <a:buNone/>
            </a:pPr>
            <a:r>
              <a:rPr lang="vi" sz="1105">
                <a:solidFill>
                  <a:srgbClr val="351C75"/>
                </a:solidFill>
              </a:rPr>
              <a:t>❌: 何も選ばれていない</a:t>
            </a:r>
            <a:endParaRPr sz="1105">
              <a:solidFill>
                <a:srgbClr val="351C75"/>
              </a:solidFill>
            </a:endParaRPr>
          </a:p>
          <a:p>
            <a:pPr indent="0" lvl="0" marL="0" rtl="0" algn="l">
              <a:spcBef>
                <a:spcPts val="0"/>
              </a:spcBef>
              <a:spcAft>
                <a:spcPts val="0"/>
              </a:spcAft>
              <a:buClr>
                <a:srgbClr val="000000"/>
              </a:buClr>
              <a:buSzPts val="675"/>
              <a:buFont typeface="Arial"/>
              <a:buNone/>
            </a:pPr>
            <a:r>
              <a:rPr lang="vi" sz="1105">
                <a:solidFill>
                  <a:srgbClr val="351C75"/>
                </a:solidFill>
              </a:rPr>
              <a:t>✅: 項目が選択されていません</a:t>
            </a:r>
            <a:endParaRPr sz="1105">
              <a:solidFill>
                <a:srgbClr val="351C75"/>
              </a:solidFill>
            </a:endParaRPr>
          </a:p>
          <a:p>
            <a:pPr indent="0" lvl="0" marL="0" rtl="0" algn="l">
              <a:spcBef>
                <a:spcPts val="0"/>
              </a:spcBef>
              <a:spcAft>
                <a:spcPts val="0"/>
              </a:spcAft>
              <a:buClr>
                <a:srgbClr val="000000"/>
              </a:buClr>
              <a:buSzPts val="675"/>
              <a:buFont typeface="Arial"/>
              <a:buNone/>
            </a:pPr>
            <a:r>
              <a:t/>
            </a:r>
            <a:endParaRPr sz="1105">
              <a:solidFill>
                <a:srgbClr val="351C75"/>
              </a:solidFill>
            </a:endParaRPr>
          </a:p>
          <a:p>
            <a:pPr indent="0" lvl="0" marL="0" rtl="0" algn="l">
              <a:spcBef>
                <a:spcPts val="0"/>
              </a:spcBef>
              <a:spcAft>
                <a:spcPts val="0"/>
              </a:spcAft>
              <a:buClr>
                <a:srgbClr val="000000"/>
              </a:buClr>
              <a:buSzPts val="675"/>
              <a:buFont typeface="Arial"/>
              <a:buNone/>
            </a:pPr>
            <a:r>
              <a:rPr lang="vi" sz="1105">
                <a:solidFill>
                  <a:srgbClr val="351C75"/>
                </a:solidFill>
              </a:rPr>
              <a:t>Không thể lưu</a:t>
            </a:r>
            <a:endParaRPr sz="1105">
              <a:solidFill>
                <a:srgbClr val="351C75"/>
              </a:solidFill>
            </a:endParaRPr>
          </a:p>
          <a:p>
            <a:pPr indent="0" lvl="0" marL="0" rtl="0" algn="l">
              <a:spcBef>
                <a:spcPts val="0"/>
              </a:spcBef>
              <a:spcAft>
                <a:spcPts val="0"/>
              </a:spcAft>
              <a:buClr>
                <a:srgbClr val="000000"/>
              </a:buClr>
              <a:buSzPts val="675"/>
              <a:buFont typeface="Arial"/>
              <a:buNone/>
            </a:pPr>
            <a:r>
              <a:rPr lang="vi" sz="1105">
                <a:solidFill>
                  <a:srgbClr val="351C75"/>
                </a:solidFill>
              </a:rPr>
              <a:t>❌: 保存できない</a:t>
            </a:r>
            <a:endParaRPr sz="1105">
              <a:solidFill>
                <a:srgbClr val="351C75"/>
              </a:solidFill>
            </a:endParaRPr>
          </a:p>
          <a:p>
            <a:pPr indent="0" lvl="0" marL="0" rtl="0" algn="l">
              <a:spcBef>
                <a:spcPts val="0"/>
              </a:spcBef>
              <a:spcAft>
                <a:spcPts val="0"/>
              </a:spcAft>
              <a:buClr>
                <a:srgbClr val="000000"/>
              </a:buClr>
              <a:buSzPts val="675"/>
              <a:buFont typeface="Arial"/>
              <a:buNone/>
            </a:pPr>
            <a:r>
              <a:rPr lang="vi" sz="1105">
                <a:solidFill>
                  <a:srgbClr val="351C75"/>
                </a:solidFill>
              </a:rPr>
              <a:t>✅: 保存できませんでした</a:t>
            </a:r>
            <a:endParaRPr sz="1105">
              <a:solidFill>
                <a:srgbClr val="351C75"/>
              </a:solidFill>
            </a:endParaRPr>
          </a:p>
          <a:p>
            <a:pPr indent="0" lvl="0" marL="0" rtl="0" algn="l">
              <a:spcBef>
                <a:spcPts val="0"/>
              </a:spcBef>
              <a:spcAft>
                <a:spcPts val="0"/>
              </a:spcAft>
              <a:buClr>
                <a:srgbClr val="000000"/>
              </a:buClr>
              <a:buSzPts val="675"/>
              <a:buFont typeface="Arial"/>
              <a:buNone/>
            </a:pPr>
            <a:r>
              <a:t/>
            </a:r>
            <a:endParaRPr sz="1105">
              <a:solidFill>
                <a:srgbClr val="351C75"/>
              </a:solidFill>
            </a:endParaRPr>
          </a:p>
          <a:p>
            <a:pPr indent="0" lvl="0" marL="0" rtl="0" algn="l">
              <a:spcBef>
                <a:spcPts val="0"/>
              </a:spcBef>
              <a:spcAft>
                <a:spcPts val="0"/>
              </a:spcAft>
              <a:buClr>
                <a:srgbClr val="000000"/>
              </a:buClr>
              <a:buSzPts val="675"/>
              <a:buFont typeface="Arial"/>
              <a:buNone/>
            </a:pPr>
            <a:r>
              <a:rPr lang="vi" sz="1105">
                <a:solidFill>
                  <a:srgbClr val="351C75"/>
                </a:solidFill>
              </a:rPr>
              <a:t>Bạn có chắc chắn muốn xóa không?</a:t>
            </a:r>
            <a:endParaRPr sz="1105">
              <a:solidFill>
                <a:srgbClr val="351C75"/>
              </a:solidFill>
            </a:endParaRPr>
          </a:p>
          <a:p>
            <a:pPr indent="0" lvl="0" marL="0" rtl="0" algn="l">
              <a:spcBef>
                <a:spcPts val="0"/>
              </a:spcBef>
              <a:spcAft>
                <a:spcPts val="0"/>
              </a:spcAft>
              <a:buClr>
                <a:srgbClr val="000000"/>
              </a:buClr>
              <a:buSzPts val="675"/>
              <a:buFont typeface="Arial"/>
              <a:buNone/>
            </a:pPr>
            <a:r>
              <a:rPr lang="vi" sz="1105">
                <a:solidFill>
                  <a:srgbClr val="351C75"/>
                </a:solidFill>
              </a:rPr>
              <a:t>❌: 消したい？</a:t>
            </a:r>
            <a:endParaRPr sz="1105">
              <a:solidFill>
                <a:srgbClr val="351C75"/>
              </a:solidFill>
            </a:endParaRPr>
          </a:p>
          <a:p>
            <a:pPr indent="0" lvl="0" marL="0" rtl="0" algn="l">
              <a:spcBef>
                <a:spcPts val="0"/>
              </a:spcBef>
              <a:spcAft>
                <a:spcPts val="0"/>
              </a:spcAft>
              <a:buClr>
                <a:srgbClr val="000000"/>
              </a:buClr>
              <a:buSzPts val="675"/>
              <a:buFont typeface="Arial"/>
              <a:buNone/>
            </a:pPr>
            <a:r>
              <a:rPr lang="vi" sz="1105">
                <a:solidFill>
                  <a:srgbClr val="351C75"/>
                </a:solidFill>
              </a:rPr>
              <a:t>✅: 本当に削除してもよろしいですか？</a:t>
            </a:r>
            <a:endParaRPr sz="859"/>
          </a:p>
        </p:txBody>
      </p:sp>
      <p:sp>
        <p:nvSpPr>
          <p:cNvPr id="499" name="Google Shape;499;p79"/>
          <p:cNvSpPr/>
          <p:nvPr/>
        </p:nvSpPr>
        <p:spPr>
          <a:xfrm>
            <a:off x="4768094" y="2523672"/>
            <a:ext cx="3271500" cy="1942500"/>
          </a:xfrm>
          <a:prstGeom prst="roundRect">
            <a:avLst>
              <a:gd fmla="val 16667" name="adj"/>
            </a:avLst>
          </a:prstGeom>
          <a:solidFill>
            <a:srgbClr val="FFF5F5"/>
          </a:solidFill>
          <a:ln cap="flat" cmpd="sng" w="5850">
            <a:solidFill>
              <a:srgbClr val="CA2F47"/>
            </a:solidFill>
            <a:prstDash val="solid"/>
            <a:round/>
            <a:headEnd len="sm" w="sm" type="none"/>
            <a:tailEnd len="sm" w="sm" type="none"/>
          </a:ln>
        </p:spPr>
        <p:txBody>
          <a:bodyPr anchorCtr="0" anchor="ctr" bIns="56100" lIns="56100" spcFirstLastPara="1" rIns="56100" wrap="square" tIns="56100">
            <a:noAutofit/>
          </a:bodyPr>
          <a:lstStyle/>
          <a:p>
            <a:pPr indent="0" lvl="0" marL="0" rtl="0" algn="l">
              <a:spcBef>
                <a:spcPts val="0"/>
              </a:spcBef>
              <a:spcAft>
                <a:spcPts val="0"/>
              </a:spcAft>
              <a:buNone/>
            </a:pPr>
            <a:r>
              <a:rPr lang="vi" sz="1105">
                <a:solidFill>
                  <a:srgbClr val="351C75"/>
                </a:solidFill>
              </a:rPr>
              <a:t>Đã xóa xong.</a:t>
            </a:r>
            <a:endParaRPr sz="1105">
              <a:solidFill>
                <a:srgbClr val="351C75"/>
              </a:solidFill>
            </a:endParaRPr>
          </a:p>
          <a:p>
            <a:pPr indent="0" lvl="0" marL="0" rtl="0" algn="l">
              <a:spcBef>
                <a:spcPts val="0"/>
              </a:spcBef>
              <a:spcAft>
                <a:spcPts val="0"/>
              </a:spcAft>
              <a:buNone/>
            </a:pPr>
            <a:r>
              <a:rPr lang="vi" sz="1105">
                <a:solidFill>
                  <a:srgbClr val="351C75"/>
                </a:solidFill>
              </a:rPr>
              <a:t>❌: 削除した。</a:t>
            </a:r>
            <a:endParaRPr sz="1105">
              <a:solidFill>
                <a:srgbClr val="351C75"/>
              </a:solidFill>
            </a:endParaRPr>
          </a:p>
          <a:p>
            <a:pPr indent="0" lvl="0" marL="0" rtl="0" algn="l">
              <a:spcBef>
                <a:spcPts val="0"/>
              </a:spcBef>
              <a:spcAft>
                <a:spcPts val="0"/>
              </a:spcAft>
              <a:buNone/>
            </a:pPr>
            <a:r>
              <a:rPr lang="vi" sz="1105">
                <a:solidFill>
                  <a:srgbClr val="351C75"/>
                </a:solidFill>
              </a:rPr>
              <a:t>✅: 削除が完了しました。</a:t>
            </a:r>
            <a:endParaRPr sz="1105">
              <a:solidFill>
                <a:srgbClr val="351C75"/>
              </a:solidFill>
            </a:endParaRPr>
          </a:p>
          <a:p>
            <a:pPr indent="0" lvl="0" marL="0" rtl="0" algn="l">
              <a:spcBef>
                <a:spcPts val="0"/>
              </a:spcBef>
              <a:spcAft>
                <a:spcPts val="0"/>
              </a:spcAft>
              <a:buNone/>
            </a:pPr>
            <a:r>
              <a:t/>
            </a:r>
            <a:endParaRPr sz="1105">
              <a:solidFill>
                <a:srgbClr val="351C75"/>
              </a:solidFill>
            </a:endParaRPr>
          </a:p>
          <a:p>
            <a:pPr indent="0" lvl="0" marL="0" rtl="0" algn="l">
              <a:spcBef>
                <a:spcPts val="0"/>
              </a:spcBef>
              <a:spcAft>
                <a:spcPts val="0"/>
              </a:spcAft>
              <a:buNone/>
            </a:pPr>
            <a:r>
              <a:rPr lang="vi" sz="1105">
                <a:solidFill>
                  <a:srgbClr val="351C75"/>
                </a:solidFill>
              </a:rPr>
              <a:t>Không thể kết nối server</a:t>
            </a:r>
            <a:endParaRPr sz="1105">
              <a:solidFill>
                <a:srgbClr val="351C75"/>
              </a:solidFill>
            </a:endParaRPr>
          </a:p>
          <a:p>
            <a:pPr indent="0" lvl="0" marL="0" rtl="0" algn="l">
              <a:spcBef>
                <a:spcPts val="0"/>
              </a:spcBef>
              <a:spcAft>
                <a:spcPts val="0"/>
              </a:spcAft>
              <a:buNone/>
            </a:pPr>
            <a:r>
              <a:rPr lang="vi" sz="1105">
                <a:solidFill>
                  <a:srgbClr val="351C75"/>
                </a:solidFill>
              </a:rPr>
              <a:t>❌: サーバー接続失敗</a:t>
            </a:r>
            <a:endParaRPr sz="1105">
              <a:solidFill>
                <a:srgbClr val="351C75"/>
              </a:solidFill>
            </a:endParaRPr>
          </a:p>
          <a:p>
            <a:pPr indent="0" lvl="0" marL="0" rtl="0" algn="l">
              <a:spcBef>
                <a:spcPts val="0"/>
              </a:spcBef>
              <a:spcAft>
                <a:spcPts val="0"/>
              </a:spcAft>
              <a:buNone/>
            </a:pPr>
            <a:r>
              <a:rPr lang="vi" sz="1105">
                <a:solidFill>
                  <a:srgbClr val="351C75"/>
                </a:solidFill>
              </a:rPr>
              <a:t>✅: サーバーに接続できませんでした</a:t>
            </a:r>
            <a:endParaRPr sz="1105">
              <a:solidFill>
                <a:srgbClr val="351C75"/>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80"/>
          <p:cNvSpPr txBox="1"/>
          <p:nvPr/>
        </p:nvSpPr>
        <p:spPr>
          <a:xfrm>
            <a:off x="641350" y="359250"/>
            <a:ext cx="7907700" cy="679500"/>
          </a:xfrm>
          <a:prstGeom prst="rect">
            <a:avLst/>
          </a:prstGeom>
          <a:noFill/>
          <a:ln>
            <a:noFill/>
          </a:ln>
        </p:spPr>
        <p:txBody>
          <a:bodyPr anchorCtr="0" anchor="t" bIns="62125" lIns="62125" spcFirstLastPara="1" rIns="62125" wrap="square" tIns="62125">
            <a:spAutoFit/>
          </a:bodyPr>
          <a:lstStyle/>
          <a:p>
            <a:pPr indent="0" lvl="0" marL="0" rtl="0" algn="l">
              <a:lnSpc>
                <a:spcPct val="115000"/>
              </a:lnSpc>
              <a:spcBef>
                <a:spcPts val="1223"/>
              </a:spcBef>
              <a:spcAft>
                <a:spcPts val="272"/>
              </a:spcAft>
              <a:buNone/>
            </a:pPr>
            <a:r>
              <a:rPr b="1" lang="vi" sz="3600">
                <a:solidFill>
                  <a:srgbClr val="351C75"/>
                </a:solidFill>
              </a:rPr>
              <a:t>Một số dạng message</a:t>
            </a:r>
            <a:endParaRPr b="1" sz="3600">
              <a:solidFill>
                <a:srgbClr val="351C75"/>
              </a:solidFill>
            </a:endParaRPr>
          </a:p>
        </p:txBody>
      </p:sp>
      <p:sp>
        <p:nvSpPr>
          <p:cNvPr id="505" name="Google Shape;505;p80"/>
          <p:cNvSpPr/>
          <p:nvPr/>
        </p:nvSpPr>
        <p:spPr>
          <a:xfrm>
            <a:off x="962075" y="1303800"/>
            <a:ext cx="6994500" cy="3097800"/>
          </a:xfrm>
          <a:prstGeom prst="roundRect">
            <a:avLst>
              <a:gd fmla="val 16667" name="adj"/>
            </a:avLst>
          </a:prstGeom>
          <a:solidFill>
            <a:srgbClr val="FFF5F5"/>
          </a:solidFill>
          <a:ln cap="flat" cmpd="sng" w="6475">
            <a:solidFill>
              <a:srgbClr val="CA2F47"/>
            </a:solidFill>
            <a:prstDash val="solid"/>
            <a:round/>
            <a:headEnd len="sm" w="sm" type="none"/>
            <a:tailEnd len="sm" w="sm" type="none"/>
          </a:ln>
        </p:spPr>
        <p:txBody>
          <a:bodyPr anchorCtr="0" anchor="ctr" bIns="62125" lIns="62125" spcFirstLastPara="1" rIns="62125" wrap="square" tIns="62125">
            <a:noAutofit/>
          </a:bodyPr>
          <a:lstStyle/>
          <a:p>
            <a:pPr indent="0" lvl="0" marL="0" rtl="0" algn="l">
              <a:spcBef>
                <a:spcPts val="0"/>
              </a:spcBef>
              <a:spcAft>
                <a:spcPts val="0"/>
              </a:spcAft>
              <a:buNone/>
            </a:pPr>
            <a:r>
              <a:rPr b="1" lang="vi" sz="1000">
                <a:solidFill>
                  <a:srgbClr val="351C75"/>
                </a:solidFill>
              </a:rPr>
              <a:t>Success / </a:t>
            </a:r>
            <a:r>
              <a:rPr lang="vi" sz="1000">
                <a:solidFill>
                  <a:srgbClr val="351C75"/>
                </a:solidFill>
              </a:rPr>
              <a:t>Thông báo hoàn tất hành động</a:t>
            </a:r>
            <a:endParaRPr sz="1000">
              <a:solidFill>
                <a:srgbClr val="351C75"/>
              </a:solidFill>
            </a:endParaRPr>
          </a:p>
          <a:p>
            <a:pPr indent="0" lvl="0" marL="0" rtl="0" algn="l">
              <a:spcBef>
                <a:spcPts val="0"/>
              </a:spcBef>
              <a:spcAft>
                <a:spcPts val="0"/>
              </a:spcAft>
              <a:buNone/>
            </a:pPr>
            <a:r>
              <a:rPr lang="vi" sz="1000">
                <a:solidFill>
                  <a:srgbClr val="351C75"/>
                </a:solidFill>
              </a:rPr>
              <a:t>[項目名]を保存/更新/削除しました。       Đã lưu/cập nhật/xóa [tên mục].</a:t>
            </a:r>
            <a:endParaRPr sz="1000">
              <a:solidFill>
                <a:srgbClr val="351C75"/>
              </a:solidFill>
            </a:endParaRPr>
          </a:p>
          <a:p>
            <a:pPr indent="0" lvl="0" marL="0" rtl="0" algn="l">
              <a:spcBef>
                <a:spcPts val="0"/>
              </a:spcBef>
              <a:spcAft>
                <a:spcPts val="0"/>
              </a:spcAft>
              <a:buNone/>
            </a:pPr>
            <a:r>
              <a:rPr lang="vi" sz="1000">
                <a:solidFill>
                  <a:srgbClr val="351C75"/>
                </a:solidFill>
              </a:rPr>
              <a:t>正常に保存されました。		Đã lưu thành công.</a:t>
            </a:r>
            <a:endParaRPr sz="1000">
              <a:solidFill>
                <a:srgbClr val="351C75"/>
              </a:solidFill>
            </a:endParaRPr>
          </a:p>
          <a:p>
            <a:pPr indent="0" lvl="0" marL="0" rtl="0" algn="l">
              <a:spcBef>
                <a:spcPts val="0"/>
              </a:spcBef>
              <a:spcAft>
                <a:spcPts val="0"/>
              </a:spcAft>
              <a:buNone/>
            </a:pPr>
            <a:r>
              <a:rPr lang="vi" sz="1000">
                <a:solidFill>
                  <a:srgbClr val="351C75"/>
                </a:solidFill>
              </a:rPr>
              <a:t>アップロードが完了しました。		Tải lên hoàn tất.</a:t>
            </a:r>
            <a:endParaRPr sz="1000">
              <a:solidFill>
                <a:srgbClr val="351C75"/>
              </a:solidFill>
            </a:endParaRPr>
          </a:p>
          <a:p>
            <a:pPr indent="0" lvl="0" marL="0" rtl="0" algn="l">
              <a:spcBef>
                <a:spcPts val="0"/>
              </a:spcBef>
              <a:spcAft>
                <a:spcPts val="0"/>
              </a:spcAft>
              <a:buNone/>
            </a:pPr>
            <a:r>
              <a:rPr lang="vi" sz="1000">
                <a:solidFill>
                  <a:srgbClr val="351C75"/>
                </a:solidFill>
              </a:rPr>
              <a:t>登録が正常に完了しました。		Đăng ký thành công.</a:t>
            </a:r>
            <a:endParaRPr sz="1000">
              <a:solidFill>
                <a:srgbClr val="351C75"/>
              </a:solidFill>
            </a:endParaRPr>
          </a:p>
          <a:p>
            <a:pPr indent="0" lvl="0" marL="0" rtl="0" algn="l">
              <a:spcBef>
                <a:spcPts val="0"/>
              </a:spcBef>
              <a:spcAft>
                <a:spcPts val="0"/>
              </a:spcAft>
              <a:buNone/>
            </a:pPr>
            <a:r>
              <a:t/>
            </a:r>
            <a:endParaRPr sz="1000">
              <a:solidFill>
                <a:srgbClr val="351C75"/>
              </a:solidFill>
            </a:endParaRPr>
          </a:p>
          <a:p>
            <a:pPr indent="0" lvl="0" marL="0" rtl="0" algn="l">
              <a:spcBef>
                <a:spcPts val="0"/>
              </a:spcBef>
              <a:spcAft>
                <a:spcPts val="0"/>
              </a:spcAft>
              <a:buNone/>
            </a:pPr>
            <a:r>
              <a:rPr b="1" lang="vi" sz="1000">
                <a:solidFill>
                  <a:srgbClr val="351C75"/>
                </a:solidFill>
              </a:rPr>
              <a:t>Confirmation / </a:t>
            </a:r>
            <a:r>
              <a:rPr lang="vi" sz="1000">
                <a:solidFill>
                  <a:srgbClr val="351C75"/>
                </a:solidFill>
              </a:rPr>
              <a:t>Xác nhận hành động người dùng</a:t>
            </a:r>
            <a:endParaRPr b="1" sz="1000">
              <a:solidFill>
                <a:srgbClr val="351C75"/>
              </a:solidFill>
            </a:endParaRPr>
          </a:p>
          <a:p>
            <a:pPr indent="0" lvl="0" marL="0" rtl="0" algn="l">
              <a:spcBef>
                <a:spcPts val="0"/>
              </a:spcBef>
              <a:spcAft>
                <a:spcPts val="0"/>
              </a:spcAft>
              <a:buNone/>
            </a:pPr>
            <a:r>
              <a:rPr lang="vi" sz="1000">
                <a:solidFill>
                  <a:srgbClr val="351C75"/>
                </a:solidFill>
              </a:rPr>
              <a:t>[項目名]を削除してもよろしいですか？				Bạn có chắc muốn xóa [tên mục] không?</a:t>
            </a:r>
            <a:endParaRPr sz="1000">
              <a:solidFill>
                <a:srgbClr val="351C75"/>
              </a:solidFill>
            </a:endParaRPr>
          </a:p>
          <a:p>
            <a:pPr indent="0" lvl="0" marL="0" rtl="0" algn="l">
              <a:spcBef>
                <a:spcPts val="0"/>
              </a:spcBef>
              <a:spcAft>
                <a:spcPts val="0"/>
              </a:spcAft>
              <a:buNone/>
            </a:pPr>
            <a:r>
              <a:rPr lang="vi" sz="1000">
                <a:solidFill>
                  <a:srgbClr val="351C75"/>
                </a:solidFill>
              </a:rPr>
              <a:t>この操作は元に戻せません。本当に実行しますか？		Hành động này không thể hoàn tác. Bạn có chắc chắn thực hiện không?</a:t>
            </a:r>
            <a:endParaRPr sz="1000">
              <a:solidFill>
                <a:srgbClr val="351C75"/>
              </a:solidFill>
            </a:endParaRPr>
          </a:p>
          <a:p>
            <a:pPr indent="0" lvl="0" marL="0" rtl="0" algn="l">
              <a:spcBef>
                <a:spcPts val="0"/>
              </a:spcBef>
              <a:spcAft>
                <a:spcPts val="0"/>
              </a:spcAft>
              <a:buNone/>
            </a:pPr>
            <a:r>
              <a:t/>
            </a:r>
            <a:endParaRPr sz="1000">
              <a:solidFill>
                <a:srgbClr val="351C75"/>
              </a:solidFill>
            </a:endParaRPr>
          </a:p>
          <a:p>
            <a:pPr indent="0" lvl="0" marL="0" rtl="0" algn="l">
              <a:spcBef>
                <a:spcPts val="0"/>
              </a:spcBef>
              <a:spcAft>
                <a:spcPts val="0"/>
              </a:spcAft>
              <a:buNone/>
            </a:pPr>
            <a:r>
              <a:rPr lang="vi" sz="1000">
                <a:solidFill>
                  <a:srgbClr val="351C75"/>
                </a:solidFill>
              </a:rPr>
              <a:t>⚠️ </a:t>
            </a:r>
            <a:r>
              <a:rPr b="1" lang="vi" sz="1000">
                <a:solidFill>
                  <a:srgbClr val="351C75"/>
                </a:solidFill>
              </a:rPr>
              <a:t>Alert - Warning / </a:t>
            </a:r>
            <a:r>
              <a:rPr lang="vi" sz="1000">
                <a:solidFill>
                  <a:srgbClr val="351C75"/>
                </a:solidFill>
              </a:rPr>
              <a:t>Cảnh báo trước hành động nguy cơ</a:t>
            </a:r>
            <a:endParaRPr b="1" sz="1000">
              <a:solidFill>
                <a:srgbClr val="351C75"/>
              </a:solidFill>
            </a:endParaRPr>
          </a:p>
          <a:p>
            <a:pPr indent="0" lvl="0" marL="0" rtl="0" algn="l">
              <a:spcBef>
                <a:spcPts val="0"/>
              </a:spcBef>
              <a:spcAft>
                <a:spcPts val="0"/>
              </a:spcAft>
              <a:buNone/>
            </a:pPr>
            <a:r>
              <a:t/>
            </a:r>
            <a:endParaRPr b="1" sz="1000">
              <a:solidFill>
                <a:srgbClr val="351C75"/>
              </a:solidFill>
            </a:endParaRPr>
          </a:p>
          <a:p>
            <a:pPr indent="0" lvl="0" marL="0" rtl="0" algn="l">
              <a:spcBef>
                <a:spcPts val="0"/>
              </a:spcBef>
              <a:spcAft>
                <a:spcPts val="0"/>
              </a:spcAft>
              <a:buClr>
                <a:srgbClr val="000000"/>
              </a:buClr>
              <a:buSzPts val="748"/>
              <a:buFont typeface="Arial"/>
              <a:buNone/>
            </a:pPr>
            <a:r>
              <a:rPr lang="vi" sz="1000">
                <a:solidFill>
                  <a:srgbClr val="351C75"/>
                </a:solidFill>
              </a:rPr>
              <a:t>入力内容に誤りがあります。ご確認ください。	Có lỗi trong nội dung nhập. Vui lòng kiểm tra lại.</a:t>
            </a:r>
            <a:endParaRPr b="1" sz="1000">
              <a:solidFill>
                <a:srgbClr val="351C75"/>
              </a:solidFill>
            </a:endParaRPr>
          </a:p>
          <a:p>
            <a:pPr indent="0" lvl="0" marL="0" rtl="0" algn="l">
              <a:spcBef>
                <a:spcPts val="0"/>
              </a:spcBef>
              <a:spcAft>
                <a:spcPts val="0"/>
              </a:spcAft>
              <a:buNone/>
            </a:pPr>
            <a:r>
              <a:rPr lang="vi" sz="1000">
                <a:solidFill>
                  <a:srgbClr val="351C75"/>
                </a:solidFill>
              </a:rPr>
              <a:t>必須項目が未入力です。			Có mục bắt buộc chưa được nhập.</a:t>
            </a:r>
            <a:endParaRPr sz="1000">
              <a:solidFill>
                <a:srgbClr val="351C75"/>
              </a:solidFill>
            </a:endParaRPr>
          </a:p>
          <a:p>
            <a:pPr indent="0" lvl="0" marL="0" rtl="0" algn="l">
              <a:spcBef>
                <a:spcPts val="0"/>
              </a:spcBef>
              <a:spcAft>
                <a:spcPts val="0"/>
              </a:spcAft>
              <a:buNone/>
            </a:pPr>
            <a:r>
              <a:rPr lang="vi" sz="1000">
                <a:solidFill>
                  <a:srgbClr val="351C75"/>
                </a:solidFill>
              </a:rPr>
              <a:t>同じ名前の[項目名]が既に存在しています。	[Tên mục] trùng tên đã tồn tại.</a:t>
            </a:r>
            <a:endParaRPr sz="1000">
              <a:solidFill>
                <a:srgbClr val="351C75"/>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1"/>
          <p:cNvSpPr txBox="1"/>
          <p:nvPr/>
        </p:nvSpPr>
        <p:spPr>
          <a:xfrm>
            <a:off x="1098450" y="407750"/>
            <a:ext cx="6942600" cy="659100"/>
          </a:xfrm>
          <a:prstGeom prst="rect">
            <a:avLst/>
          </a:prstGeom>
          <a:noFill/>
          <a:ln>
            <a:noFill/>
          </a:ln>
        </p:spPr>
        <p:txBody>
          <a:bodyPr anchorCtr="0" anchor="t" bIns="51950" lIns="51950" spcFirstLastPara="1" rIns="51950" wrap="square" tIns="51950">
            <a:spAutoFit/>
          </a:bodyPr>
          <a:lstStyle/>
          <a:p>
            <a:pPr indent="0" lvl="0" marL="0" rtl="0" algn="ctr">
              <a:lnSpc>
                <a:spcPct val="115000"/>
              </a:lnSpc>
              <a:spcBef>
                <a:spcPts val="1023"/>
              </a:spcBef>
              <a:spcAft>
                <a:spcPts val="227"/>
              </a:spcAft>
              <a:buNone/>
            </a:pPr>
            <a:r>
              <a:rPr b="1" lang="vi" sz="3600">
                <a:solidFill>
                  <a:srgbClr val="351C75"/>
                </a:solidFill>
              </a:rPr>
              <a:t>Một số dạng message</a:t>
            </a:r>
            <a:endParaRPr b="1" sz="3600">
              <a:solidFill>
                <a:srgbClr val="351C75"/>
              </a:solidFill>
            </a:endParaRPr>
          </a:p>
        </p:txBody>
      </p:sp>
      <p:sp>
        <p:nvSpPr>
          <p:cNvPr id="511" name="Google Shape;511;p81"/>
          <p:cNvSpPr/>
          <p:nvPr/>
        </p:nvSpPr>
        <p:spPr>
          <a:xfrm>
            <a:off x="1544523" y="1357774"/>
            <a:ext cx="6149400" cy="3001200"/>
          </a:xfrm>
          <a:prstGeom prst="roundRect">
            <a:avLst>
              <a:gd fmla="val 16667" name="adj"/>
            </a:avLst>
          </a:prstGeom>
          <a:solidFill>
            <a:srgbClr val="FFF5F5"/>
          </a:solidFill>
          <a:ln cap="flat" cmpd="sng" w="5425">
            <a:solidFill>
              <a:srgbClr val="CA2F47"/>
            </a:solidFill>
            <a:prstDash val="solid"/>
            <a:round/>
            <a:headEnd len="sm" w="sm" type="none"/>
            <a:tailEnd len="sm" w="sm" type="none"/>
          </a:ln>
        </p:spPr>
        <p:txBody>
          <a:bodyPr anchorCtr="0" anchor="ctr" bIns="51950" lIns="51950" spcFirstLastPara="1" rIns="51950" wrap="square" tIns="51950">
            <a:noAutofit/>
          </a:bodyPr>
          <a:lstStyle/>
          <a:p>
            <a:pPr indent="0" lvl="0" marL="0" rtl="0" algn="l">
              <a:spcBef>
                <a:spcPts val="0"/>
              </a:spcBef>
              <a:spcAft>
                <a:spcPts val="0"/>
              </a:spcAft>
              <a:buNone/>
            </a:pPr>
            <a:r>
              <a:rPr lang="vi" sz="1023">
                <a:solidFill>
                  <a:srgbClr val="000000"/>
                </a:solidFill>
              </a:rPr>
              <a:t>❗ </a:t>
            </a:r>
            <a:r>
              <a:rPr b="1" lang="vi" sz="1023">
                <a:solidFill>
                  <a:srgbClr val="351C75"/>
                </a:solidFill>
              </a:rPr>
              <a:t>Error / </a:t>
            </a:r>
            <a:r>
              <a:rPr lang="vi" sz="1023">
                <a:solidFill>
                  <a:srgbClr val="351C75"/>
                </a:solidFill>
              </a:rPr>
              <a:t>Báo lỗi khi có vấn đề</a:t>
            </a:r>
            <a:endParaRPr sz="1023">
              <a:solidFill>
                <a:srgbClr val="351C75"/>
              </a:solidFill>
            </a:endParaRPr>
          </a:p>
          <a:p>
            <a:pPr indent="0" lvl="0" marL="0" rtl="0" algn="l">
              <a:spcBef>
                <a:spcPts val="0"/>
              </a:spcBef>
              <a:spcAft>
                <a:spcPts val="0"/>
              </a:spcAft>
              <a:buNone/>
            </a:pPr>
            <a:r>
              <a:rPr lang="vi" sz="1023">
                <a:solidFill>
                  <a:srgbClr val="351C75"/>
                </a:solidFill>
              </a:rPr>
              <a:t>エラーが発生しました。しばらくしてから再度お試しください。Đã xảy ra lỗi. Vui lòng thử lại sau.</a:t>
            </a:r>
            <a:endParaRPr sz="1023">
              <a:solidFill>
                <a:srgbClr val="351C75"/>
              </a:solidFill>
            </a:endParaRPr>
          </a:p>
          <a:p>
            <a:pPr indent="0" lvl="0" marL="0" rtl="0" algn="l">
              <a:spcBef>
                <a:spcPts val="0"/>
              </a:spcBef>
              <a:spcAft>
                <a:spcPts val="0"/>
              </a:spcAft>
              <a:buNone/>
            </a:pPr>
            <a:r>
              <a:rPr lang="vi" sz="1023">
                <a:solidFill>
                  <a:srgbClr val="351C75"/>
                </a:solidFill>
              </a:rPr>
              <a:t>サーバーとの通信に失敗しました。				Kết nối với máy chủ thất bại.</a:t>
            </a:r>
            <a:endParaRPr sz="1023">
              <a:solidFill>
                <a:srgbClr val="351C75"/>
              </a:solidFill>
            </a:endParaRPr>
          </a:p>
          <a:p>
            <a:pPr indent="0" lvl="0" marL="0" rtl="0" algn="l">
              <a:spcBef>
                <a:spcPts val="0"/>
              </a:spcBef>
              <a:spcAft>
                <a:spcPts val="0"/>
              </a:spcAft>
              <a:buNone/>
            </a:pPr>
            <a:r>
              <a:rPr lang="vi" sz="1023">
                <a:solidFill>
                  <a:srgbClr val="351C75"/>
                </a:solidFill>
              </a:rPr>
              <a:t>[フィールド名]は無効な値です。				[Tên trường] có giá trị không hợp lệ.</a:t>
            </a:r>
            <a:endParaRPr sz="1023">
              <a:solidFill>
                <a:srgbClr val="351C75"/>
              </a:solidFill>
            </a:endParaRPr>
          </a:p>
          <a:p>
            <a:pPr indent="0" lvl="0" marL="0" rtl="0" algn="l">
              <a:spcBef>
                <a:spcPts val="0"/>
              </a:spcBef>
              <a:spcAft>
                <a:spcPts val="0"/>
              </a:spcAft>
              <a:buNone/>
            </a:pPr>
            <a:r>
              <a:rPr lang="vi" sz="1023">
                <a:solidFill>
                  <a:srgbClr val="351C75"/>
                </a:solidFill>
              </a:rPr>
              <a:t>[項目名]の取得に失敗しました。				Lấy dữ liệu [tên mục] thất bại.</a:t>
            </a:r>
            <a:endParaRPr sz="1023">
              <a:solidFill>
                <a:srgbClr val="351C75"/>
              </a:solidFill>
            </a:endParaRPr>
          </a:p>
          <a:p>
            <a:pPr indent="0" lvl="0" marL="0" rtl="0" algn="l">
              <a:spcBef>
                <a:spcPts val="0"/>
              </a:spcBef>
              <a:spcAft>
                <a:spcPts val="0"/>
              </a:spcAft>
              <a:buNone/>
            </a:pPr>
            <a:r>
              <a:t/>
            </a:r>
            <a:endParaRPr sz="1023">
              <a:solidFill>
                <a:srgbClr val="351C75"/>
              </a:solidFill>
            </a:endParaRPr>
          </a:p>
          <a:p>
            <a:pPr indent="0" lvl="0" marL="0" rtl="0" algn="l">
              <a:spcBef>
                <a:spcPts val="0"/>
              </a:spcBef>
              <a:spcAft>
                <a:spcPts val="0"/>
              </a:spcAft>
              <a:buNone/>
            </a:pPr>
            <a:r>
              <a:t/>
            </a:r>
            <a:endParaRPr sz="1023">
              <a:solidFill>
                <a:srgbClr val="351C75"/>
              </a:solidFill>
            </a:endParaRPr>
          </a:p>
          <a:p>
            <a:pPr indent="0" lvl="0" marL="0" rtl="0" algn="l">
              <a:spcBef>
                <a:spcPts val="0"/>
              </a:spcBef>
              <a:spcAft>
                <a:spcPts val="0"/>
              </a:spcAft>
              <a:buNone/>
            </a:pPr>
            <a:r>
              <a:rPr b="1" lang="vi" sz="1023">
                <a:solidFill>
                  <a:srgbClr val="351C75"/>
                </a:solidFill>
              </a:rPr>
              <a:t>⏳ Loading / </a:t>
            </a:r>
            <a:r>
              <a:rPr lang="vi" sz="1023">
                <a:solidFill>
                  <a:srgbClr val="351C75"/>
                </a:solidFill>
              </a:rPr>
              <a:t>Đang xử lý</a:t>
            </a:r>
            <a:endParaRPr sz="1023">
              <a:solidFill>
                <a:srgbClr val="351C75"/>
              </a:solidFill>
            </a:endParaRPr>
          </a:p>
          <a:p>
            <a:pPr indent="0" lvl="0" marL="0" rtl="0" algn="l">
              <a:spcBef>
                <a:spcPts val="0"/>
              </a:spcBef>
              <a:spcAft>
                <a:spcPts val="0"/>
              </a:spcAft>
              <a:buNone/>
            </a:pPr>
            <a:r>
              <a:rPr lang="vi" sz="1023">
                <a:solidFill>
                  <a:srgbClr val="351C75"/>
                </a:solidFill>
              </a:rPr>
              <a:t>データを読み込み中です。しばらくお待ちください。	Đang tải dữ liệu. Vui lòng đợi.</a:t>
            </a:r>
            <a:endParaRPr sz="1023">
              <a:solidFill>
                <a:srgbClr val="351C75"/>
              </a:solidFill>
            </a:endParaRPr>
          </a:p>
          <a:p>
            <a:pPr indent="0" lvl="0" marL="0" rtl="0" algn="l">
              <a:spcBef>
                <a:spcPts val="0"/>
              </a:spcBef>
              <a:spcAft>
                <a:spcPts val="0"/>
              </a:spcAft>
              <a:buNone/>
            </a:pPr>
            <a:r>
              <a:rPr lang="vi" sz="1023">
                <a:solidFill>
                  <a:srgbClr val="351C75"/>
                </a:solidFill>
              </a:rPr>
              <a:t>処理中です。画面を閉じないでください。		Đang xử lý. Vui lòng không đóng màn hình.</a:t>
            </a:r>
            <a:endParaRPr sz="1023">
              <a:solidFill>
                <a:srgbClr val="351C75"/>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2"/>
          <p:cNvSpPr txBox="1"/>
          <p:nvPr/>
        </p:nvSpPr>
        <p:spPr>
          <a:xfrm>
            <a:off x="1545308" y="387725"/>
            <a:ext cx="6053400" cy="678900"/>
          </a:xfrm>
          <a:prstGeom prst="rect">
            <a:avLst/>
          </a:prstGeom>
          <a:noFill/>
          <a:ln>
            <a:noFill/>
          </a:ln>
        </p:spPr>
        <p:txBody>
          <a:bodyPr anchorCtr="0" anchor="t" bIns="61775" lIns="61775" spcFirstLastPara="1" rIns="61775" wrap="square" tIns="61775">
            <a:spAutoFit/>
          </a:bodyPr>
          <a:lstStyle/>
          <a:p>
            <a:pPr indent="0" lvl="0" marL="0" rtl="0" algn="ctr">
              <a:lnSpc>
                <a:spcPct val="115000"/>
              </a:lnSpc>
              <a:spcBef>
                <a:spcPts val="1216"/>
              </a:spcBef>
              <a:spcAft>
                <a:spcPts val="270"/>
              </a:spcAft>
              <a:buNone/>
            </a:pPr>
            <a:r>
              <a:rPr b="1" lang="vi" sz="3600">
                <a:solidFill>
                  <a:srgbClr val="351C75"/>
                </a:solidFill>
              </a:rPr>
              <a:t>Thực hành</a:t>
            </a:r>
            <a:r>
              <a:rPr b="1" lang="vi" sz="3600">
                <a:solidFill>
                  <a:srgbClr val="351C75"/>
                </a:solidFill>
              </a:rPr>
              <a:t> 01</a:t>
            </a:r>
            <a:endParaRPr b="1" sz="3600">
              <a:solidFill>
                <a:srgbClr val="351C75"/>
              </a:solidFill>
            </a:endParaRPr>
          </a:p>
        </p:txBody>
      </p:sp>
      <p:sp>
        <p:nvSpPr>
          <p:cNvPr id="517" name="Google Shape;517;p82"/>
          <p:cNvSpPr/>
          <p:nvPr/>
        </p:nvSpPr>
        <p:spPr>
          <a:xfrm>
            <a:off x="951875" y="1188113"/>
            <a:ext cx="7083900" cy="2987700"/>
          </a:xfrm>
          <a:prstGeom prst="roundRect">
            <a:avLst>
              <a:gd fmla="val 16667" name="adj"/>
            </a:avLst>
          </a:prstGeom>
          <a:solidFill>
            <a:srgbClr val="FFF5F5"/>
          </a:solidFill>
          <a:ln cap="flat" cmpd="sng" w="6425">
            <a:solidFill>
              <a:srgbClr val="CA2F47"/>
            </a:solidFill>
            <a:prstDash val="solid"/>
            <a:round/>
            <a:headEnd len="sm" w="sm" type="none"/>
            <a:tailEnd len="sm" w="sm" type="none"/>
          </a:ln>
        </p:spPr>
        <p:txBody>
          <a:bodyPr anchorCtr="0" anchor="ctr" bIns="61775" lIns="61775" spcFirstLastPara="1" rIns="61775" wrap="square" tIns="61775">
            <a:noAutofit/>
          </a:bodyPr>
          <a:lstStyle/>
          <a:p>
            <a:pPr indent="0" lvl="0" marL="0" rtl="0" algn="l">
              <a:spcBef>
                <a:spcPts val="0"/>
              </a:spcBef>
              <a:spcAft>
                <a:spcPts val="0"/>
              </a:spcAft>
              <a:buNone/>
            </a:pPr>
            <a:r>
              <a:rPr b="1" lang="vi" sz="1216">
                <a:solidFill>
                  <a:srgbClr val="351C75"/>
                </a:solidFill>
              </a:rPr>
              <a:t>Hãy dịch thông báo sau sang tiếng Nhật</a:t>
            </a:r>
            <a:endParaRPr b="1" sz="1216">
              <a:solidFill>
                <a:srgbClr val="351C75"/>
              </a:solidFill>
            </a:endParaRPr>
          </a:p>
          <a:p>
            <a:pPr indent="0" lvl="0" marL="0" rtl="0" algn="l">
              <a:spcBef>
                <a:spcPts val="0"/>
              </a:spcBef>
              <a:spcAft>
                <a:spcPts val="0"/>
              </a:spcAft>
              <a:buNone/>
            </a:pPr>
            <a:r>
              <a:t/>
            </a:r>
            <a:endParaRPr sz="1216">
              <a:solidFill>
                <a:srgbClr val="351C75"/>
              </a:solidFill>
            </a:endParaRPr>
          </a:p>
          <a:p>
            <a:pPr indent="0" lvl="0" marL="0" rtl="0" algn="l">
              <a:spcBef>
                <a:spcPts val="0"/>
              </a:spcBef>
              <a:spcAft>
                <a:spcPts val="0"/>
              </a:spcAft>
              <a:buNone/>
            </a:pPr>
            <a:r>
              <a:rPr lang="vi" sz="1216">
                <a:solidFill>
                  <a:srgbClr val="351C75"/>
                </a:solidFill>
              </a:rPr>
              <a:t>—---</a:t>
            </a:r>
            <a:endParaRPr sz="1216">
              <a:solidFill>
                <a:srgbClr val="351C75"/>
              </a:solidFill>
            </a:endParaRPr>
          </a:p>
          <a:p>
            <a:pPr indent="0" lvl="0" marL="0" rtl="0" algn="l">
              <a:spcBef>
                <a:spcPts val="0"/>
              </a:spcBef>
              <a:spcAft>
                <a:spcPts val="0"/>
              </a:spcAft>
              <a:buNone/>
            </a:pPr>
            <a:r>
              <a:rPr lang="vi" sz="1216">
                <a:solidFill>
                  <a:srgbClr val="351C75"/>
                </a:solidFill>
              </a:rPr>
              <a:t>Đã xảy ra lỗi trong quá trình xử lý thanh toán. Vui lòng kiểm tra thông tin thẻ và thử lại.</a:t>
            </a:r>
            <a:endParaRPr sz="1216">
              <a:solidFill>
                <a:srgbClr val="351C75"/>
              </a:solidFill>
            </a:endParaRPr>
          </a:p>
          <a:p>
            <a:pPr indent="0" lvl="0" marL="0" rtl="0" algn="l">
              <a:spcBef>
                <a:spcPts val="0"/>
              </a:spcBef>
              <a:spcAft>
                <a:spcPts val="0"/>
              </a:spcAft>
              <a:buNone/>
            </a:pPr>
            <a:r>
              <a:rPr lang="vi" sz="1216">
                <a:solidFill>
                  <a:srgbClr val="351C75"/>
                </a:solidFill>
              </a:rPr>
              <a:t>お支払い処理中にエラーが発生しました。カード情報をご確認の上、もう一度お試しください。</a:t>
            </a:r>
            <a:endParaRPr sz="1216">
              <a:solidFill>
                <a:srgbClr val="351C75"/>
              </a:solidFill>
            </a:endParaRPr>
          </a:p>
          <a:p>
            <a:pPr indent="0" lvl="0" marL="0" rtl="0" algn="l">
              <a:spcBef>
                <a:spcPts val="0"/>
              </a:spcBef>
              <a:spcAft>
                <a:spcPts val="0"/>
              </a:spcAft>
              <a:buNone/>
            </a:pPr>
            <a:r>
              <a:t/>
            </a:r>
            <a:endParaRPr sz="1216">
              <a:solidFill>
                <a:srgbClr val="351C75"/>
              </a:solidFill>
            </a:endParaRPr>
          </a:p>
          <a:p>
            <a:pPr indent="0" lvl="0" marL="0" rtl="0" algn="l">
              <a:spcBef>
                <a:spcPts val="0"/>
              </a:spcBef>
              <a:spcAft>
                <a:spcPts val="0"/>
              </a:spcAft>
              <a:buNone/>
            </a:pPr>
            <a:r>
              <a:t/>
            </a:r>
            <a:endParaRPr sz="1216">
              <a:solidFill>
                <a:srgbClr val="351C75"/>
              </a:solidFill>
            </a:endParaRPr>
          </a:p>
          <a:p>
            <a:pPr indent="0" lvl="0" marL="0" rtl="0" algn="l">
              <a:spcBef>
                <a:spcPts val="0"/>
              </a:spcBef>
              <a:spcAft>
                <a:spcPts val="0"/>
              </a:spcAft>
              <a:buNone/>
            </a:pPr>
            <a:r>
              <a:rPr lang="vi" sz="1216">
                <a:solidFill>
                  <a:srgbClr val="351C75"/>
                </a:solidFill>
              </a:rPr>
              <a:t>Mật khẩu mới phải có ít nhất 8 ký tự, bao gồm chữ và số. Vui lòng nhập lại để xác nhận.</a:t>
            </a:r>
            <a:endParaRPr sz="1216">
              <a:solidFill>
                <a:srgbClr val="351C75"/>
              </a:solidFill>
            </a:endParaRPr>
          </a:p>
          <a:p>
            <a:pPr indent="0" lvl="0" marL="0" rtl="0" algn="l">
              <a:spcBef>
                <a:spcPts val="0"/>
              </a:spcBef>
              <a:spcAft>
                <a:spcPts val="0"/>
              </a:spcAft>
              <a:buNone/>
            </a:pPr>
            <a:r>
              <a:rPr lang="vi" sz="1216">
                <a:solidFill>
                  <a:srgbClr val="351C75"/>
                </a:solidFill>
              </a:rPr>
              <a:t>新しいパスワードは8文字以上で、英字と数字を含める必要があります。</a:t>
            </a:r>
            <a:endParaRPr sz="1216">
              <a:solidFill>
                <a:srgbClr val="351C75"/>
              </a:solidFill>
            </a:endParaRPr>
          </a:p>
          <a:p>
            <a:pPr indent="0" lvl="0" marL="0" rtl="0" algn="l">
              <a:spcBef>
                <a:spcPts val="0"/>
              </a:spcBef>
              <a:spcAft>
                <a:spcPts val="0"/>
              </a:spcAft>
              <a:buNone/>
            </a:pPr>
            <a:r>
              <a:rPr lang="vi" sz="1216">
                <a:solidFill>
                  <a:srgbClr val="351C75"/>
                </a:solidFill>
              </a:rPr>
              <a:t>確認のため、もう一度入力してください。</a:t>
            </a:r>
            <a:endParaRPr sz="1216">
              <a:solidFill>
                <a:srgbClr val="351C75"/>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3"/>
          <p:cNvSpPr txBox="1"/>
          <p:nvPr/>
        </p:nvSpPr>
        <p:spPr>
          <a:xfrm>
            <a:off x="1773930" y="441250"/>
            <a:ext cx="5982900" cy="677400"/>
          </a:xfrm>
          <a:prstGeom prst="rect">
            <a:avLst/>
          </a:prstGeom>
          <a:noFill/>
          <a:ln>
            <a:noFill/>
          </a:ln>
        </p:spPr>
        <p:txBody>
          <a:bodyPr anchorCtr="0" anchor="t" bIns="61050" lIns="61050" spcFirstLastPara="1" rIns="61050" wrap="square" tIns="61050">
            <a:spAutoFit/>
          </a:bodyPr>
          <a:lstStyle/>
          <a:p>
            <a:pPr indent="0" lvl="0" marL="0" rtl="0" algn="ctr">
              <a:lnSpc>
                <a:spcPct val="115000"/>
              </a:lnSpc>
              <a:spcBef>
                <a:spcPts val="1216"/>
              </a:spcBef>
              <a:spcAft>
                <a:spcPts val="270"/>
              </a:spcAft>
              <a:buNone/>
            </a:pPr>
            <a:r>
              <a:rPr b="1" lang="vi" sz="3600">
                <a:solidFill>
                  <a:srgbClr val="351C75"/>
                </a:solidFill>
              </a:rPr>
              <a:t>Thực hành 02</a:t>
            </a:r>
            <a:endParaRPr b="1" sz="2404">
              <a:solidFill>
                <a:srgbClr val="351C75"/>
              </a:solidFill>
            </a:endParaRPr>
          </a:p>
        </p:txBody>
      </p:sp>
      <p:sp>
        <p:nvSpPr>
          <p:cNvPr id="523" name="Google Shape;523;p83"/>
          <p:cNvSpPr/>
          <p:nvPr/>
        </p:nvSpPr>
        <p:spPr>
          <a:xfrm>
            <a:off x="1175700" y="1301387"/>
            <a:ext cx="6792600" cy="2952900"/>
          </a:xfrm>
          <a:prstGeom prst="roundRect">
            <a:avLst>
              <a:gd fmla="val 16667" name="adj"/>
            </a:avLst>
          </a:prstGeom>
          <a:solidFill>
            <a:srgbClr val="FFF5F5"/>
          </a:solidFill>
          <a:ln cap="flat" cmpd="sng" w="6350">
            <a:solidFill>
              <a:srgbClr val="CA2F47"/>
            </a:solidFill>
            <a:prstDash val="solid"/>
            <a:round/>
            <a:headEnd len="sm" w="sm" type="none"/>
            <a:tailEnd len="sm" w="sm" type="none"/>
          </a:ln>
        </p:spPr>
        <p:txBody>
          <a:bodyPr anchorCtr="0" anchor="ctr" bIns="61050" lIns="61050" spcFirstLastPara="1" rIns="61050" wrap="square" tIns="61050">
            <a:noAutofit/>
          </a:bodyPr>
          <a:lstStyle/>
          <a:p>
            <a:pPr indent="0" lvl="0" marL="0" rtl="0" algn="l">
              <a:spcBef>
                <a:spcPts val="0"/>
              </a:spcBef>
              <a:spcAft>
                <a:spcPts val="0"/>
              </a:spcAft>
              <a:buNone/>
            </a:pPr>
            <a:r>
              <a:rPr b="1" lang="vi" sz="1202">
                <a:solidFill>
                  <a:srgbClr val="351C75"/>
                </a:solidFill>
              </a:rPr>
              <a:t>Hãy dịch thông báo sau sang tiếng Việt</a:t>
            </a:r>
            <a:endParaRPr b="1" sz="1202">
              <a:solidFill>
                <a:srgbClr val="351C75"/>
              </a:solidFill>
            </a:endParaRPr>
          </a:p>
          <a:p>
            <a:pPr indent="0" lvl="0" marL="0" rtl="0" algn="l">
              <a:spcBef>
                <a:spcPts val="0"/>
              </a:spcBef>
              <a:spcAft>
                <a:spcPts val="0"/>
              </a:spcAft>
              <a:buNone/>
            </a:pPr>
            <a:r>
              <a:t/>
            </a:r>
            <a:endParaRPr sz="1202">
              <a:solidFill>
                <a:srgbClr val="351C75"/>
              </a:solidFill>
            </a:endParaRPr>
          </a:p>
          <a:p>
            <a:pPr indent="0" lvl="0" marL="0" rtl="0" algn="l">
              <a:spcBef>
                <a:spcPts val="0"/>
              </a:spcBef>
              <a:spcAft>
                <a:spcPts val="0"/>
              </a:spcAft>
              <a:buNone/>
            </a:pPr>
            <a:r>
              <a:rPr lang="vi" sz="1202">
                <a:solidFill>
                  <a:srgbClr val="351C75"/>
                </a:solidFill>
              </a:rPr>
              <a:t>—---</a:t>
            </a:r>
            <a:endParaRPr sz="1202">
              <a:solidFill>
                <a:srgbClr val="351C75"/>
              </a:solidFill>
            </a:endParaRPr>
          </a:p>
          <a:p>
            <a:pPr indent="0" lvl="0" marL="0" rtl="0" algn="l">
              <a:spcBef>
                <a:spcPts val="0"/>
              </a:spcBef>
              <a:spcAft>
                <a:spcPts val="0"/>
              </a:spcAft>
              <a:buNone/>
            </a:pPr>
            <a:r>
              <a:rPr lang="vi" sz="1202">
                <a:solidFill>
                  <a:srgbClr val="351C75"/>
                </a:solidFill>
              </a:rPr>
              <a:t>システムに一時的な障害が発生しています。しばらくしてから再度お試しいただくか、問題が解消しない場合はサポートセンターまでご連絡ください。</a:t>
            </a:r>
            <a:endParaRPr sz="1202">
              <a:solidFill>
                <a:srgbClr val="351C75"/>
              </a:solidFill>
            </a:endParaRPr>
          </a:p>
          <a:p>
            <a:pPr indent="0" lvl="0" marL="0" rtl="0" algn="l">
              <a:spcBef>
                <a:spcPts val="0"/>
              </a:spcBef>
              <a:spcAft>
                <a:spcPts val="0"/>
              </a:spcAft>
              <a:buNone/>
            </a:pPr>
            <a:r>
              <a:rPr lang="vi" sz="1202">
                <a:solidFill>
                  <a:srgbClr val="351C75"/>
                </a:solidFill>
              </a:rPr>
              <a:t>Hệ thống đang gặp sự cố tạm thời. Vui lòng quay lại sau hoặc liên hệ bộ phận hỗ trợ nếu sự cố vẫn tiếp diễn.</a:t>
            </a:r>
            <a:endParaRPr sz="1202">
              <a:solidFill>
                <a:srgbClr val="351C75"/>
              </a:solidFill>
            </a:endParaRPr>
          </a:p>
          <a:p>
            <a:pPr indent="0" lvl="0" marL="0" rtl="0" algn="l">
              <a:spcBef>
                <a:spcPts val="0"/>
              </a:spcBef>
              <a:spcAft>
                <a:spcPts val="0"/>
              </a:spcAft>
              <a:buNone/>
            </a:pPr>
            <a:r>
              <a:t/>
            </a:r>
            <a:endParaRPr sz="1202">
              <a:solidFill>
                <a:srgbClr val="351C75"/>
              </a:solidFill>
            </a:endParaRPr>
          </a:p>
          <a:p>
            <a:pPr indent="0" lvl="0" marL="0" rtl="0" algn="l">
              <a:spcBef>
                <a:spcPts val="0"/>
              </a:spcBef>
              <a:spcAft>
                <a:spcPts val="0"/>
              </a:spcAft>
              <a:buNone/>
            </a:pPr>
            <a:r>
              <a:t/>
            </a:r>
            <a:endParaRPr sz="1202">
              <a:solidFill>
                <a:srgbClr val="351C75"/>
              </a:solidFill>
            </a:endParaRPr>
          </a:p>
          <a:p>
            <a:pPr indent="0" lvl="0" marL="0" rtl="0" algn="l">
              <a:spcBef>
                <a:spcPts val="0"/>
              </a:spcBef>
              <a:spcAft>
                <a:spcPts val="0"/>
              </a:spcAft>
              <a:buNone/>
            </a:pPr>
            <a:r>
              <a:rPr lang="vi" sz="1202">
                <a:solidFill>
                  <a:srgbClr val="351C75"/>
                </a:solidFill>
              </a:rPr>
              <a:t>確認メールを登録されたメールアドレスに送信しました。受信トレイ（または迷惑メールフォルダ）をご確認の上、指示に従ってください。</a:t>
            </a:r>
            <a:endParaRPr sz="1202">
              <a:solidFill>
                <a:srgbClr val="351C75"/>
              </a:solidFill>
            </a:endParaRPr>
          </a:p>
          <a:p>
            <a:pPr indent="0" lvl="0" marL="0" rtl="0" algn="l">
              <a:spcBef>
                <a:spcPts val="0"/>
              </a:spcBef>
              <a:spcAft>
                <a:spcPts val="0"/>
              </a:spcAft>
              <a:buNone/>
            </a:pPr>
            <a:r>
              <a:rPr lang="vi" sz="1202">
                <a:solidFill>
                  <a:srgbClr val="351C75"/>
                </a:solidFill>
              </a:rPr>
              <a:t>Email xác nhận đã được gửi đến địa chỉ bạn đã đăng ký. Vui lòng kiểm tra hộp thư đến (hoặc mục spam) và làm theo hướng dẫn.</a:t>
            </a:r>
            <a:endParaRPr sz="1202">
              <a:solidFill>
                <a:srgbClr val="351C75"/>
              </a:solidFill>
            </a:endParaRPr>
          </a:p>
          <a:p>
            <a:pPr indent="0" lvl="0" marL="0" rtl="0" algn="l">
              <a:spcBef>
                <a:spcPts val="0"/>
              </a:spcBef>
              <a:spcAft>
                <a:spcPts val="0"/>
              </a:spcAft>
              <a:buNone/>
            </a:pPr>
            <a:r>
              <a:t/>
            </a:r>
            <a:endParaRPr sz="1202">
              <a:solidFill>
                <a:srgbClr val="351C75"/>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4"/>
          <p:cNvSpPr txBox="1"/>
          <p:nvPr/>
        </p:nvSpPr>
        <p:spPr>
          <a:xfrm>
            <a:off x="774750" y="379300"/>
            <a:ext cx="7594500" cy="498900"/>
          </a:xfrm>
          <a:prstGeom prst="rect">
            <a:avLst/>
          </a:prstGeom>
          <a:noFill/>
          <a:ln>
            <a:noFill/>
          </a:ln>
        </p:spPr>
        <p:txBody>
          <a:bodyPr anchorCtr="0" anchor="t" bIns="61750" lIns="61750" spcFirstLastPara="1" rIns="61750" wrap="square" tIns="61750">
            <a:spAutoFit/>
          </a:bodyPr>
          <a:lstStyle/>
          <a:p>
            <a:pPr indent="0" lvl="0" marL="0" rtl="0" algn="ctr">
              <a:lnSpc>
                <a:spcPct val="115000"/>
              </a:lnSpc>
              <a:spcBef>
                <a:spcPts val="1215"/>
              </a:spcBef>
              <a:spcAft>
                <a:spcPts val="270"/>
              </a:spcAft>
              <a:buNone/>
            </a:pPr>
            <a:r>
              <a:rPr lang="vi" sz="2431">
                <a:solidFill>
                  <a:srgbClr val="351C75"/>
                </a:solidFill>
              </a:rPr>
              <a:t>📝 </a:t>
            </a:r>
            <a:r>
              <a:rPr b="1" lang="vi" sz="2431">
                <a:solidFill>
                  <a:srgbClr val="351C75"/>
                </a:solidFill>
              </a:rPr>
              <a:t>Luyện tập dịch nâng cao</a:t>
            </a:r>
            <a:endParaRPr b="1" sz="2431">
              <a:solidFill>
                <a:srgbClr val="351C75"/>
              </a:solidFill>
            </a:endParaRPr>
          </a:p>
        </p:txBody>
      </p:sp>
      <p:sp>
        <p:nvSpPr>
          <p:cNvPr id="529" name="Google Shape;529;p84"/>
          <p:cNvSpPr/>
          <p:nvPr/>
        </p:nvSpPr>
        <p:spPr>
          <a:xfrm>
            <a:off x="774750" y="1477875"/>
            <a:ext cx="7594500" cy="2869200"/>
          </a:xfrm>
          <a:prstGeom prst="roundRect">
            <a:avLst>
              <a:gd fmla="val 16667" name="adj"/>
            </a:avLst>
          </a:prstGeom>
          <a:solidFill>
            <a:srgbClr val="FFF5F5"/>
          </a:solidFill>
          <a:ln cap="flat" cmpd="sng" w="6425">
            <a:solidFill>
              <a:srgbClr val="CA2F47"/>
            </a:solidFill>
            <a:prstDash val="solid"/>
            <a:round/>
            <a:headEnd len="sm" w="sm" type="none"/>
            <a:tailEnd len="sm" w="sm" type="none"/>
          </a:ln>
        </p:spPr>
        <p:txBody>
          <a:bodyPr anchorCtr="0" anchor="ctr" bIns="61750" lIns="61750" spcFirstLastPara="1" rIns="61750" wrap="square" tIns="61750">
            <a:noAutofit/>
          </a:bodyPr>
          <a:lstStyle/>
          <a:p>
            <a:pPr indent="0" lvl="0" marL="0" rtl="0" algn="l">
              <a:lnSpc>
                <a:spcPct val="115000"/>
              </a:lnSpc>
              <a:spcBef>
                <a:spcPts val="810"/>
              </a:spcBef>
              <a:spcAft>
                <a:spcPts val="0"/>
              </a:spcAft>
              <a:buNone/>
            </a:pPr>
            <a:r>
              <a:rPr b="1" lang="vi" sz="1215">
                <a:solidFill>
                  <a:srgbClr val="CA2F47"/>
                </a:solidFill>
              </a:rPr>
              <a:t>Đề: </a:t>
            </a:r>
            <a:r>
              <a:rPr b="1" lang="vi" sz="1215" u="sng">
                <a:solidFill>
                  <a:srgbClr val="304FFE"/>
                </a:solidFill>
                <a:hlinkClick r:id="rId3">
                  <a:extLst>
                    <a:ext uri="{A12FA001-AC4F-418D-AE19-62706E023703}">
                      <ahyp:hlinkClr val="tx"/>
                    </a:ext>
                  </a:extLst>
                </a:hlinkClick>
              </a:rPr>
              <a:t>https://docs.google.com/document/d/15ylp4Sdt-akb2WdsQDls44DsS6Nrva6TLlxzCjn4Ue4/edit?usp=sharing</a:t>
            </a:r>
            <a:r>
              <a:rPr b="1" lang="vi" sz="1215">
                <a:solidFill>
                  <a:srgbClr val="CA2F47"/>
                </a:solidFill>
              </a:rPr>
              <a:t> </a:t>
            </a:r>
            <a:endParaRPr b="1" sz="1215">
              <a:solidFill>
                <a:srgbClr val="CA2F47"/>
              </a:solidFill>
            </a:endParaRPr>
          </a:p>
          <a:p>
            <a:pPr indent="0" lvl="0" marL="0" rtl="0" algn="l">
              <a:lnSpc>
                <a:spcPct val="115000"/>
              </a:lnSpc>
              <a:spcBef>
                <a:spcPts val="810"/>
              </a:spcBef>
              <a:spcAft>
                <a:spcPts val="0"/>
              </a:spcAft>
              <a:buNone/>
            </a:pPr>
            <a:r>
              <a:t/>
            </a:r>
            <a:endParaRPr b="1" sz="1215">
              <a:solidFill>
                <a:srgbClr val="CA2F47"/>
              </a:solidFill>
            </a:endParaRPr>
          </a:p>
          <a:p>
            <a:pPr indent="0" lvl="0" marL="0" rtl="0" algn="l">
              <a:lnSpc>
                <a:spcPct val="115000"/>
              </a:lnSpc>
              <a:spcBef>
                <a:spcPts val="810"/>
              </a:spcBef>
              <a:spcAft>
                <a:spcPts val="0"/>
              </a:spcAft>
              <a:buNone/>
            </a:pPr>
            <a:r>
              <a:rPr b="1" lang="vi" sz="1215">
                <a:solidFill>
                  <a:srgbClr val="CA2F47"/>
                </a:solidFill>
              </a:rPr>
              <a:t>Bài chữa: </a:t>
            </a:r>
            <a:endParaRPr b="1" sz="1215">
              <a:solidFill>
                <a:srgbClr val="CA2F47"/>
              </a:solidFill>
            </a:endParaRPr>
          </a:p>
          <a:p>
            <a:pPr indent="0" lvl="0" marL="0" rtl="0" algn="l">
              <a:lnSpc>
                <a:spcPct val="115000"/>
              </a:lnSpc>
              <a:spcBef>
                <a:spcPts val="810"/>
              </a:spcBef>
              <a:spcAft>
                <a:spcPts val="0"/>
              </a:spcAft>
              <a:buNone/>
            </a:pPr>
            <a:r>
              <a:rPr b="1" lang="vi" sz="1215" u="sng">
                <a:solidFill>
                  <a:srgbClr val="304FFE"/>
                </a:solidFill>
                <a:hlinkClick r:id="rId4">
                  <a:extLst>
                    <a:ext uri="{A12FA001-AC4F-418D-AE19-62706E023703}">
                      <ahyp:hlinkClr val="tx"/>
                    </a:ext>
                  </a:extLst>
                </a:hlinkClick>
              </a:rPr>
              <a:t>https://docs.google.com/document/d/1yuacOq6ViCkxmPRYj_LO8UeNFF5algQ-iffRmFUX9mQ/edit?usp=sharing</a:t>
            </a:r>
            <a:r>
              <a:rPr b="1" lang="vi" sz="1215">
                <a:solidFill>
                  <a:srgbClr val="CA2F47"/>
                </a:solidFill>
              </a:rPr>
              <a:t> </a:t>
            </a:r>
            <a:endParaRPr b="1" sz="1215">
              <a:solidFill>
                <a:srgbClr val="CA2F47"/>
              </a:solidFill>
            </a:endParaRPr>
          </a:p>
          <a:p>
            <a:pPr indent="0" lvl="0" marL="0" rtl="0" algn="l">
              <a:lnSpc>
                <a:spcPct val="115000"/>
              </a:lnSpc>
              <a:spcBef>
                <a:spcPts val="810"/>
              </a:spcBef>
              <a:spcAft>
                <a:spcPts val="0"/>
              </a:spcAft>
              <a:buNone/>
            </a:pPr>
            <a:r>
              <a:t/>
            </a:r>
            <a:endParaRPr b="1" sz="1215">
              <a:solidFill>
                <a:srgbClr val="CA2F47"/>
              </a:solidFill>
            </a:endParaRPr>
          </a:p>
          <a:p>
            <a:pPr indent="0" lvl="0" marL="0" rtl="0" algn="l">
              <a:lnSpc>
                <a:spcPct val="115000"/>
              </a:lnSpc>
              <a:spcBef>
                <a:spcPts val="810"/>
              </a:spcBef>
              <a:spcAft>
                <a:spcPts val="810"/>
              </a:spcAft>
              <a:buNone/>
            </a:pPr>
            <a:r>
              <a:rPr b="1" lang="vi" sz="1215">
                <a:solidFill>
                  <a:srgbClr val="CA2F47"/>
                </a:solidFill>
              </a:rPr>
              <a:t>File danh sách message tiếng Nhật: </a:t>
            </a:r>
            <a:r>
              <a:rPr b="1" lang="vi" sz="1215" u="sng">
                <a:solidFill>
                  <a:schemeClr val="hlink"/>
                </a:solidFill>
                <a:hlinkClick r:id="rId5"/>
              </a:rPr>
              <a:t>https://docs.google.com/spreadsheets/d/1CoplH23z0RwjUfW8mP4Du0Um4e9A1n3G/edit?gid=276129098#gid=276129098&amp;range=A1</a:t>
            </a:r>
            <a:r>
              <a:rPr b="1" lang="vi" sz="1215">
                <a:solidFill>
                  <a:srgbClr val="CA2F47"/>
                </a:solidFill>
              </a:rPr>
              <a:t> </a:t>
            </a:r>
            <a:endParaRPr b="1" sz="1215">
              <a:solidFill>
                <a:srgbClr val="CA2F47"/>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5"/>
          <p:cNvSpPr txBox="1"/>
          <p:nvPr/>
        </p:nvSpPr>
        <p:spPr>
          <a:xfrm>
            <a:off x="160950" y="1934500"/>
            <a:ext cx="8822100" cy="738900"/>
          </a:xfrm>
          <a:prstGeom prst="rect">
            <a:avLst/>
          </a:prstGeom>
          <a:solidFill>
            <a:srgbClr val="CA2F47"/>
          </a:solid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vi" sz="3600">
                <a:solidFill>
                  <a:srgbClr val="FFFFFF"/>
                </a:solidFill>
              </a:rPr>
              <a:t>Dịch Nâng Cao</a:t>
            </a:r>
            <a:endParaRPr b="1" sz="3600">
              <a:solidFill>
                <a:srgbClr val="FFFFFF"/>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86"/>
          <p:cNvSpPr txBox="1"/>
          <p:nvPr/>
        </p:nvSpPr>
        <p:spPr>
          <a:xfrm>
            <a:off x="328750" y="466550"/>
            <a:ext cx="8550000" cy="575400"/>
          </a:xfrm>
          <a:prstGeom prst="rect">
            <a:avLst/>
          </a:prstGeom>
          <a:noFill/>
          <a:ln>
            <a:noFill/>
          </a:ln>
        </p:spPr>
        <p:txBody>
          <a:bodyPr anchorCtr="0" anchor="t" bIns="71200" lIns="71200" spcFirstLastPara="1" rIns="71200" wrap="square" tIns="71200">
            <a:spAutoFit/>
          </a:bodyPr>
          <a:lstStyle/>
          <a:p>
            <a:pPr indent="0" lvl="0" marL="0" rtl="0" algn="ctr">
              <a:lnSpc>
                <a:spcPct val="115000"/>
              </a:lnSpc>
              <a:spcBef>
                <a:spcPts val="1402"/>
              </a:spcBef>
              <a:spcAft>
                <a:spcPts val="312"/>
              </a:spcAft>
              <a:buNone/>
            </a:pPr>
            <a:r>
              <a:rPr b="1" lang="vi" sz="2804">
                <a:solidFill>
                  <a:srgbClr val="351C75"/>
                </a:solidFill>
              </a:rPr>
              <a:t>Dịch tài liệu design</a:t>
            </a:r>
            <a:endParaRPr b="1" sz="2804">
              <a:solidFill>
                <a:srgbClr val="351C75"/>
              </a:solidFill>
            </a:endParaRPr>
          </a:p>
        </p:txBody>
      </p:sp>
      <p:sp>
        <p:nvSpPr>
          <p:cNvPr id="540" name="Google Shape;540;p86"/>
          <p:cNvSpPr/>
          <p:nvPr/>
        </p:nvSpPr>
        <p:spPr>
          <a:xfrm>
            <a:off x="1641125" y="1365650"/>
            <a:ext cx="6280200" cy="2781000"/>
          </a:xfrm>
          <a:prstGeom prst="roundRect">
            <a:avLst>
              <a:gd fmla="val 16667" name="adj"/>
            </a:avLst>
          </a:prstGeom>
          <a:solidFill>
            <a:srgbClr val="FFF5F5"/>
          </a:solidFill>
          <a:ln cap="flat" cmpd="sng" w="7425">
            <a:solidFill>
              <a:srgbClr val="CA2F47"/>
            </a:solidFill>
            <a:prstDash val="solid"/>
            <a:round/>
            <a:headEnd len="sm" w="sm" type="none"/>
            <a:tailEnd len="sm" w="sm" type="none"/>
          </a:ln>
        </p:spPr>
        <p:txBody>
          <a:bodyPr anchorCtr="0" anchor="ctr" bIns="71200" lIns="71200" spcFirstLastPara="1" rIns="71200" wrap="square" tIns="71200">
            <a:noAutofit/>
          </a:bodyPr>
          <a:lstStyle/>
          <a:p>
            <a:pPr indent="0" lvl="0" marL="356076" rtl="0" algn="l">
              <a:lnSpc>
                <a:spcPct val="115000"/>
              </a:lnSpc>
              <a:spcBef>
                <a:spcPts val="935"/>
              </a:spcBef>
              <a:spcAft>
                <a:spcPts val="0"/>
              </a:spcAft>
              <a:buNone/>
            </a:pPr>
            <a:r>
              <a:rPr lang="vi" sz="1402">
                <a:solidFill>
                  <a:srgbClr val="351C75"/>
                </a:solidFill>
              </a:rPr>
              <a:t>Link bài luyện tập:</a:t>
            </a:r>
            <a:endParaRPr sz="1402">
              <a:solidFill>
                <a:srgbClr val="351C75"/>
              </a:solidFill>
            </a:endParaRPr>
          </a:p>
          <a:p>
            <a:pPr indent="0" lvl="0" marL="356076" rtl="0" algn="l">
              <a:lnSpc>
                <a:spcPct val="115000"/>
              </a:lnSpc>
              <a:spcBef>
                <a:spcPts val="935"/>
              </a:spcBef>
              <a:spcAft>
                <a:spcPts val="0"/>
              </a:spcAft>
              <a:buNone/>
            </a:pPr>
            <a:r>
              <a:rPr lang="vi" sz="1402" u="sng">
                <a:solidFill>
                  <a:srgbClr val="304FFE"/>
                </a:solidFill>
                <a:hlinkClick r:id="rId3">
                  <a:extLst>
                    <a:ext uri="{A12FA001-AC4F-418D-AE19-62706E023703}">
                      <ahyp:hlinkClr val="tx"/>
                    </a:ext>
                  </a:extLst>
                </a:hlinkClick>
              </a:rPr>
              <a:t>https://docs.google.com/document/d/1-Gl1dH3izwpS78O_7mIfxn6WeFapkx-WtsbmozlRe4E/edit?usp=sharing</a:t>
            </a:r>
            <a:endParaRPr sz="1402">
              <a:solidFill>
                <a:srgbClr val="351C75"/>
              </a:solidFill>
            </a:endParaRPr>
          </a:p>
          <a:p>
            <a:pPr indent="0" lvl="0" marL="356076" rtl="0" algn="l">
              <a:lnSpc>
                <a:spcPct val="115000"/>
              </a:lnSpc>
              <a:spcBef>
                <a:spcPts val="935"/>
              </a:spcBef>
              <a:spcAft>
                <a:spcPts val="0"/>
              </a:spcAft>
              <a:buNone/>
            </a:pPr>
            <a:r>
              <a:t/>
            </a:r>
            <a:endParaRPr sz="1402">
              <a:solidFill>
                <a:srgbClr val="351C75"/>
              </a:solidFill>
            </a:endParaRPr>
          </a:p>
          <a:p>
            <a:pPr indent="0" lvl="0" marL="356076" rtl="0" algn="l">
              <a:lnSpc>
                <a:spcPct val="115000"/>
              </a:lnSpc>
              <a:spcBef>
                <a:spcPts val="935"/>
              </a:spcBef>
              <a:spcAft>
                <a:spcPts val="0"/>
              </a:spcAft>
              <a:buNone/>
            </a:pPr>
            <a:r>
              <a:rPr lang="vi" sz="1402">
                <a:solidFill>
                  <a:srgbClr val="351C75"/>
                </a:solidFill>
              </a:rPr>
              <a:t>Link bài chữa mẫu tham khảo:</a:t>
            </a:r>
            <a:endParaRPr sz="1402">
              <a:solidFill>
                <a:srgbClr val="351C75"/>
              </a:solidFill>
            </a:endParaRPr>
          </a:p>
          <a:p>
            <a:pPr indent="0" lvl="0" marL="356076" rtl="0" algn="l">
              <a:lnSpc>
                <a:spcPct val="115000"/>
              </a:lnSpc>
              <a:spcBef>
                <a:spcPts val="935"/>
              </a:spcBef>
              <a:spcAft>
                <a:spcPts val="935"/>
              </a:spcAft>
              <a:buNone/>
            </a:pPr>
            <a:r>
              <a:rPr lang="vi" sz="1402" u="sng">
                <a:solidFill>
                  <a:srgbClr val="304FFE"/>
                </a:solidFill>
                <a:hlinkClick r:id="rId4">
                  <a:extLst>
                    <a:ext uri="{A12FA001-AC4F-418D-AE19-62706E023703}">
                      <ahyp:hlinkClr val="tx"/>
                    </a:ext>
                  </a:extLst>
                </a:hlinkClick>
              </a:rPr>
              <a:t>https://docs.google.com/document/d/1Pn1ww2fmOaUFC5_7FHrkztKlIijAlsp2L9faQNllYk8/edit?usp=sharing</a:t>
            </a:r>
            <a:r>
              <a:rPr lang="vi" sz="1402">
                <a:solidFill>
                  <a:srgbClr val="351C75"/>
                </a:solidFill>
              </a:rPr>
              <a:t> </a:t>
            </a:r>
            <a:endParaRPr sz="1402">
              <a:solidFill>
                <a:srgbClr val="351C75"/>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87"/>
          <p:cNvSpPr txBox="1"/>
          <p:nvPr/>
        </p:nvSpPr>
        <p:spPr>
          <a:xfrm>
            <a:off x="267725" y="346125"/>
            <a:ext cx="8527800" cy="622200"/>
          </a:xfrm>
          <a:prstGeom prst="rect">
            <a:avLst/>
          </a:prstGeom>
          <a:noFill/>
          <a:ln>
            <a:noFill/>
          </a:ln>
        </p:spPr>
        <p:txBody>
          <a:bodyPr anchorCtr="0" anchor="t" bIns="76975" lIns="76975" spcFirstLastPara="1" rIns="76975" wrap="square" tIns="76975">
            <a:spAutoFit/>
          </a:bodyPr>
          <a:lstStyle/>
          <a:p>
            <a:pPr indent="0" lvl="0" marL="0" rtl="0" algn="ctr">
              <a:lnSpc>
                <a:spcPct val="115000"/>
              </a:lnSpc>
              <a:spcBef>
                <a:spcPts val="1516"/>
              </a:spcBef>
              <a:spcAft>
                <a:spcPts val="337"/>
              </a:spcAft>
              <a:buNone/>
            </a:pPr>
            <a:r>
              <a:rPr b="1" lang="vi" sz="3031">
                <a:solidFill>
                  <a:srgbClr val="351C75"/>
                </a:solidFill>
              </a:rPr>
              <a:t>Dịch hợp đồng NDA</a:t>
            </a:r>
            <a:endParaRPr b="1" sz="3031">
              <a:solidFill>
                <a:srgbClr val="351C75"/>
              </a:solidFill>
            </a:endParaRPr>
          </a:p>
        </p:txBody>
      </p:sp>
      <p:sp>
        <p:nvSpPr>
          <p:cNvPr id="546" name="Google Shape;546;p87"/>
          <p:cNvSpPr/>
          <p:nvPr/>
        </p:nvSpPr>
        <p:spPr>
          <a:xfrm>
            <a:off x="1279025" y="1381326"/>
            <a:ext cx="6505200" cy="2737800"/>
          </a:xfrm>
          <a:prstGeom prst="roundRect">
            <a:avLst>
              <a:gd fmla="val 16667" name="adj"/>
            </a:avLst>
          </a:prstGeom>
          <a:solidFill>
            <a:srgbClr val="FFF5F5"/>
          </a:solidFill>
          <a:ln cap="flat" cmpd="sng" w="8025">
            <a:solidFill>
              <a:srgbClr val="CA2F47"/>
            </a:solidFill>
            <a:prstDash val="solid"/>
            <a:round/>
            <a:headEnd len="sm" w="sm" type="none"/>
            <a:tailEnd len="sm" w="sm" type="none"/>
          </a:ln>
        </p:spPr>
        <p:txBody>
          <a:bodyPr anchorCtr="0" anchor="ctr" bIns="76975" lIns="76975" spcFirstLastPara="1" rIns="76975" wrap="square" tIns="76975">
            <a:noAutofit/>
          </a:bodyPr>
          <a:lstStyle/>
          <a:p>
            <a:pPr indent="0" lvl="0" marL="384999" rtl="0" algn="l">
              <a:lnSpc>
                <a:spcPct val="115000"/>
              </a:lnSpc>
              <a:spcBef>
                <a:spcPts val="1011"/>
              </a:spcBef>
              <a:spcAft>
                <a:spcPts val="0"/>
              </a:spcAft>
              <a:buNone/>
            </a:pPr>
            <a:r>
              <a:rPr lang="vi" sz="1516">
                <a:solidFill>
                  <a:srgbClr val="351C75"/>
                </a:solidFill>
              </a:rPr>
              <a:t>Link bài luyện tập: </a:t>
            </a:r>
            <a:r>
              <a:rPr lang="vi" sz="1516" u="sng">
                <a:solidFill>
                  <a:srgbClr val="304FFE"/>
                </a:solidFill>
                <a:hlinkClick r:id="rId3">
                  <a:extLst>
                    <a:ext uri="{A12FA001-AC4F-418D-AE19-62706E023703}">
                      <ahyp:hlinkClr val="tx"/>
                    </a:ext>
                  </a:extLst>
                </a:hlinkClick>
              </a:rPr>
              <a:t>https://docs.google.com/document/d/1uCv7vjFSvjHKACART4OS-FrO3CSLxw1TPjdrvShGaBM/edit?usp=sharing</a:t>
            </a:r>
            <a:r>
              <a:rPr lang="vi" sz="1516">
                <a:solidFill>
                  <a:srgbClr val="351C75"/>
                </a:solidFill>
              </a:rPr>
              <a:t> </a:t>
            </a:r>
            <a:endParaRPr sz="1516">
              <a:solidFill>
                <a:srgbClr val="351C75"/>
              </a:solidFill>
            </a:endParaRPr>
          </a:p>
          <a:p>
            <a:pPr indent="0" lvl="0" marL="0" rtl="0" algn="l">
              <a:lnSpc>
                <a:spcPct val="115000"/>
              </a:lnSpc>
              <a:spcBef>
                <a:spcPts val="1011"/>
              </a:spcBef>
              <a:spcAft>
                <a:spcPts val="0"/>
              </a:spcAft>
              <a:buNone/>
            </a:pPr>
            <a:r>
              <a:t/>
            </a:r>
            <a:endParaRPr sz="1516">
              <a:solidFill>
                <a:srgbClr val="351C75"/>
              </a:solidFill>
            </a:endParaRPr>
          </a:p>
          <a:p>
            <a:pPr indent="0" lvl="0" marL="384999" rtl="0" algn="l">
              <a:lnSpc>
                <a:spcPct val="115000"/>
              </a:lnSpc>
              <a:spcBef>
                <a:spcPts val="1011"/>
              </a:spcBef>
              <a:spcAft>
                <a:spcPts val="0"/>
              </a:spcAft>
              <a:buNone/>
            </a:pPr>
            <a:r>
              <a:rPr lang="vi" sz="1516">
                <a:solidFill>
                  <a:srgbClr val="351C75"/>
                </a:solidFill>
              </a:rPr>
              <a:t>Link bài chữa mẫu tham khảo:</a:t>
            </a:r>
            <a:endParaRPr sz="1516">
              <a:solidFill>
                <a:srgbClr val="351C75"/>
              </a:solidFill>
            </a:endParaRPr>
          </a:p>
          <a:p>
            <a:pPr indent="0" lvl="0" marL="384999" rtl="0" algn="l">
              <a:lnSpc>
                <a:spcPct val="115000"/>
              </a:lnSpc>
              <a:spcBef>
                <a:spcPts val="1011"/>
              </a:spcBef>
              <a:spcAft>
                <a:spcPts val="1011"/>
              </a:spcAft>
              <a:buNone/>
            </a:pPr>
            <a:r>
              <a:rPr lang="vi" sz="1516" u="sng">
                <a:solidFill>
                  <a:srgbClr val="304FFE"/>
                </a:solidFill>
                <a:hlinkClick r:id="rId4">
                  <a:extLst>
                    <a:ext uri="{A12FA001-AC4F-418D-AE19-62706E023703}">
                      <ahyp:hlinkClr val="tx"/>
                    </a:ext>
                  </a:extLst>
                </a:hlinkClick>
              </a:rPr>
              <a:t>https://docs.google.com/document/d/1Nt8tgIpsZZ78nWzIK_olwRnoai88ja-QeoIzuDlZNRo/edit?usp=sharing</a:t>
            </a:r>
            <a:r>
              <a:rPr lang="vi" sz="1516">
                <a:solidFill>
                  <a:srgbClr val="351C75"/>
                </a:solidFill>
              </a:rPr>
              <a:t> </a:t>
            </a:r>
            <a:endParaRPr sz="1516">
              <a:solidFill>
                <a:srgbClr val="351C75"/>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88"/>
          <p:cNvSpPr txBox="1"/>
          <p:nvPr/>
        </p:nvSpPr>
        <p:spPr>
          <a:xfrm>
            <a:off x="160950" y="1934500"/>
            <a:ext cx="8822100" cy="738900"/>
          </a:xfrm>
          <a:prstGeom prst="rect">
            <a:avLst/>
          </a:prstGeom>
          <a:solidFill>
            <a:srgbClr val="CA2F47"/>
          </a:solid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vi" sz="3600">
                <a:solidFill>
                  <a:srgbClr val="FFFFFF"/>
                </a:solidFill>
              </a:rPr>
              <a:t>Tình huống xử lý phối hợp</a:t>
            </a:r>
            <a:endParaRPr b="1" sz="3600">
              <a:solidFill>
                <a:srgbClr val="FFFFFF"/>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89"/>
          <p:cNvSpPr txBox="1"/>
          <p:nvPr/>
        </p:nvSpPr>
        <p:spPr>
          <a:xfrm>
            <a:off x="1147050" y="632825"/>
            <a:ext cx="4878600" cy="523200"/>
          </a:xfrm>
          <a:prstGeom prst="rect">
            <a:avLst/>
          </a:prstGeom>
          <a:noFill/>
          <a:ln>
            <a:noFill/>
          </a:ln>
        </p:spPr>
        <p:txBody>
          <a:bodyPr anchorCtr="0" anchor="t" bIns="64750" lIns="64750" spcFirstLastPara="1" rIns="64750" wrap="square" tIns="64750">
            <a:spAutoFit/>
          </a:bodyPr>
          <a:lstStyle/>
          <a:p>
            <a:pPr indent="0" lvl="0" marL="0" rtl="0" algn="l">
              <a:lnSpc>
                <a:spcPct val="115000"/>
              </a:lnSpc>
              <a:spcBef>
                <a:spcPts val="1700"/>
              </a:spcBef>
              <a:spcAft>
                <a:spcPts val="425"/>
              </a:spcAft>
              <a:buClr>
                <a:srgbClr val="000000"/>
              </a:buClr>
              <a:buSzPts val="779"/>
              <a:buFont typeface="Arial"/>
              <a:buNone/>
            </a:pPr>
            <a:r>
              <a:rPr b="1" lang="vi" sz="2550">
                <a:solidFill>
                  <a:srgbClr val="351C75"/>
                </a:solidFill>
              </a:rPr>
              <a:t>Lỗi thường gặp</a:t>
            </a:r>
            <a:endParaRPr b="1" sz="2550">
              <a:solidFill>
                <a:srgbClr val="351C75"/>
              </a:solidFill>
            </a:endParaRPr>
          </a:p>
        </p:txBody>
      </p:sp>
      <p:sp>
        <p:nvSpPr>
          <p:cNvPr id="557" name="Google Shape;557;p89"/>
          <p:cNvSpPr/>
          <p:nvPr/>
        </p:nvSpPr>
        <p:spPr>
          <a:xfrm>
            <a:off x="1515498" y="1555806"/>
            <a:ext cx="437700" cy="427200"/>
          </a:xfrm>
          <a:prstGeom prst="flowChartConnector">
            <a:avLst/>
          </a:prstGeom>
          <a:solidFill>
            <a:srgbClr val="FFF5F5"/>
          </a:solidFill>
          <a:ln cap="flat" cmpd="sng" w="6750">
            <a:solidFill>
              <a:srgbClr val="CA2F47"/>
            </a:solidFill>
            <a:prstDash val="solid"/>
            <a:round/>
            <a:headEnd len="sm" w="sm" type="none"/>
            <a:tailEnd len="sm" w="sm" type="none"/>
          </a:ln>
        </p:spPr>
        <p:txBody>
          <a:bodyPr anchorCtr="0" anchor="ctr" bIns="64750" lIns="64750" spcFirstLastPara="1" rIns="64750" wrap="square" tIns="64750">
            <a:noAutofit/>
          </a:bodyPr>
          <a:lstStyle/>
          <a:p>
            <a:pPr indent="0" lvl="0" marL="0" rtl="0" algn="ctr">
              <a:spcBef>
                <a:spcPts val="0"/>
              </a:spcBef>
              <a:spcAft>
                <a:spcPts val="0"/>
              </a:spcAft>
              <a:buNone/>
            </a:pPr>
            <a:r>
              <a:t/>
            </a:r>
            <a:endParaRPr sz="992"/>
          </a:p>
        </p:txBody>
      </p:sp>
      <p:sp>
        <p:nvSpPr>
          <p:cNvPr id="558" name="Google Shape;558;p89"/>
          <p:cNvSpPr txBox="1"/>
          <p:nvPr/>
        </p:nvSpPr>
        <p:spPr>
          <a:xfrm>
            <a:off x="2113293" y="1562711"/>
            <a:ext cx="4231500" cy="654000"/>
          </a:xfrm>
          <a:prstGeom prst="rect">
            <a:avLst/>
          </a:prstGeom>
          <a:noFill/>
          <a:ln>
            <a:noFill/>
          </a:ln>
        </p:spPr>
        <p:txBody>
          <a:bodyPr anchorCtr="0" anchor="t" bIns="64750" lIns="64750" spcFirstLastPara="1" rIns="64750" wrap="square" tIns="64750">
            <a:spAutoFit/>
          </a:bodyPr>
          <a:lstStyle/>
          <a:p>
            <a:pPr indent="0" lvl="0" marL="0" rtl="0" algn="l">
              <a:spcBef>
                <a:spcPts val="0"/>
              </a:spcBef>
              <a:spcAft>
                <a:spcPts val="0"/>
              </a:spcAft>
              <a:buNone/>
            </a:pPr>
            <a:r>
              <a:rPr b="1" lang="vi" sz="1700">
                <a:solidFill>
                  <a:srgbClr val="351C75"/>
                </a:solidFill>
              </a:rPr>
              <a:t>Kế hoạch không có định lượng: trong tuần này gửi (là ngày nào, giờ nào…)</a:t>
            </a:r>
            <a:endParaRPr b="1" sz="1700">
              <a:solidFill>
                <a:srgbClr val="351C75"/>
              </a:solidFill>
            </a:endParaRPr>
          </a:p>
        </p:txBody>
      </p:sp>
      <p:sp>
        <p:nvSpPr>
          <p:cNvPr id="559" name="Google Shape;559;p89"/>
          <p:cNvSpPr txBox="1"/>
          <p:nvPr/>
        </p:nvSpPr>
        <p:spPr>
          <a:xfrm>
            <a:off x="1613820" y="1573122"/>
            <a:ext cx="256200" cy="392400"/>
          </a:xfrm>
          <a:prstGeom prst="rect">
            <a:avLst/>
          </a:prstGeom>
          <a:noFill/>
          <a:ln>
            <a:noFill/>
          </a:ln>
        </p:spPr>
        <p:txBody>
          <a:bodyPr anchorCtr="0" anchor="t" bIns="64750" lIns="64750" spcFirstLastPara="1" rIns="64750" wrap="square" tIns="64750">
            <a:spAutoFit/>
          </a:bodyPr>
          <a:lstStyle/>
          <a:p>
            <a:pPr indent="0" lvl="0" marL="0" rtl="0" algn="l">
              <a:spcBef>
                <a:spcPts val="0"/>
              </a:spcBef>
              <a:spcAft>
                <a:spcPts val="0"/>
              </a:spcAft>
              <a:buNone/>
            </a:pPr>
            <a:r>
              <a:rPr b="1" lang="vi" sz="1700">
                <a:solidFill>
                  <a:srgbClr val="351C75"/>
                </a:solidFill>
              </a:rPr>
              <a:t>1</a:t>
            </a:r>
            <a:endParaRPr b="1" sz="1700">
              <a:solidFill>
                <a:srgbClr val="351C75"/>
              </a:solidFill>
            </a:endParaRPr>
          </a:p>
        </p:txBody>
      </p:sp>
      <p:sp>
        <p:nvSpPr>
          <p:cNvPr id="560" name="Google Shape;560;p89"/>
          <p:cNvSpPr/>
          <p:nvPr/>
        </p:nvSpPr>
        <p:spPr>
          <a:xfrm>
            <a:off x="1515498" y="2281636"/>
            <a:ext cx="437700" cy="427200"/>
          </a:xfrm>
          <a:prstGeom prst="flowChartConnector">
            <a:avLst/>
          </a:prstGeom>
          <a:solidFill>
            <a:srgbClr val="FFF5F5"/>
          </a:solidFill>
          <a:ln cap="flat" cmpd="sng" w="6750">
            <a:solidFill>
              <a:srgbClr val="CA2F47"/>
            </a:solidFill>
            <a:prstDash val="solid"/>
            <a:round/>
            <a:headEnd len="sm" w="sm" type="none"/>
            <a:tailEnd len="sm" w="sm" type="none"/>
          </a:ln>
        </p:spPr>
        <p:txBody>
          <a:bodyPr anchorCtr="0" anchor="ctr" bIns="64750" lIns="64750" spcFirstLastPara="1" rIns="64750" wrap="square" tIns="64750">
            <a:noAutofit/>
          </a:bodyPr>
          <a:lstStyle/>
          <a:p>
            <a:pPr indent="0" lvl="0" marL="0" rtl="0" algn="ctr">
              <a:spcBef>
                <a:spcPts val="0"/>
              </a:spcBef>
              <a:spcAft>
                <a:spcPts val="0"/>
              </a:spcAft>
              <a:buNone/>
            </a:pPr>
            <a:r>
              <a:t/>
            </a:r>
            <a:endParaRPr sz="992"/>
          </a:p>
        </p:txBody>
      </p:sp>
      <p:sp>
        <p:nvSpPr>
          <p:cNvPr id="561" name="Google Shape;561;p89"/>
          <p:cNvSpPr txBox="1"/>
          <p:nvPr/>
        </p:nvSpPr>
        <p:spPr>
          <a:xfrm>
            <a:off x="2113293" y="2288542"/>
            <a:ext cx="3724500" cy="654000"/>
          </a:xfrm>
          <a:prstGeom prst="rect">
            <a:avLst/>
          </a:prstGeom>
          <a:noFill/>
          <a:ln>
            <a:noFill/>
          </a:ln>
        </p:spPr>
        <p:txBody>
          <a:bodyPr anchorCtr="0" anchor="t" bIns="64750" lIns="64750" spcFirstLastPara="1" rIns="64750" wrap="square" tIns="64750">
            <a:spAutoFit/>
          </a:bodyPr>
          <a:lstStyle/>
          <a:p>
            <a:pPr indent="0" lvl="0" marL="0" rtl="0" algn="l">
              <a:spcBef>
                <a:spcPts val="0"/>
              </a:spcBef>
              <a:spcAft>
                <a:spcPts val="0"/>
              </a:spcAft>
              <a:buNone/>
            </a:pPr>
            <a:r>
              <a:rPr b="1" lang="vi" sz="1700">
                <a:solidFill>
                  <a:srgbClr val="351C75"/>
                </a:solidFill>
              </a:rPr>
              <a:t>Trình bày thiếu tính logic: nói a, nói c, nói z, xong lại quay về a</a:t>
            </a:r>
            <a:endParaRPr b="1" sz="1700">
              <a:solidFill>
                <a:srgbClr val="351C75"/>
              </a:solidFill>
            </a:endParaRPr>
          </a:p>
        </p:txBody>
      </p:sp>
      <p:sp>
        <p:nvSpPr>
          <p:cNvPr id="562" name="Google Shape;562;p89"/>
          <p:cNvSpPr txBox="1"/>
          <p:nvPr/>
        </p:nvSpPr>
        <p:spPr>
          <a:xfrm>
            <a:off x="1613820" y="2298953"/>
            <a:ext cx="256200" cy="392400"/>
          </a:xfrm>
          <a:prstGeom prst="rect">
            <a:avLst/>
          </a:prstGeom>
          <a:noFill/>
          <a:ln>
            <a:noFill/>
          </a:ln>
        </p:spPr>
        <p:txBody>
          <a:bodyPr anchorCtr="0" anchor="t" bIns="64750" lIns="64750" spcFirstLastPara="1" rIns="64750" wrap="square" tIns="64750">
            <a:spAutoFit/>
          </a:bodyPr>
          <a:lstStyle/>
          <a:p>
            <a:pPr indent="0" lvl="0" marL="0" rtl="0" algn="l">
              <a:spcBef>
                <a:spcPts val="0"/>
              </a:spcBef>
              <a:spcAft>
                <a:spcPts val="0"/>
              </a:spcAft>
              <a:buNone/>
            </a:pPr>
            <a:r>
              <a:rPr b="1" lang="vi" sz="1700">
                <a:solidFill>
                  <a:srgbClr val="351C75"/>
                </a:solidFill>
              </a:rPr>
              <a:t>2</a:t>
            </a:r>
            <a:endParaRPr b="1" sz="1700">
              <a:solidFill>
                <a:srgbClr val="351C75"/>
              </a:solidFill>
            </a:endParaRPr>
          </a:p>
        </p:txBody>
      </p:sp>
      <p:sp>
        <p:nvSpPr>
          <p:cNvPr id="563" name="Google Shape;563;p89"/>
          <p:cNvSpPr/>
          <p:nvPr/>
        </p:nvSpPr>
        <p:spPr>
          <a:xfrm>
            <a:off x="1515498" y="3007467"/>
            <a:ext cx="437700" cy="427200"/>
          </a:xfrm>
          <a:prstGeom prst="flowChartConnector">
            <a:avLst/>
          </a:prstGeom>
          <a:solidFill>
            <a:srgbClr val="FFF5F5"/>
          </a:solidFill>
          <a:ln cap="flat" cmpd="sng" w="6750">
            <a:solidFill>
              <a:srgbClr val="CA2F47"/>
            </a:solidFill>
            <a:prstDash val="solid"/>
            <a:round/>
            <a:headEnd len="sm" w="sm" type="none"/>
            <a:tailEnd len="sm" w="sm" type="none"/>
          </a:ln>
        </p:spPr>
        <p:txBody>
          <a:bodyPr anchorCtr="0" anchor="ctr" bIns="64750" lIns="64750" spcFirstLastPara="1" rIns="64750" wrap="square" tIns="64750">
            <a:noAutofit/>
          </a:bodyPr>
          <a:lstStyle/>
          <a:p>
            <a:pPr indent="0" lvl="0" marL="0" rtl="0" algn="ctr">
              <a:spcBef>
                <a:spcPts val="0"/>
              </a:spcBef>
              <a:spcAft>
                <a:spcPts val="0"/>
              </a:spcAft>
              <a:buNone/>
            </a:pPr>
            <a:r>
              <a:t/>
            </a:r>
            <a:endParaRPr sz="992"/>
          </a:p>
        </p:txBody>
      </p:sp>
      <p:sp>
        <p:nvSpPr>
          <p:cNvPr id="564" name="Google Shape;564;p89"/>
          <p:cNvSpPr txBox="1"/>
          <p:nvPr/>
        </p:nvSpPr>
        <p:spPr>
          <a:xfrm>
            <a:off x="2113293" y="3014373"/>
            <a:ext cx="3191700" cy="654000"/>
          </a:xfrm>
          <a:prstGeom prst="rect">
            <a:avLst/>
          </a:prstGeom>
          <a:noFill/>
          <a:ln>
            <a:noFill/>
          </a:ln>
        </p:spPr>
        <p:txBody>
          <a:bodyPr anchorCtr="0" anchor="t" bIns="64750" lIns="64750" spcFirstLastPara="1" rIns="64750" wrap="square" tIns="64750">
            <a:spAutoFit/>
          </a:bodyPr>
          <a:lstStyle/>
          <a:p>
            <a:pPr indent="0" lvl="0" marL="0" rtl="0" algn="l">
              <a:spcBef>
                <a:spcPts val="0"/>
              </a:spcBef>
              <a:spcAft>
                <a:spcPts val="0"/>
              </a:spcAft>
              <a:buNone/>
            </a:pPr>
            <a:r>
              <a:rPr b="1" lang="vi" sz="1700">
                <a:solidFill>
                  <a:srgbClr val="351C75"/>
                </a:solidFill>
              </a:rPr>
              <a:t>Câu trả lời cảm tính, thiếu tính thuyết phục</a:t>
            </a:r>
            <a:endParaRPr b="1" sz="1700">
              <a:solidFill>
                <a:srgbClr val="351C75"/>
              </a:solidFill>
            </a:endParaRPr>
          </a:p>
        </p:txBody>
      </p:sp>
      <p:sp>
        <p:nvSpPr>
          <p:cNvPr id="565" name="Google Shape;565;p89"/>
          <p:cNvSpPr txBox="1"/>
          <p:nvPr/>
        </p:nvSpPr>
        <p:spPr>
          <a:xfrm>
            <a:off x="1613820" y="3024784"/>
            <a:ext cx="256200" cy="392400"/>
          </a:xfrm>
          <a:prstGeom prst="rect">
            <a:avLst/>
          </a:prstGeom>
          <a:noFill/>
          <a:ln>
            <a:noFill/>
          </a:ln>
        </p:spPr>
        <p:txBody>
          <a:bodyPr anchorCtr="0" anchor="t" bIns="64750" lIns="64750" spcFirstLastPara="1" rIns="64750" wrap="square" tIns="64750">
            <a:spAutoFit/>
          </a:bodyPr>
          <a:lstStyle/>
          <a:p>
            <a:pPr indent="0" lvl="0" marL="0" rtl="0" algn="l">
              <a:spcBef>
                <a:spcPts val="0"/>
              </a:spcBef>
              <a:spcAft>
                <a:spcPts val="0"/>
              </a:spcAft>
              <a:buNone/>
            </a:pPr>
            <a:r>
              <a:rPr b="1" lang="vi" sz="1700">
                <a:solidFill>
                  <a:srgbClr val="351C75"/>
                </a:solidFill>
              </a:rPr>
              <a:t>3</a:t>
            </a:r>
            <a:endParaRPr b="1" sz="1700">
              <a:solidFill>
                <a:srgbClr val="351C75"/>
              </a:solidFill>
            </a:endParaRPr>
          </a:p>
        </p:txBody>
      </p:sp>
      <p:sp>
        <p:nvSpPr>
          <p:cNvPr id="566" name="Google Shape;566;p89"/>
          <p:cNvSpPr/>
          <p:nvPr/>
        </p:nvSpPr>
        <p:spPr>
          <a:xfrm>
            <a:off x="1515498" y="3733298"/>
            <a:ext cx="437700" cy="427200"/>
          </a:xfrm>
          <a:prstGeom prst="flowChartConnector">
            <a:avLst/>
          </a:prstGeom>
          <a:solidFill>
            <a:srgbClr val="FFF5F5"/>
          </a:solidFill>
          <a:ln cap="flat" cmpd="sng" w="6750">
            <a:solidFill>
              <a:srgbClr val="CA2F47"/>
            </a:solidFill>
            <a:prstDash val="solid"/>
            <a:round/>
            <a:headEnd len="sm" w="sm" type="none"/>
            <a:tailEnd len="sm" w="sm" type="none"/>
          </a:ln>
        </p:spPr>
        <p:txBody>
          <a:bodyPr anchorCtr="0" anchor="ctr" bIns="64750" lIns="64750" spcFirstLastPara="1" rIns="64750" wrap="square" tIns="64750">
            <a:noAutofit/>
          </a:bodyPr>
          <a:lstStyle/>
          <a:p>
            <a:pPr indent="0" lvl="0" marL="0" rtl="0" algn="ctr">
              <a:spcBef>
                <a:spcPts val="0"/>
              </a:spcBef>
              <a:spcAft>
                <a:spcPts val="0"/>
              </a:spcAft>
              <a:buNone/>
            </a:pPr>
            <a:r>
              <a:t/>
            </a:r>
            <a:endParaRPr sz="992"/>
          </a:p>
        </p:txBody>
      </p:sp>
      <p:sp>
        <p:nvSpPr>
          <p:cNvPr id="567" name="Google Shape;567;p89"/>
          <p:cNvSpPr txBox="1"/>
          <p:nvPr/>
        </p:nvSpPr>
        <p:spPr>
          <a:xfrm>
            <a:off x="2113293" y="3740203"/>
            <a:ext cx="5372400" cy="654000"/>
          </a:xfrm>
          <a:prstGeom prst="rect">
            <a:avLst/>
          </a:prstGeom>
          <a:noFill/>
          <a:ln>
            <a:noFill/>
          </a:ln>
        </p:spPr>
        <p:txBody>
          <a:bodyPr anchorCtr="0" anchor="t" bIns="64750" lIns="64750" spcFirstLastPara="1" rIns="64750" wrap="square" tIns="64750">
            <a:spAutoFit/>
          </a:bodyPr>
          <a:lstStyle/>
          <a:p>
            <a:pPr indent="0" lvl="0" marL="0" rtl="0" algn="l">
              <a:spcBef>
                <a:spcPts val="0"/>
              </a:spcBef>
              <a:spcAft>
                <a:spcPts val="0"/>
              </a:spcAft>
              <a:buNone/>
            </a:pPr>
            <a:r>
              <a:rPr b="1" lang="vi" sz="1700">
                <a:solidFill>
                  <a:srgbClr val="351C75"/>
                </a:solidFill>
              </a:rPr>
              <a:t>Báo cáo, tài liệu đôi khi không check kỹ về format, hay sai về số liệu.</a:t>
            </a:r>
            <a:endParaRPr b="1" sz="1700">
              <a:solidFill>
                <a:srgbClr val="351C75"/>
              </a:solidFill>
            </a:endParaRPr>
          </a:p>
        </p:txBody>
      </p:sp>
      <p:sp>
        <p:nvSpPr>
          <p:cNvPr id="568" name="Google Shape;568;p89"/>
          <p:cNvSpPr txBox="1"/>
          <p:nvPr/>
        </p:nvSpPr>
        <p:spPr>
          <a:xfrm>
            <a:off x="1613820" y="3750615"/>
            <a:ext cx="256200" cy="392400"/>
          </a:xfrm>
          <a:prstGeom prst="rect">
            <a:avLst/>
          </a:prstGeom>
          <a:noFill/>
          <a:ln>
            <a:noFill/>
          </a:ln>
        </p:spPr>
        <p:txBody>
          <a:bodyPr anchorCtr="0" anchor="t" bIns="64750" lIns="64750" spcFirstLastPara="1" rIns="64750" wrap="square" tIns="64750">
            <a:spAutoFit/>
          </a:bodyPr>
          <a:lstStyle/>
          <a:p>
            <a:pPr indent="0" lvl="0" marL="0" rtl="0" algn="l">
              <a:spcBef>
                <a:spcPts val="0"/>
              </a:spcBef>
              <a:spcAft>
                <a:spcPts val="0"/>
              </a:spcAft>
              <a:buNone/>
            </a:pPr>
            <a:r>
              <a:rPr b="1" lang="vi" sz="1700">
                <a:solidFill>
                  <a:srgbClr val="351C75"/>
                </a:solidFill>
              </a:rPr>
              <a:t>4</a:t>
            </a:r>
            <a:endParaRPr b="1" sz="1700">
              <a:solidFill>
                <a:srgbClr val="351C75"/>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0"/>
          <p:cNvSpPr/>
          <p:nvPr/>
        </p:nvSpPr>
        <p:spPr>
          <a:xfrm>
            <a:off x="1335325" y="588275"/>
            <a:ext cx="499800" cy="487500"/>
          </a:xfrm>
          <a:prstGeom prst="flowChartConnector">
            <a:avLst/>
          </a:prstGeom>
          <a:solidFill>
            <a:srgbClr val="FFF5F5"/>
          </a:solidFill>
          <a:ln cap="flat" cmpd="sng" w="7700">
            <a:solidFill>
              <a:srgbClr val="CA2F47"/>
            </a:solidFill>
            <a:prstDash val="solid"/>
            <a:round/>
            <a:headEnd len="sm" w="sm" type="none"/>
            <a:tailEnd len="sm" w="sm" type="none"/>
          </a:ln>
        </p:spPr>
        <p:txBody>
          <a:bodyPr anchorCtr="0" anchor="ctr" bIns="73925" lIns="73925" spcFirstLastPara="1" rIns="73925" wrap="square" tIns="73925">
            <a:noAutofit/>
          </a:bodyPr>
          <a:lstStyle/>
          <a:p>
            <a:pPr indent="0" lvl="0" marL="0" rtl="0" algn="ctr">
              <a:spcBef>
                <a:spcPts val="0"/>
              </a:spcBef>
              <a:spcAft>
                <a:spcPts val="0"/>
              </a:spcAft>
              <a:buNone/>
            </a:pPr>
            <a:r>
              <a:t/>
            </a:r>
            <a:endParaRPr sz="1132"/>
          </a:p>
        </p:txBody>
      </p:sp>
      <p:sp>
        <p:nvSpPr>
          <p:cNvPr id="574" name="Google Shape;574;p90"/>
          <p:cNvSpPr txBox="1"/>
          <p:nvPr/>
        </p:nvSpPr>
        <p:spPr>
          <a:xfrm>
            <a:off x="2017850" y="596159"/>
            <a:ext cx="4831500" cy="746700"/>
          </a:xfrm>
          <a:prstGeom prst="rect">
            <a:avLst/>
          </a:prstGeom>
          <a:noFill/>
          <a:ln>
            <a:noFill/>
          </a:ln>
        </p:spPr>
        <p:txBody>
          <a:bodyPr anchorCtr="0" anchor="t" bIns="73925" lIns="73925" spcFirstLastPara="1" rIns="73925" wrap="square" tIns="73925">
            <a:spAutoFit/>
          </a:bodyPr>
          <a:lstStyle/>
          <a:p>
            <a:pPr indent="0" lvl="0" marL="0" rtl="0" algn="l">
              <a:spcBef>
                <a:spcPts val="0"/>
              </a:spcBef>
              <a:spcAft>
                <a:spcPts val="0"/>
              </a:spcAft>
              <a:buNone/>
            </a:pPr>
            <a:r>
              <a:rPr b="1" lang="vi" sz="1941">
                <a:solidFill>
                  <a:srgbClr val="351C75"/>
                </a:solidFill>
              </a:rPr>
              <a:t>Lên lịch deliver không cân nhắc đến thời gian dịch tài liệu</a:t>
            </a:r>
            <a:endParaRPr b="1" sz="1941">
              <a:solidFill>
                <a:srgbClr val="351C75"/>
              </a:solidFill>
            </a:endParaRPr>
          </a:p>
        </p:txBody>
      </p:sp>
      <p:sp>
        <p:nvSpPr>
          <p:cNvPr id="575" name="Google Shape;575;p90"/>
          <p:cNvSpPr txBox="1"/>
          <p:nvPr/>
        </p:nvSpPr>
        <p:spPr>
          <a:xfrm>
            <a:off x="1447583" y="608046"/>
            <a:ext cx="292800" cy="448200"/>
          </a:xfrm>
          <a:prstGeom prst="rect">
            <a:avLst/>
          </a:prstGeom>
          <a:noFill/>
          <a:ln>
            <a:noFill/>
          </a:ln>
        </p:spPr>
        <p:txBody>
          <a:bodyPr anchorCtr="0" anchor="t" bIns="73925" lIns="73925" spcFirstLastPara="1" rIns="73925" wrap="square" tIns="73925">
            <a:spAutoFit/>
          </a:bodyPr>
          <a:lstStyle/>
          <a:p>
            <a:pPr indent="0" lvl="0" marL="0" rtl="0" algn="l">
              <a:spcBef>
                <a:spcPts val="0"/>
              </a:spcBef>
              <a:spcAft>
                <a:spcPts val="0"/>
              </a:spcAft>
              <a:buNone/>
            </a:pPr>
            <a:r>
              <a:rPr b="1" lang="vi" sz="1941">
                <a:solidFill>
                  <a:srgbClr val="351C75"/>
                </a:solidFill>
              </a:rPr>
              <a:t>5</a:t>
            </a:r>
            <a:endParaRPr b="1" sz="1941">
              <a:solidFill>
                <a:srgbClr val="351C75"/>
              </a:solidFill>
            </a:endParaRPr>
          </a:p>
        </p:txBody>
      </p:sp>
      <p:sp>
        <p:nvSpPr>
          <p:cNvPr id="576" name="Google Shape;576;p90"/>
          <p:cNvSpPr/>
          <p:nvPr/>
        </p:nvSpPr>
        <p:spPr>
          <a:xfrm>
            <a:off x="1335325" y="1416980"/>
            <a:ext cx="499800" cy="487500"/>
          </a:xfrm>
          <a:prstGeom prst="flowChartConnector">
            <a:avLst/>
          </a:prstGeom>
          <a:solidFill>
            <a:srgbClr val="FFF5F5"/>
          </a:solidFill>
          <a:ln cap="flat" cmpd="sng" w="7700">
            <a:solidFill>
              <a:srgbClr val="CA2F47"/>
            </a:solidFill>
            <a:prstDash val="solid"/>
            <a:round/>
            <a:headEnd len="sm" w="sm" type="none"/>
            <a:tailEnd len="sm" w="sm" type="none"/>
          </a:ln>
        </p:spPr>
        <p:txBody>
          <a:bodyPr anchorCtr="0" anchor="ctr" bIns="73925" lIns="73925" spcFirstLastPara="1" rIns="73925" wrap="square" tIns="73925">
            <a:noAutofit/>
          </a:bodyPr>
          <a:lstStyle/>
          <a:p>
            <a:pPr indent="0" lvl="0" marL="0" rtl="0" algn="ctr">
              <a:spcBef>
                <a:spcPts val="0"/>
              </a:spcBef>
              <a:spcAft>
                <a:spcPts val="0"/>
              </a:spcAft>
              <a:buNone/>
            </a:pPr>
            <a:r>
              <a:t/>
            </a:r>
            <a:endParaRPr sz="1132"/>
          </a:p>
        </p:txBody>
      </p:sp>
      <p:sp>
        <p:nvSpPr>
          <p:cNvPr id="577" name="Google Shape;577;p90"/>
          <p:cNvSpPr txBox="1"/>
          <p:nvPr/>
        </p:nvSpPr>
        <p:spPr>
          <a:xfrm>
            <a:off x="2017850" y="1424864"/>
            <a:ext cx="4371600" cy="746700"/>
          </a:xfrm>
          <a:prstGeom prst="rect">
            <a:avLst/>
          </a:prstGeom>
          <a:noFill/>
          <a:ln>
            <a:noFill/>
          </a:ln>
        </p:spPr>
        <p:txBody>
          <a:bodyPr anchorCtr="0" anchor="t" bIns="73925" lIns="73925" spcFirstLastPara="1" rIns="73925" wrap="square" tIns="73925">
            <a:spAutoFit/>
          </a:bodyPr>
          <a:lstStyle/>
          <a:p>
            <a:pPr indent="0" lvl="0" marL="0" rtl="0" algn="l">
              <a:spcBef>
                <a:spcPts val="0"/>
              </a:spcBef>
              <a:spcAft>
                <a:spcPts val="0"/>
              </a:spcAft>
              <a:buNone/>
            </a:pPr>
            <a:r>
              <a:rPr b="1" lang="vi" sz="1941">
                <a:solidFill>
                  <a:srgbClr val="351C75"/>
                </a:solidFill>
              </a:rPr>
              <a:t>Q&amp;A không thoát ý, trình bày khó hiểu.</a:t>
            </a:r>
            <a:endParaRPr b="1" sz="1941">
              <a:solidFill>
                <a:srgbClr val="351C75"/>
              </a:solidFill>
            </a:endParaRPr>
          </a:p>
        </p:txBody>
      </p:sp>
      <p:sp>
        <p:nvSpPr>
          <p:cNvPr id="578" name="Google Shape;578;p90"/>
          <p:cNvSpPr txBox="1"/>
          <p:nvPr/>
        </p:nvSpPr>
        <p:spPr>
          <a:xfrm>
            <a:off x="1447583" y="1436751"/>
            <a:ext cx="292800" cy="448200"/>
          </a:xfrm>
          <a:prstGeom prst="rect">
            <a:avLst/>
          </a:prstGeom>
          <a:noFill/>
          <a:ln>
            <a:noFill/>
          </a:ln>
        </p:spPr>
        <p:txBody>
          <a:bodyPr anchorCtr="0" anchor="t" bIns="73925" lIns="73925" spcFirstLastPara="1" rIns="73925" wrap="square" tIns="73925">
            <a:spAutoFit/>
          </a:bodyPr>
          <a:lstStyle/>
          <a:p>
            <a:pPr indent="0" lvl="0" marL="0" rtl="0" algn="l">
              <a:spcBef>
                <a:spcPts val="0"/>
              </a:spcBef>
              <a:spcAft>
                <a:spcPts val="0"/>
              </a:spcAft>
              <a:buNone/>
            </a:pPr>
            <a:r>
              <a:rPr b="1" lang="vi" sz="1941">
                <a:solidFill>
                  <a:srgbClr val="351C75"/>
                </a:solidFill>
              </a:rPr>
              <a:t>6</a:t>
            </a:r>
            <a:endParaRPr b="1" sz="1941">
              <a:solidFill>
                <a:srgbClr val="351C75"/>
              </a:solidFill>
            </a:endParaRPr>
          </a:p>
        </p:txBody>
      </p:sp>
      <p:sp>
        <p:nvSpPr>
          <p:cNvPr id="579" name="Google Shape;579;p90"/>
          <p:cNvSpPr/>
          <p:nvPr/>
        </p:nvSpPr>
        <p:spPr>
          <a:xfrm>
            <a:off x="1335325" y="2245685"/>
            <a:ext cx="499800" cy="487500"/>
          </a:xfrm>
          <a:prstGeom prst="flowChartConnector">
            <a:avLst/>
          </a:prstGeom>
          <a:solidFill>
            <a:srgbClr val="FFF5F5"/>
          </a:solidFill>
          <a:ln cap="flat" cmpd="sng" w="7700">
            <a:solidFill>
              <a:srgbClr val="CA2F47"/>
            </a:solidFill>
            <a:prstDash val="solid"/>
            <a:round/>
            <a:headEnd len="sm" w="sm" type="none"/>
            <a:tailEnd len="sm" w="sm" type="none"/>
          </a:ln>
        </p:spPr>
        <p:txBody>
          <a:bodyPr anchorCtr="0" anchor="ctr" bIns="73925" lIns="73925" spcFirstLastPara="1" rIns="73925" wrap="square" tIns="73925">
            <a:noAutofit/>
          </a:bodyPr>
          <a:lstStyle/>
          <a:p>
            <a:pPr indent="0" lvl="0" marL="0" rtl="0" algn="ctr">
              <a:spcBef>
                <a:spcPts val="0"/>
              </a:spcBef>
              <a:spcAft>
                <a:spcPts val="0"/>
              </a:spcAft>
              <a:buNone/>
            </a:pPr>
            <a:r>
              <a:t/>
            </a:r>
            <a:endParaRPr sz="1132"/>
          </a:p>
        </p:txBody>
      </p:sp>
      <p:sp>
        <p:nvSpPr>
          <p:cNvPr id="580" name="Google Shape;580;p90"/>
          <p:cNvSpPr txBox="1"/>
          <p:nvPr/>
        </p:nvSpPr>
        <p:spPr>
          <a:xfrm>
            <a:off x="2017850" y="2253569"/>
            <a:ext cx="5355900" cy="746700"/>
          </a:xfrm>
          <a:prstGeom prst="rect">
            <a:avLst/>
          </a:prstGeom>
          <a:noFill/>
          <a:ln>
            <a:noFill/>
          </a:ln>
        </p:spPr>
        <p:txBody>
          <a:bodyPr anchorCtr="0" anchor="t" bIns="73925" lIns="73925" spcFirstLastPara="1" rIns="73925" wrap="square" tIns="73925">
            <a:spAutoFit/>
          </a:bodyPr>
          <a:lstStyle/>
          <a:p>
            <a:pPr indent="0" lvl="0" marL="0" rtl="0" algn="l">
              <a:spcBef>
                <a:spcPts val="0"/>
              </a:spcBef>
              <a:spcAft>
                <a:spcPts val="0"/>
              </a:spcAft>
              <a:buNone/>
            </a:pPr>
            <a:r>
              <a:rPr b="1" lang="vi" sz="1941">
                <a:solidFill>
                  <a:srgbClr val="351C75"/>
                </a:solidFill>
              </a:rPr>
              <a:t>Trả lời khách hàng không đủ đầy đủ ý. Khách hỏi 4 ý, chỉ trả lời 2.</a:t>
            </a:r>
            <a:endParaRPr b="1" sz="1941">
              <a:solidFill>
                <a:srgbClr val="351C75"/>
              </a:solidFill>
            </a:endParaRPr>
          </a:p>
        </p:txBody>
      </p:sp>
      <p:sp>
        <p:nvSpPr>
          <p:cNvPr id="581" name="Google Shape;581;p90"/>
          <p:cNvSpPr txBox="1"/>
          <p:nvPr/>
        </p:nvSpPr>
        <p:spPr>
          <a:xfrm>
            <a:off x="1447583" y="2265456"/>
            <a:ext cx="292800" cy="448200"/>
          </a:xfrm>
          <a:prstGeom prst="rect">
            <a:avLst/>
          </a:prstGeom>
          <a:noFill/>
          <a:ln>
            <a:noFill/>
          </a:ln>
        </p:spPr>
        <p:txBody>
          <a:bodyPr anchorCtr="0" anchor="t" bIns="73925" lIns="73925" spcFirstLastPara="1" rIns="73925" wrap="square" tIns="73925">
            <a:spAutoFit/>
          </a:bodyPr>
          <a:lstStyle/>
          <a:p>
            <a:pPr indent="0" lvl="0" marL="0" rtl="0" algn="l">
              <a:spcBef>
                <a:spcPts val="0"/>
              </a:spcBef>
              <a:spcAft>
                <a:spcPts val="0"/>
              </a:spcAft>
              <a:buNone/>
            </a:pPr>
            <a:r>
              <a:rPr b="1" lang="vi" sz="1941">
                <a:solidFill>
                  <a:srgbClr val="351C75"/>
                </a:solidFill>
              </a:rPr>
              <a:t>7</a:t>
            </a:r>
            <a:endParaRPr b="1" sz="1941">
              <a:solidFill>
                <a:srgbClr val="351C75"/>
              </a:solidFill>
            </a:endParaRPr>
          </a:p>
        </p:txBody>
      </p:sp>
      <p:sp>
        <p:nvSpPr>
          <p:cNvPr id="582" name="Google Shape;582;p90"/>
          <p:cNvSpPr/>
          <p:nvPr/>
        </p:nvSpPr>
        <p:spPr>
          <a:xfrm>
            <a:off x="1335325" y="3074390"/>
            <a:ext cx="499800" cy="487500"/>
          </a:xfrm>
          <a:prstGeom prst="flowChartConnector">
            <a:avLst/>
          </a:prstGeom>
          <a:solidFill>
            <a:srgbClr val="FFF5F5"/>
          </a:solidFill>
          <a:ln cap="flat" cmpd="sng" w="7700">
            <a:solidFill>
              <a:srgbClr val="CA2F47"/>
            </a:solidFill>
            <a:prstDash val="solid"/>
            <a:round/>
            <a:headEnd len="sm" w="sm" type="none"/>
            <a:tailEnd len="sm" w="sm" type="none"/>
          </a:ln>
        </p:spPr>
        <p:txBody>
          <a:bodyPr anchorCtr="0" anchor="ctr" bIns="73925" lIns="73925" spcFirstLastPara="1" rIns="73925" wrap="square" tIns="73925">
            <a:noAutofit/>
          </a:bodyPr>
          <a:lstStyle/>
          <a:p>
            <a:pPr indent="0" lvl="0" marL="0" rtl="0" algn="ctr">
              <a:spcBef>
                <a:spcPts val="0"/>
              </a:spcBef>
              <a:spcAft>
                <a:spcPts val="0"/>
              </a:spcAft>
              <a:buNone/>
            </a:pPr>
            <a:r>
              <a:t/>
            </a:r>
            <a:endParaRPr sz="1132"/>
          </a:p>
        </p:txBody>
      </p:sp>
      <p:sp>
        <p:nvSpPr>
          <p:cNvPr id="583" name="Google Shape;583;p90"/>
          <p:cNvSpPr txBox="1"/>
          <p:nvPr/>
        </p:nvSpPr>
        <p:spPr>
          <a:xfrm>
            <a:off x="2017850" y="3082274"/>
            <a:ext cx="6133800" cy="746700"/>
          </a:xfrm>
          <a:prstGeom prst="rect">
            <a:avLst/>
          </a:prstGeom>
          <a:noFill/>
          <a:ln>
            <a:noFill/>
          </a:ln>
        </p:spPr>
        <p:txBody>
          <a:bodyPr anchorCtr="0" anchor="t" bIns="73925" lIns="73925" spcFirstLastPara="1" rIns="73925" wrap="square" tIns="73925">
            <a:spAutoFit/>
          </a:bodyPr>
          <a:lstStyle/>
          <a:p>
            <a:pPr indent="0" lvl="0" marL="0" rtl="0" algn="l">
              <a:spcBef>
                <a:spcPts val="0"/>
              </a:spcBef>
              <a:spcAft>
                <a:spcPts val="0"/>
              </a:spcAft>
              <a:buNone/>
            </a:pPr>
            <a:r>
              <a:rPr b="1" lang="vi" sz="1941">
                <a:solidFill>
                  <a:srgbClr val="351C75"/>
                </a:solidFill>
              </a:rPr>
              <a:t>Lên schedule không để ý đến lịch nghỉ lễ của Nhật, Việt</a:t>
            </a:r>
            <a:endParaRPr b="1" sz="1941">
              <a:solidFill>
                <a:srgbClr val="351C75"/>
              </a:solidFill>
            </a:endParaRPr>
          </a:p>
        </p:txBody>
      </p:sp>
      <p:sp>
        <p:nvSpPr>
          <p:cNvPr id="584" name="Google Shape;584;p90"/>
          <p:cNvSpPr txBox="1"/>
          <p:nvPr/>
        </p:nvSpPr>
        <p:spPr>
          <a:xfrm>
            <a:off x="1447583" y="3094161"/>
            <a:ext cx="292800" cy="448200"/>
          </a:xfrm>
          <a:prstGeom prst="rect">
            <a:avLst/>
          </a:prstGeom>
          <a:noFill/>
          <a:ln>
            <a:noFill/>
          </a:ln>
        </p:spPr>
        <p:txBody>
          <a:bodyPr anchorCtr="0" anchor="t" bIns="73925" lIns="73925" spcFirstLastPara="1" rIns="73925" wrap="square" tIns="73925">
            <a:spAutoFit/>
          </a:bodyPr>
          <a:lstStyle/>
          <a:p>
            <a:pPr indent="0" lvl="0" marL="0" rtl="0" algn="l">
              <a:spcBef>
                <a:spcPts val="0"/>
              </a:spcBef>
              <a:spcAft>
                <a:spcPts val="0"/>
              </a:spcAft>
              <a:buNone/>
            </a:pPr>
            <a:r>
              <a:rPr b="1" lang="vi" sz="1941">
                <a:solidFill>
                  <a:srgbClr val="351C75"/>
                </a:solidFill>
              </a:rPr>
              <a:t>8</a:t>
            </a:r>
            <a:endParaRPr b="1" sz="1941">
              <a:solidFill>
                <a:srgbClr val="351C75"/>
              </a:solidFill>
            </a:endParaRPr>
          </a:p>
        </p:txBody>
      </p:sp>
      <p:sp>
        <p:nvSpPr>
          <p:cNvPr id="585" name="Google Shape;585;p90"/>
          <p:cNvSpPr/>
          <p:nvPr/>
        </p:nvSpPr>
        <p:spPr>
          <a:xfrm>
            <a:off x="1335325" y="3813802"/>
            <a:ext cx="499800" cy="487500"/>
          </a:xfrm>
          <a:prstGeom prst="flowChartConnector">
            <a:avLst/>
          </a:prstGeom>
          <a:solidFill>
            <a:srgbClr val="FFF5F5"/>
          </a:solidFill>
          <a:ln cap="flat" cmpd="sng" w="7700">
            <a:solidFill>
              <a:srgbClr val="CA2F47"/>
            </a:solidFill>
            <a:prstDash val="solid"/>
            <a:round/>
            <a:headEnd len="sm" w="sm" type="none"/>
            <a:tailEnd len="sm" w="sm" type="none"/>
          </a:ln>
        </p:spPr>
        <p:txBody>
          <a:bodyPr anchorCtr="0" anchor="ctr" bIns="73925" lIns="73925" spcFirstLastPara="1" rIns="73925" wrap="square" tIns="73925">
            <a:noAutofit/>
          </a:bodyPr>
          <a:lstStyle/>
          <a:p>
            <a:pPr indent="0" lvl="0" marL="0" rtl="0" algn="ctr">
              <a:spcBef>
                <a:spcPts val="0"/>
              </a:spcBef>
              <a:spcAft>
                <a:spcPts val="0"/>
              </a:spcAft>
              <a:buNone/>
            </a:pPr>
            <a:r>
              <a:t/>
            </a:r>
            <a:endParaRPr sz="1132"/>
          </a:p>
        </p:txBody>
      </p:sp>
      <p:sp>
        <p:nvSpPr>
          <p:cNvPr id="586" name="Google Shape;586;p90"/>
          <p:cNvSpPr txBox="1"/>
          <p:nvPr/>
        </p:nvSpPr>
        <p:spPr>
          <a:xfrm>
            <a:off x="2017850" y="3821686"/>
            <a:ext cx="6133800" cy="448200"/>
          </a:xfrm>
          <a:prstGeom prst="rect">
            <a:avLst/>
          </a:prstGeom>
          <a:noFill/>
          <a:ln>
            <a:noFill/>
          </a:ln>
        </p:spPr>
        <p:txBody>
          <a:bodyPr anchorCtr="0" anchor="t" bIns="73925" lIns="73925" spcFirstLastPara="1" rIns="73925" wrap="square" tIns="73925">
            <a:spAutoFit/>
          </a:bodyPr>
          <a:lstStyle/>
          <a:p>
            <a:pPr indent="0" lvl="0" marL="0" rtl="0" algn="l">
              <a:spcBef>
                <a:spcPts val="0"/>
              </a:spcBef>
              <a:spcAft>
                <a:spcPts val="0"/>
              </a:spcAft>
              <a:buNone/>
            </a:pPr>
            <a:r>
              <a:rPr b="1" lang="vi" sz="1941">
                <a:solidFill>
                  <a:srgbClr val="351C75"/>
                </a:solidFill>
              </a:rPr>
              <a:t>“Em cứ dịch y như thế là được”</a:t>
            </a:r>
            <a:endParaRPr b="1" sz="1941">
              <a:solidFill>
                <a:srgbClr val="351C75"/>
              </a:solidFill>
            </a:endParaRPr>
          </a:p>
        </p:txBody>
      </p:sp>
      <p:sp>
        <p:nvSpPr>
          <p:cNvPr id="587" name="Google Shape;587;p90"/>
          <p:cNvSpPr txBox="1"/>
          <p:nvPr/>
        </p:nvSpPr>
        <p:spPr>
          <a:xfrm>
            <a:off x="1447583" y="3833573"/>
            <a:ext cx="292800" cy="448200"/>
          </a:xfrm>
          <a:prstGeom prst="rect">
            <a:avLst/>
          </a:prstGeom>
          <a:noFill/>
          <a:ln>
            <a:noFill/>
          </a:ln>
        </p:spPr>
        <p:txBody>
          <a:bodyPr anchorCtr="0" anchor="t" bIns="73925" lIns="73925" spcFirstLastPara="1" rIns="73925" wrap="square" tIns="73925">
            <a:spAutoFit/>
          </a:bodyPr>
          <a:lstStyle/>
          <a:p>
            <a:pPr indent="0" lvl="0" marL="0" rtl="0" algn="l">
              <a:spcBef>
                <a:spcPts val="0"/>
              </a:spcBef>
              <a:spcAft>
                <a:spcPts val="0"/>
              </a:spcAft>
              <a:buNone/>
            </a:pPr>
            <a:r>
              <a:rPr b="1" lang="vi" sz="1941">
                <a:solidFill>
                  <a:srgbClr val="351C75"/>
                </a:solidFill>
              </a:rPr>
              <a:t>9</a:t>
            </a:r>
            <a:endParaRPr b="1" sz="1941">
              <a:solidFill>
                <a:srgbClr val="351C75"/>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91"/>
          <p:cNvSpPr txBox="1"/>
          <p:nvPr/>
        </p:nvSpPr>
        <p:spPr>
          <a:xfrm>
            <a:off x="160950" y="1934500"/>
            <a:ext cx="8822100" cy="738900"/>
          </a:xfrm>
          <a:prstGeom prst="rect">
            <a:avLst/>
          </a:prstGeom>
          <a:solidFill>
            <a:srgbClr val="CA2F47"/>
          </a:solid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vi" sz="3600">
                <a:solidFill>
                  <a:srgbClr val="FFFFFF"/>
                </a:solidFill>
              </a:rPr>
              <a:t>Phiên dịch</a:t>
            </a:r>
            <a:endParaRPr b="1" sz="3600">
              <a:solidFill>
                <a:srgbClr val="FFFFFF"/>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92"/>
          <p:cNvSpPr txBox="1"/>
          <p:nvPr/>
        </p:nvSpPr>
        <p:spPr>
          <a:xfrm>
            <a:off x="1511550" y="673500"/>
            <a:ext cx="6120900" cy="488700"/>
          </a:xfrm>
          <a:prstGeom prst="rect">
            <a:avLst/>
          </a:prstGeom>
          <a:noFill/>
          <a:ln>
            <a:noFill/>
          </a:ln>
        </p:spPr>
        <p:txBody>
          <a:bodyPr anchorCtr="0" anchor="t" bIns="60475" lIns="60475" spcFirstLastPara="1" rIns="60475" wrap="square" tIns="60475">
            <a:spAutoFit/>
          </a:bodyPr>
          <a:lstStyle/>
          <a:p>
            <a:pPr indent="0" lvl="0" marL="0" rtl="0" algn="l">
              <a:lnSpc>
                <a:spcPct val="115000"/>
              </a:lnSpc>
              <a:spcBef>
                <a:spcPts val="1191"/>
              </a:spcBef>
              <a:spcAft>
                <a:spcPts val="265"/>
              </a:spcAft>
              <a:buNone/>
            </a:pPr>
            <a:r>
              <a:rPr b="1" lang="vi" sz="2381">
                <a:solidFill>
                  <a:srgbClr val="351C75"/>
                </a:solidFill>
              </a:rPr>
              <a:t>Bài 1: Demo thực hiện weekly meeting</a:t>
            </a:r>
            <a:endParaRPr b="1" sz="2381">
              <a:solidFill>
                <a:srgbClr val="351C75"/>
              </a:solidFill>
            </a:endParaRPr>
          </a:p>
        </p:txBody>
      </p:sp>
      <p:sp>
        <p:nvSpPr>
          <p:cNvPr id="598" name="Google Shape;598;p92"/>
          <p:cNvSpPr/>
          <p:nvPr/>
        </p:nvSpPr>
        <p:spPr>
          <a:xfrm>
            <a:off x="1657057" y="1437032"/>
            <a:ext cx="5345100" cy="2604600"/>
          </a:xfrm>
          <a:prstGeom prst="roundRect">
            <a:avLst>
              <a:gd fmla="val 16667" name="adj"/>
            </a:avLst>
          </a:prstGeom>
          <a:solidFill>
            <a:srgbClr val="FFF5F5"/>
          </a:solidFill>
          <a:ln cap="flat" cmpd="sng" w="6300">
            <a:solidFill>
              <a:srgbClr val="CA2F47"/>
            </a:solidFill>
            <a:prstDash val="solid"/>
            <a:round/>
            <a:headEnd len="sm" w="sm" type="none"/>
            <a:tailEnd len="sm" w="sm" type="none"/>
          </a:ln>
        </p:spPr>
        <p:txBody>
          <a:bodyPr anchorCtr="0" anchor="ctr" bIns="60475" lIns="60475" spcFirstLastPara="1" rIns="60475" wrap="square" tIns="60475">
            <a:noAutofit/>
          </a:bodyPr>
          <a:lstStyle/>
          <a:p>
            <a:pPr indent="-226793" lvl="0" marL="302391" rtl="0" algn="l">
              <a:lnSpc>
                <a:spcPct val="115000"/>
              </a:lnSpc>
              <a:spcBef>
                <a:spcPts val="794"/>
              </a:spcBef>
              <a:spcAft>
                <a:spcPts val="0"/>
              </a:spcAft>
              <a:buClr>
                <a:srgbClr val="351C75"/>
              </a:buClr>
              <a:buSzPts val="1191"/>
              <a:buChar char="●"/>
            </a:pPr>
            <a:r>
              <a:rPr lang="vi" sz="1191">
                <a:solidFill>
                  <a:srgbClr val="351C75"/>
                </a:solidFill>
              </a:rPr>
              <a:t>Lên kịch bản và nhờ Taishi quay video cùng</a:t>
            </a:r>
            <a:endParaRPr sz="1191">
              <a:solidFill>
                <a:srgbClr val="351C75"/>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93"/>
          <p:cNvSpPr txBox="1"/>
          <p:nvPr/>
        </p:nvSpPr>
        <p:spPr>
          <a:xfrm>
            <a:off x="1607125" y="548875"/>
            <a:ext cx="6219300" cy="464700"/>
          </a:xfrm>
          <a:prstGeom prst="rect">
            <a:avLst/>
          </a:prstGeom>
          <a:noFill/>
          <a:ln>
            <a:noFill/>
          </a:ln>
        </p:spPr>
        <p:txBody>
          <a:bodyPr anchorCtr="0" anchor="t" bIns="57500" lIns="57500" spcFirstLastPara="1" rIns="57500" wrap="square" tIns="57500">
            <a:spAutoFit/>
          </a:bodyPr>
          <a:lstStyle/>
          <a:p>
            <a:pPr indent="0" lvl="0" marL="0" rtl="0" algn="l">
              <a:lnSpc>
                <a:spcPct val="115000"/>
              </a:lnSpc>
              <a:spcBef>
                <a:spcPts val="1132"/>
              </a:spcBef>
              <a:spcAft>
                <a:spcPts val="252"/>
              </a:spcAft>
              <a:buNone/>
            </a:pPr>
            <a:r>
              <a:rPr b="1" lang="vi" sz="2264">
                <a:solidFill>
                  <a:srgbClr val="351C75"/>
                </a:solidFill>
              </a:rPr>
              <a:t>Bài 2: Viết Biên bản họp cho weekly meeting</a:t>
            </a:r>
            <a:endParaRPr b="1" sz="2264">
              <a:solidFill>
                <a:srgbClr val="351C75"/>
              </a:solidFill>
            </a:endParaRPr>
          </a:p>
        </p:txBody>
      </p:sp>
      <p:sp>
        <p:nvSpPr>
          <p:cNvPr id="604" name="Google Shape;604;p93"/>
          <p:cNvSpPr/>
          <p:nvPr/>
        </p:nvSpPr>
        <p:spPr>
          <a:xfrm>
            <a:off x="1745501" y="1243949"/>
            <a:ext cx="5083200" cy="2477100"/>
          </a:xfrm>
          <a:prstGeom prst="roundRect">
            <a:avLst>
              <a:gd fmla="val 16667" name="adj"/>
            </a:avLst>
          </a:prstGeom>
          <a:solidFill>
            <a:srgbClr val="FFF5F5"/>
          </a:solidFill>
          <a:ln cap="flat" cmpd="sng" w="6000">
            <a:solidFill>
              <a:srgbClr val="CA2F47"/>
            </a:solidFill>
            <a:prstDash val="solid"/>
            <a:round/>
            <a:headEnd len="sm" w="sm" type="none"/>
            <a:tailEnd len="sm" w="sm" type="none"/>
          </a:ln>
        </p:spPr>
        <p:txBody>
          <a:bodyPr anchorCtr="0" anchor="ctr" bIns="57500" lIns="57500" spcFirstLastPara="1" rIns="57500" wrap="square" tIns="57500">
            <a:noAutofit/>
          </a:bodyPr>
          <a:lstStyle/>
          <a:p>
            <a:pPr indent="0" lvl="0" marL="287571" rtl="0" algn="l">
              <a:lnSpc>
                <a:spcPct val="115000"/>
              </a:lnSpc>
              <a:spcBef>
                <a:spcPts val="755"/>
              </a:spcBef>
              <a:spcAft>
                <a:spcPts val="755"/>
              </a:spcAft>
              <a:buNone/>
            </a:pPr>
            <a:r>
              <a:rPr lang="vi" sz="1132">
                <a:solidFill>
                  <a:srgbClr val="351C75"/>
                </a:solidFill>
              </a:rPr>
              <a:t>Link: </a:t>
            </a:r>
            <a:endParaRPr sz="1132">
              <a:solidFill>
                <a:srgbClr val="351C75"/>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94"/>
          <p:cNvSpPr txBox="1"/>
          <p:nvPr/>
        </p:nvSpPr>
        <p:spPr>
          <a:xfrm>
            <a:off x="1607125" y="548875"/>
            <a:ext cx="6219300" cy="464700"/>
          </a:xfrm>
          <a:prstGeom prst="rect">
            <a:avLst/>
          </a:prstGeom>
          <a:noFill/>
          <a:ln>
            <a:noFill/>
          </a:ln>
        </p:spPr>
        <p:txBody>
          <a:bodyPr anchorCtr="0" anchor="t" bIns="57500" lIns="57500" spcFirstLastPara="1" rIns="57500" wrap="square" tIns="57500">
            <a:spAutoFit/>
          </a:bodyPr>
          <a:lstStyle/>
          <a:p>
            <a:pPr indent="0" lvl="0" marL="0" rtl="0" algn="l">
              <a:lnSpc>
                <a:spcPct val="115000"/>
              </a:lnSpc>
              <a:spcBef>
                <a:spcPts val="1132"/>
              </a:spcBef>
              <a:spcAft>
                <a:spcPts val="252"/>
              </a:spcAft>
              <a:buNone/>
            </a:pPr>
            <a:r>
              <a:rPr b="1" lang="vi" sz="2264">
                <a:solidFill>
                  <a:srgbClr val="351C75"/>
                </a:solidFill>
              </a:rPr>
              <a:t>Sử dụng công cụ ghi âm tldv; / Ottor AI</a:t>
            </a:r>
            <a:endParaRPr b="1" sz="2264">
              <a:solidFill>
                <a:srgbClr val="351C75"/>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95"/>
          <p:cNvSpPr txBox="1"/>
          <p:nvPr/>
        </p:nvSpPr>
        <p:spPr>
          <a:xfrm>
            <a:off x="160950" y="1934500"/>
            <a:ext cx="8822100" cy="738900"/>
          </a:xfrm>
          <a:prstGeom prst="rect">
            <a:avLst/>
          </a:prstGeom>
          <a:solidFill>
            <a:srgbClr val="CA2F47"/>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chemeClr val="lt1"/>
                </a:solidFill>
              </a:rPr>
              <a:t>Phương pháp xử lý nhanh tài liệu dịch</a:t>
            </a:r>
            <a:endParaRPr b="1" sz="3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96"/>
          <p:cNvSpPr txBox="1"/>
          <p:nvPr/>
        </p:nvSpPr>
        <p:spPr>
          <a:xfrm>
            <a:off x="173700" y="124299"/>
            <a:ext cx="87966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Lý do và lợi ích</a:t>
            </a:r>
            <a:endParaRPr b="1" sz="3600">
              <a:solidFill>
                <a:srgbClr val="351C75"/>
              </a:solidFill>
            </a:endParaRPr>
          </a:p>
        </p:txBody>
      </p:sp>
      <p:sp>
        <p:nvSpPr>
          <p:cNvPr id="620" name="Google Shape;620;p96"/>
          <p:cNvSpPr/>
          <p:nvPr/>
        </p:nvSpPr>
        <p:spPr>
          <a:xfrm>
            <a:off x="406975" y="792700"/>
            <a:ext cx="8355300" cy="34578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t/>
            </a:r>
            <a:endParaRPr b="1" sz="1200">
              <a:solidFill>
                <a:srgbClr val="351C75"/>
              </a:solidFill>
            </a:endParaRPr>
          </a:p>
        </p:txBody>
      </p:sp>
      <p:sp>
        <p:nvSpPr>
          <p:cNvPr id="621" name="Google Shape;621;p96"/>
          <p:cNvSpPr/>
          <p:nvPr/>
        </p:nvSpPr>
        <p:spPr>
          <a:xfrm>
            <a:off x="1343550" y="875951"/>
            <a:ext cx="2242500" cy="459600"/>
          </a:xfrm>
          <a:prstGeom prst="roundRect">
            <a:avLst>
              <a:gd fmla="val 16667" name="adj"/>
            </a:avLst>
          </a:prstGeom>
          <a:solidFill>
            <a:srgbClr val="FFF5F5"/>
          </a:solidFill>
          <a:ln cap="flat" cmpd="sng" w="9525">
            <a:solidFill>
              <a:srgbClr val="FFF5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400"/>
              </a:spcBef>
              <a:spcAft>
                <a:spcPts val="400"/>
              </a:spcAft>
              <a:buNone/>
            </a:pPr>
            <a:r>
              <a:rPr b="1" lang="vi">
                <a:solidFill>
                  <a:srgbClr val="351C75"/>
                </a:solidFill>
              </a:rPr>
              <a:t>🤔 Lý do cần thiết                                                     </a:t>
            </a:r>
            <a:endParaRPr>
              <a:solidFill>
                <a:srgbClr val="351C75"/>
              </a:solidFill>
            </a:endParaRPr>
          </a:p>
        </p:txBody>
      </p:sp>
      <p:sp>
        <p:nvSpPr>
          <p:cNvPr id="622" name="Google Shape;622;p96"/>
          <p:cNvSpPr txBox="1"/>
          <p:nvPr/>
        </p:nvSpPr>
        <p:spPr>
          <a:xfrm>
            <a:off x="564600" y="1268754"/>
            <a:ext cx="4174200" cy="282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vi" sz="1200">
                <a:solidFill>
                  <a:srgbClr val="351C75"/>
                </a:solidFill>
              </a:rPr>
              <a:t>🔹 </a:t>
            </a:r>
            <a:r>
              <a:rPr b="1" lang="vi" sz="1200">
                <a:solidFill>
                  <a:srgbClr val="351C75"/>
                </a:solidFill>
              </a:rPr>
              <a:t>Khối lượng tài liệu lớn</a:t>
            </a:r>
            <a:r>
              <a:rPr lang="vi" sz="1200">
                <a:solidFill>
                  <a:srgbClr val="351C75"/>
                </a:solidFill>
              </a:rPr>
              <a:t> – specs, design, user manual…có thể lên đến vài chục sheet, vài chục vài trăm trang.</a:t>
            </a:r>
            <a:endParaRPr sz="1200">
              <a:solidFill>
                <a:srgbClr val="351C75"/>
              </a:solidFill>
            </a:endParaRPr>
          </a:p>
          <a:p>
            <a:pPr indent="0" lvl="0" marL="0" rtl="0" algn="l">
              <a:spcBef>
                <a:spcPts val="1200"/>
              </a:spcBef>
              <a:spcAft>
                <a:spcPts val="0"/>
              </a:spcAft>
              <a:buNone/>
            </a:pPr>
            <a:r>
              <a:rPr lang="vi" sz="1200">
                <a:solidFill>
                  <a:srgbClr val="351C75"/>
                </a:solidFill>
              </a:rPr>
              <a:t>🔹 Một Comtor thường phải </a:t>
            </a:r>
            <a:r>
              <a:rPr b="1" lang="vi" sz="1200">
                <a:solidFill>
                  <a:srgbClr val="351C75"/>
                </a:solidFill>
              </a:rPr>
              <a:t>phụ trách nhiều dự án cùng lúc</a:t>
            </a:r>
            <a:r>
              <a:rPr lang="vi" sz="1200">
                <a:solidFill>
                  <a:srgbClr val="351C75"/>
                </a:solidFill>
              </a:rPr>
              <a:t>, và </a:t>
            </a:r>
            <a:r>
              <a:rPr lang="vi" sz="1200">
                <a:solidFill>
                  <a:srgbClr val="351C75"/>
                </a:solidFill>
              </a:rPr>
              <a:t>các bên đều yêu cầu dịch </a:t>
            </a:r>
            <a:r>
              <a:rPr lang="vi" sz="1200">
                <a:solidFill>
                  <a:srgbClr val="351C75"/>
                </a:solidFill>
              </a:rPr>
              <a:t>cùng một thời điểm</a:t>
            </a:r>
            <a:r>
              <a:rPr lang="vi" sz="1200">
                <a:solidFill>
                  <a:srgbClr val="351C75"/>
                </a:solidFill>
              </a:rPr>
              <a:t>. </a:t>
            </a:r>
            <a:endParaRPr sz="1200">
              <a:solidFill>
                <a:srgbClr val="351C75"/>
              </a:solidFill>
            </a:endParaRPr>
          </a:p>
          <a:p>
            <a:pPr indent="0" lvl="0" marL="0" rtl="0" algn="l">
              <a:spcBef>
                <a:spcPts val="0"/>
              </a:spcBef>
              <a:spcAft>
                <a:spcPts val="0"/>
              </a:spcAft>
              <a:buNone/>
            </a:pPr>
            <a:r>
              <a:rPr lang="vi" sz="1200">
                <a:solidFill>
                  <a:srgbClr val="351C75"/>
                </a:solidFill>
              </a:rPr>
              <a:t>Nếu không xử lý nhanh, </a:t>
            </a:r>
            <a:r>
              <a:rPr b="1" lang="vi" sz="1200">
                <a:solidFill>
                  <a:srgbClr val="351C75"/>
                </a:solidFill>
              </a:rPr>
              <a:t>dự án nào cũng bị chậm</a:t>
            </a:r>
            <a:r>
              <a:rPr lang="vi" sz="1200">
                <a:solidFill>
                  <a:srgbClr val="351C75"/>
                </a:solidFill>
              </a:rPr>
              <a:t>. </a:t>
            </a:r>
            <a:endParaRPr sz="1200">
              <a:solidFill>
                <a:srgbClr val="351C75"/>
              </a:solidFill>
            </a:endParaRPr>
          </a:p>
          <a:p>
            <a:pPr indent="0" lvl="0" marL="0" rtl="0" algn="l">
              <a:spcBef>
                <a:spcPts val="0"/>
              </a:spcBef>
              <a:spcAft>
                <a:spcPts val="0"/>
              </a:spcAft>
              <a:buNone/>
            </a:pPr>
            <a:r>
              <a:t/>
            </a:r>
            <a:endParaRPr sz="1200">
              <a:solidFill>
                <a:srgbClr val="351C75"/>
              </a:solidFill>
            </a:endParaRPr>
          </a:p>
          <a:p>
            <a:pPr indent="0" lvl="0" marL="0" rtl="0" algn="l">
              <a:spcBef>
                <a:spcPts val="0"/>
              </a:spcBef>
              <a:spcAft>
                <a:spcPts val="0"/>
              </a:spcAft>
              <a:buClr>
                <a:schemeClr val="dk1"/>
              </a:buClr>
              <a:buSzPts val="1100"/>
              <a:buFont typeface="Arial"/>
              <a:buNone/>
            </a:pPr>
            <a:r>
              <a:rPr lang="vi" sz="1200">
                <a:solidFill>
                  <a:srgbClr val="351C75"/>
                </a:solidFill>
              </a:rPr>
              <a:t>🔹 Ngoài việc dịch, còn thực hiện các công việc khác như quản lý tiến độ, test, báo cáo…Cần tăng tốc độ và hiệu suất dịch</a:t>
            </a:r>
            <a:endParaRPr sz="1200">
              <a:solidFill>
                <a:srgbClr val="351C75"/>
              </a:solidFill>
            </a:endParaRPr>
          </a:p>
          <a:p>
            <a:pPr indent="0" lvl="0" marL="0" rtl="0" algn="l">
              <a:lnSpc>
                <a:spcPct val="115000"/>
              </a:lnSpc>
              <a:spcBef>
                <a:spcPts val="1200"/>
              </a:spcBef>
              <a:spcAft>
                <a:spcPts val="1200"/>
              </a:spcAft>
              <a:buNone/>
            </a:pPr>
            <a:r>
              <a:rPr lang="vi" sz="1200">
                <a:solidFill>
                  <a:srgbClr val="351C75"/>
                </a:solidFill>
              </a:rPr>
              <a:t>=&gt; Cần dùng công cụ hỗ trợ dịch để có </a:t>
            </a:r>
            <a:r>
              <a:rPr b="1" lang="vi" sz="1200">
                <a:solidFill>
                  <a:srgbClr val="351C75"/>
                </a:solidFill>
              </a:rPr>
              <a:t>bản dịch sơ bộ</a:t>
            </a:r>
            <a:r>
              <a:rPr lang="vi" sz="1200">
                <a:solidFill>
                  <a:srgbClr val="351C75"/>
                </a:solidFill>
              </a:rPr>
              <a:t> cho team đọc hiểu trước nội dung.</a:t>
            </a:r>
            <a:endParaRPr sz="1200">
              <a:solidFill>
                <a:srgbClr val="351C75"/>
              </a:solidFill>
            </a:endParaRPr>
          </a:p>
        </p:txBody>
      </p:sp>
      <p:sp>
        <p:nvSpPr>
          <p:cNvPr id="623" name="Google Shape;623;p96"/>
          <p:cNvSpPr txBox="1"/>
          <p:nvPr/>
        </p:nvSpPr>
        <p:spPr>
          <a:xfrm>
            <a:off x="4854300" y="1335479"/>
            <a:ext cx="3977700" cy="162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vi" sz="1200">
                <a:solidFill>
                  <a:srgbClr val="351C75"/>
                </a:solidFill>
              </a:rPr>
              <a:t>🔹 Team có thể đọc trước, nắm được nội dung sớm.	</a:t>
            </a:r>
            <a:endParaRPr sz="1200">
              <a:solidFill>
                <a:srgbClr val="351C75"/>
              </a:solidFill>
            </a:endParaRPr>
          </a:p>
          <a:p>
            <a:pPr indent="0" lvl="0" marL="0" rtl="0" algn="l">
              <a:spcBef>
                <a:spcPts val="1200"/>
              </a:spcBef>
              <a:spcAft>
                <a:spcPts val="0"/>
              </a:spcAft>
              <a:buNone/>
            </a:pPr>
            <a:r>
              <a:rPr lang="vi" sz="1200">
                <a:solidFill>
                  <a:srgbClr val="351C75"/>
                </a:solidFill>
              </a:rPr>
              <a:t>🔹 </a:t>
            </a:r>
            <a:r>
              <a:rPr lang="vi" sz="1200">
                <a:solidFill>
                  <a:srgbClr val="351C75"/>
                </a:solidFill>
              </a:rPr>
              <a:t>Sau đó chỉ cần review lại nên tốc độ nhanh chóng.</a:t>
            </a:r>
            <a:endParaRPr sz="1200">
              <a:solidFill>
                <a:srgbClr val="351C75"/>
              </a:solidFill>
            </a:endParaRPr>
          </a:p>
          <a:p>
            <a:pPr indent="0" lvl="0" marL="0" rtl="0" algn="l">
              <a:lnSpc>
                <a:spcPct val="115000"/>
              </a:lnSpc>
              <a:spcBef>
                <a:spcPts val="1200"/>
              </a:spcBef>
              <a:spcAft>
                <a:spcPts val="0"/>
              </a:spcAft>
              <a:buNone/>
            </a:pPr>
            <a:r>
              <a:rPr lang="vi" sz="1200">
                <a:solidFill>
                  <a:srgbClr val="351C75"/>
                </a:solidFill>
              </a:rPr>
              <a:t>🔹 Comtor không bị quá tải.</a:t>
            </a:r>
            <a:endParaRPr sz="1200">
              <a:solidFill>
                <a:srgbClr val="351C75"/>
              </a:solidFill>
            </a:endParaRPr>
          </a:p>
          <a:p>
            <a:pPr indent="0" lvl="0" marL="0" rtl="0" algn="l">
              <a:spcBef>
                <a:spcPts val="1200"/>
              </a:spcBef>
              <a:spcAft>
                <a:spcPts val="0"/>
              </a:spcAft>
              <a:buNone/>
            </a:pPr>
            <a:r>
              <a:rPr lang="vi" sz="1200">
                <a:solidFill>
                  <a:srgbClr val="351C75"/>
                </a:solidFill>
              </a:rPr>
              <a:t>🔹 M</a:t>
            </a:r>
            <a:r>
              <a:rPr b="1" lang="vi" sz="1200">
                <a:solidFill>
                  <a:srgbClr val="351C75"/>
                </a:solidFill>
              </a:rPr>
              <a:t>ọi thành viên đều có thể </a:t>
            </a:r>
            <a:r>
              <a:rPr lang="vi" sz="1200">
                <a:solidFill>
                  <a:srgbClr val="351C75"/>
                </a:solidFill>
              </a:rPr>
              <a:t>chủ động </a:t>
            </a:r>
            <a:r>
              <a:rPr b="1" lang="vi" sz="1200">
                <a:solidFill>
                  <a:srgbClr val="351C75"/>
                </a:solidFill>
              </a:rPr>
              <a:t>xử lý tài liệu bằng phương pháp này</a:t>
            </a:r>
            <a:r>
              <a:rPr lang="vi" sz="1200">
                <a:solidFill>
                  <a:srgbClr val="351C75"/>
                </a:solidFill>
              </a:rPr>
              <a:t>, không cần đợi Comtor</a:t>
            </a:r>
            <a:endParaRPr sz="1200">
              <a:solidFill>
                <a:srgbClr val="351C75"/>
              </a:solidFill>
            </a:endParaRPr>
          </a:p>
        </p:txBody>
      </p:sp>
      <p:sp>
        <p:nvSpPr>
          <p:cNvPr id="624" name="Google Shape;624;p96"/>
          <p:cNvSpPr/>
          <p:nvPr/>
        </p:nvSpPr>
        <p:spPr>
          <a:xfrm>
            <a:off x="5268850" y="875951"/>
            <a:ext cx="2242500" cy="459600"/>
          </a:xfrm>
          <a:prstGeom prst="roundRect">
            <a:avLst>
              <a:gd fmla="val 16667" name="adj"/>
            </a:avLst>
          </a:prstGeom>
          <a:solidFill>
            <a:srgbClr val="FFF5F5"/>
          </a:solidFill>
          <a:ln cap="flat" cmpd="sng" w="9525">
            <a:solidFill>
              <a:srgbClr val="FFF5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400"/>
              </a:spcBef>
              <a:spcAft>
                <a:spcPts val="400"/>
              </a:spcAft>
              <a:buNone/>
            </a:pPr>
            <a:r>
              <a:rPr lang="vi">
                <a:solidFill>
                  <a:srgbClr val="351C75"/>
                </a:solidFill>
              </a:rPr>
              <a:t>👍 </a:t>
            </a:r>
            <a:r>
              <a:rPr b="1" lang="vi">
                <a:solidFill>
                  <a:srgbClr val="351C75"/>
                </a:solidFill>
              </a:rPr>
              <a:t>Lợi ích </a:t>
            </a:r>
            <a:endParaRPr>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97"/>
          <p:cNvSpPr txBox="1"/>
          <p:nvPr/>
        </p:nvSpPr>
        <p:spPr>
          <a:xfrm>
            <a:off x="173700" y="186150"/>
            <a:ext cx="87966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2400"/>
              </a:spcBef>
              <a:spcAft>
                <a:spcPts val="600"/>
              </a:spcAft>
              <a:buNone/>
            </a:pPr>
            <a:r>
              <a:rPr b="1" lang="vi" sz="3600">
                <a:solidFill>
                  <a:srgbClr val="351C75"/>
                </a:solidFill>
              </a:rPr>
              <a:t>Một số phương pháp điển hình</a:t>
            </a:r>
            <a:endParaRPr b="1" sz="3600">
              <a:solidFill>
                <a:srgbClr val="351C75"/>
              </a:solidFill>
            </a:endParaRPr>
          </a:p>
        </p:txBody>
      </p:sp>
      <p:sp>
        <p:nvSpPr>
          <p:cNvPr id="630" name="Google Shape;630;p97"/>
          <p:cNvSpPr/>
          <p:nvPr/>
        </p:nvSpPr>
        <p:spPr>
          <a:xfrm>
            <a:off x="2721600" y="1053475"/>
            <a:ext cx="432900" cy="422100"/>
          </a:xfrm>
          <a:prstGeom prst="flowChartConnector">
            <a:avLst/>
          </a:prstGeom>
          <a:solidFill>
            <a:srgbClr val="FFF5F5"/>
          </a:solidFill>
          <a:ln cap="flat" cmpd="sng" w="6675">
            <a:solidFill>
              <a:srgbClr val="CA2F47"/>
            </a:solidFill>
            <a:prstDash val="solid"/>
            <a:round/>
            <a:headEnd len="sm" w="sm" type="none"/>
            <a:tailEnd len="sm" w="sm" type="none"/>
          </a:ln>
        </p:spPr>
        <p:txBody>
          <a:bodyPr anchorCtr="0" anchor="ctr" bIns="64000" lIns="64000" spcFirstLastPara="1" rIns="64000" wrap="square" tIns="64000">
            <a:noAutofit/>
          </a:bodyPr>
          <a:lstStyle/>
          <a:p>
            <a:pPr indent="0" lvl="0" marL="0" rtl="0" algn="ctr">
              <a:spcBef>
                <a:spcPts val="0"/>
              </a:spcBef>
              <a:spcAft>
                <a:spcPts val="0"/>
              </a:spcAft>
              <a:buNone/>
            </a:pPr>
            <a:r>
              <a:t/>
            </a:r>
            <a:endParaRPr sz="980"/>
          </a:p>
        </p:txBody>
      </p:sp>
      <p:sp>
        <p:nvSpPr>
          <p:cNvPr id="631" name="Google Shape;631;p97"/>
          <p:cNvSpPr txBox="1"/>
          <p:nvPr/>
        </p:nvSpPr>
        <p:spPr>
          <a:xfrm>
            <a:off x="2828320" y="1070596"/>
            <a:ext cx="253500" cy="387900"/>
          </a:xfrm>
          <a:prstGeom prst="rect">
            <a:avLst/>
          </a:prstGeom>
          <a:noFill/>
          <a:ln>
            <a:noFill/>
          </a:ln>
        </p:spPr>
        <p:txBody>
          <a:bodyPr anchorCtr="0" anchor="t" bIns="64000" lIns="64000" spcFirstLastPara="1" rIns="64000" wrap="square" tIns="64000">
            <a:spAutoFit/>
          </a:bodyPr>
          <a:lstStyle/>
          <a:p>
            <a:pPr indent="0" lvl="0" marL="0" rtl="0" algn="l">
              <a:spcBef>
                <a:spcPts val="0"/>
              </a:spcBef>
              <a:spcAft>
                <a:spcPts val="0"/>
              </a:spcAft>
              <a:buNone/>
            </a:pPr>
            <a:r>
              <a:rPr b="1" lang="vi" sz="1681">
                <a:solidFill>
                  <a:srgbClr val="351C75"/>
                </a:solidFill>
              </a:rPr>
              <a:t>1</a:t>
            </a:r>
            <a:endParaRPr b="1" sz="1681">
              <a:solidFill>
                <a:srgbClr val="351C75"/>
              </a:solidFill>
            </a:endParaRPr>
          </a:p>
        </p:txBody>
      </p:sp>
      <p:sp>
        <p:nvSpPr>
          <p:cNvPr id="632" name="Google Shape;632;p97"/>
          <p:cNvSpPr/>
          <p:nvPr/>
        </p:nvSpPr>
        <p:spPr>
          <a:xfrm>
            <a:off x="2721600" y="1765043"/>
            <a:ext cx="432900" cy="422100"/>
          </a:xfrm>
          <a:prstGeom prst="flowChartConnector">
            <a:avLst/>
          </a:prstGeom>
          <a:solidFill>
            <a:srgbClr val="FFF5F5"/>
          </a:solidFill>
          <a:ln cap="flat" cmpd="sng" w="6675">
            <a:solidFill>
              <a:srgbClr val="CA2F47"/>
            </a:solidFill>
            <a:prstDash val="solid"/>
            <a:round/>
            <a:headEnd len="sm" w="sm" type="none"/>
            <a:tailEnd len="sm" w="sm" type="none"/>
          </a:ln>
        </p:spPr>
        <p:txBody>
          <a:bodyPr anchorCtr="0" anchor="ctr" bIns="64000" lIns="64000" spcFirstLastPara="1" rIns="64000" wrap="square" tIns="64000">
            <a:noAutofit/>
          </a:bodyPr>
          <a:lstStyle/>
          <a:p>
            <a:pPr indent="0" lvl="0" marL="0" rtl="0" algn="ctr">
              <a:spcBef>
                <a:spcPts val="0"/>
              </a:spcBef>
              <a:spcAft>
                <a:spcPts val="0"/>
              </a:spcAft>
              <a:buNone/>
            </a:pPr>
            <a:r>
              <a:t/>
            </a:r>
            <a:endParaRPr sz="980"/>
          </a:p>
        </p:txBody>
      </p:sp>
      <p:sp>
        <p:nvSpPr>
          <p:cNvPr id="633" name="Google Shape;633;p97"/>
          <p:cNvSpPr txBox="1"/>
          <p:nvPr/>
        </p:nvSpPr>
        <p:spPr>
          <a:xfrm>
            <a:off x="3315099" y="1789000"/>
            <a:ext cx="3610800" cy="387900"/>
          </a:xfrm>
          <a:prstGeom prst="rect">
            <a:avLst/>
          </a:prstGeom>
          <a:noFill/>
          <a:ln cap="flat" cmpd="sng" w="9525">
            <a:solidFill>
              <a:srgbClr val="9FC5E8"/>
            </a:solidFill>
            <a:prstDash val="solid"/>
            <a:round/>
            <a:headEnd len="sm" w="sm" type="none"/>
            <a:tailEnd len="sm" w="sm" type="none"/>
          </a:ln>
        </p:spPr>
        <p:txBody>
          <a:bodyPr anchorCtr="0" anchor="t" bIns="64000" lIns="64000" spcFirstLastPara="1" rIns="64000" wrap="square" tIns="64000">
            <a:spAutoFit/>
          </a:bodyPr>
          <a:lstStyle/>
          <a:p>
            <a:pPr indent="0" lvl="0" marL="0" rtl="0" algn="l">
              <a:spcBef>
                <a:spcPts val="0"/>
              </a:spcBef>
              <a:spcAft>
                <a:spcPts val="0"/>
              </a:spcAft>
              <a:buNone/>
            </a:pPr>
            <a:r>
              <a:rPr b="1" lang="vi" sz="1681">
                <a:solidFill>
                  <a:srgbClr val="351C75"/>
                </a:solidFill>
              </a:rPr>
              <a:t>Dùng Google Docs </a:t>
            </a:r>
            <a:endParaRPr b="1" sz="1681">
              <a:solidFill>
                <a:srgbClr val="351C75"/>
              </a:solidFill>
            </a:endParaRPr>
          </a:p>
        </p:txBody>
      </p:sp>
      <p:sp>
        <p:nvSpPr>
          <p:cNvPr id="634" name="Google Shape;634;p97"/>
          <p:cNvSpPr txBox="1"/>
          <p:nvPr/>
        </p:nvSpPr>
        <p:spPr>
          <a:xfrm>
            <a:off x="2818814" y="1782165"/>
            <a:ext cx="253500" cy="387900"/>
          </a:xfrm>
          <a:prstGeom prst="rect">
            <a:avLst/>
          </a:prstGeom>
          <a:noFill/>
          <a:ln>
            <a:noFill/>
          </a:ln>
        </p:spPr>
        <p:txBody>
          <a:bodyPr anchorCtr="0" anchor="t" bIns="64000" lIns="64000" spcFirstLastPara="1" rIns="64000" wrap="square" tIns="64000">
            <a:spAutoFit/>
          </a:bodyPr>
          <a:lstStyle/>
          <a:p>
            <a:pPr indent="0" lvl="0" marL="0" rtl="0" algn="l">
              <a:spcBef>
                <a:spcPts val="0"/>
              </a:spcBef>
              <a:spcAft>
                <a:spcPts val="0"/>
              </a:spcAft>
              <a:buNone/>
            </a:pPr>
            <a:r>
              <a:rPr b="1" lang="vi" sz="1681">
                <a:solidFill>
                  <a:srgbClr val="351C75"/>
                </a:solidFill>
              </a:rPr>
              <a:t>2</a:t>
            </a:r>
            <a:endParaRPr b="1" sz="1681">
              <a:solidFill>
                <a:srgbClr val="351C75"/>
              </a:solidFill>
            </a:endParaRPr>
          </a:p>
        </p:txBody>
      </p:sp>
      <p:sp>
        <p:nvSpPr>
          <p:cNvPr id="635" name="Google Shape;635;p97"/>
          <p:cNvSpPr/>
          <p:nvPr/>
        </p:nvSpPr>
        <p:spPr>
          <a:xfrm>
            <a:off x="2721600" y="2464248"/>
            <a:ext cx="432900" cy="422100"/>
          </a:xfrm>
          <a:prstGeom prst="flowChartConnector">
            <a:avLst/>
          </a:prstGeom>
          <a:solidFill>
            <a:srgbClr val="FFF5F5"/>
          </a:solidFill>
          <a:ln cap="flat" cmpd="sng" w="6675">
            <a:solidFill>
              <a:srgbClr val="CA2F47"/>
            </a:solidFill>
            <a:prstDash val="solid"/>
            <a:round/>
            <a:headEnd len="sm" w="sm" type="none"/>
            <a:tailEnd len="sm" w="sm" type="none"/>
          </a:ln>
        </p:spPr>
        <p:txBody>
          <a:bodyPr anchorCtr="0" anchor="ctr" bIns="64000" lIns="64000" spcFirstLastPara="1" rIns="64000" wrap="square" tIns="64000">
            <a:noAutofit/>
          </a:bodyPr>
          <a:lstStyle/>
          <a:p>
            <a:pPr indent="0" lvl="0" marL="0" rtl="0" algn="ctr">
              <a:spcBef>
                <a:spcPts val="0"/>
              </a:spcBef>
              <a:spcAft>
                <a:spcPts val="0"/>
              </a:spcAft>
              <a:buNone/>
            </a:pPr>
            <a:r>
              <a:t/>
            </a:r>
            <a:endParaRPr sz="980"/>
          </a:p>
        </p:txBody>
      </p:sp>
      <p:sp>
        <p:nvSpPr>
          <p:cNvPr id="636" name="Google Shape;636;p97"/>
          <p:cNvSpPr txBox="1"/>
          <p:nvPr/>
        </p:nvSpPr>
        <p:spPr>
          <a:xfrm>
            <a:off x="2818814" y="2481370"/>
            <a:ext cx="253500" cy="387900"/>
          </a:xfrm>
          <a:prstGeom prst="rect">
            <a:avLst/>
          </a:prstGeom>
          <a:noFill/>
          <a:ln>
            <a:noFill/>
          </a:ln>
        </p:spPr>
        <p:txBody>
          <a:bodyPr anchorCtr="0" anchor="t" bIns="64000" lIns="64000" spcFirstLastPara="1" rIns="64000" wrap="square" tIns="64000">
            <a:spAutoFit/>
          </a:bodyPr>
          <a:lstStyle/>
          <a:p>
            <a:pPr indent="0" lvl="0" marL="0" rtl="0" algn="l">
              <a:spcBef>
                <a:spcPts val="0"/>
              </a:spcBef>
              <a:spcAft>
                <a:spcPts val="0"/>
              </a:spcAft>
              <a:buNone/>
            </a:pPr>
            <a:r>
              <a:rPr b="1" lang="vi" sz="1681">
                <a:solidFill>
                  <a:srgbClr val="351C75"/>
                </a:solidFill>
              </a:rPr>
              <a:t>3</a:t>
            </a:r>
            <a:endParaRPr b="1" sz="1681">
              <a:solidFill>
                <a:srgbClr val="351C75"/>
              </a:solidFill>
            </a:endParaRPr>
          </a:p>
        </p:txBody>
      </p:sp>
      <p:sp>
        <p:nvSpPr>
          <p:cNvPr id="637" name="Google Shape;637;p97"/>
          <p:cNvSpPr txBox="1"/>
          <p:nvPr/>
        </p:nvSpPr>
        <p:spPr>
          <a:xfrm>
            <a:off x="3315099" y="2479649"/>
            <a:ext cx="3610800" cy="387900"/>
          </a:xfrm>
          <a:prstGeom prst="rect">
            <a:avLst/>
          </a:prstGeom>
          <a:noFill/>
          <a:ln cap="flat" cmpd="sng" w="9525">
            <a:solidFill>
              <a:srgbClr val="9FC5E8"/>
            </a:solidFill>
            <a:prstDash val="solid"/>
            <a:round/>
            <a:headEnd len="sm" w="sm" type="none"/>
            <a:tailEnd len="sm" w="sm" type="none"/>
          </a:ln>
        </p:spPr>
        <p:txBody>
          <a:bodyPr anchorCtr="0" anchor="t" bIns="64000" lIns="64000" spcFirstLastPara="1" rIns="64000" wrap="square" tIns="64000">
            <a:spAutoFit/>
          </a:bodyPr>
          <a:lstStyle/>
          <a:p>
            <a:pPr indent="0" lvl="0" marL="0" rtl="0" algn="l">
              <a:spcBef>
                <a:spcPts val="0"/>
              </a:spcBef>
              <a:spcAft>
                <a:spcPts val="0"/>
              </a:spcAft>
              <a:buNone/>
            </a:pPr>
            <a:r>
              <a:rPr b="1" lang="vi" sz="1681">
                <a:solidFill>
                  <a:srgbClr val="351C75"/>
                </a:solidFill>
              </a:rPr>
              <a:t>Dùng ChatGPT</a:t>
            </a:r>
            <a:endParaRPr b="1" sz="1681">
              <a:solidFill>
                <a:srgbClr val="351C75"/>
              </a:solidFill>
            </a:endParaRPr>
          </a:p>
        </p:txBody>
      </p:sp>
      <p:sp>
        <p:nvSpPr>
          <p:cNvPr id="638" name="Google Shape;638;p97"/>
          <p:cNvSpPr txBox="1"/>
          <p:nvPr/>
        </p:nvSpPr>
        <p:spPr>
          <a:xfrm>
            <a:off x="3315099" y="1070575"/>
            <a:ext cx="3610800" cy="387900"/>
          </a:xfrm>
          <a:prstGeom prst="rect">
            <a:avLst/>
          </a:prstGeom>
          <a:noFill/>
          <a:ln cap="flat" cmpd="sng" w="9525">
            <a:solidFill>
              <a:srgbClr val="9FC5E8"/>
            </a:solidFill>
            <a:prstDash val="solid"/>
            <a:round/>
            <a:headEnd len="sm" w="sm" type="none"/>
            <a:tailEnd len="sm" w="sm" type="none"/>
          </a:ln>
        </p:spPr>
        <p:txBody>
          <a:bodyPr anchorCtr="0" anchor="t" bIns="64000" lIns="64000" spcFirstLastPara="1" rIns="64000" wrap="square" tIns="64000">
            <a:spAutoFit/>
          </a:bodyPr>
          <a:lstStyle/>
          <a:p>
            <a:pPr indent="0" lvl="0" marL="0" rtl="0" algn="l">
              <a:spcBef>
                <a:spcPts val="0"/>
              </a:spcBef>
              <a:spcAft>
                <a:spcPts val="0"/>
              </a:spcAft>
              <a:buNone/>
            </a:pPr>
            <a:r>
              <a:rPr b="1" lang="vi" sz="1681">
                <a:solidFill>
                  <a:srgbClr val="351C75"/>
                </a:solidFill>
              </a:rPr>
              <a:t>Dùng Google Translate</a:t>
            </a:r>
            <a:endParaRPr b="1" sz="1681">
              <a:solidFill>
                <a:srgbClr val="351C75"/>
              </a:solidFill>
            </a:endParaRPr>
          </a:p>
        </p:txBody>
      </p:sp>
      <p:sp>
        <p:nvSpPr>
          <p:cNvPr id="639" name="Google Shape;639;p97"/>
          <p:cNvSpPr/>
          <p:nvPr/>
        </p:nvSpPr>
        <p:spPr>
          <a:xfrm>
            <a:off x="2721600" y="3180523"/>
            <a:ext cx="432900" cy="422100"/>
          </a:xfrm>
          <a:prstGeom prst="flowChartConnector">
            <a:avLst/>
          </a:prstGeom>
          <a:solidFill>
            <a:srgbClr val="FFF5F5"/>
          </a:solidFill>
          <a:ln cap="flat" cmpd="sng" w="6675">
            <a:solidFill>
              <a:srgbClr val="CA2F47"/>
            </a:solidFill>
            <a:prstDash val="solid"/>
            <a:round/>
            <a:headEnd len="sm" w="sm" type="none"/>
            <a:tailEnd len="sm" w="sm" type="none"/>
          </a:ln>
        </p:spPr>
        <p:txBody>
          <a:bodyPr anchorCtr="0" anchor="ctr" bIns="64000" lIns="64000" spcFirstLastPara="1" rIns="64000" wrap="square" tIns="64000">
            <a:noAutofit/>
          </a:bodyPr>
          <a:lstStyle/>
          <a:p>
            <a:pPr indent="0" lvl="0" marL="0" rtl="0" algn="ctr">
              <a:spcBef>
                <a:spcPts val="0"/>
              </a:spcBef>
              <a:spcAft>
                <a:spcPts val="0"/>
              </a:spcAft>
              <a:buNone/>
            </a:pPr>
            <a:r>
              <a:t/>
            </a:r>
            <a:endParaRPr sz="980"/>
          </a:p>
        </p:txBody>
      </p:sp>
      <p:sp>
        <p:nvSpPr>
          <p:cNvPr id="640" name="Google Shape;640;p97"/>
          <p:cNvSpPr txBox="1"/>
          <p:nvPr/>
        </p:nvSpPr>
        <p:spPr>
          <a:xfrm>
            <a:off x="2818814" y="3197645"/>
            <a:ext cx="253500" cy="387900"/>
          </a:xfrm>
          <a:prstGeom prst="rect">
            <a:avLst/>
          </a:prstGeom>
          <a:noFill/>
          <a:ln>
            <a:noFill/>
          </a:ln>
        </p:spPr>
        <p:txBody>
          <a:bodyPr anchorCtr="0" anchor="t" bIns="64000" lIns="64000" spcFirstLastPara="1" rIns="64000" wrap="square" tIns="64000">
            <a:spAutoFit/>
          </a:bodyPr>
          <a:lstStyle/>
          <a:p>
            <a:pPr indent="0" lvl="0" marL="0" rtl="0" algn="l">
              <a:spcBef>
                <a:spcPts val="0"/>
              </a:spcBef>
              <a:spcAft>
                <a:spcPts val="0"/>
              </a:spcAft>
              <a:buNone/>
            </a:pPr>
            <a:r>
              <a:rPr b="1" lang="vi" sz="1681">
                <a:solidFill>
                  <a:srgbClr val="351C75"/>
                </a:solidFill>
              </a:rPr>
              <a:t>4</a:t>
            </a:r>
            <a:endParaRPr b="1" sz="1681">
              <a:solidFill>
                <a:srgbClr val="351C75"/>
              </a:solidFill>
            </a:endParaRPr>
          </a:p>
        </p:txBody>
      </p:sp>
      <p:sp>
        <p:nvSpPr>
          <p:cNvPr id="641" name="Google Shape;641;p97"/>
          <p:cNvSpPr txBox="1"/>
          <p:nvPr/>
        </p:nvSpPr>
        <p:spPr>
          <a:xfrm>
            <a:off x="3315099" y="3195924"/>
            <a:ext cx="3610800" cy="387900"/>
          </a:xfrm>
          <a:prstGeom prst="rect">
            <a:avLst/>
          </a:prstGeom>
          <a:noFill/>
          <a:ln cap="flat" cmpd="sng" w="9525">
            <a:solidFill>
              <a:srgbClr val="9FC5E8"/>
            </a:solidFill>
            <a:prstDash val="solid"/>
            <a:round/>
            <a:headEnd len="sm" w="sm" type="none"/>
            <a:tailEnd len="sm" w="sm" type="none"/>
          </a:ln>
        </p:spPr>
        <p:txBody>
          <a:bodyPr anchorCtr="0" anchor="t" bIns="64000" lIns="64000" spcFirstLastPara="1" rIns="64000" wrap="square" tIns="64000">
            <a:spAutoFit/>
          </a:bodyPr>
          <a:lstStyle/>
          <a:p>
            <a:pPr indent="0" lvl="0" marL="0" rtl="0" algn="l">
              <a:spcBef>
                <a:spcPts val="0"/>
              </a:spcBef>
              <a:spcAft>
                <a:spcPts val="0"/>
              </a:spcAft>
              <a:buNone/>
            </a:pPr>
            <a:r>
              <a:rPr b="1" lang="vi" sz="1681">
                <a:solidFill>
                  <a:srgbClr val="351C75"/>
                </a:solidFill>
              </a:rPr>
              <a:t>Dùng Claude</a:t>
            </a:r>
            <a:endParaRPr b="1" sz="1681">
              <a:solidFill>
                <a:srgbClr val="351C75"/>
              </a:solidFill>
            </a:endParaRPr>
          </a:p>
        </p:txBody>
      </p:sp>
      <p:sp>
        <p:nvSpPr>
          <p:cNvPr id="642" name="Google Shape;642;p97"/>
          <p:cNvSpPr/>
          <p:nvPr/>
        </p:nvSpPr>
        <p:spPr>
          <a:xfrm>
            <a:off x="2721600" y="3896798"/>
            <a:ext cx="432900" cy="422100"/>
          </a:xfrm>
          <a:prstGeom prst="flowChartConnector">
            <a:avLst/>
          </a:prstGeom>
          <a:solidFill>
            <a:srgbClr val="FFF5F5"/>
          </a:solidFill>
          <a:ln cap="flat" cmpd="sng" w="6675">
            <a:solidFill>
              <a:srgbClr val="CA2F47"/>
            </a:solidFill>
            <a:prstDash val="solid"/>
            <a:round/>
            <a:headEnd len="sm" w="sm" type="none"/>
            <a:tailEnd len="sm" w="sm" type="none"/>
          </a:ln>
        </p:spPr>
        <p:txBody>
          <a:bodyPr anchorCtr="0" anchor="ctr" bIns="64000" lIns="64000" spcFirstLastPara="1" rIns="64000" wrap="square" tIns="64000">
            <a:noAutofit/>
          </a:bodyPr>
          <a:lstStyle/>
          <a:p>
            <a:pPr indent="0" lvl="0" marL="0" rtl="0" algn="ctr">
              <a:spcBef>
                <a:spcPts val="0"/>
              </a:spcBef>
              <a:spcAft>
                <a:spcPts val="0"/>
              </a:spcAft>
              <a:buNone/>
            </a:pPr>
            <a:r>
              <a:t/>
            </a:r>
            <a:endParaRPr sz="980"/>
          </a:p>
        </p:txBody>
      </p:sp>
      <p:sp>
        <p:nvSpPr>
          <p:cNvPr id="643" name="Google Shape;643;p97"/>
          <p:cNvSpPr txBox="1"/>
          <p:nvPr/>
        </p:nvSpPr>
        <p:spPr>
          <a:xfrm>
            <a:off x="2818814" y="3913920"/>
            <a:ext cx="253500" cy="387900"/>
          </a:xfrm>
          <a:prstGeom prst="rect">
            <a:avLst/>
          </a:prstGeom>
          <a:noFill/>
          <a:ln>
            <a:noFill/>
          </a:ln>
        </p:spPr>
        <p:txBody>
          <a:bodyPr anchorCtr="0" anchor="t" bIns="64000" lIns="64000" spcFirstLastPara="1" rIns="64000" wrap="square" tIns="64000">
            <a:spAutoFit/>
          </a:bodyPr>
          <a:lstStyle/>
          <a:p>
            <a:pPr indent="0" lvl="0" marL="0" rtl="0" algn="l">
              <a:spcBef>
                <a:spcPts val="0"/>
              </a:spcBef>
              <a:spcAft>
                <a:spcPts val="0"/>
              </a:spcAft>
              <a:buNone/>
            </a:pPr>
            <a:r>
              <a:rPr b="1" lang="vi" sz="1681">
                <a:solidFill>
                  <a:srgbClr val="351C75"/>
                </a:solidFill>
              </a:rPr>
              <a:t>5</a:t>
            </a:r>
            <a:endParaRPr b="1" sz="1681">
              <a:solidFill>
                <a:srgbClr val="351C75"/>
              </a:solidFill>
            </a:endParaRPr>
          </a:p>
        </p:txBody>
      </p:sp>
      <p:sp>
        <p:nvSpPr>
          <p:cNvPr id="644" name="Google Shape;644;p97"/>
          <p:cNvSpPr txBox="1"/>
          <p:nvPr/>
        </p:nvSpPr>
        <p:spPr>
          <a:xfrm>
            <a:off x="3315100" y="3912200"/>
            <a:ext cx="3610800" cy="646800"/>
          </a:xfrm>
          <a:prstGeom prst="rect">
            <a:avLst/>
          </a:prstGeom>
          <a:noFill/>
          <a:ln cap="flat" cmpd="sng" w="9525">
            <a:solidFill>
              <a:srgbClr val="9FC5E8"/>
            </a:solidFill>
            <a:prstDash val="solid"/>
            <a:round/>
            <a:headEnd len="sm" w="sm" type="none"/>
            <a:tailEnd len="sm" w="sm" type="none"/>
          </a:ln>
        </p:spPr>
        <p:txBody>
          <a:bodyPr anchorCtr="0" anchor="t" bIns="64000" lIns="64000" spcFirstLastPara="1" rIns="64000" wrap="square" tIns="64000">
            <a:spAutoFit/>
          </a:bodyPr>
          <a:lstStyle/>
          <a:p>
            <a:pPr indent="0" lvl="0" marL="0" rtl="0" algn="l">
              <a:spcBef>
                <a:spcPts val="0"/>
              </a:spcBef>
              <a:spcAft>
                <a:spcPts val="0"/>
              </a:spcAft>
              <a:buNone/>
            </a:pPr>
            <a:r>
              <a:rPr b="1" lang="vi" sz="1681">
                <a:solidFill>
                  <a:srgbClr val="351C75"/>
                </a:solidFill>
              </a:rPr>
              <a:t>Dùng script cho </a:t>
            </a:r>
            <a:r>
              <a:rPr b="1" lang="vi" sz="1681">
                <a:solidFill>
                  <a:srgbClr val="351C75"/>
                </a:solidFill>
              </a:rPr>
              <a:t>Google Sheet, Google Slide</a:t>
            </a:r>
            <a:endParaRPr b="1" sz="1681">
              <a:solidFill>
                <a:srgbClr val="351C75"/>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648" name="Shape 648"/>
        <p:cNvGrpSpPr/>
        <p:nvPr/>
      </p:nvGrpSpPr>
      <p:grpSpPr>
        <a:xfrm>
          <a:off x="0" y="0"/>
          <a:ext cx="0" cy="0"/>
          <a:chOff x="0" y="0"/>
          <a:chExt cx="0" cy="0"/>
        </a:xfrm>
      </p:grpSpPr>
      <p:sp>
        <p:nvSpPr>
          <p:cNvPr id="649" name="Google Shape;649;p98"/>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vi" sz="3600">
                <a:solidFill>
                  <a:srgbClr val="351C75"/>
                </a:solidFill>
              </a:rPr>
              <a:t>Dùng Google Translate</a:t>
            </a:r>
            <a:endParaRPr sz="3600">
              <a:solidFill>
                <a:srgbClr val="351C75"/>
              </a:solidFill>
            </a:endParaRPr>
          </a:p>
        </p:txBody>
      </p:sp>
      <p:sp>
        <p:nvSpPr>
          <p:cNvPr id="650" name="Google Shape;650;p98"/>
          <p:cNvSpPr/>
          <p:nvPr/>
        </p:nvSpPr>
        <p:spPr>
          <a:xfrm>
            <a:off x="512000" y="1071300"/>
            <a:ext cx="8225400" cy="31398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 sz="1800">
                <a:solidFill>
                  <a:srgbClr val="351C75"/>
                </a:solidFill>
              </a:rPr>
              <a:t>🔗 Link công cụ</a:t>
            </a:r>
            <a:r>
              <a:rPr b="1" lang="vi" sz="1800">
                <a:solidFill>
                  <a:srgbClr val="351C75"/>
                </a:solidFill>
                <a:highlight>
                  <a:srgbClr val="FFF5F5"/>
                </a:highlight>
              </a:rPr>
              <a:t>: </a:t>
            </a:r>
            <a:r>
              <a:rPr lang="vi" sz="1800" u="sng">
                <a:solidFill>
                  <a:srgbClr val="351C75"/>
                </a:solidFill>
                <a:highlight>
                  <a:srgbClr val="FFF5F5"/>
                </a:highlight>
                <a:hlinkClick r:id="rId3">
                  <a:extLst>
                    <a:ext uri="{A12FA001-AC4F-418D-AE19-62706E023703}">
                      <ahyp:hlinkClr val="tx"/>
                    </a:ext>
                  </a:extLst>
                </a:hlinkClick>
              </a:rPr>
              <a:t>https://translate.google.com/</a:t>
            </a:r>
            <a:endParaRPr b="1" sz="1800">
              <a:solidFill>
                <a:srgbClr val="351C75"/>
              </a:solidFill>
              <a:highlight>
                <a:srgbClr val="FFF5F5"/>
              </a:highlight>
            </a:endParaRPr>
          </a:p>
          <a:p>
            <a:pPr indent="0" lvl="0" marL="0" rtl="0" algn="l">
              <a:lnSpc>
                <a:spcPct val="115000"/>
              </a:lnSpc>
              <a:spcBef>
                <a:spcPts val="1200"/>
              </a:spcBef>
              <a:spcAft>
                <a:spcPts val="0"/>
              </a:spcAft>
              <a:buClr>
                <a:schemeClr val="dk1"/>
              </a:buClr>
              <a:buSzPts val="1100"/>
              <a:buFont typeface="Arial"/>
              <a:buNone/>
            </a:pPr>
            <a:r>
              <a:rPr lang="vi" sz="1800">
                <a:solidFill>
                  <a:srgbClr val="351C75"/>
                </a:solidFill>
              </a:rPr>
              <a:t>✅ Tốc độ dịch nhanh. Phạm vi ứng dụng rộng. Hỗ trợ nhiều định dạng file.</a:t>
            </a:r>
            <a:endParaRPr sz="1800">
              <a:solidFill>
                <a:srgbClr val="351C75"/>
              </a:solidFill>
            </a:endParaRPr>
          </a:p>
          <a:p>
            <a:pPr indent="0" lvl="0" marL="0" rtl="0" algn="l">
              <a:lnSpc>
                <a:spcPct val="115000"/>
              </a:lnSpc>
              <a:spcBef>
                <a:spcPts val="1200"/>
              </a:spcBef>
              <a:spcAft>
                <a:spcPts val="0"/>
              </a:spcAft>
              <a:buNone/>
            </a:pPr>
            <a:r>
              <a:rPr lang="vi" sz="1800">
                <a:solidFill>
                  <a:srgbClr val="351C75"/>
                </a:solidFill>
              </a:rPr>
              <a:t>❌  File có dung lượng lớn không dịch được đầy đủ, hoặc bị lỗi. </a:t>
            </a:r>
            <a:endParaRPr sz="18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800">
                <a:solidFill>
                  <a:srgbClr val="351C75"/>
                </a:solidFill>
              </a:rPr>
              <a:t>       Dịch rời rạc, cứng, thiếu chính xác ngữ cảnh.</a:t>
            </a:r>
            <a:endParaRPr sz="1800">
              <a:solidFill>
                <a:srgbClr val="351C75"/>
              </a:solidFill>
            </a:endParaRPr>
          </a:p>
          <a:p>
            <a:pPr indent="0" lvl="0" marL="0" rtl="0" algn="l">
              <a:lnSpc>
                <a:spcPct val="115000"/>
              </a:lnSpc>
              <a:spcBef>
                <a:spcPts val="1200"/>
              </a:spcBef>
              <a:spcAft>
                <a:spcPts val="0"/>
              </a:spcAft>
              <a:buNone/>
            </a:pPr>
            <a:r>
              <a:rPr b="1" lang="vi" sz="1800">
                <a:solidFill>
                  <a:srgbClr val="351C75"/>
                </a:solidFill>
              </a:rPr>
              <a:t>👉</a:t>
            </a:r>
            <a:r>
              <a:rPr lang="vi" sz="1800">
                <a:solidFill>
                  <a:srgbClr val="351C75"/>
                </a:solidFill>
              </a:rPr>
              <a:t> Sử dụng khi: </a:t>
            </a:r>
            <a:r>
              <a:rPr b="1" lang="vi" sz="1800">
                <a:solidFill>
                  <a:srgbClr val="351C75"/>
                </a:solidFill>
              </a:rPr>
              <a:t>Cần có bản dịch nhanh</a:t>
            </a:r>
            <a:r>
              <a:rPr lang="vi" sz="1800">
                <a:solidFill>
                  <a:srgbClr val="351C75"/>
                </a:solidFill>
              </a:rPr>
              <a:t> sơ bộ để đọc hiểu trước. </a:t>
            </a:r>
            <a:endParaRPr sz="1800">
              <a:solidFill>
                <a:srgbClr val="351C75"/>
              </a:solidFill>
            </a:endParaRPr>
          </a:p>
          <a:p>
            <a:pPr indent="0" lvl="0" marL="0" rtl="0" algn="l">
              <a:lnSpc>
                <a:spcPct val="115000"/>
              </a:lnSpc>
              <a:spcBef>
                <a:spcPts val="1200"/>
              </a:spcBef>
              <a:spcAft>
                <a:spcPts val="1200"/>
              </a:spcAft>
              <a:buNone/>
            </a:pPr>
            <a:r>
              <a:rPr b="1" lang="vi" sz="1800">
                <a:solidFill>
                  <a:srgbClr val="351C75"/>
                </a:solidFill>
              </a:rPr>
              <a:t>			      </a:t>
            </a:r>
            <a:r>
              <a:rPr lang="vi" sz="1800">
                <a:solidFill>
                  <a:srgbClr val="351C75"/>
                </a:solidFill>
              </a:rPr>
              <a:t>Khi không yêu cầu độ chính xác cao. </a:t>
            </a:r>
            <a:r>
              <a:rPr b="1" lang="vi" sz="1800">
                <a:solidFill>
                  <a:srgbClr val="351C75"/>
                </a:solidFill>
              </a:rPr>
              <a:t>Cần review kỹ</a:t>
            </a:r>
            <a:r>
              <a:rPr lang="vi" sz="1800">
                <a:solidFill>
                  <a:srgbClr val="351C75"/>
                </a:solidFill>
              </a:rPr>
              <a:t>.</a:t>
            </a:r>
            <a:endParaRPr sz="1800">
              <a:solidFill>
                <a:srgbClr val="351C75"/>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654" name="Shape 654"/>
        <p:cNvGrpSpPr/>
        <p:nvPr/>
      </p:nvGrpSpPr>
      <p:grpSpPr>
        <a:xfrm>
          <a:off x="0" y="0"/>
          <a:ext cx="0" cy="0"/>
          <a:chOff x="0" y="0"/>
          <a:chExt cx="0" cy="0"/>
        </a:xfrm>
      </p:grpSpPr>
      <p:sp>
        <p:nvSpPr>
          <p:cNvPr id="655" name="Google Shape;655;p99"/>
          <p:cNvSpPr txBox="1"/>
          <p:nvPr/>
        </p:nvSpPr>
        <p:spPr>
          <a:xfrm>
            <a:off x="137450" y="25620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Lưu ý: xử lý</a:t>
            </a:r>
            <a:r>
              <a:rPr b="1" lang="vi" sz="3600">
                <a:solidFill>
                  <a:srgbClr val="351C75"/>
                </a:solidFill>
              </a:rPr>
              <a:t> file PDF</a:t>
            </a:r>
            <a:endParaRPr sz="3600">
              <a:solidFill>
                <a:srgbClr val="351C75"/>
              </a:solidFill>
            </a:endParaRPr>
          </a:p>
        </p:txBody>
      </p:sp>
      <p:sp>
        <p:nvSpPr>
          <p:cNvPr id="656" name="Google Shape;656;p99"/>
          <p:cNvSpPr/>
          <p:nvPr/>
        </p:nvSpPr>
        <p:spPr>
          <a:xfrm>
            <a:off x="512000" y="1071300"/>
            <a:ext cx="8225400" cy="31398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vi">
                <a:solidFill>
                  <a:srgbClr val="351C75"/>
                </a:solidFill>
              </a:rPr>
              <a:t>⚠️ </a:t>
            </a:r>
            <a:r>
              <a:rPr lang="vi">
                <a:solidFill>
                  <a:srgbClr val="351C75"/>
                </a:solidFill>
              </a:rPr>
              <a:t>PDF thường có định dạng cố định, khó xử lý nội dung. Thường bị v</a:t>
            </a:r>
            <a:r>
              <a:rPr lang="vi">
                <a:solidFill>
                  <a:srgbClr val="351C75"/>
                </a:solidFill>
              </a:rPr>
              <a:t>ỡ font chữ, mất bố cục.</a:t>
            </a:r>
            <a:endParaRPr>
              <a:solidFill>
                <a:srgbClr val="351C75"/>
              </a:solidFill>
            </a:endParaRPr>
          </a:p>
          <a:p>
            <a:pPr indent="0" lvl="0" marL="0" rtl="0" algn="l">
              <a:lnSpc>
                <a:spcPct val="115000"/>
              </a:lnSpc>
              <a:spcBef>
                <a:spcPts val="1200"/>
              </a:spcBef>
              <a:spcAft>
                <a:spcPts val="0"/>
              </a:spcAft>
              <a:buNone/>
            </a:pPr>
            <a:r>
              <a:rPr lang="vi">
                <a:solidFill>
                  <a:srgbClr val="351C75"/>
                </a:solidFill>
              </a:rPr>
              <a:t>⚠️ Nếu dùng Google dịch, file sau khi xuất ra vẫn là định dạng PDF k</a:t>
            </a:r>
            <a:r>
              <a:rPr lang="vi">
                <a:solidFill>
                  <a:srgbClr val="351C75"/>
                </a:solidFill>
              </a:rPr>
              <a:t>hông thể chỉnh sửa sau khi dịch =&gt; Khó đọc.</a:t>
            </a:r>
            <a:endParaRPr>
              <a:solidFill>
                <a:srgbClr val="351C75"/>
              </a:solidFill>
            </a:endParaRPr>
          </a:p>
          <a:p>
            <a:pPr indent="0" lvl="0" marL="0" rtl="0" algn="l">
              <a:lnSpc>
                <a:spcPct val="115000"/>
              </a:lnSpc>
              <a:spcBef>
                <a:spcPts val="1200"/>
              </a:spcBef>
              <a:spcAft>
                <a:spcPts val="0"/>
              </a:spcAft>
              <a:buNone/>
            </a:pPr>
            <a:r>
              <a:t/>
            </a:r>
            <a:endParaRPr>
              <a:solidFill>
                <a:srgbClr val="351C75"/>
              </a:solidFill>
            </a:endParaRPr>
          </a:p>
          <a:p>
            <a:pPr indent="0" lvl="0" marL="0" rtl="0" algn="ctr">
              <a:lnSpc>
                <a:spcPct val="115000"/>
              </a:lnSpc>
              <a:spcBef>
                <a:spcPts val="1200"/>
              </a:spcBef>
              <a:spcAft>
                <a:spcPts val="0"/>
              </a:spcAft>
              <a:buNone/>
            </a:pPr>
            <a:r>
              <a:rPr b="1" lang="vi">
                <a:solidFill>
                  <a:srgbClr val="351C75"/>
                </a:solidFill>
              </a:rPr>
              <a:t>🛠️ GIẢI PHÁP</a:t>
            </a:r>
            <a:endParaRPr b="1">
              <a:solidFill>
                <a:srgbClr val="351C75"/>
              </a:solidFill>
            </a:endParaRPr>
          </a:p>
          <a:p>
            <a:pPr indent="0" lvl="0" marL="0" rtl="0" algn="l">
              <a:lnSpc>
                <a:spcPct val="115000"/>
              </a:lnSpc>
              <a:spcBef>
                <a:spcPts val="1400"/>
              </a:spcBef>
              <a:spcAft>
                <a:spcPts val="0"/>
              </a:spcAft>
              <a:buNone/>
            </a:pPr>
            <a:r>
              <a:rPr lang="vi">
                <a:solidFill>
                  <a:srgbClr val="351C75"/>
                </a:solidFill>
              </a:rPr>
              <a:t>1: Convert file PDF sang Word: </a:t>
            </a:r>
            <a:r>
              <a:rPr lang="vi" u="sng">
                <a:solidFill>
                  <a:srgbClr val="351C75"/>
                </a:solidFill>
                <a:hlinkClick r:id="rId3">
                  <a:extLst>
                    <a:ext uri="{A12FA001-AC4F-418D-AE19-62706E023703}">
                      <ahyp:hlinkClr val="tx"/>
                    </a:ext>
                  </a:extLst>
                </a:hlinkClick>
              </a:rPr>
              <a:t>https://smallpdf.com/</a:t>
            </a:r>
            <a:r>
              <a:rPr lang="vi">
                <a:solidFill>
                  <a:srgbClr val="351C75"/>
                </a:solidFill>
              </a:rPr>
              <a:t> </a:t>
            </a:r>
            <a:endParaRPr>
              <a:solidFill>
                <a:srgbClr val="351C75"/>
              </a:solidFill>
            </a:endParaRPr>
          </a:p>
          <a:p>
            <a:pPr indent="0" lvl="0" marL="0" rtl="0" algn="l">
              <a:lnSpc>
                <a:spcPct val="115000"/>
              </a:lnSpc>
              <a:spcBef>
                <a:spcPts val="1400"/>
              </a:spcBef>
              <a:spcAft>
                <a:spcPts val="400"/>
              </a:spcAft>
              <a:buNone/>
            </a:pPr>
            <a:r>
              <a:rPr lang="vi">
                <a:solidFill>
                  <a:srgbClr val="351C75"/>
                </a:solidFill>
              </a:rPr>
              <a:t>2: Dùng Google dịch file word đã convert -&gt; </a:t>
            </a:r>
            <a:r>
              <a:rPr b="1" lang="vi">
                <a:solidFill>
                  <a:srgbClr val="351C75"/>
                </a:solidFill>
              </a:rPr>
              <a:t>chỉnh sửa được file sau khi xuất ra</a:t>
            </a:r>
            <a:endParaRPr b="1">
              <a:solidFill>
                <a:srgbClr val="351C75"/>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660" name="Shape 660"/>
        <p:cNvGrpSpPr/>
        <p:nvPr/>
      </p:nvGrpSpPr>
      <p:grpSpPr>
        <a:xfrm>
          <a:off x="0" y="0"/>
          <a:ext cx="0" cy="0"/>
          <a:chOff x="0" y="0"/>
          <a:chExt cx="0" cy="0"/>
        </a:xfrm>
      </p:grpSpPr>
      <p:sp>
        <p:nvSpPr>
          <p:cNvPr id="661" name="Google Shape;661;p100"/>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Thực hành</a:t>
            </a:r>
            <a:endParaRPr sz="3600">
              <a:solidFill>
                <a:srgbClr val="351C75"/>
              </a:solidFill>
            </a:endParaRPr>
          </a:p>
        </p:txBody>
      </p:sp>
      <p:sp>
        <p:nvSpPr>
          <p:cNvPr id="662" name="Google Shape;662;p100"/>
          <p:cNvSpPr/>
          <p:nvPr/>
        </p:nvSpPr>
        <p:spPr>
          <a:xfrm>
            <a:off x="512000" y="1071300"/>
            <a:ext cx="8115300" cy="31398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lang="vi" sz="1800">
                <a:solidFill>
                  <a:srgbClr val="351C75"/>
                </a:solidFill>
              </a:rPr>
              <a:t>Dùng Google Dịch, thực hiện dịch file PDF sau sang tiếng Việt, xuất ra bản dịch có thể chỉnh sửa trực tiếp được.</a:t>
            </a:r>
            <a:endParaRPr sz="1800">
              <a:solidFill>
                <a:srgbClr val="351C75"/>
              </a:solidFill>
            </a:endParaRPr>
          </a:p>
          <a:p>
            <a:pPr indent="0" lvl="0" marL="457200" rtl="0" algn="l">
              <a:spcBef>
                <a:spcPts val="0"/>
              </a:spcBef>
              <a:spcAft>
                <a:spcPts val="0"/>
              </a:spcAft>
              <a:buClr>
                <a:schemeClr val="dk1"/>
              </a:buClr>
              <a:buSzPts val="1100"/>
              <a:buFont typeface="Arial"/>
              <a:buNone/>
            </a:pPr>
            <a:r>
              <a:t/>
            </a:r>
            <a:endParaRPr sz="1800">
              <a:solidFill>
                <a:srgbClr val="351C75"/>
              </a:solidFill>
            </a:endParaRPr>
          </a:p>
          <a:p>
            <a:pPr indent="0" lvl="0" marL="457200" rtl="0" algn="l">
              <a:spcBef>
                <a:spcPts val="0"/>
              </a:spcBef>
              <a:spcAft>
                <a:spcPts val="0"/>
              </a:spcAft>
              <a:buClr>
                <a:schemeClr val="dk1"/>
              </a:buClr>
              <a:buSzPts val="1100"/>
              <a:buFont typeface="Arial"/>
              <a:buNone/>
            </a:pPr>
            <a:r>
              <a:rPr lang="vi" sz="1800" u="sng">
                <a:solidFill>
                  <a:srgbClr val="351C75"/>
                </a:solidFill>
                <a:hlinkClick r:id="rId3">
                  <a:extLst>
                    <a:ext uri="{A12FA001-AC4F-418D-AE19-62706E023703}">
                      <ahyp:hlinkClr val="tx"/>
                    </a:ext>
                  </a:extLst>
                </a:hlinkClick>
              </a:rPr>
              <a:t>https://drive.google.com/file/d/1He_c1lrhfIGipiqd3EmtqQMq7uTqUm_W/view?usp=sharing</a:t>
            </a:r>
            <a:endParaRPr>
              <a:solidFill>
                <a:srgbClr val="351C75"/>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666" name="Shape 666"/>
        <p:cNvGrpSpPr/>
        <p:nvPr/>
      </p:nvGrpSpPr>
      <p:grpSpPr>
        <a:xfrm>
          <a:off x="0" y="0"/>
          <a:ext cx="0" cy="0"/>
          <a:chOff x="0" y="0"/>
          <a:chExt cx="0" cy="0"/>
        </a:xfrm>
      </p:grpSpPr>
      <p:sp>
        <p:nvSpPr>
          <p:cNvPr id="667" name="Google Shape;667;p101"/>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Dùng Google Docs</a:t>
            </a:r>
            <a:endParaRPr b="1" sz="3600">
              <a:solidFill>
                <a:srgbClr val="351C75"/>
              </a:solidFill>
            </a:endParaRPr>
          </a:p>
        </p:txBody>
      </p:sp>
      <p:sp>
        <p:nvSpPr>
          <p:cNvPr id="668" name="Google Shape;668;p101"/>
          <p:cNvSpPr/>
          <p:nvPr/>
        </p:nvSpPr>
        <p:spPr>
          <a:xfrm>
            <a:off x="528075" y="1015350"/>
            <a:ext cx="7942500" cy="31398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vi">
                <a:solidFill>
                  <a:srgbClr val="351C75"/>
                </a:solidFill>
              </a:rPr>
              <a:t>Là tính năng Google Dịch tích hợp</a:t>
            </a:r>
            <a:endParaRPr>
              <a:solidFill>
                <a:srgbClr val="351C75"/>
              </a:solidFill>
            </a:endParaRPr>
          </a:p>
          <a:p>
            <a:pPr indent="0" lvl="0" marL="0" rtl="0" algn="l">
              <a:lnSpc>
                <a:spcPct val="115000"/>
              </a:lnSpc>
              <a:spcBef>
                <a:spcPts val="1200"/>
              </a:spcBef>
              <a:spcAft>
                <a:spcPts val="0"/>
              </a:spcAft>
              <a:buNone/>
            </a:pPr>
            <a:r>
              <a:rPr lang="vi">
                <a:solidFill>
                  <a:srgbClr val="351C75"/>
                </a:solidFill>
              </a:rPr>
              <a:t>✅ Dễ sử dụng, giữ định dạng gốc tốt.</a:t>
            </a:r>
            <a:endParaRPr>
              <a:solidFill>
                <a:srgbClr val="351C75"/>
              </a:solidFill>
            </a:endParaRPr>
          </a:p>
          <a:p>
            <a:pPr indent="0" lvl="0" marL="0" rtl="0" algn="l">
              <a:lnSpc>
                <a:spcPct val="115000"/>
              </a:lnSpc>
              <a:spcBef>
                <a:spcPts val="1200"/>
              </a:spcBef>
              <a:spcAft>
                <a:spcPts val="0"/>
              </a:spcAft>
              <a:buNone/>
            </a:pPr>
            <a:r>
              <a:rPr lang="vi">
                <a:solidFill>
                  <a:srgbClr val="351C75"/>
                </a:solidFill>
              </a:rPr>
              <a:t>✅ Cho ra bản dịch nhanh chóng, dễ dàng chia sẻ.</a:t>
            </a:r>
            <a:endParaRPr>
              <a:solidFill>
                <a:srgbClr val="351C75"/>
              </a:solidFill>
            </a:endParaRPr>
          </a:p>
          <a:p>
            <a:pPr indent="0" lvl="0" marL="0" rtl="0" algn="l">
              <a:lnSpc>
                <a:spcPct val="115000"/>
              </a:lnSpc>
              <a:spcBef>
                <a:spcPts val="1200"/>
              </a:spcBef>
              <a:spcAft>
                <a:spcPts val="0"/>
              </a:spcAft>
              <a:buNone/>
            </a:pPr>
            <a:r>
              <a:rPr lang="vi">
                <a:solidFill>
                  <a:srgbClr val="351C75"/>
                </a:solidFill>
              </a:rPr>
              <a:t>✅ </a:t>
            </a:r>
            <a:r>
              <a:rPr b="1" lang="vi">
                <a:solidFill>
                  <a:srgbClr val="351C75"/>
                </a:solidFill>
              </a:rPr>
              <a:t>Thuận tiện trong việc tạo tài liệu báo cáo…cần dịch sang tiếng Nhật</a:t>
            </a:r>
            <a:endParaRPr b="1">
              <a:solidFill>
                <a:srgbClr val="351C75"/>
              </a:solidFill>
            </a:endParaRPr>
          </a:p>
          <a:p>
            <a:pPr indent="0" lvl="0" marL="0" rtl="0" algn="ctr">
              <a:lnSpc>
                <a:spcPct val="115000"/>
              </a:lnSpc>
              <a:spcBef>
                <a:spcPts val="1200"/>
              </a:spcBef>
              <a:spcAft>
                <a:spcPts val="1200"/>
              </a:spcAft>
              <a:buClr>
                <a:schemeClr val="dk1"/>
              </a:buClr>
              <a:buSzPts val="1100"/>
              <a:buFont typeface="Arial"/>
              <a:buNone/>
            </a:pPr>
            <a:r>
              <a:rPr b="1" lang="vi" sz="1800">
                <a:solidFill>
                  <a:srgbClr val="351C75"/>
                </a:solidFill>
              </a:rPr>
              <a:t>👉</a:t>
            </a:r>
            <a:r>
              <a:rPr lang="vi" sz="1800">
                <a:solidFill>
                  <a:srgbClr val="351C75"/>
                </a:solidFill>
              </a:rPr>
              <a:t> Nên </a:t>
            </a:r>
            <a:r>
              <a:rPr b="1" lang="vi" sz="1800">
                <a:solidFill>
                  <a:srgbClr val="351C75"/>
                </a:solidFill>
              </a:rPr>
              <a:t>dùng trong trường hợp cần dịch nhanh để hiểu sơ bộ nội dung tổng quan</a:t>
            </a:r>
            <a:r>
              <a:rPr lang="vi" sz="1800">
                <a:solidFill>
                  <a:srgbClr val="351C75"/>
                </a:solidFill>
              </a:rPr>
              <a:t>, sau đó cần review lại.</a:t>
            </a:r>
            <a:endParaRPr sz="1800">
              <a:solidFill>
                <a:srgbClr val="351C75"/>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672" name="Shape 672"/>
        <p:cNvGrpSpPr/>
        <p:nvPr/>
      </p:nvGrpSpPr>
      <p:grpSpPr>
        <a:xfrm>
          <a:off x="0" y="0"/>
          <a:ext cx="0" cy="0"/>
          <a:chOff x="0" y="0"/>
          <a:chExt cx="0" cy="0"/>
        </a:xfrm>
      </p:grpSpPr>
      <p:sp>
        <p:nvSpPr>
          <p:cNvPr id="673" name="Google Shape;673;p102"/>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Hướng dẫn sử dụng</a:t>
            </a:r>
            <a:endParaRPr b="1" sz="3600">
              <a:solidFill>
                <a:srgbClr val="351C75"/>
              </a:solidFill>
            </a:endParaRPr>
          </a:p>
        </p:txBody>
      </p:sp>
      <p:sp>
        <p:nvSpPr>
          <p:cNvPr id="674" name="Google Shape;674;p102"/>
          <p:cNvSpPr/>
          <p:nvPr/>
        </p:nvSpPr>
        <p:spPr>
          <a:xfrm>
            <a:off x="528075" y="1015350"/>
            <a:ext cx="7942500" cy="31398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42900" lvl="0" marL="457200" rtl="0" algn="l">
              <a:lnSpc>
                <a:spcPct val="115000"/>
              </a:lnSpc>
              <a:spcBef>
                <a:spcPts val="1200"/>
              </a:spcBef>
              <a:spcAft>
                <a:spcPts val="0"/>
              </a:spcAft>
              <a:buClr>
                <a:srgbClr val="351C75"/>
              </a:buClr>
              <a:buSzPts val="1800"/>
              <a:buAutoNum type="arabicPeriod"/>
            </a:pPr>
            <a:r>
              <a:rPr lang="vi" sz="1800">
                <a:solidFill>
                  <a:srgbClr val="351C75"/>
                </a:solidFill>
              </a:rPr>
              <a:t>Mở tài liệu trong Google Docs</a:t>
            </a:r>
            <a:endParaRPr sz="1800">
              <a:solidFill>
                <a:srgbClr val="351C75"/>
              </a:solidFill>
            </a:endParaRPr>
          </a:p>
          <a:p>
            <a:pPr indent="0" lvl="0" marL="457200" rtl="0" algn="l">
              <a:lnSpc>
                <a:spcPct val="115000"/>
              </a:lnSpc>
              <a:spcBef>
                <a:spcPts val="1200"/>
              </a:spcBef>
              <a:spcAft>
                <a:spcPts val="0"/>
              </a:spcAft>
              <a:buNone/>
            </a:pPr>
            <a:r>
              <a:rPr lang="vi" sz="1800">
                <a:solidFill>
                  <a:srgbClr val="351C75"/>
                </a:solidFill>
              </a:rPr>
              <a:t>Trường hợp là file .docx thì cần “Lưu dưới dạng Google tài liệu”</a:t>
            </a:r>
            <a:endParaRPr sz="1800">
              <a:solidFill>
                <a:srgbClr val="351C75"/>
              </a:solidFill>
            </a:endParaRPr>
          </a:p>
          <a:p>
            <a:pPr indent="-342900" lvl="0" marL="457200" rtl="0" algn="l">
              <a:lnSpc>
                <a:spcPct val="115000"/>
              </a:lnSpc>
              <a:spcBef>
                <a:spcPts val="1200"/>
              </a:spcBef>
              <a:spcAft>
                <a:spcPts val="0"/>
              </a:spcAft>
              <a:buClr>
                <a:srgbClr val="351C75"/>
              </a:buClr>
              <a:buSzPts val="1800"/>
              <a:buAutoNum type="arabicPeriod"/>
            </a:pPr>
            <a:r>
              <a:rPr lang="vi" sz="1800">
                <a:solidFill>
                  <a:srgbClr val="351C75"/>
                </a:solidFill>
              </a:rPr>
              <a:t>Vào menu </a:t>
            </a:r>
            <a:r>
              <a:rPr b="1" lang="vi" sz="1800">
                <a:solidFill>
                  <a:srgbClr val="351C75"/>
                </a:solidFill>
              </a:rPr>
              <a:t>Tools (Công cụ)</a:t>
            </a:r>
            <a:r>
              <a:rPr lang="vi" sz="1800">
                <a:solidFill>
                  <a:srgbClr val="351C75"/>
                </a:solidFill>
              </a:rPr>
              <a:t> → </a:t>
            </a:r>
            <a:r>
              <a:rPr b="1" lang="vi" sz="1800">
                <a:solidFill>
                  <a:srgbClr val="351C75"/>
                </a:solidFill>
              </a:rPr>
              <a:t>Translate Document (Dịch tài liệu)</a:t>
            </a:r>
            <a:r>
              <a:rPr lang="vi" sz="1800">
                <a:solidFill>
                  <a:srgbClr val="351C75"/>
                </a:solidFill>
              </a:rPr>
              <a:t> </a:t>
            </a:r>
            <a:endParaRPr sz="1800">
              <a:solidFill>
                <a:srgbClr val="351C75"/>
              </a:solidFill>
            </a:endParaRPr>
          </a:p>
          <a:p>
            <a:pPr indent="-342900" lvl="0" marL="457200" rtl="0" algn="l">
              <a:lnSpc>
                <a:spcPct val="115000"/>
              </a:lnSpc>
              <a:spcBef>
                <a:spcPts val="0"/>
              </a:spcBef>
              <a:spcAft>
                <a:spcPts val="0"/>
              </a:spcAft>
              <a:buClr>
                <a:srgbClr val="351C75"/>
              </a:buClr>
              <a:buSzPts val="1800"/>
              <a:buAutoNum type="arabicPeriod"/>
            </a:pPr>
            <a:r>
              <a:rPr lang="vi" sz="1800">
                <a:solidFill>
                  <a:srgbClr val="351C75"/>
                </a:solidFill>
              </a:rPr>
              <a:t>Chọn ngôn ngữ → Google tạo bản sao tài liệu đã dịch.</a:t>
            </a:r>
            <a:endParaRPr>
              <a:solidFill>
                <a:srgbClr val="351C75"/>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678" name="Shape 678"/>
        <p:cNvGrpSpPr/>
        <p:nvPr/>
      </p:nvGrpSpPr>
      <p:grpSpPr>
        <a:xfrm>
          <a:off x="0" y="0"/>
          <a:ext cx="0" cy="0"/>
          <a:chOff x="0" y="0"/>
          <a:chExt cx="0" cy="0"/>
        </a:xfrm>
      </p:grpSpPr>
      <p:sp>
        <p:nvSpPr>
          <p:cNvPr id="679" name="Google Shape;679;p103"/>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Thực hành</a:t>
            </a:r>
            <a:endParaRPr sz="3600">
              <a:solidFill>
                <a:srgbClr val="351C75"/>
              </a:solidFill>
            </a:endParaRPr>
          </a:p>
        </p:txBody>
      </p:sp>
      <p:sp>
        <p:nvSpPr>
          <p:cNvPr id="680" name="Google Shape;680;p103"/>
          <p:cNvSpPr/>
          <p:nvPr/>
        </p:nvSpPr>
        <p:spPr>
          <a:xfrm>
            <a:off x="512000" y="1071300"/>
            <a:ext cx="8115300" cy="31398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spcBef>
                <a:spcPts val="0"/>
              </a:spcBef>
              <a:spcAft>
                <a:spcPts val="0"/>
              </a:spcAft>
              <a:buClr>
                <a:srgbClr val="351C75"/>
              </a:buClr>
              <a:buSzPts val="1600"/>
              <a:buAutoNum type="arabicPeriod"/>
            </a:pPr>
            <a:r>
              <a:rPr lang="vi" sz="1600">
                <a:solidFill>
                  <a:srgbClr val="351C75"/>
                </a:solidFill>
                <a:highlight>
                  <a:srgbClr val="FFF5F5"/>
                </a:highlight>
              </a:rPr>
              <a:t>Sử dụng công cụ dịch của Google Docs, chạy dịch file sau sang tiếng Việt</a:t>
            </a:r>
            <a:r>
              <a:rPr lang="vi" sz="1600">
                <a:solidFill>
                  <a:srgbClr val="351C75"/>
                </a:solidFill>
                <a:highlight>
                  <a:srgbClr val="FFF5F5"/>
                </a:highlight>
              </a:rPr>
              <a:t>  </a:t>
            </a:r>
            <a:r>
              <a:rPr lang="vi" sz="1600" u="sng">
                <a:solidFill>
                  <a:schemeClr val="hlink"/>
                </a:solidFill>
                <a:highlight>
                  <a:srgbClr val="FFF5F5"/>
                </a:highlight>
                <a:hlinkClick r:id="rId3"/>
              </a:rPr>
              <a:t>https://docs.google.com/document/d/1ODn09404tWJU9iFpby5naoEKOg7Z5Hle/edit?usp=sharing&amp;ouid=104416917441975431198&amp;rtpof=true&amp;sd=true</a:t>
            </a:r>
            <a:r>
              <a:rPr lang="vi" sz="1600">
                <a:solidFill>
                  <a:srgbClr val="351C75"/>
                </a:solidFill>
                <a:highlight>
                  <a:srgbClr val="FFF5F5"/>
                </a:highlight>
              </a:rPr>
              <a:t> </a:t>
            </a:r>
            <a:endParaRPr sz="1600">
              <a:solidFill>
                <a:srgbClr val="351C75"/>
              </a:solidFill>
              <a:highlight>
                <a:srgbClr val="FFF5F5"/>
              </a:highlight>
            </a:endParaRPr>
          </a:p>
          <a:p>
            <a:pPr indent="0" lvl="0" marL="457200" rtl="0" algn="l">
              <a:spcBef>
                <a:spcPts val="0"/>
              </a:spcBef>
              <a:spcAft>
                <a:spcPts val="0"/>
              </a:spcAft>
              <a:buNone/>
            </a:pPr>
            <a:r>
              <a:t/>
            </a:r>
            <a:endParaRPr sz="1600">
              <a:solidFill>
                <a:srgbClr val="351C75"/>
              </a:solidFill>
              <a:highlight>
                <a:srgbClr val="FFF5F5"/>
              </a:highlight>
            </a:endParaRPr>
          </a:p>
          <a:p>
            <a:pPr indent="-330200" lvl="0" marL="457200" rtl="0" algn="l">
              <a:spcBef>
                <a:spcPts val="0"/>
              </a:spcBef>
              <a:spcAft>
                <a:spcPts val="0"/>
              </a:spcAft>
              <a:buClr>
                <a:srgbClr val="351C75"/>
              </a:buClr>
              <a:buSzPts val="1600"/>
              <a:buAutoNum type="arabicPeriod"/>
            </a:pPr>
            <a:r>
              <a:rPr lang="vi" sz="1600">
                <a:solidFill>
                  <a:srgbClr val="351C75"/>
                </a:solidFill>
                <a:highlight>
                  <a:srgbClr val="FFF5F5"/>
                </a:highlight>
              </a:rPr>
              <a:t>S</a:t>
            </a:r>
            <a:r>
              <a:rPr lang="vi" sz="1600">
                <a:solidFill>
                  <a:srgbClr val="351C75"/>
                </a:solidFill>
                <a:highlight>
                  <a:srgbClr val="FFF5F5"/>
                </a:highlight>
              </a:rPr>
              <a:t>ử dụng công cụ dịch của Google Docs, chạy dịch file sau sang tiếng Nhật.</a:t>
            </a:r>
            <a:endParaRPr sz="1600">
              <a:solidFill>
                <a:srgbClr val="351C75"/>
              </a:solidFill>
              <a:highlight>
                <a:srgbClr val="FFF5F5"/>
              </a:highlight>
            </a:endParaRPr>
          </a:p>
          <a:p>
            <a:pPr indent="0" lvl="0" marL="457200" rtl="0" algn="l">
              <a:spcBef>
                <a:spcPts val="0"/>
              </a:spcBef>
              <a:spcAft>
                <a:spcPts val="0"/>
              </a:spcAft>
              <a:buNone/>
            </a:pPr>
            <a:r>
              <a:rPr lang="vi" sz="1600" u="sng">
                <a:solidFill>
                  <a:schemeClr val="hlink"/>
                </a:solidFill>
                <a:highlight>
                  <a:srgbClr val="FFF5F5"/>
                </a:highlight>
                <a:hlinkClick r:id="rId4"/>
              </a:rPr>
              <a:t>https://docs.google.com/document/d/1hbad5-rsIEc9jA8YA5R5UcqjmvxvUa_U/edit?usp=sharing&amp;ouid=104416917441975431198&amp;rtpof=true&amp;sd=true</a:t>
            </a:r>
            <a:r>
              <a:rPr lang="vi" sz="1600">
                <a:solidFill>
                  <a:srgbClr val="351C75"/>
                </a:solidFill>
                <a:highlight>
                  <a:srgbClr val="FFF5F5"/>
                </a:highlight>
              </a:rPr>
              <a:t> </a:t>
            </a:r>
            <a:endParaRPr sz="1600">
              <a:solidFill>
                <a:srgbClr val="351C75"/>
              </a:solidFill>
              <a:highlight>
                <a:srgbClr val="FFF5F5"/>
              </a:highlight>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684" name="Shape 684"/>
        <p:cNvGrpSpPr/>
        <p:nvPr/>
      </p:nvGrpSpPr>
      <p:grpSpPr>
        <a:xfrm>
          <a:off x="0" y="0"/>
          <a:ext cx="0" cy="0"/>
          <a:chOff x="0" y="0"/>
          <a:chExt cx="0" cy="0"/>
        </a:xfrm>
      </p:grpSpPr>
      <p:sp>
        <p:nvSpPr>
          <p:cNvPr id="685" name="Google Shape;685;p104"/>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600"/>
              </a:spcAft>
              <a:buClr>
                <a:schemeClr val="dk1"/>
              </a:buClr>
              <a:buSzPts val="1100"/>
              <a:buFont typeface="Arial"/>
              <a:buNone/>
            </a:pPr>
            <a:r>
              <a:rPr b="1" lang="vi" sz="3600">
                <a:solidFill>
                  <a:srgbClr val="351C75"/>
                </a:solidFill>
              </a:rPr>
              <a:t>Dùng ChatGPT</a:t>
            </a:r>
            <a:endParaRPr sz="3600">
              <a:solidFill>
                <a:srgbClr val="351C75"/>
              </a:solidFill>
            </a:endParaRPr>
          </a:p>
        </p:txBody>
      </p:sp>
      <p:sp>
        <p:nvSpPr>
          <p:cNvPr id="686" name="Google Shape;686;p104"/>
          <p:cNvSpPr/>
          <p:nvPr/>
        </p:nvSpPr>
        <p:spPr>
          <a:xfrm>
            <a:off x="512000" y="1071300"/>
            <a:ext cx="8115300" cy="32946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vi">
                <a:solidFill>
                  <a:srgbClr val="351C75"/>
                </a:solidFill>
              </a:rPr>
              <a:t>✅ </a:t>
            </a:r>
            <a:r>
              <a:rPr lang="vi">
                <a:solidFill>
                  <a:srgbClr val="351C75"/>
                </a:solidFill>
              </a:rPr>
              <a:t>Hiểu ngữ cảnh rất tốt, dịch mượt, giữ mạch văn</a:t>
            </a:r>
            <a:endParaRPr>
              <a:solidFill>
                <a:srgbClr val="351C75"/>
              </a:solidFill>
            </a:endParaRPr>
          </a:p>
          <a:p>
            <a:pPr indent="0" lvl="0" marL="0" rtl="0" algn="l">
              <a:lnSpc>
                <a:spcPct val="115000"/>
              </a:lnSpc>
              <a:spcBef>
                <a:spcPts val="1200"/>
              </a:spcBef>
              <a:spcAft>
                <a:spcPts val="0"/>
              </a:spcAft>
              <a:buNone/>
            </a:pPr>
            <a:r>
              <a:rPr lang="vi">
                <a:solidFill>
                  <a:srgbClr val="351C75"/>
                </a:solidFill>
              </a:rPr>
              <a:t>✅ Có thể huấn luyện bằng thuật ngữ riêng, chuyên nghiệp, đúng ngữ cảnh</a:t>
            </a:r>
            <a:endParaRPr>
              <a:solidFill>
                <a:srgbClr val="351C75"/>
              </a:solidFill>
            </a:endParaRPr>
          </a:p>
          <a:p>
            <a:pPr indent="0" lvl="0" marL="0" rtl="0" algn="l">
              <a:lnSpc>
                <a:spcPct val="115000"/>
              </a:lnSpc>
              <a:spcBef>
                <a:spcPts val="1200"/>
              </a:spcBef>
              <a:spcAft>
                <a:spcPts val="0"/>
              </a:spcAft>
              <a:buNone/>
            </a:pPr>
            <a:r>
              <a:rPr lang="vi">
                <a:solidFill>
                  <a:srgbClr val="351C75"/>
                </a:solidFill>
              </a:rPr>
              <a:t>✅ Phù hợp dịch từng đoạn</a:t>
            </a:r>
            <a:endParaRPr>
              <a:solidFill>
                <a:srgbClr val="351C75"/>
              </a:solidFill>
            </a:endParaRPr>
          </a:p>
          <a:p>
            <a:pPr indent="0" lvl="0" marL="0" rtl="0" algn="l">
              <a:lnSpc>
                <a:spcPct val="115000"/>
              </a:lnSpc>
              <a:spcBef>
                <a:spcPts val="1200"/>
              </a:spcBef>
              <a:spcAft>
                <a:spcPts val="0"/>
              </a:spcAft>
              <a:buNone/>
            </a:pPr>
            <a:r>
              <a:rPr lang="vi">
                <a:solidFill>
                  <a:srgbClr val="351C75"/>
                </a:solidFill>
              </a:rPr>
              <a:t>➖ Tốc độ xử lý: chậm hơn Google dịch </a:t>
            </a:r>
            <a:endParaRPr>
              <a:solidFill>
                <a:srgbClr val="351C75"/>
              </a:solidFill>
            </a:endParaRPr>
          </a:p>
          <a:p>
            <a:pPr indent="0" lvl="0" marL="0" rtl="0" algn="l">
              <a:lnSpc>
                <a:spcPct val="115000"/>
              </a:lnSpc>
              <a:spcBef>
                <a:spcPts val="1200"/>
              </a:spcBef>
              <a:spcAft>
                <a:spcPts val="0"/>
              </a:spcAft>
              <a:buNone/>
            </a:pPr>
            <a:r>
              <a:rPr lang="vi">
                <a:solidFill>
                  <a:srgbClr val="351C75"/>
                </a:solidFill>
              </a:rPr>
              <a:t>➖ Không phù hợp dịch dạng file</a:t>
            </a:r>
            <a:endParaRPr>
              <a:solidFill>
                <a:srgbClr val="351C75"/>
              </a:solidFill>
            </a:endParaRPr>
          </a:p>
          <a:p>
            <a:pPr indent="0" lvl="0" marL="0" rtl="0" algn="ctr">
              <a:lnSpc>
                <a:spcPct val="115000"/>
              </a:lnSpc>
              <a:spcBef>
                <a:spcPts val="1200"/>
              </a:spcBef>
              <a:spcAft>
                <a:spcPts val="1200"/>
              </a:spcAft>
              <a:buNone/>
            </a:pPr>
            <a:r>
              <a:rPr lang="vi" sz="1800">
                <a:solidFill>
                  <a:srgbClr val="351C75"/>
                </a:solidFill>
              </a:rPr>
              <a:t>👉 Nên dùng trong trường hợp dịch từng đoạn, độ chính xác cao, cần sử dụng đúng thuật ngữ chuyên ngành</a:t>
            </a:r>
            <a:endParaRPr sz="1800">
              <a:solidFill>
                <a:srgbClr val="351C75"/>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690" name="Shape 690"/>
        <p:cNvGrpSpPr/>
        <p:nvPr/>
      </p:nvGrpSpPr>
      <p:grpSpPr>
        <a:xfrm>
          <a:off x="0" y="0"/>
          <a:ext cx="0" cy="0"/>
          <a:chOff x="0" y="0"/>
          <a:chExt cx="0" cy="0"/>
        </a:xfrm>
      </p:grpSpPr>
      <p:sp>
        <p:nvSpPr>
          <p:cNvPr id="691" name="Google Shape;691;p105"/>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400"/>
              </a:spcAft>
              <a:buClr>
                <a:schemeClr val="dk1"/>
              </a:buClr>
              <a:buSzPts val="1100"/>
              <a:buFont typeface="Arial"/>
              <a:buNone/>
            </a:pPr>
            <a:r>
              <a:rPr b="1" lang="vi" sz="3600">
                <a:solidFill>
                  <a:srgbClr val="351C75"/>
                </a:solidFill>
              </a:rPr>
              <a:t>Hướng dẫn sử dụng</a:t>
            </a:r>
            <a:endParaRPr sz="3600">
              <a:solidFill>
                <a:srgbClr val="351C75"/>
              </a:solidFill>
            </a:endParaRPr>
          </a:p>
        </p:txBody>
      </p:sp>
      <p:sp>
        <p:nvSpPr>
          <p:cNvPr id="692" name="Google Shape;692;p105"/>
          <p:cNvSpPr/>
          <p:nvPr/>
        </p:nvSpPr>
        <p:spPr>
          <a:xfrm>
            <a:off x="868500" y="1015350"/>
            <a:ext cx="7407000" cy="33507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2100" lvl="0" marL="457200" rtl="0" algn="l">
              <a:lnSpc>
                <a:spcPct val="115000"/>
              </a:lnSpc>
              <a:spcBef>
                <a:spcPts val="1200"/>
              </a:spcBef>
              <a:spcAft>
                <a:spcPts val="0"/>
              </a:spcAft>
              <a:buClr>
                <a:srgbClr val="351C75"/>
              </a:buClr>
              <a:buSzPts val="1000"/>
              <a:buAutoNum type="arabicPeriod"/>
            </a:pPr>
            <a:r>
              <a:rPr lang="vi" sz="1000">
                <a:solidFill>
                  <a:srgbClr val="351C75"/>
                </a:solidFill>
              </a:rPr>
              <a:t>Chuẩn bị file thuật ngữ.</a:t>
            </a:r>
            <a:endParaRPr sz="1000">
              <a:solidFill>
                <a:srgbClr val="351C75"/>
              </a:solidFill>
            </a:endParaRPr>
          </a:p>
          <a:p>
            <a:pPr indent="-292100" lvl="0" marL="457200" rtl="0" algn="l">
              <a:lnSpc>
                <a:spcPct val="115000"/>
              </a:lnSpc>
              <a:spcBef>
                <a:spcPts val="0"/>
              </a:spcBef>
              <a:spcAft>
                <a:spcPts val="0"/>
              </a:spcAft>
              <a:buClr>
                <a:srgbClr val="351C75"/>
              </a:buClr>
              <a:buSzPts val="1000"/>
              <a:buAutoNum type="arabicPeriod"/>
            </a:pPr>
            <a:r>
              <a:rPr lang="vi" sz="1000">
                <a:solidFill>
                  <a:srgbClr val="351C75"/>
                </a:solidFill>
              </a:rPr>
              <a:t>Mở thread ChatGPT mới, đính kèm file thuật ngữ (hoặc paste danh sách thuật ngữ) và nhập prompt sau:</a:t>
            </a:r>
            <a:br>
              <a:rPr lang="vi" sz="1000">
                <a:solidFill>
                  <a:srgbClr val="351C75"/>
                </a:solidFill>
              </a:rPr>
            </a:br>
            <a:r>
              <a:rPr lang="vi" sz="1000">
                <a:solidFill>
                  <a:srgbClr val="351C75"/>
                </a:solidFill>
              </a:rPr>
              <a:t>—---</a:t>
            </a:r>
            <a:br>
              <a:rPr lang="vi" sz="1000">
                <a:solidFill>
                  <a:srgbClr val="351C75"/>
                </a:solidFill>
              </a:rPr>
            </a:br>
            <a:r>
              <a:rPr lang="vi" sz="1000">
                <a:solidFill>
                  <a:srgbClr val="351C75"/>
                </a:solidFill>
              </a:rPr>
              <a:t>[LMS] Dịch Nhật-Việt</a:t>
            </a:r>
            <a:br>
              <a:rPr lang="vi" sz="1000">
                <a:solidFill>
                  <a:srgbClr val="351C75"/>
                </a:solidFill>
              </a:rPr>
            </a:br>
            <a:r>
              <a:rPr lang="vi" sz="1000">
                <a:solidFill>
                  <a:srgbClr val="351C75"/>
                </a:solidFill>
              </a:rPr>
              <a:t>Từ bây giờ tôi sẽ sử dụng thread này để dịch tài liệu IT từ tiếng Nhật sang tiếng Việt.</a:t>
            </a:r>
            <a:br>
              <a:rPr lang="vi" sz="1000">
                <a:solidFill>
                  <a:srgbClr val="351C75"/>
                </a:solidFill>
              </a:rPr>
            </a:br>
            <a:r>
              <a:rPr lang="vi" sz="1000">
                <a:solidFill>
                  <a:srgbClr val="351C75"/>
                </a:solidFill>
              </a:rPr>
              <a:t>File đính kèm là bảng thuật ngữ cần được ưu tiên sử dụng trong mọi bản dịch.</a:t>
            </a:r>
            <a:endParaRPr sz="1000">
              <a:solidFill>
                <a:srgbClr val="351C75"/>
              </a:solidFill>
            </a:endParaRPr>
          </a:p>
          <a:p>
            <a:pPr indent="0" lvl="0" marL="457200" rtl="0" algn="l">
              <a:lnSpc>
                <a:spcPct val="115000"/>
              </a:lnSpc>
              <a:spcBef>
                <a:spcPts val="1200"/>
              </a:spcBef>
              <a:spcAft>
                <a:spcPts val="0"/>
              </a:spcAft>
              <a:buNone/>
            </a:pPr>
            <a:r>
              <a:rPr lang="vi" sz="1000">
                <a:solidFill>
                  <a:srgbClr val="351C75"/>
                </a:solidFill>
              </a:rPr>
              <a:t>Hãy đọc toàn bộ nội dung file, sau đó lưu tất cả cặp Tiếng Nhật – Tiếng Việt để áp dụng một cách nghiêm ngặt và nhất quán vào mọi bản dịch trong thread này. </a:t>
            </a:r>
            <a:endParaRPr sz="1000">
              <a:solidFill>
                <a:srgbClr val="351C75"/>
              </a:solidFill>
            </a:endParaRPr>
          </a:p>
          <a:p>
            <a:pPr indent="0" lvl="0" marL="0" rtl="0" algn="l">
              <a:lnSpc>
                <a:spcPct val="115000"/>
              </a:lnSpc>
              <a:spcBef>
                <a:spcPts val="1200"/>
              </a:spcBef>
              <a:spcAft>
                <a:spcPts val="0"/>
              </a:spcAft>
              <a:buNone/>
            </a:pPr>
            <a:r>
              <a:rPr lang="vi" sz="1000">
                <a:solidFill>
                  <a:srgbClr val="351C75"/>
                </a:solidFill>
              </a:rPr>
              <a:t>             Yêu cầu DỊCH TUYỆT ĐỐI CHÍNH XÁC bám theo câu gốc, KHÔNG thêm bớt nội dung, KHÔNG suy diễn.</a:t>
            </a:r>
            <a:endParaRPr sz="1000">
              <a:solidFill>
                <a:srgbClr val="351C75"/>
              </a:solidFill>
            </a:endParaRPr>
          </a:p>
          <a:p>
            <a:pPr indent="0" lvl="0" marL="457200" rtl="0" algn="l">
              <a:lnSpc>
                <a:spcPct val="115000"/>
              </a:lnSpc>
              <a:spcBef>
                <a:spcPts val="1200"/>
              </a:spcBef>
              <a:spcAft>
                <a:spcPts val="0"/>
              </a:spcAft>
              <a:buNone/>
            </a:pPr>
            <a:r>
              <a:rPr lang="vi" sz="1000">
                <a:solidFill>
                  <a:srgbClr val="351C75"/>
                </a:solidFill>
              </a:rPr>
              <a:t>Tôi sẽ gửi lần lượt các đoạn yêu cầu dịch. </a:t>
            </a:r>
            <a:br>
              <a:rPr lang="vi" sz="1000">
                <a:solidFill>
                  <a:srgbClr val="351C75"/>
                </a:solidFill>
              </a:rPr>
            </a:br>
            <a:r>
              <a:rPr lang="vi" sz="1000">
                <a:solidFill>
                  <a:srgbClr val="351C75"/>
                </a:solidFill>
              </a:rPr>
              <a:t>Nếu đã ghi nhớ và sẵn sàng thực hiện dịch, hãy trả lời “Sẵn sàng”.</a:t>
            </a:r>
            <a:br>
              <a:rPr lang="vi" sz="1000">
                <a:solidFill>
                  <a:srgbClr val="351C75"/>
                </a:solidFill>
              </a:rPr>
            </a:br>
            <a:r>
              <a:rPr lang="vi" sz="1000">
                <a:solidFill>
                  <a:srgbClr val="351C75"/>
                </a:solidFill>
              </a:rPr>
              <a:t>—---</a:t>
            </a:r>
            <a:endParaRPr sz="1000">
              <a:solidFill>
                <a:srgbClr val="351C75"/>
              </a:solidFill>
            </a:endParaRPr>
          </a:p>
          <a:p>
            <a:pPr indent="-292100" lvl="0" marL="457200" rtl="0" algn="l">
              <a:lnSpc>
                <a:spcPct val="115000"/>
              </a:lnSpc>
              <a:spcBef>
                <a:spcPts val="1200"/>
              </a:spcBef>
              <a:spcAft>
                <a:spcPts val="0"/>
              </a:spcAft>
              <a:buClr>
                <a:srgbClr val="351C75"/>
              </a:buClr>
              <a:buSzPts val="1000"/>
              <a:buAutoNum type="arabicPeriod"/>
            </a:pPr>
            <a:r>
              <a:rPr lang="vi" sz="1000">
                <a:solidFill>
                  <a:srgbClr val="351C75"/>
                </a:solidFill>
              </a:rPr>
              <a:t>Paste câu cần dịch vào thread đó (không cần ghi lại yêu cầu). Sử dụng thread này cho mọi lần dịch trong dự án.</a:t>
            </a:r>
            <a:endParaRPr sz="1000">
              <a:solidFill>
                <a:srgbClr val="351C75"/>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696" name="Shape 696"/>
        <p:cNvGrpSpPr/>
        <p:nvPr/>
      </p:nvGrpSpPr>
      <p:grpSpPr>
        <a:xfrm>
          <a:off x="0" y="0"/>
          <a:ext cx="0" cy="0"/>
          <a:chOff x="0" y="0"/>
          <a:chExt cx="0" cy="0"/>
        </a:xfrm>
      </p:grpSpPr>
      <p:sp>
        <p:nvSpPr>
          <p:cNvPr id="697" name="Google Shape;697;p106"/>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Thực hành</a:t>
            </a:r>
            <a:endParaRPr sz="3600">
              <a:solidFill>
                <a:srgbClr val="351C75"/>
              </a:solidFill>
            </a:endParaRPr>
          </a:p>
        </p:txBody>
      </p:sp>
      <p:sp>
        <p:nvSpPr>
          <p:cNvPr id="698" name="Google Shape;698;p106"/>
          <p:cNvSpPr/>
          <p:nvPr/>
        </p:nvSpPr>
        <p:spPr>
          <a:xfrm>
            <a:off x="512000" y="1071300"/>
            <a:ext cx="8115300" cy="31398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vi" sz="1600">
                <a:solidFill>
                  <a:srgbClr val="351C75"/>
                </a:solidFill>
              </a:rPr>
              <a:t>Bài 1: </a:t>
            </a:r>
            <a:r>
              <a:rPr lang="vi" sz="1600">
                <a:solidFill>
                  <a:srgbClr val="351C75"/>
                </a:solidFill>
              </a:rPr>
              <a:t>D</a:t>
            </a:r>
            <a:r>
              <a:rPr lang="vi" sz="1600">
                <a:solidFill>
                  <a:srgbClr val="351C75"/>
                </a:solidFill>
              </a:rPr>
              <a:t>ùng file thuật ngữ sau, tạo thread ChatGPT dịch Nhật - Việt theo hướng dẫn. </a:t>
            </a:r>
            <a:endParaRPr sz="1600">
              <a:solidFill>
                <a:srgbClr val="351C75"/>
              </a:solidFill>
            </a:endParaRPr>
          </a:p>
          <a:p>
            <a:pPr indent="0" lvl="0" marL="0" rtl="0" algn="l">
              <a:spcBef>
                <a:spcPts val="0"/>
              </a:spcBef>
              <a:spcAft>
                <a:spcPts val="0"/>
              </a:spcAft>
              <a:buNone/>
            </a:pPr>
            <a:r>
              <a:rPr lang="vi" sz="1600">
                <a:solidFill>
                  <a:srgbClr val="351C75"/>
                </a:solidFill>
                <a:highlight>
                  <a:srgbClr val="FFFF00"/>
                </a:highlight>
              </a:rPr>
              <a:t>Tạo file thuật ngữ và add link vào đây</a:t>
            </a:r>
            <a:endParaRPr sz="1600">
              <a:solidFill>
                <a:srgbClr val="351C75"/>
              </a:solidFill>
              <a:highlight>
                <a:srgbClr val="FFFF00"/>
              </a:highlight>
            </a:endParaRPr>
          </a:p>
          <a:p>
            <a:pPr indent="0" lvl="0" marL="457200" rtl="0" algn="l">
              <a:spcBef>
                <a:spcPts val="0"/>
              </a:spcBef>
              <a:spcAft>
                <a:spcPts val="0"/>
              </a:spcAft>
              <a:buNone/>
            </a:pPr>
            <a:r>
              <a:t/>
            </a:r>
            <a:endParaRPr sz="1600">
              <a:solidFill>
                <a:srgbClr val="351C75"/>
              </a:solidFill>
              <a:highlight>
                <a:srgbClr val="FFFF00"/>
              </a:highlight>
            </a:endParaRPr>
          </a:p>
          <a:p>
            <a:pPr indent="0" lvl="0" marL="0" rtl="0" algn="l">
              <a:spcBef>
                <a:spcPts val="0"/>
              </a:spcBef>
              <a:spcAft>
                <a:spcPts val="0"/>
              </a:spcAft>
              <a:buNone/>
            </a:pPr>
            <a:r>
              <a:rPr b="1" lang="vi" sz="1600">
                <a:solidFill>
                  <a:srgbClr val="351C75"/>
                </a:solidFill>
              </a:rPr>
              <a:t>Bài 2: </a:t>
            </a:r>
            <a:r>
              <a:rPr lang="vi" sz="1600">
                <a:solidFill>
                  <a:srgbClr val="351C75"/>
                </a:solidFill>
              </a:rPr>
              <a:t>Dịch đoạn sau sang tiếng Nhật ở thread ChatGPT vừa tạo.</a:t>
            </a:r>
            <a:endParaRPr sz="1600">
              <a:solidFill>
                <a:srgbClr val="351C75"/>
              </a:solidFill>
            </a:endParaRPr>
          </a:p>
          <a:p>
            <a:pPr indent="0" lvl="0" marL="0" rtl="0" algn="l">
              <a:spcBef>
                <a:spcPts val="0"/>
              </a:spcBef>
              <a:spcAft>
                <a:spcPts val="0"/>
              </a:spcAft>
              <a:buNone/>
            </a:pPr>
            <a:r>
              <a:rPr lang="vi" sz="1600">
                <a:solidFill>
                  <a:srgbClr val="351C75"/>
                </a:solidFill>
              </a:rPr>
              <a:t>Kiểm tra xem đoạn ChatGPT dịch có sử dụng chính xác các thuật ngữ trong file không.</a:t>
            </a:r>
            <a:endParaRPr sz="1600">
              <a:solidFill>
                <a:srgbClr val="351C75"/>
              </a:solidFill>
            </a:endParaRPr>
          </a:p>
          <a:p>
            <a:pPr indent="0" lvl="0" marL="0" rtl="0" algn="l">
              <a:spcBef>
                <a:spcPts val="0"/>
              </a:spcBef>
              <a:spcAft>
                <a:spcPts val="0"/>
              </a:spcAft>
              <a:buNone/>
            </a:pPr>
            <a:r>
              <a:rPr lang="vi" sz="1600">
                <a:solidFill>
                  <a:srgbClr val="351C75"/>
                </a:solidFill>
                <a:highlight>
                  <a:srgbClr val="FFFF00"/>
                </a:highlight>
              </a:rPr>
              <a:t>Add đoạn cần dịch vào đây</a:t>
            </a:r>
            <a:endParaRPr sz="1600">
              <a:solidFill>
                <a:srgbClr val="351C75"/>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702" name="Shape 702"/>
        <p:cNvGrpSpPr/>
        <p:nvPr/>
      </p:nvGrpSpPr>
      <p:grpSpPr>
        <a:xfrm>
          <a:off x="0" y="0"/>
          <a:ext cx="0" cy="0"/>
          <a:chOff x="0" y="0"/>
          <a:chExt cx="0" cy="0"/>
        </a:xfrm>
      </p:grpSpPr>
      <p:sp>
        <p:nvSpPr>
          <p:cNvPr id="703" name="Google Shape;703;p107"/>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600"/>
              </a:spcAft>
              <a:buClr>
                <a:schemeClr val="dk1"/>
              </a:buClr>
              <a:buSzPts val="1100"/>
              <a:buFont typeface="Arial"/>
              <a:buNone/>
            </a:pPr>
            <a:r>
              <a:rPr b="1" lang="vi" sz="3600">
                <a:solidFill>
                  <a:srgbClr val="351C75"/>
                </a:solidFill>
              </a:rPr>
              <a:t>Dùng Claude</a:t>
            </a:r>
            <a:endParaRPr sz="3600">
              <a:solidFill>
                <a:srgbClr val="351C75"/>
              </a:solidFill>
            </a:endParaRPr>
          </a:p>
        </p:txBody>
      </p:sp>
      <p:sp>
        <p:nvSpPr>
          <p:cNvPr id="704" name="Google Shape;704;p107"/>
          <p:cNvSpPr/>
          <p:nvPr/>
        </p:nvSpPr>
        <p:spPr>
          <a:xfrm>
            <a:off x="512000" y="1071300"/>
            <a:ext cx="8115300" cy="27171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vi">
                <a:solidFill>
                  <a:srgbClr val="351C75"/>
                </a:solidFill>
              </a:rPr>
              <a:t>✅ </a:t>
            </a:r>
            <a:r>
              <a:rPr lang="vi">
                <a:solidFill>
                  <a:srgbClr val="351C75"/>
                </a:solidFill>
              </a:rPr>
              <a:t>Hỗ trợ dịch file dài rất mạnh, 100+ trang</a:t>
            </a:r>
            <a:endParaRPr>
              <a:solidFill>
                <a:srgbClr val="351C75"/>
              </a:solidFill>
            </a:endParaRPr>
          </a:p>
          <a:p>
            <a:pPr indent="0" lvl="0" marL="0" rtl="0" algn="l">
              <a:lnSpc>
                <a:spcPct val="115000"/>
              </a:lnSpc>
              <a:spcBef>
                <a:spcPts val="1200"/>
              </a:spcBef>
              <a:spcAft>
                <a:spcPts val="0"/>
              </a:spcAft>
              <a:buNone/>
            </a:pPr>
            <a:r>
              <a:rPr lang="vi">
                <a:solidFill>
                  <a:srgbClr val="351C75"/>
                </a:solidFill>
              </a:rPr>
              <a:t>✅ Hiển thị bảng biểu gốc tốt</a:t>
            </a:r>
            <a:endParaRPr>
              <a:solidFill>
                <a:srgbClr val="351C75"/>
              </a:solidFill>
            </a:endParaRPr>
          </a:p>
          <a:p>
            <a:pPr indent="0" lvl="0" marL="0" rtl="0" algn="l">
              <a:lnSpc>
                <a:spcPct val="115000"/>
              </a:lnSpc>
              <a:spcBef>
                <a:spcPts val="1200"/>
              </a:spcBef>
              <a:spcAft>
                <a:spcPts val="0"/>
              </a:spcAft>
              <a:buNone/>
            </a:pPr>
            <a:r>
              <a:rPr lang="vi">
                <a:solidFill>
                  <a:srgbClr val="351C75"/>
                </a:solidFill>
              </a:rPr>
              <a:t>✅ Độ chính xác khá tốt</a:t>
            </a:r>
            <a:endParaRPr>
              <a:solidFill>
                <a:srgbClr val="351C75"/>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351C75"/>
              </a:solidFill>
            </a:endParaRPr>
          </a:p>
          <a:p>
            <a:pPr indent="0" lvl="0" marL="0" rtl="0" algn="l">
              <a:lnSpc>
                <a:spcPct val="115000"/>
              </a:lnSpc>
              <a:spcBef>
                <a:spcPts val="1200"/>
              </a:spcBef>
              <a:spcAft>
                <a:spcPts val="1200"/>
              </a:spcAft>
              <a:buNone/>
            </a:pPr>
            <a:r>
              <a:rPr lang="vi">
                <a:solidFill>
                  <a:srgbClr val="351C75"/>
                </a:solidFill>
              </a:rPr>
              <a:t>Áp dụng với file </a:t>
            </a:r>
            <a:r>
              <a:rPr b="1" lang="vi">
                <a:solidFill>
                  <a:srgbClr val="351C75"/>
                </a:solidFill>
              </a:rPr>
              <a:t>word, pdf, pptx dài</a:t>
            </a:r>
            <a:endParaRPr b="1">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4">
                                            <p:txEl>
                                              <p:pRg end="0" st="0"/>
                                            </p:txEl>
                                          </p:spTgt>
                                        </p:tgtEl>
                                        <p:attrNameLst>
                                          <p:attrName>style.visibility</p:attrName>
                                        </p:attrNameLst>
                                      </p:cBhvr>
                                      <p:to>
                                        <p:strVal val="visible"/>
                                      </p:to>
                                    </p:set>
                                    <p:anim calcmode="lin" valueType="num">
                                      <p:cBhvr additive="base">
                                        <p:cTn dur="1000"/>
                                        <p:tgtEl>
                                          <p:spTgt spid="70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4">
                                            <p:txEl>
                                              <p:pRg end="1" st="1"/>
                                            </p:txEl>
                                          </p:spTgt>
                                        </p:tgtEl>
                                        <p:attrNameLst>
                                          <p:attrName>style.visibility</p:attrName>
                                        </p:attrNameLst>
                                      </p:cBhvr>
                                      <p:to>
                                        <p:strVal val="visible"/>
                                      </p:to>
                                    </p:set>
                                    <p:anim calcmode="lin" valueType="num">
                                      <p:cBhvr additive="base">
                                        <p:cTn dur="1000"/>
                                        <p:tgtEl>
                                          <p:spTgt spid="70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4">
                                            <p:txEl>
                                              <p:pRg end="2" st="2"/>
                                            </p:txEl>
                                          </p:spTgt>
                                        </p:tgtEl>
                                        <p:attrNameLst>
                                          <p:attrName>style.visibility</p:attrName>
                                        </p:attrNameLst>
                                      </p:cBhvr>
                                      <p:to>
                                        <p:strVal val="visible"/>
                                      </p:to>
                                    </p:set>
                                    <p:anim calcmode="lin" valueType="num">
                                      <p:cBhvr additive="base">
                                        <p:cTn dur="1000"/>
                                        <p:tgtEl>
                                          <p:spTgt spid="70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4">
                                            <p:txEl>
                                              <p:pRg end="3" st="3"/>
                                            </p:txEl>
                                          </p:spTgt>
                                        </p:tgtEl>
                                        <p:attrNameLst>
                                          <p:attrName>style.visibility</p:attrName>
                                        </p:attrNameLst>
                                      </p:cBhvr>
                                      <p:to>
                                        <p:strVal val="visible"/>
                                      </p:to>
                                    </p:set>
                                    <p:anim calcmode="lin" valueType="num">
                                      <p:cBhvr additive="base">
                                        <p:cTn dur="1000"/>
                                        <p:tgtEl>
                                          <p:spTgt spid="70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4">
                                            <p:txEl>
                                              <p:pRg end="4" st="4"/>
                                            </p:txEl>
                                          </p:spTgt>
                                        </p:tgtEl>
                                        <p:attrNameLst>
                                          <p:attrName>style.visibility</p:attrName>
                                        </p:attrNameLst>
                                      </p:cBhvr>
                                      <p:to>
                                        <p:strVal val="visible"/>
                                      </p:to>
                                    </p:set>
                                    <p:anim calcmode="lin" valueType="num">
                                      <p:cBhvr additive="base">
                                        <p:cTn dur="1000"/>
                                        <p:tgtEl>
                                          <p:spTgt spid="70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708" name="Shape 708"/>
        <p:cNvGrpSpPr/>
        <p:nvPr/>
      </p:nvGrpSpPr>
      <p:grpSpPr>
        <a:xfrm>
          <a:off x="0" y="0"/>
          <a:ext cx="0" cy="0"/>
          <a:chOff x="0" y="0"/>
          <a:chExt cx="0" cy="0"/>
        </a:xfrm>
      </p:grpSpPr>
      <p:sp>
        <p:nvSpPr>
          <p:cNvPr id="709" name="Google Shape;709;p108"/>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400"/>
              </a:spcAft>
              <a:buNone/>
            </a:pPr>
            <a:r>
              <a:rPr b="1" lang="vi" sz="3600">
                <a:solidFill>
                  <a:srgbClr val="351C75"/>
                </a:solidFill>
              </a:rPr>
              <a:t>Hướng dẫn sử dụng</a:t>
            </a:r>
            <a:endParaRPr sz="3600">
              <a:solidFill>
                <a:srgbClr val="351C75"/>
              </a:solidFill>
            </a:endParaRPr>
          </a:p>
        </p:txBody>
      </p:sp>
      <p:sp>
        <p:nvSpPr>
          <p:cNvPr id="710" name="Google Shape;710;p108"/>
          <p:cNvSpPr/>
          <p:nvPr/>
        </p:nvSpPr>
        <p:spPr>
          <a:xfrm>
            <a:off x="1229525" y="1015350"/>
            <a:ext cx="7050600" cy="33075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vi" sz="1000">
                <a:solidFill>
                  <a:srgbClr val="351C75"/>
                </a:solidFill>
              </a:rPr>
              <a:t>Prompt</a:t>
            </a:r>
            <a:endParaRPr sz="1000">
              <a:solidFill>
                <a:srgbClr val="351C75"/>
              </a:solidFill>
            </a:endParaRPr>
          </a:p>
          <a:p>
            <a:pPr indent="0" lvl="0" marL="0" rtl="0" algn="l">
              <a:lnSpc>
                <a:spcPct val="115000"/>
              </a:lnSpc>
              <a:spcBef>
                <a:spcPts val="1200"/>
              </a:spcBef>
              <a:spcAft>
                <a:spcPts val="0"/>
              </a:spcAft>
              <a:buNone/>
            </a:pPr>
            <a:r>
              <a:rPr lang="vi" sz="1000">
                <a:solidFill>
                  <a:srgbClr val="351C75"/>
                </a:solidFill>
              </a:rPr>
              <a:t>—---</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000">
                <a:solidFill>
                  <a:srgbClr val="351C75"/>
                </a:solidFill>
              </a:rPr>
              <a:t>Claude, bạn là một biên phiên dịch viên chuyên nghiệp, có kinh nghiệm dịch thuật trong lĩnh vực công nghệ thông tin (IT), đặc biệt là tiếng Nhật – tiếng Việt.</a:t>
            </a:r>
            <a:endParaRPr sz="10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000">
                <a:solidFill>
                  <a:srgbClr val="351C75"/>
                </a:solidFill>
              </a:rPr>
              <a:t>Tôi cần bạn dịch tài liệu PDF đính kèm với các yêu cầu sau:</a:t>
            </a:r>
            <a:endParaRPr sz="1000">
              <a:solidFill>
                <a:srgbClr val="351C75"/>
              </a:solidFill>
            </a:endParaRPr>
          </a:p>
          <a:p>
            <a:pPr indent="-292100" lvl="0" marL="457200" rtl="0" algn="l">
              <a:lnSpc>
                <a:spcPct val="115000"/>
              </a:lnSpc>
              <a:spcBef>
                <a:spcPts val="1200"/>
              </a:spcBef>
              <a:spcAft>
                <a:spcPts val="0"/>
              </a:spcAft>
              <a:buClr>
                <a:srgbClr val="351C75"/>
              </a:buClr>
              <a:buSzPts val="1000"/>
              <a:buChar char="●"/>
            </a:pPr>
            <a:r>
              <a:rPr b="1" lang="vi" sz="1000">
                <a:solidFill>
                  <a:srgbClr val="351C75"/>
                </a:solidFill>
              </a:rPr>
              <a:t>Ngôn ngữ gốc</a:t>
            </a:r>
            <a:r>
              <a:rPr lang="vi" sz="1000">
                <a:solidFill>
                  <a:srgbClr val="351C75"/>
                </a:solidFill>
              </a:rPr>
              <a:t>: Tiếng Nhật</a:t>
            </a:r>
            <a:endParaRPr sz="1000">
              <a:solidFill>
                <a:srgbClr val="351C75"/>
              </a:solidFill>
            </a:endParaRPr>
          </a:p>
          <a:p>
            <a:pPr indent="-292100" lvl="0" marL="457200" rtl="0" algn="l">
              <a:lnSpc>
                <a:spcPct val="115000"/>
              </a:lnSpc>
              <a:spcBef>
                <a:spcPts val="0"/>
              </a:spcBef>
              <a:spcAft>
                <a:spcPts val="0"/>
              </a:spcAft>
              <a:buClr>
                <a:srgbClr val="351C75"/>
              </a:buClr>
              <a:buSzPts val="1000"/>
              <a:buChar char="●"/>
            </a:pPr>
            <a:r>
              <a:rPr b="1" lang="vi" sz="1000">
                <a:solidFill>
                  <a:srgbClr val="351C75"/>
                </a:solidFill>
              </a:rPr>
              <a:t>Ngôn ngữ đích</a:t>
            </a:r>
            <a:r>
              <a:rPr lang="vi" sz="1000">
                <a:solidFill>
                  <a:srgbClr val="351C75"/>
                </a:solidFill>
              </a:rPr>
              <a:t>: Tiếng Việt</a:t>
            </a:r>
            <a:endParaRPr sz="1000">
              <a:solidFill>
                <a:srgbClr val="351C75"/>
              </a:solidFill>
            </a:endParaRPr>
          </a:p>
          <a:p>
            <a:pPr indent="-292100" lvl="0" marL="457200" rtl="0" algn="l">
              <a:lnSpc>
                <a:spcPct val="115000"/>
              </a:lnSpc>
              <a:spcBef>
                <a:spcPts val="0"/>
              </a:spcBef>
              <a:spcAft>
                <a:spcPts val="0"/>
              </a:spcAft>
              <a:buClr>
                <a:srgbClr val="351C75"/>
              </a:buClr>
              <a:buSzPts val="1000"/>
              <a:buChar char="●"/>
            </a:pPr>
            <a:r>
              <a:rPr b="1" lang="vi" sz="1000">
                <a:solidFill>
                  <a:srgbClr val="351C75"/>
                </a:solidFill>
              </a:rPr>
              <a:t>Phạm vi dịch</a:t>
            </a:r>
            <a:r>
              <a:rPr lang="vi" sz="1000">
                <a:solidFill>
                  <a:srgbClr val="351C75"/>
                </a:solidFill>
              </a:rPr>
              <a:t>: Từ </a:t>
            </a:r>
            <a:r>
              <a:rPr b="1" lang="vi" sz="1000">
                <a:solidFill>
                  <a:srgbClr val="351C75"/>
                </a:solidFill>
              </a:rPr>
              <a:t>trang 1 đến trang 5</a:t>
            </a:r>
            <a:br>
              <a:rPr b="1" lang="vi" sz="1000">
                <a:solidFill>
                  <a:srgbClr val="351C75"/>
                </a:solidFill>
              </a:rPr>
            </a:br>
            <a:r>
              <a:rPr b="1" lang="vi" sz="1000">
                <a:solidFill>
                  <a:srgbClr val="351C75"/>
                </a:solidFill>
              </a:rPr>
              <a:t>Yêu cầu mức độ chi tiết</a:t>
            </a:r>
            <a:r>
              <a:rPr lang="vi" sz="1000">
                <a:solidFill>
                  <a:srgbClr val="351C75"/>
                </a:solidFill>
              </a:rPr>
              <a:t>:</a:t>
            </a:r>
            <a:br>
              <a:rPr lang="vi" sz="1000">
                <a:solidFill>
                  <a:srgbClr val="351C75"/>
                </a:solidFill>
              </a:rPr>
            </a:br>
            <a:r>
              <a:rPr lang="vi" sz="1000">
                <a:solidFill>
                  <a:srgbClr val="351C75"/>
                </a:solidFill>
              </a:rPr>
              <a:t> • Dịch </a:t>
            </a:r>
            <a:r>
              <a:rPr b="1" lang="vi" sz="1000">
                <a:solidFill>
                  <a:srgbClr val="351C75"/>
                </a:solidFill>
              </a:rPr>
              <a:t>chính xác từng câu, từng cụm từ</a:t>
            </a:r>
            <a:r>
              <a:rPr lang="vi" sz="1000">
                <a:solidFill>
                  <a:srgbClr val="351C75"/>
                </a:solidFill>
              </a:rPr>
              <a:t>, bao gồm cả </a:t>
            </a:r>
            <a:r>
              <a:rPr b="1" lang="vi" sz="1000">
                <a:solidFill>
                  <a:srgbClr val="351C75"/>
                </a:solidFill>
              </a:rPr>
              <a:t>đề mục</a:t>
            </a:r>
            <a:br>
              <a:rPr b="1" lang="vi" sz="1000">
                <a:solidFill>
                  <a:srgbClr val="351C75"/>
                </a:solidFill>
              </a:rPr>
            </a:br>
            <a:r>
              <a:rPr lang="vi" sz="1000">
                <a:solidFill>
                  <a:srgbClr val="351C75"/>
                </a:solidFill>
              </a:rPr>
              <a:t> • Nếu có </a:t>
            </a:r>
            <a:r>
              <a:rPr b="1" lang="vi" sz="1000">
                <a:solidFill>
                  <a:srgbClr val="351C75"/>
                </a:solidFill>
              </a:rPr>
              <a:t>hình ảnh là bảng biểu</a:t>
            </a:r>
            <a:r>
              <a:rPr lang="vi" sz="1000">
                <a:solidFill>
                  <a:srgbClr val="351C75"/>
                </a:solidFill>
              </a:rPr>
              <a:t>, hãy </a:t>
            </a:r>
            <a:r>
              <a:rPr b="1" lang="vi" sz="1000">
                <a:solidFill>
                  <a:srgbClr val="351C75"/>
                </a:solidFill>
              </a:rPr>
              <a:t>chuyển thành dạng bảng</a:t>
            </a:r>
            <a:r>
              <a:rPr lang="vi" sz="1000">
                <a:solidFill>
                  <a:srgbClr val="351C75"/>
                </a:solidFill>
              </a:rPr>
              <a:t> và dịch toàn bộ nội dung trong bảng</a:t>
            </a:r>
            <a:br>
              <a:rPr lang="vi" sz="1000">
                <a:solidFill>
                  <a:srgbClr val="351C75"/>
                </a:solidFill>
              </a:rPr>
            </a:br>
            <a:r>
              <a:rPr lang="vi" sz="1000">
                <a:solidFill>
                  <a:srgbClr val="351C75"/>
                </a:solidFill>
              </a:rPr>
              <a:t> • Nếu hình ảnh không thể hiện rõ bảng biểu, bạn chỉ cần ghi chú là (HÌNH ẢNH) để tôi xử lý sau.</a:t>
            </a:r>
            <a:endParaRPr sz="1000">
              <a:solidFill>
                <a:srgbClr val="351C75"/>
              </a:solidFill>
            </a:endParaRPr>
          </a:p>
          <a:p>
            <a:pPr indent="0" lvl="0" marL="0" rtl="0" algn="l">
              <a:lnSpc>
                <a:spcPct val="115000"/>
              </a:lnSpc>
              <a:spcBef>
                <a:spcPts val="1200"/>
              </a:spcBef>
              <a:spcAft>
                <a:spcPts val="1200"/>
              </a:spcAft>
              <a:buNone/>
            </a:pPr>
            <a:r>
              <a:rPr lang="vi" sz="1000">
                <a:solidFill>
                  <a:srgbClr val="351C75"/>
                </a:solidFill>
              </a:rPr>
              <a:t>Bắt đầu dịch nội dung từ tài liệu PDF đính kèm. </a:t>
            </a:r>
            <a:endParaRPr sz="1000">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A2F47"/>
        </a:solidFill>
      </p:bgPr>
    </p:bg>
    <p:spTree>
      <p:nvGrpSpPr>
        <p:cNvPr id="714" name="Shape 714"/>
        <p:cNvGrpSpPr/>
        <p:nvPr/>
      </p:nvGrpSpPr>
      <p:grpSpPr>
        <a:xfrm>
          <a:off x="0" y="0"/>
          <a:ext cx="0" cy="0"/>
          <a:chOff x="0" y="0"/>
          <a:chExt cx="0" cy="0"/>
        </a:xfrm>
      </p:grpSpPr>
      <p:sp>
        <p:nvSpPr>
          <p:cNvPr id="715" name="Google Shape;715;p109"/>
          <p:cNvSpPr txBox="1"/>
          <p:nvPr/>
        </p:nvSpPr>
        <p:spPr>
          <a:xfrm>
            <a:off x="160950" y="276450"/>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Thực hành</a:t>
            </a:r>
            <a:endParaRPr sz="3600">
              <a:solidFill>
                <a:srgbClr val="351C75"/>
              </a:solidFill>
            </a:endParaRPr>
          </a:p>
        </p:txBody>
      </p:sp>
      <p:sp>
        <p:nvSpPr>
          <p:cNvPr id="716" name="Google Shape;716;p109"/>
          <p:cNvSpPr/>
          <p:nvPr/>
        </p:nvSpPr>
        <p:spPr>
          <a:xfrm>
            <a:off x="512000" y="1071300"/>
            <a:ext cx="8115300" cy="3193800"/>
          </a:xfrm>
          <a:prstGeom prst="roundRect">
            <a:avLst>
              <a:gd fmla="val 16667" name="adj"/>
            </a:avLst>
          </a:prstGeom>
          <a:solidFill>
            <a:srgbClr val="FF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vi" sz="1600">
                <a:solidFill>
                  <a:srgbClr val="351C75"/>
                </a:solidFill>
              </a:rPr>
              <a:t>Chạy dịch tài liệu PDF sau sang tiếng Việt, sử dụng Claude.</a:t>
            </a:r>
            <a:endParaRPr sz="1600">
              <a:solidFill>
                <a:srgbClr val="351C75"/>
              </a:solidFill>
            </a:endParaRPr>
          </a:p>
          <a:p>
            <a:pPr indent="0" lvl="0" marL="0" rtl="0" algn="l">
              <a:spcBef>
                <a:spcPts val="0"/>
              </a:spcBef>
              <a:spcAft>
                <a:spcPts val="0"/>
              </a:spcAft>
              <a:buNone/>
            </a:pPr>
            <a:r>
              <a:rPr lang="vi" sz="1600">
                <a:solidFill>
                  <a:srgbClr val="351C75"/>
                </a:solidFill>
              </a:rPr>
              <a:t> </a:t>
            </a:r>
            <a:endParaRPr sz="1600">
              <a:solidFill>
                <a:srgbClr val="351C75"/>
              </a:solidFill>
            </a:endParaRPr>
          </a:p>
          <a:p>
            <a:pPr indent="0" lvl="0" marL="0" rtl="0" algn="l">
              <a:spcBef>
                <a:spcPts val="0"/>
              </a:spcBef>
              <a:spcAft>
                <a:spcPts val="0"/>
              </a:spcAft>
              <a:buNone/>
            </a:pPr>
            <a:r>
              <a:rPr lang="vi" sz="1600" u="sng">
                <a:solidFill>
                  <a:schemeClr val="hlink"/>
                </a:solidFill>
                <a:hlinkClick r:id="rId3"/>
              </a:rPr>
              <a:t>https://drive.google.com/file/d/16Lg_cjGYYWevQb6HcXPG2D6r5JigW3e4/view?usp=sharing</a:t>
            </a:r>
            <a:r>
              <a:rPr lang="vi" sz="1600">
                <a:solidFill>
                  <a:srgbClr val="351C75"/>
                </a:solidFill>
              </a:rPr>
              <a:t> </a:t>
            </a:r>
            <a:endParaRPr sz="1600">
              <a:solidFill>
                <a:srgbClr val="351C75"/>
              </a:solidFill>
            </a:endParaRPr>
          </a:p>
          <a:p>
            <a:pPr indent="0" lvl="0" marL="0" rtl="0" algn="l">
              <a:spcBef>
                <a:spcPts val="0"/>
              </a:spcBef>
              <a:spcAft>
                <a:spcPts val="0"/>
              </a:spcAft>
              <a:buNone/>
            </a:pPr>
            <a:r>
              <a:t/>
            </a:r>
            <a:endParaRPr sz="1600">
              <a:solidFill>
                <a:srgbClr val="351C75"/>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110"/>
          <p:cNvSpPr txBox="1"/>
          <p:nvPr/>
        </p:nvSpPr>
        <p:spPr>
          <a:xfrm>
            <a:off x="327131" y="167991"/>
            <a:ext cx="5166300" cy="554100"/>
          </a:xfrm>
          <a:prstGeom prst="rect">
            <a:avLst/>
          </a:prstGeom>
          <a:noFill/>
          <a:ln>
            <a:noFill/>
          </a:ln>
        </p:spPr>
        <p:txBody>
          <a:bodyPr anchorCtr="0" anchor="t" bIns="68575" lIns="68575" spcFirstLastPara="1" rIns="68575" wrap="square" tIns="68575">
            <a:spAutoFit/>
          </a:bodyPr>
          <a:lstStyle/>
          <a:p>
            <a:pPr indent="0" lvl="0" marL="0" rtl="0" algn="ctr">
              <a:lnSpc>
                <a:spcPct val="115000"/>
              </a:lnSpc>
              <a:spcBef>
                <a:spcPts val="1400"/>
              </a:spcBef>
              <a:spcAft>
                <a:spcPts val="500"/>
              </a:spcAft>
              <a:buNone/>
            </a:pPr>
            <a:r>
              <a:rPr b="1" lang="vi" sz="2700">
                <a:solidFill>
                  <a:srgbClr val="351C75"/>
                </a:solidFill>
              </a:rPr>
              <a:t>Bài 4: Dùng Script </a:t>
            </a:r>
            <a:r>
              <a:rPr b="1" lang="vi" sz="1400">
                <a:solidFill>
                  <a:srgbClr val="351C75"/>
                </a:solidFill>
              </a:rPr>
              <a:t>(phù hợp Excel, Slide)</a:t>
            </a:r>
            <a:endParaRPr b="1" sz="1400">
              <a:solidFill>
                <a:srgbClr val="351C75"/>
              </a:solidFill>
            </a:endParaRPr>
          </a:p>
        </p:txBody>
      </p:sp>
      <p:sp>
        <p:nvSpPr>
          <p:cNvPr id="722" name="Google Shape;722;p110"/>
          <p:cNvSpPr/>
          <p:nvPr/>
        </p:nvSpPr>
        <p:spPr>
          <a:xfrm>
            <a:off x="676144" y="722813"/>
            <a:ext cx="8196600" cy="4116000"/>
          </a:xfrm>
          <a:prstGeom prst="roundRect">
            <a:avLst>
              <a:gd fmla="val 16667" name="adj"/>
            </a:avLst>
          </a:prstGeom>
          <a:solidFill>
            <a:srgbClr val="FFF5F5"/>
          </a:solidFill>
          <a:ln cap="flat" cmpd="sng" w="7150">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lnSpc>
                <a:spcPct val="115000"/>
              </a:lnSpc>
              <a:spcBef>
                <a:spcPts val="1100"/>
              </a:spcBef>
              <a:spcAft>
                <a:spcPts val="0"/>
              </a:spcAft>
              <a:buNone/>
            </a:pPr>
            <a:r>
              <a:rPr b="1" lang="vi" sz="1400">
                <a:solidFill>
                  <a:srgbClr val="351C75"/>
                </a:solidFill>
              </a:rPr>
              <a:t>✅ Hướng dẫn sử dụng:</a:t>
            </a:r>
            <a:endParaRPr b="1" sz="1400">
              <a:solidFill>
                <a:srgbClr val="351C75"/>
              </a:solidFill>
            </a:endParaRPr>
          </a:p>
          <a:p>
            <a:pPr indent="0" lvl="0" marL="0" rtl="0" algn="l">
              <a:lnSpc>
                <a:spcPct val="115000"/>
              </a:lnSpc>
              <a:spcBef>
                <a:spcPts val="1100"/>
              </a:spcBef>
              <a:spcAft>
                <a:spcPts val="0"/>
              </a:spcAft>
              <a:buNone/>
            </a:pPr>
            <a:r>
              <a:rPr b="1" lang="vi" sz="1400">
                <a:solidFill>
                  <a:srgbClr val="351C75"/>
                </a:solidFill>
              </a:rPr>
              <a:t>File Script: </a:t>
            </a:r>
            <a:r>
              <a:rPr b="1" lang="vi" sz="1400" u="sng">
                <a:solidFill>
                  <a:srgbClr val="351C75"/>
                </a:solidFill>
                <a:hlinkClick r:id="rId3">
                  <a:extLst>
                    <a:ext uri="{A12FA001-AC4F-418D-AE19-62706E023703}">
                      <ahyp:hlinkClr val="tx"/>
                    </a:ext>
                  </a:extLst>
                </a:hlinkClick>
              </a:rPr>
              <a:t>https://docs.google.com/spreadsheets/d/1P41SgnpqNRLUWzJZAwK5TqRvSBAKWH-w/edit?usp=sharing&amp;ouid=104416917441975431198&amp;rtpof=true&amp;sd=true</a:t>
            </a:r>
            <a:r>
              <a:rPr b="1" lang="vi" sz="1400">
                <a:solidFill>
                  <a:srgbClr val="351C75"/>
                </a:solidFill>
              </a:rPr>
              <a:t> </a:t>
            </a:r>
            <a:endParaRPr b="1" sz="1400">
              <a:solidFill>
                <a:srgbClr val="351C75"/>
              </a:solidFill>
            </a:endParaRPr>
          </a:p>
          <a:p>
            <a:pPr indent="-254000" lvl="0" marL="342900" rtl="0" algn="l">
              <a:lnSpc>
                <a:spcPct val="115000"/>
              </a:lnSpc>
              <a:spcBef>
                <a:spcPts val="900"/>
              </a:spcBef>
              <a:spcAft>
                <a:spcPts val="0"/>
              </a:spcAft>
              <a:buClr>
                <a:srgbClr val="351C75"/>
              </a:buClr>
              <a:buSzPts val="1400"/>
              <a:buAutoNum type="arabicPeriod"/>
            </a:pPr>
            <a:r>
              <a:rPr lang="vi" sz="1400">
                <a:solidFill>
                  <a:srgbClr val="351C75"/>
                </a:solidFill>
              </a:rPr>
              <a:t>Mở Google Sheets của bạn</a:t>
            </a:r>
            <a:endParaRPr sz="1400">
              <a:solidFill>
                <a:srgbClr val="351C75"/>
              </a:solidFill>
            </a:endParaRPr>
          </a:p>
          <a:p>
            <a:pPr indent="-254000" lvl="0" marL="342900" rtl="0" algn="l">
              <a:lnSpc>
                <a:spcPct val="115000"/>
              </a:lnSpc>
              <a:spcBef>
                <a:spcPts val="0"/>
              </a:spcBef>
              <a:spcAft>
                <a:spcPts val="0"/>
              </a:spcAft>
              <a:buClr>
                <a:srgbClr val="351C75"/>
              </a:buClr>
              <a:buSzPts val="1400"/>
              <a:buAutoNum type="arabicPeriod"/>
            </a:pPr>
            <a:r>
              <a:rPr lang="vi" sz="1400">
                <a:solidFill>
                  <a:srgbClr val="351C75"/>
                </a:solidFill>
              </a:rPr>
              <a:t>Vào </a:t>
            </a:r>
            <a:r>
              <a:rPr b="1" lang="vi" sz="1400">
                <a:solidFill>
                  <a:srgbClr val="351C75"/>
                </a:solidFill>
              </a:rPr>
              <a:t>Tiện ích mở rộng (Extensions)</a:t>
            </a:r>
            <a:r>
              <a:rPr lang="vi" sz="1400">
                <a:solidFill>
                  <a:srgbClr val="351C75"/>
                </a:solidFill>
              </a:rPr>
              <a:t> → </a:t>
            </a:r>
            <a:r>
              <a:rPr b="1" lang="vi" sz="1400">
                <a:solidFill>
                  <a:srgbClr val="351C75"/>
                </a:solidFill>
              </a:rPr>
              <a:t>Apps Script</a:t>
            </a:r>
            <a:endParaRPr b="1" sz="1400">
              <a:solidFill>
                <a:srgbClr val="351C75"/>
              </a:solidFill>
            </a:endParaRPr>
          </a:p>
          <a:p>
            <a:pPr indent="-254000" lvl="0" marL="342900" rtl="0" algn="l">
              <a:lnSpc>
                <a:spcPct val="115000"/>
              </a:lnSpc>
              <a:spcBef>
                <a:spcPts val="0"/>
              </a:spcBef>
              <a:spcAft>
                <a:spcPts val="0"/>
              </a:spcAft>
              <a:buClr>
                <a:srgbClr val="351C75"/>
              </a:buClr>
              <a:buSzPts val="1400"/>
              <a:buAutoNum type="arabicPeriod"/>
            </a:pPr>
            <a:r>
              <a:rPr lang="vi" sz="1400">
                <a:solidFill>
                  <a:srgbClr val="351C75"/>
                </a:solidFill>
              </a:rPr>
              <a:t>Xóa toàn bộ nội dung cũ (nếu có) trong </a:t>
            </a:r>
            <a:r>
              <a:rPr lang="vi" sz="1400">
                <a:solidFill>
                  <a:srgbClr val="351C75"/>
                </a:solidFill>
                <a:latin typeface="Roboto Mono"/>
                <a:ea typeface="Roboto Mono"/>
                <a:cs typeface="Roboto Mono"/>
                <a:sym typeface="Roboto Mono"/>
              </a:rPr>
              <a:t>Mã.gs</a:t>
            </a:r>
            <a:r>
              <a:rPr lang="vi" sz="1400">
                <a:solidFill>
                  <a:srgbClr val="351C75"/>
                </a:solidFill>
              </a:rPr>
              <a:t>, dán đoạn mã trên vào</a:t>
            </a:r>
            <a:endParaRPr sz="1400">
              <a:solidFill>
                <a:srgbClr val="351C75"/>
              </a:solidFill>
            </a:endParaRPr>
          </a:p>
          <a:p>
            <a:pPr indent="-254000" lvl="0" marL="342900" rtl="0" algn="l">
              <a:lnSpc>
                <a:spcPct val="115000"/>
              </a:lnSpc>
              <a:spcBef>
                <a:spcPts val="0"/>
              </a:spcBef>
              <a:spcAft>
                <a:spcPts val="0"/>
              </a:spcAft>
              <a:buClr>
                <a:srgbClr val="351C75"/>
              </a:buClr>
              <a:buSzPts val="1400"/>
              <a:buAutoNum type="arabicPeriod"/>
            </a:pPr>
            <a:r>
              <a:rPr lang="vi" sz="1400">
                <a:solidFill>
                  <a:srgbClr val="351C75"/>
                </a:solidFill>
              </a:rPr>
              <a:t>Nhấn </a:t>
            </a:r>
            <a:r>
              <a:rPr b="1" lang="vi" sz="1400">
                <a:solidFill>
                  <a:srgbClr val="351C75"/>
                </a:solidFill>
              </a:rPr>
              <a:t>Lưu</a:t>
            </a:r>
            <a:r>
              <a:rPr lang="vi" sz="1400">
                <a:solidFill>
                  <a:srgbClr val="351C75"/>
                </a:solidFill>
              </a:rPr>
              <a:t> (Ctrl + S)</a:t>
            </a:r>
            <a:endParaRPr sz="1400">
              <a:solidFill>
                <a:srgbClr val="351C75"/>
              </a:solidFill>
            </a:endParaRPr>
          </a:p>
          <a:p>
            <a:pPr indent="-254000" lvl="0" marL="342900" rtl="0" algn="l">
              <a:lnSpc>
                <a:spcPct val="115000"/>
              </a:lnSpc>
              <a:spcBef>
                <a:spcPts val="0"/>
              </a:spcBef>
              <a:spcAft>
                <a:spcPts val="0"/>
              </a:spcAft>
              <a:buClr>
                <a:srgbClr val="351C75"/>
              </a:buClr>
              <a:buSzPts val="1400"/>
              <a:buAutoNum type="arabicPeriod"/>
            </a:pPr>
            <a:r>
              <a:rPr lang="vi" sz="1400">
                <a:solidFill>
                  <a:srgbClr val="351C75"/>
                </a:solidFill>
              </a:rPr>
              <a:t>Tải lại Google Sheets</a:t>
            </a:r>
            <a:endParaRPr sz="1400">
              <a:solidFill>
                <a:srgbClr val="351C75"/>
              </a:solidFill>
            </a:endParaRPr>
          </a:p>
          <a:p>
            <a:pPr indent="-254000" lvl="0" marL="342900" rtl="0" algn="l">
              <a:lnSpc>
                <a:spcPct val="115000"/>
              </a:lnSpc>
              <a:spcBef>
                <a:spcPts val="0"/>
              </a:spcBef>
              <a:spcAft>
                <a:spcPts val="0"/>
              </a:spcAft>
              <a:buClr>
                <a:srgbClr val="351C75"/>
              </a:buClr>
              <a:buSzPts val="1400"/>
              <a:buAutoNum type="arabicPeriod"/>
            </a:pPr>
            <a:r>
              <a:rPr lang="vi" sz="1400">
                <a:solidFill>
                  <a:srgbClr val="351C75"/>
                </a:solidFill>
              </a:rPr>
              <a:t>Bạn sẽ thấy menu </a:t>
            </a:r>
            <a:r>
              <a:rPr b="1" lang="vi" sz="1400">
                <a:solidFill>
                  <a:srgbClr val="351C75"/>
                </a:solidFill>
              </a:rPr>
              <a:t>Translate</a:t>
            </a:r>
            <a:r>
              <a:rPr lang="vi" sz="1400">
                <a:solidFill>
                  <a:srgbClr val="351C75"/>
                </a:solidFill>
              </a:rPr>
              <a:t> xuất hiện trên thanh công cụ</a:t>
            </a:r>
            <a:endParaRPr sz="1400">
              <a:solidFill>
                <a:srgbClr val="351C75"/>
              </a:solidFill>
            </a:endParaRPr>
          </a:p>
          <a:p>
            <a:pPr indent="-254000" lvl="0" marL="342900" rtl="0" algn="l">
              <a:lnSpc>
                <a:spcPct val="115000"/>
              </a:lnSpc>
              <a:spcBef>
                <a:spcPts val="0"/>
              </a:spcBef>
              <a:spcAft>
                <a:spcPts val="0"/>
              </a:spcAft>
              <a:buClr>
                <a:srgbClr val="351C75"/>
              </a:buClr>
              <a:buSzPts val="1400"/>
              <a:buAutoNum type="arabicPeriod"/>
            </a:pPr>
            <a:r>
              <a:rPr lang="vi" sz="1400">
                <a:solidFill>
                  <a:srgbClr val="351C75"/>
                </a:solidFill>
              </a:rPr>
              <a:t>Chọn một trong các mục để dịch theo nhu cầu:</a:t>
            </a:r>
            <a:endParaRPr sz="1400">
              <a:solidFill>
                <a:srgbClr val="351C75"/>
              </a:solidFill>
            </a:endParaRPr>
          </a:p>
          <a:p>
            <a:pPr indent="0" lvl="0" marL="0" rtl="0" algn="l">
              <a:lnSpc>
                <a:spcPct val="115000"/>
              </a:lnSpc>
              <a:spcBef>
                <a:spcPts val="900"/>
              </a:spcBef>
              <a:spcAft>
                <a:spcPts val="900"/>
              </a:spcAft>
              <a:buNone/>
            </a:pPr>
            <a:r>
              <a:rPr lang="vi" sz="1400">
                <a:solidFill>
                  <a:srgbClr val="351C75"/>
                </a:solidFill>
              </a:rPr>
              <a:t>8.  Bấm </a:t>
            </a:r>
            <a:r>
              <a:rPr b="1" lang="vi" sz="1400">
                <a:solidFill>
                  <a:srgbClr val="351C75"/>
                </a:solidFill>
              </a:rPr>
              <a:t>"Nâng cao" → "Đi tới... (không an toàn)" → "Cho phép"</a:t>
            </a:r>
            <a:r>
              <a:rPr lang="vi" sz="1400">
                <a:solidFill>
                  <a:srgbClr val="351C75"/>
                </a:solidFill>
              </a:rPr>
              <a:t> là xong.</a:t>
            </a:r>
            <a:endParaRPr sz="1400">
              <a:solidFill>
                <a:srgbClr val="351C75"/>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111"/>
          <p:cNvSpPr txBox="1"/>
          <p:nvPr/>
        </p:nvSpPr>
        <p:spPr>
          <a:xfrm>
            <a:off x="327131" y="167991"/>
            <a:ext cx="5166300" cy="554100"/>
          </a:xfrm>
          <a:prstGeom prst="rect">
            <a:avLst/>
          </a:prstGeom>
          <a:noFill/>
          <a:ln>
            <a:noFill/>
          </a:ln>
        </p:spPr>
        <p:txBody>
          <a:bodyPr anchorCtr="0" anchor="t" bIns="68575" lIns="68575" spcFirstLastPara="1" rIns="68575" wrap="square" tIns="68575">
            <a:spAutoFit/>
          </a:bodyPr>
          <a:lstStyle/>
          <a:p>
            <a:pPr indent="0" lvl="0" marL="0" rtl="0" algn="ctr">
              <a:lnSpc>
                <a:spcPct val="115000"/>
              </a:lnSpc>
              <a:spcBef>
                <a:spcPts val="1400"/>
              </a:spcBef>
              <a:spcAft>
                <a:spcPts val="500"/>
              </a:spcAft>
              <a:buNone/>
            </a:pPr>
            <a:r>
              <a:rPr b="1" lang="vi" sz="2700">
                <a:solidFill>
                  <a:srgbClr val="351C75"/>
                </a:solidFill>
              </a:rPr>
              <a:t>Một số từ dễ hiểu sai</a:t>
            </a:r>
            <a:endParaRPr b="1" sz="1400">
              <a:solidFill>
                <a:srgbClr val="351C75"/>
              </a:solidFill>
            </a:endParaRPr>
          </a:p>
        </p:txBody>
      </p:sp>
      <p:sp>
        <p:nvSpPr>
          <p:cNvPr id="728" name="Google Shape;728;p111"/>
          <p:cNvSpPr txBox="1"/>
          <p:nvPr/>
        </p:nvSpPr>
        <p:spPr>
          <a:xfrm>
            <a:off x="1143000" y="885250"/>
            <a:ext cx="6858000" cy="656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vi" sz="1100">
                <a:solidFill>
                  <a:schemeClr val="dk1"/>
                </a:solidFill>
              </a:rPr>
              <a:t>Trong tiếng Nhật, </a:t>
            </a:r>
            <a:r>
              <a:rPr b="1" lang="vi" sz="1100">
                <a:solidFill>
                  <a:schemeClr val="dk1"/>
                </a:solidFill>
              </a:rPr>
              <a:t>「３回未満」</a:t>
            </a:r>
            <a:r>
              <a:rPr lang="vi" sz="1100">
                <a:solidFill>
                  <a:schemeClr val="dk1"/>
                </a:solidFill>
              </a:rPr>
              <a:t> được hiểu </a:t>
            </a:r>
            <a:r>
              <a:rPr b="1" lang="vi" sz="1100">
                <a:solidFill>
                  <a:schemeClr val="dk1"/>
                </a:solidFill>
              </a:rPr>
              <a:t>chính xác là:</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 sz="1100">
                <a:solidFill>
                  <a:schemeClr val="dk1"/>
                </a:solidFill>
              </a:rPr>
              <a:t>👉 </a:t>
            </a:r>
            <a:r>
              <a:rPr b="1" lang="vi" sz="1100">
                <a:solidFill>
                  <a:schemeClr val="dk1"/>
                </a:solidFill>
              </a:rPr>
              <a:t>dưới 3 lần</a:t>
            </a:r>
            <a:r>
              <a:rPr lang="vi" sz="1100">
                <a:solidFill>
                  <a:schemeClr val="dk1"/>
                </a:solidFill>
              </a:rPr>
              <a:t>, tức là </a:t>
            </a:r>
            <a:r>
              <a:rPr b="1" lang="vi" sz="1100">
                <a:solidFill>
                  <a:schemeClr val="dk1"/>
                </a:solidFill>
              </a:rPr>
              <a:t>&lt; 3 lần</a:t>
            </a:r>
            <a:br>
              <a:rPr b="1" lang="vi" sz="1100">
                <a:solidFill>
                  <a:schemeClr val="dk1"/>
                </a:solidFill>
              </a:rPr>
            </a:br>
            <a:r>
              <a:rPr lang="vi" sz="1100">
                <a:solidFill>
                  <a:schemeClr val="dk1"/>
                </a:solidFill>
              </a:rPr>
              <a:t> 👉 </a:t>
            </a:r>
            <a:r>
              <a:rPr b="1" lang="vi" sz="1100">
                <a:solidFill>
                  <a:schemeClr val="dk1"/>
                </a:solidFill>
              </a:rPr>
              <a:t>KHÔNG bao gồm 3 lần</a:t>
            </a:r>
            <a:endParaRPr b="1"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vi" sz="1300">
                <a:solidFill>
                  <a:schemeClr val="dk1"/>
                </a:solidFill>
              </a:rPr>
              <a:t>Giải thích ngắn gọn</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vi" sz="1100">
                <a:solidFill>
                  <a:schemeClr val="dk1"/>
                </a:solidFill>
              </a:rPr>
              <a:t>未満（みまん）</a:t>
            </a:r>
            <a:r>
              <a:rPr lang="vi" sz="1100">
                <a:solidFill>
                  <a:schemeClr val="dk1"/>
                </a:solidFill>
              </a:rPr>
              <a:t> = </a:t>
            </a:r>
            <a:r>
              <a:rPr i="1" lang="vi" sz="1100">
                <a:solidFill>
                  <a:schemeClr val="dk1"/>
                </a:solidFill>
              </a:rPr>
              <a:t>chưa đến / nhỏ hơn</a:t>
            </a:r>
            <a:br>
              <a:rPr i="1" lang="vi" sz="1100">
                <a:solidFill>
                  <a:schemeClr val="dk1"/>
                </a:solidFill>
              </a:rPr>
            </a:br>
            <a:endParaRPr i="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vi" sz="1100">
                <a:solidFill>
                  <a:schemeClr val="dk1"/>
                </a:solidFill>
              </a:rPr>
              <a:t>Vì vậy:</a:t>
            </a:r>
            <a:br>
              <a:rPr lang="vi" sz="1100">
                <a:solidFill>
                  <a:schemeClr val="dk1"/>
                </a:solidFill>
              </a:rPr>
            </a:b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vi" sz="1100">
                <a:solidFill>
                  <a:schemeClr val="dk1"/>
                </a:solidFill>
              </a:rPr>
              <a:t>0, 1, 2 lần → ✅ </a:t>
            </a:r>
            <a:r>
              <a:rPr b="1" lang="vi" sz="1100">
                <a:solidFill>
                  <a:schemeClr val="dk1"/>
                </a:solidFill>
              </a:rPr>
              <a:t>３回未満</a:t>
            </a:r>
            <a:br>
              <a:rPr b="1" lang="vi" sz="1100">
                <a:solidFill>
                  <a:schemeClr val="dk1"/>
                </a:solidFill>
              </a:rPr>
            </a:b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vi" sz="1100">
                <a:solidFill>
                  <a:schemeClr val="dk1"/>
                </a:solidFill>
              </a:rPr>
              <a:t>3 lần → ❌ </a:t>
            </a:r>
            <a:r>
              <a:rPr b="1" lang="vi" sz="1100">
                <a:solidFill>
                  <a:schemeClr val="dk1"/>
                </a:solidFill>
              </a:rPr>
              <a:t>không phải ３回未満</a:t>
            </a:r>
            <a:br>
              <a:rPr b="1" lang="vi" sz="1100">
                <a:solidFill>
                  <a:schemeClr val="dk1"/>
                </a:solidFill>
              </a:rPr>
            </a:br>
            <a:endParaRPr b="1"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vi" sz="1300">
                <a:solidFill>
                  <a:schemeClr val="dk1"/>
                </a:solidFill>
              </a:rPr>
              <a:t>So sánh để tránh nhầm</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vi" sz="1100">
                <a:solidFill>
                  <a:schemeClr val="dk1"/>
                </a:solidFill>
              </a:rPr>
              <a:t>３回未満</a:t>
            </a:r>
            <a:r>
              <a:rPr lang="vi" sz="1100">
                <a:solidFill>
                  <a:schemeClr val="dk1"/>
                </a:solidFill>
              </a:rPr>
              <a:t> → </a:t>
            </a:r>
            <a:r>
              <a:rPr lang="vi" sz="1100">
                <a:solidFill>
                  <a:srgbClr val="188038"/>
                </a:solidFill>
                <a:latin typeface="Roboto Mono"/>
                <a:ea typeface="Roboto Mono"/>
                <a:cs typeface="Roboto Mono"/>
                <a:sym typeface="Roboto Mono"/>
              </a:rPr>
              <a:t>&lt; 3</a:t>
            </a:r>
            <a:br>
              <a:rPr lang="vi"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Clr>
                <a:schemeClr val="dk1"/>
              </a:buClr>
              <a:buSzPts val="1100"/>
              <a:buChar char="●"/>
            </a:pPr>
            <a:r>
              <a:rPr b="1" lang="vi" sz="1100">
                <a:solidFill>
                  <a:schemeClr val="dk1"/>
                </a:solidFill>
              </a:rPr>
              <a:t>３回以下</a:t>
            </a:r>
            <a:r>
              <a:rPr lang="vi" sz="1100">
                <a:solidFill>
                  <a:schemeClr val="dk1"/>
                </a:solidFill>
              </a:rPr>
              <a:t> → </a:t>
            </a:r>
            <a:r>
              <a:rPr lang="vi" sz="1100">
                <a:solidFill>
                  <a:srgbClr val="188038"/>
                </a:solidFill>
                <a:latin typeface="Roboto Mono"/>
                <a:ea typeface="Roboto Mono"/>
                <a:cs typeface="Roboto Mono"/>
                <a:sym typeface="Roboto Mono"/>
              </a:rPr>
              <a:t>≤ 3</a:t>
            </a:r>
            <a:br>
              <a:rPr lang="vi"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lang="vi" sz="1100">
                <a:solidFill>
                  <a:schemeClr val="dk1"/>
                </a:solidFill>
              </a:rPr>
              <a:t>📌 Trong spec / logic hệ thống, nếu khách ghi </a:t>
            </a:r>
            <a:r>
              <a:rPr b="1" lang="vi" sz="1100">
                <a:solidFill>
                  <a:schemeClr val="dk1"/>
                </a:solidFill>
              </a:rPr>
              <a:t>３回未満</a:t>
            </a:r>
            <a:r>
              <a:rPr lang="vi" sz="1100">
                <a:solidFill>
                  <a:schemeClr val="dk1"/>
                </a:solidFill>
              </a:rPr>
              <a:t> thì </a:t>
            </a:r>
            <a:r>
              <a:rPr b="1" lang="vi" sz="1100">
                <a:solidFill>
                  <a:schemeClr val="dk1"/>
                </a:solidFill>
              </a:rPr>
              <a:t>phải implement điều kiện </a:t>
            </a:r>
            <a:r>
              <a:rPr b="1" lang="vi" sz="1100">
                <a:solidFill>
                  <a:srgbClr val="188038"/>
                </a:solidFill>
                <a:latin typeface="Roboto Mono"/>
                <a:ea typeface="Roboto Mono"/>
                <a:cs typeface="Roboto Mono"/>
                <a:sym typeface="Roboto Mono"/>
              </a:rPr>
              <a:t>&lt; 3</a:t>
            </a:r>
            <a:r>
              <a:rPr lang="vi" sz="1100">
                <a:solidFill>
                  <a:schemeClr val="dk1"/>
                </a:solidFill>
              </a:rPr>
              <a:t>, không được tính 3.</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 sz="1100">
                <a:solidFill>
                  <a:schemeClr val="dk1"/>
                </a:solidFill>
              </a:rPr>
              <a:t>Nếu bạn đang gặp case:</a:t>
            </a:r>
            <a:endParaRPr sz="11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vi" sz="1100">
                <a:solidFill>
                  <a:schemeClr val="dk1"/>
                </a:solidFill>
              </a:rPr>
              <a:t>「３回未満だとINCになる」</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 sz="1100">
                <a:solidFill>
                  <a:schemeClr val="dk1"/>
                </a:solidFill>
              </a:rPr>
              <a:t>thì logic đúng phải là:</a:t>
            </a:r>
            <a:endParaRPr sz="1100">
              <a:solidFill>
                <a:schemeClr val="dk1"/>
              </a:solidFill>
            </a:endParaRPr>
          </a:p>
          <a:p>
            <a:pPr indent="0" lvl="0" marL="0" rtl="0" algn="l">
              <a:spcBef>
                <a:spcPts val="1200"/>
              </a:spcBef>
              <a:spcAft>
                <a:spcPts val="0"/>
              </a:spcAft>
              <a:buClr>
                <a:schemeClr val="dk1"/>
              </a:buClr>
              <a:buSzPts val="1100"/>
              <a:buFont typeface="Arial"/>
              <a:buNone/>
            </a:pPr>
            <a:r>
              <a:rPr lang="vi"/>
              <a:t>if 回数 &lt; 3 → INC</a:t>
            </a:r>
            <a:endParaRPr/>
          </a:p>
          <a:p>
            <a:pPr indent="0" lvl="0" marL="0" rtl="0" algn="l">
              <a:spcBef>
                <a:spcPts val="0"/>
              </a:spcBef>
              <a:spcAft>
                <a:spcPts val="0"/>
              </a:spcAft>
              <a:buNone/>
            </a:pPr>
            <a:r>
              <a:rPr lang="vi"/>
              <a:t>else → NOT INC</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112"/>
          <p:cNvSpPr txBox="1"/>
          <p:nvPr/>
        </p:nvSpPr>
        <p:spPr>
          <a:xfrm>
            <a:off x="160950" y="1934500"/>
            <a:ext cx="8822100" cy="738900"/>
          </a:xfrm>
          <a:prstGeom prst="rect">
            <a:avLst/>
          </a:prstGeom>
          <a:solidFill>
            <a:srgbClr val="CA2F47"/>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chemeClr val="lt1"/>
                </a:solidFill>
              </a:rPr>
              <a:t>Kết luận</a:t>
            </a:r>
            <a:endParaRPr b="1" sz="3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13"/>
          <p:cNvSpPr txBox="1"/>
          <p:nvPr/>
        </p:nvSpPr>
        <p:spPr>
          <a:xfrm>
            <a:off x="466922" y="501725"/>
            <a:ext cx="8022000" cy="4406400"/>
          </a:xfrm>
          <a:prstGeom prst="rect">
            <a:avLst/>
          </a:prstGeom>
          <a:solidFill>
            <a:srgbClr val="FFFFFF"/>
          </a:solidFill>
          <a:ln>
            <a:noFill/>
          </a:ln>
        </p:spPr>
        <p:txBody>
          <a:bodyPr anchorCtr="0" anchor="t" bIns="0" lIns="0" spcFirstLastPara="1" rIns="0" wrap="square" tIns="0">
            <a:normAutofit/>
          </a:bodyPr>
          <a:lstStyle/>
          <a:p>
            <a:pPr indent="0" lvl="0" marL="0" rtl="0" algn="l">
              <a:spcBef>
                <a:spcPts val="0"/>
              </a:spcBef>
              <a:spcAft>
                <a:spcPts val="0"/>
              </a:spcAft>
              <a:buNone/>
            </a:pPr>
            <a:r>
              <a:rPr b="1" lang="vi" sz="3104">
                <a:solidFill>
                  <a:srgbClr val="CA2F47"/>
                </a:solidFill>
                <a:latin typeface="Manrope ExtraBold"/>
                <a:ea typeface="Manrope ExtraBold"/>
                <a:cs typeface="Manrope ExtraBold"/>
                <a:sym typeface="Manrope ExtraBold"/>
              </a:rPr>
              <a:t>                             </a:t>
            </a:r>
            <a:endParaRPr b="1" sz="3104">
              <a:solidFill>
                <a:srgbClr val="CA2F47"/>
              </a:solidFill>
              <a:latin typeface="Manrope ExtraBold"/>
              <a:ea typeface="Manrope ExtraBold"/>
              <a:cs typeface="Manrope ExtraBold"/>
              <a:sym typeface="Manrope ExtraBold"/>
            </a:endParaRPr>
          </a:p>
        </p:txBody>
      </p:sp>
      <p:sp>
        <p:nvSpPr>
          <p:cNvPr id="739" name="Google Shape;739;p113"/>
          <p:cNvSpPr txBox="1"/>
          <p:nvPr/>
        </p:nvSpPr>
        <p:spPr>
          <a:xfrm>
            <a:off x="603024" y="501725"/>
            <a:ext cx="7246800" cy="578400"/>
          </a:xfrm>
          <a:prstGeom prst="rect">
            <a:avLst/>
          </a:prstGeom>
          <a:noFill/>
          <a:ln>
            <a:noFill/>
          </a:ln>
        </p:spPr>
        <p:txBody>
          <a:bodyPr anchorCtr="0" anchor="ctr" bIns="0" lIns="0" spcFirstLastPara="1" rIns="0" wrap="square" tIns="0">
            <a:normAutofit lnSpcReduction="20000"/>
          </a:bodyPr>
          <a:lstStyle/>
          <a:p>
            <a:pPr indent="0" lvl="0" marL="0" rtl="0" algn="l">
              <a:spcBef>
                <a:spcPts val="0"/>
              </a:spcBef>
              <a:spcAft>
                <a:spcPts val="0"/>
              </a:spcAft>
              <a:buNone/>
            </a:pPr>
            <a:r>
              <a:rPr b="1" lang="vi" sz="4600">
                <a:solidFill>
                  <a:srgbClr val="351C75"/>
                </a:solidFill>
              </a:rPr>
              <a:t>Coaching 1:1</a:t>
            </a:r>
            <a:endParaRPr b="1" sz="4600">
              <a:solidFill>
                <a:srgbClr val="351C75"/>
              </a:solidFill>
            </a:endParaRPr>
          </a:p>
        </p:txBody>
      </p:sp>
      <p:pic>
        <p:nvPicPr>
          <p:cNvPr id="740" name="Google Shape;740;p113" title="QR zalo.jpg"/>
          <p:cNvPicPr preferRelativeResize="0"/>
          <p:nvPr/>
        </p:nvPicPr>
        <p:blipFill>
          <a:blip r:embed="rId3">
            <a:alphaModFix/>
          </a:blip>
          <a:stretch>
            <a:fillRect/>
          </a:stretch>
        </p:blipFill>
        <p:spPr>
          <a:xfrm>
            <a:off x="5192275" y="2111021"/>
            <a:ext cx="2262600" cy="2415329"/>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cxnSp>
        <p:nvCxnSpPr>
          <p:cNvPr id="745" name="Google Shape;745;p114"/>
          <p:cNvCxnSpPr/>
          <p:nvPr/>
        </p:nvCxnSpPr>
        <p:spPr>
          <a:xfrm>
            <a:off x="7141399" y="1136121"/>
            <a:ext cx="1052400" cy="0"/>
          </a:xfrm>
          <a:prstGeom prst="straightConnector1">
            <a:avLst/>
          </a:prstGeom>
          <a:noFill/>
          <a:ln cap="rnd" cmpd="sng" w="32850">
            <a:solidFill>
              <a:srgbClr val="70170A"/>
            </a:solidFill>
            <a:prstDash val="dash"/>
            <a:round/>
            <a:headEnd len="sm" w="sm" type="none"/>
            <a:tailEnd len="lg" w="lg" type="oval"/>
          </a:ln>
        </p:spPr>
      </p:cxnSp>
      <p:cxnSp>
        <p:nvCxnSpPr>
          <p:cNvPr id="746" name="Google Shape;746;p114"/>
          <p:cNvCxnSpPr/>
          <p:nvPr/>
        </p:nvCxnSpPr>
        <p:spPr>
          <a:xfrm>
            <a:off x="4407390" y="1136121"/>
            <a:ext cx="1052400" cy="0"/>
          </a:xfrm>
          <a:prstGeom prst="straightConnector1">
            <a:avLst/>
          </a:prstGeom>
          <a:noFill/>
          <a:ln cap="rnd" cmpd="sng" w="32850">
            <a:solidFill>
              <a:srgbClr val="70170A"/>
            </a:solidFill>
            <a:prstDash val="dash"/>
            <a:round/>
            <a:headEnd len="lg" w="lg" type="oval"/>
            <a:tailEnd len="sm" w="sm" type="none"/>
          </a:ln>
        </p:spPr>
      </p:cxnSp>
      <p:grpSp>
        <p:nvGrpSpPr>
          <p:cNvPr id="747" name="Google Shape;747;p114"/>
          <p:cNvGrpSpPr/>
          <p:nvPr/>
        </p:nvGrpSpPr>
        <p:grpSpPr>
          <a:xfrm>
            <a:off x="5541231" y="941574"/>
            <a:ext cx="1518534" cy="332346"/>
            <a:chOff x="0" y="-47625"/>
            <a:chExt cx="2074500" cy="454025"/>
          </a:xfrm>
        </p:grpSpPr>
        <p:sp>
          <p:nvSpPr>
            <p:cNvPr id="748" name="Google Shape;748;p114"/>
            <p:cNvSpPr/>
            <p:nvPr/>
          </p:nvSpPr>
          <p:spPr>
            <a:xfrm>
              <a:off x="0" y="0"/>
              <a:ext cx="2074482" cy="406400"/>
            </a:xfrm>
            <a:custGeom>
              <a:rect b="b" l="l" r="r" t="t"/>
              <a:pathLst>
                <a:path extrusionOk="0" h="406400" w="2074482">
                  <a:moveTo>
                    <a:pt x="1871282" y="0"/>
                  </a:moveTo>
                  <a:cubicBezTo>
                    <a:pt x="1983506" y="0"/>
                    <a:pt x="2074482" y="90976"/>
                    <a:pt x="2074482" y="203200"/>
                  </a:cubicBezTo>
                  <a:cubicBezTo>
                    <a:pt x="2074482" y="315424"/>
                    <a:pt x="1983506" y="406400"/>
                    <a:pt x="1871282" y="406400"/>
                  </a:cubicBezTo>
                  <a:lnTo>
                    <a:pt x="203200" y="406400"/>
                  </a:lnTo>
                  <a:cubicBezTo>
                    <a:pt x="90976" y="406400"/>
                    <a:pt x="0" y="315424"/>
                    <a:pt x="0" y="203200"/>
                  </a:cubicBezTo>
                  <a:cubicBezTo>
                    <a:pt x="0" y="90976"/>
                    <a:pt x="90976" y="0"/>
                    <a:pt x="203200" y="0"/>
                  </a:cubicBezTo>
                  <a:close/>
                </a:path>
              </a:pathLst>
            </a:custGeom>
            <a:solidFill>
              <a:srgbClr val="FFF7EC"/>
            </a:solidFill>
            <a:ln cap="sq" cmpd="sng" w="32850">
              <a:solidFill>
                <a:srgbClr val="547D39"/>
              </a:solidFill>
              <a:prstDash val="solid"/>
              <a:miter lim="8000"/>
              <a:headEnd len="sm" w="sm" type="none"/>
              <a:tailEnd len="sm" w="sm" type="none"/>
            </a:ln>
          </p:spPr>
          <p:txBody>
            <a:bodyPr anchorCtr="0" anchor="ctr" bIns="63050" lIns="63050" spcFirstLastPara="1" rIns="63050" wrap="square" tIns="63050">
              <a:noAutofit/>
            </a:bodyPr>
            <a:lstStyle/>
            <a:p>
              <a:pPr indent="0" lvl="0" marL="0" marR="0" rtl="0" algn="l">
                <a:lnSpc>
                  <a:spcPct val="100000"/>
                </a:lnSpc>
                <a:spcBef>
                  <a:spcPts val="0"/>
                </a:spcBef>
                <a:spcAft>
                  <a:spcPts val="0"/>
                </a:spcAft>
                <a:buClr>
                  <a:srgbClr val="000000"/>
                </a:buClr>
                <a:buSzPts val="966"/>
                <a:buFont typeface="Arial"/>
                <a:buNone/>
              </a:pPr>
              <a:r>
                <a:t/>
              </a:r>
              <a:endParaRPr b="0" i="0" sz="966" u="none" cap="none" strike="noStrike">
                <a:solidFill>
                  <a:srgbClr val="000000"/>
                </a:solidFill>
                <a:latin typeface="Arial"/>
                <a:ea typeface="Arial"/>
                <a:cs typeface="Arial"/>
                <a:sym typeface="Arial"/>
              </a:endParaRPr>
            </a:p>
          </p:txBody>
        </p:sp>
        <p:sp>
          <p:nvSpPr>
            <p:cNvPr id="749" name="Google Shape;749;p114"/>
            <p:cNvSpPr txBox="1"/>
            <p:nvPr/>
          </p:nvSpPr>
          <p:spPr>
            <a:xfrm>
              <a:off x="0" y="-47625"/>
              <a:ext cx="2074500" cy="453900"/>
            </a:xfrm>
            <a:prstGeom prst="rect">
              <a:avLst/>
            </a:prstGeom>
            <a:noFill/>
            <a:ln>
              <a:noFill/>
            </a:ln>
          </p:spPr>
          <p:txBody>
            <a:bodyPr anchorCtr="0" anchor="ctr" bIns="23350" lIns="23350" spcFirstLastPara="1" rIns="23350" wrap="square" tIns="23350">
              <a:noAutofit/>
            </a:bodyPr>
            <a:lstStyle/>
            <a:p>
              <a:pPr indent="0" lvl="0" marL="0" marR="0" rtl="0" algn="ctr">
                <a:lnSpc>
                  <a:spcPct val="163000"/>
                </a:lnSpc>
                <a:spcBef>
                  <a:spcPts val="0"/>
                </a:spcBef>
                <a:spcAft>
                  <a:spcPts val="0"/>
                </a:spcAft>
                <a:buClr>
                  <a:srgbClr val="000000"/>
                </a:buClr>
                <a:buSzPts val="828"/>
                <a:buFont typeface="Arial"/>
                <a:buNone/>
              </a:pPr>
              <a:r>
                <a:t/>
              </a:r>
              <a:endParaRPr b="0" i="0" sz="828" u="none" cap="none" strike="noStrike">
                <a:solidFill>
                  <a:srgbClr val="000000"/>
                </a:solidFill>
                <a:latin typeface="Mali"/>
                <a:ea typeface="Mali"/>
                <a:cs typeface="Mali"/>
                <a:sym typeface="Mali"/>
              </a:endParaRPr>
            </a:p>
          </p:txBody>
        </p:sp>
      </p:grpSp>
      <p:cxnSp>
        <p:nvCxnSpPr>
          <p:cNvPr id="750" name="Google Shape;750;p114"/>
          <p:cNvCxnSpPr/>
          <p:nvPr/>
        </p:nvCxnSpPr>
        <p:spPr>
          <a:xfrm>
            <a:off x="4407390" y="2710845"/>
            <a:ext cx="3786300" cy="0"/>
          </a:xfrm>
          <a:prstGeom prst="straightConnector1">
            <a:avLst/>
          </a:prstGeom>
          <a:noFill/>
          <a:ln cap="rnd" cmpd="sng" w="32850">
            <a:solidFill>
              <a:srgbClr val="547D39"/>
            </a:solidFill>
            <a:prstDash val="dash"/>
            <a:round/>
            <a:headEnd len="lg" w="lg" type="oval"/>
            <a:tailEnd len="lg" w="lg" type="oval"/>
          </a:ln>
        </p:spPr>
      </p:cxnSp>
      <p:sp>
        <p:nvSpPr>
          <p:cNvPr id="751" name="Google Shape;751;p114"/>
          <p:cNvSpPr txBox="1"/>
          <p:nvPr/>
        </p:nvSpPr>
        <p:spPr>
          <a:xfrm>
            <a:off x="4287566" y="1343841"/>
            <a:ext cx="4233000" cy="944700"/>
          </a:xfrm>
          <a:prstGeom prst="rect">
            <a:avLst/>
          </a:prstGeom>
          <a:noFill/>
          <a:ln>
            <a:noFill/>
          </a:ln>
        </p:spPr>
        <p:txBody>
          <a:bodyPr anchorCtr="0" anchor="t" bIns="0" lIns="0" spcFirstLastPara="1" rIns="0" wrap="square" tIns="0">
            <a:noAutofit/>
          </a:bodyPr>
          <a:lstStyle/>
          <a:p>
            <a:pPr indent="0" lvl="0" marL="0" marR="0" rtl="0" algn="ctr">
              <a:lnSpc>
                <a:spcPct val="2154000"/>
              </a:lnSpc>
              <a:spcBef>
                <a:spcPts val="0"/>
              </a:spcBef>
              <a:spcAft>
                <a:spcPts val="0"/>
              </a:spcAft>
              <a:buClr>
                <a:srgbClr val="000000"/>
              </a:buClr>
              <a:buSzPts val="828"/>
              <a:buFont typeface="Arial"/>
              <a:buNone/>
            </a:pPr>
            <a:r>
              <a:t/>
            </a:r>
            <a:endParaRPr b="1" i="0" sz="828" u="none" cap="none" strike="noStrike">
              <a:solidFill>
                <a:srgbClr val="70170A"/>
              </a:solidFill>
              <a:latin typeface="Arial"/>
              <a:ea typeface="Arial"/>
              <a:cs typeface="Arial"/>
              <a:sym typeface="Arial"/>
            </a:endParaRPr>
          </a:p>
        </p:txBody>
      </p:sp>
      <p:sp>
        <p:nvSpPr>
          <p:cNvPr id="752" name="Google Shape;752;p114"/>
          <p:cNvSpPr txBox="1"/>
          <p:nvPr/>
        </p:nvSpPr>
        <p:spPr>
          <a:xfrm>
            <a:off x="4228877" y="1578598"/>
            <a:ext cx="4233000" cy="703800"/>
          </a:xfrm>
          <a:prstGeom prst="rect">
            <a:avLst/>
          </a:prstGeom>
          <a:noFill/>
          <a:ln>
            <a:noFill/>
          </a:ln>
        </p:spPr>
        <p:txBody>
          <a:bodyPr anchorCtr="0" anchor="t" bIns="0" lIns="0" spcFirstLastPara="1" rIns="0" wrap="square" tIns="0">
            <a:noAutofit/>
          </a:bodyPr>
          <a:lstStyle/>
          <a:p>
            <a:pPr indent="0" lvl="0" marL="0" marR="0" rtl="0" algn="ctr">
              <a:lnSpc>
                <a:spcPct val="107000"/>
              </a:lnSpc>
              <a:spcBef>
                <a:spcPts val="0"/>
              </a:spcBef>
              <a:spcAft>
                <a:spcPts val="0"/>
              </a:spcAft>
              <a:buClr>
                <a:srgbClr val="000000"/>
              </a:buClr>
              <a:buSzPts val="4966"/>
              <a:buFont typeface="Arial"/>
              <a:buNone/>
            </a:pPr>
            <a:r>
              <a:rPr b="1" i="0" lang="vi" sz="4966" u="none" cap="none" strike="noStrike">
                <a:solidFill>
                  <a:srgbClr val="547D39"/>
                </a:solidFill>
                <a:latin typeface="Arial"/>
                <a:ea typeface="Arial"/>
                <a:cs typeface="Arial"/>
                <a:sym typeface="Arial"/>
              </a:rPr>
              <a:t>THANK YOU</a:t>
            </a:r>
            <a:endParaRPr b="1" i="0" sz="4966" u="none" cap="none" strike="noStrike">
              <a:solidFill>
                <a:srgbClr val="547D39"/>
              </a:solidFill>
              <a:latin typeface="Arial"/>
              <a:ea typeface="Arial"/>
              <a:cs typeface="Arial"/>
              <a:sym typeface="Arial"/>
            </a:endParaRPr>
          </a:p>
        </p:txBody>
      </p:sp>
      <p:sp>
        <p:nvSpPr>
          <p:cNvPr id="753" name="Google Shape;753;p114"/>
          <p:cNvSpPr txBox="1"/>
          <p:nvPr/>
        </p:nvSpPr>
        <p:spPr>
          <a:xfrm>
            <a:off x="5619467" y="1067037"/>
            <a:ext cx="1362300" cy="207000"/>
          </a:xfrm>
          <a:prstGeom prst="rect">
            <a:avLst/>
          </a:prstGeom>
          <a:noFill/>
          <a:ln>
            <a:noFill/>
          </a:ln>
        </p:spPr>
        <p:txBody>
          <a:bodyPr anchorCtr="0" anchor="t" bIns="0" lIns="0" spcFirstLastPara="1" rIns="0" wrap="square" tIns="0">
            <a:noAutofit/>
          </a:bodyPr>
          <a:lstStyle/>
          <a:p>
            <a:pPr indent="0" lvl="0" marL="0" marR="0" rtl="0" algn="ctr">
              <a:lnSpc>
                <a:spcPct val="289000"/>
              </a:lnSpc>
              <a:spcBef>
                <a:spcPts val="0"/>
              </a:spcBef>
              <a:spcAft>
                <a:spcPts val="0"/>
              </a:spcAft>
              <a:buClr>
                <a:srgbClr val="000000"/>
              </a:buClr>
              <a:buSzPts val="1104"/>
              <a:buFont typeface="Arial"/>
              <a:buNone/>
            </a:pPr>
            <a:r>
              <a:rPr b="1" i="0" lang="vi" sz="1104" u="none" cap="none" strike="noStrike">
                <a:solidFill>
                  <a:srgbClr val="70170A"/>
                </a:solidFill>
                <a:latin typeface="Arial"/>
                <a:ea typeface="Arial"/>
                <a:cs typeface="Arial"/>
                <a:sym typeface="Arial"/>
              </a:rPr>
              <a:t>QUỲNH NGA IT</a:t>
            </a:r>
            <a:endParaRPr b="1" i="0" sz="1104" u="none" cap="none" strike="noStrike">
              <a:solidFill>
                <a:srgbClr val="70170A"/>
              </a:solidFill>
              <a:latin typeface="Arial"/>
              <a:ea typeface="Arial"/>
              <a:cs typeface="Arial"/>
              <a:sym typeface="Arial"/>
            </a:endParaRPr>
          </a:p>
        </p:txBody>
      </p:sp>
      <p:sp>
        <p:nvSpPr>
          <p:cNvPr id="754" name="Google Shape;754;p114"/>
          <p:cNvSpPr txBox="1"/>
          <p:nvPr/>
        </p:nvSpPr>
        <p:spPr>
          <a:xfrm>
            <a:off x="4407573" y="2911372"/>
            <a:ext cx="3578400" cy="646800"/>
          </a:xfrm>
          <a:prstGeom prst="rect">
            <a:avLst/>
          </a:prstGeom>
          <a:noFill/>
          <a:ln>
            <a:noFill/>
          </a:ln>
        </p:spPr>
        <p:txBody>
          <a:bodyPr anchorCtr="0" anchor="t" bIns="0" lIns="0" spcFirstLastPara="1" rIns="0" wrap="square" tIns="0">
            <a:noAutofit/>
          </a:bodyPr>
          <a:lstStyle/>
          <a:p>
            <a:pPr indent="0" lvl="0" marL="0" marR="0" rtl="0" algn="ctr">
              <a:lnSpc>
                <a:spcPct val="210000"/>
              </a:lnSpc>
              <a:spcBef>
                <a:spcPts val="0"/>
              </a:spcBef>
              <a:spcAft>
                <a:spcPts val="0"/>
              </a:spcAft>
              <a:buClr>
                <a:srgbClr val="000000"/>
              </a:buClr>
              <a:buSzPts val="921"/>
              <a:buFont typeface="Arial"/>
              <a:buNone/>
            </a:pPr>
            <a:r>
              <a:rPr b="1" lang="vi" sz="921">
                <a:solidFill>
                  <a:srgbClr val="70170A"/>
                </a:solidFill>
              </a:rPr>
              <a:t>Cảm ơn bạn đã chọn và đồng hành cùng khóa học IT Comtor. </a:t>
            </a:r>
            <a:endParaRPr b="1" sz="921">
              <a:solidFill>
                <a:srgbClr val="70170A"/>
              </a:solidFill>
            </a:endParaRPr>
          </a:p>
          <a:p>
            <a:pPr indent="0" lvl="0" marL="0" marR="0" rtl="0" algn="ctr">
              <a:lnSpc>
                <a:spcPct val="210000"/>
              </a:lnSpc>
              <a:spcBef>
                <a:spcPts val="0"/>
              </a:spcBef>
              <a:spcAft>
                <a:spcPts val="0"/>
              </a:spcAft>
              <a:buClr>
                <a:srgbClr val="000000"/>
              </a:buClr>
              <a:buSzPts val="921"/>
              <a:buFont typeface="Arial"/>
              <a:buNone/>
            </a:pPr>
            <a:r>
              <a:rPr b="1" lang="vi" sz="921">
                <a:solidFill>
                  <a:srgbClr val="70170A"/>
                </a:solidFill>
              </a:rPr>
              <a:t>Mong rằng những kiến thức hôm nay sẽ trở thành hành trang quý giá cho tương lai của bạn!</a:t>
            </a:r>
            <a:endParaRPr b="1" i="0" sz="921" u="none" cap="none" strike="noStrike">
              <a:solidFill>
                <a:srgbClr val="70170A"/>
              </a:solidFill>
            </a:endParaRPr>
          </a:p>
        </p:txBody>
      </p:sp>
      <p:pic>
        <p:nvPicPr>
          <p:cNvPr id="755" name="Google Shape;755;p114"/>
          <p:cNvPicPr preferRelativeResize="0"/>
          <p:nvPr/>
        </p:nvPicPr>
        <p:blipFill rotWithShape="1">
          <a:blip r:embed="rId3">
            <a:alphaModFix/>
          </a:blip>
          <a:srcRect b="0" l="0" r="0" t="0"/>
          <a:stretch/>
        </p:blipFill>
        <p:spPr>
          <a:xfrm>
            <a:off x="623425" y="873450"/>
            <a:ext cx="3195062" cy="30097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áng nhẹ tự tạo">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