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Lato"/>
      <p:regular r:id="rId9"/>
      <p:bold r:id="rId10"/>
      <p:italic r:id="rId11"/>
      <p:boldItalic r:id="rId12"/>
    </p:embeddedFont>
    <p:embeddedFont>
      <p:font typeface="Manrope ExtraBold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italic.fntdata"/><Relationship Id="rId10" Type="http://schemas.openxmlformats.org/officeDocument/2006/relationships/font" Target="fonts/Lato-bold.fntdata"/><Relationship Id="rId13" Type="http://schemas.openxmlformats.org/officeDocument/2006/relationships/font" Target="fonts/ManropeExtraBold-bold.fntdata"/><Relationship Id="rId12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1096f3a80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1096f3a80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1096f3a80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1096f3a80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000">
                <a:solidFill>
                  <a:srgbClr val="351C75"/>
                </a:solidFill>
              </a:rPr>
              <a:t>Lưu ý: File thuật ngữ chỉ nên có cấu trúc đơn giản theo cặp Nhật - Việt, số lượng dưới 500 từ.</a:t>
            </a:r>
            <a:endParaRPr b="1" sz="1000">
              <a:solidFill>
                <a:srgbClr val="351C75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000">
                <a:solidFill>
                  <a:srgbClr val="351C75"/>
                </a:solidFill>
              </a:rPr>
              <a:t>Trường hợp làm nhiều dự án, có thể tạo thread dịch theo tên dự án.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1096f3a80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1096f3a80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alog Slide" showMasterSp="0">
  <p:cSld name="Catalog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3283436"/>
            <a:ext cx="1863699" cy="1860064"/>
          </a:xfrm>
          <a:custGeom>
            <a:rect b="b" l="l" r="r" t="t"/>
            <a:pathLst>
              <a:path extrusionOk="0" h="2480085" w="2484932">
                <a:moveTo>
                  <a:pt x="309827" y="0"/>
                </a:moveTo>
                <a:cubicBezTo>
                  <a:pt x="1511104" y="0"/>
                  <a:pt x="2484932" y="974408"/>
                  <a:pt x="2484932" y="2176401"/>
                </a:cubicBezTo>
                <a:cubicBezTo>
                  <a:pt x="2484932" y="2251526"/>
                  <a:pt x="2481128" y="2325761"/>
                  <a:pt x="2473703" y="2398926"/>
                </a:cubicBezTo>
                <a:lnTo>
                  <a:pt x="2461324" y="2480085"/>
                </a:lnTo>
                <a:lnTo>
                  <a:pt x="0" y="2480085"/>
                </a:lnTo>
                <a:lnTo>
                  <a:pt x="0" y="24589"/>
                </a:lnTo>
                <a:lnTo>
                  <a:pt x="87435" y="11237"/>
                </a:lnTo>
                <a:cubicBezTo>
                  <a:pt x="160556" y="3807"/>
                  <a:pt x="234747" y="0"/>
                  <a:pt x="309827" y="0"/>
                </a:cubicBezTo>
                <a:close/>
              </a:path>
            </a:pathLst>
          </a:custGeom>
          <a:solidFill>
            <a:srgbClr val="FED48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5256" y="3086100"/>
            <a:ext cx="1604772" cy="16047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1337310" y="1373029"/>
            <a:ext cx="2513400" cy="24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nrope ExtraBold"/>
              <a:buChar char="●"/>
              <a:defRPr b="1" sz="35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/>
          <p:nvPr/>
        </p:nvSpPr>
        <p:spPr>
          <a:xfrm>
            <a:off x="1932597" y="4402044"/>
            <a:ext cx="152295" cy="741456"/>
          </a:xfrm>
          <a:custGeom>
            <a:rect b="b" l="l" r="r" t="t"/>
            <a:pathLst>
              <a:path extrusionOk="0" h="988608" w="203060">
                <a:moveTo>
                  <a:pt x="42778" y="0"/>
                </a:moveTo>
                <a:cubicBezTo>
                  <a:pt x="66188" y="0"/>
                  <a:pt x="85165" y="18977"/>
                  <a:pt x="85165" y="42387"/>
                </a:cubicBezTo>
                <a:lnTo>
                  <a:pt x="84788" y="43297"/>
                </a:lnTo>
                <a:lnTo>
                  <a:pt x="86463" y="43297"/>
                </a:lnTo>
                <a:lnTo>
                  <a:pt x="138259" y="244742"/>
                </a:lnTo>
                <a:cubicBezTo>
                  <a:pt x="180747" y="452376"/>
                  <a:pt x="203060" y="667360"/>
                  <a:pt x="203060" y="887555"/>
                </a:cubicBezTo>
                <a:lnTo>
                  <a:pt x="197958" y="988608"/>
                </a:lnTo>
                <a:lnTo>
                  <a:pt x="114136" y="988608"/>
                </a:lnTo>
                <a:lnTo>
                  <a:pt x="119238" y="887555"/>
                </a:lnTo>
                <a:cubicBezTo>
                  <a:pt x="119238" y="673147"/>
                  <a:pt x="97512" y="463813"/>
                  <a:pt x="56140" y="261635"/>
                </a:cubicBezTo>
                <a:lnTo>
                  <a:pt x="0" y="43297"/>
                </a:lnTo>
                <a:lnTo>
                  <a:pt x="768" y="43297"/>
                </a:lnTo>
                <a:lnTo>
                  <a:pt x="391" y="42387"/>
                </a:lnTo>
                <a:cubicBezTo>
                  <a:pt x="391" y="18977"/>
                  <a:pt x="19368" y="0"/>
                  <a:pt x="42778" y="0"/>
                </a:cubicBezTo>
                <a:close/>
              </a:path>
            </a:pathLst>
          </a:custGeom>
          <a:solidFill>
            <a:srgbClr val="FFD48A">
              <a:alpha val="4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040893"/>
            <a:ext cx="1167066" cy="348629"/>
          </a:xfrm>
          <a:custGeom>
            <a:rect b="b" l="l" r="r" t="t"/>
            <a:pathLst>
              <a:path extrusionOk="0" h="464839" w="1556088">
                <a:moveTo>
                  <a:pt x="138304" y="0"/>
                </a:moveTo>
                <a:cubicBezTo>
                  <a:pt x="609550" y="0"/>
                  <a:pt x="1052913" y="119382"/>
                  <a:pt x="1439800" y="329551"/>
                </a:cubicBezTo>
                <a:lnTo>
                  <a:pt x="1530165" y="384449"/>
                </a:lnTo>
                <a:lnTo>
                  <a:pt x="1529608" y="385365"/>
                </a:lnTo>
                <a:lnTo>
                  <a:pt x="1543435" y="391092"/>
                </a:lnTo>
                <a:cubicBezTo>
                  <a:pt x="1551253" y="398910"/>
                  <a:pt x="1556088" y="409710"/>
                  <a:pt x="1556088" y="421639"/>
                </a:cubicBezTo>
                <a:cubicBezTo>
                  <a:pt x="1556088" y="445498"/>
                  <a:pt x="1536747" y="464839"/>
                  <a:pt x="1512888" y="464839"/>
                </a:cubicBezTo>
                <a:cubicBezTo>
                  <a:pt x="1500959" y="464839"/>
                  <a:pt x="1490159" y="460004"/>
                  <a:pt x="1482341" y="452186"/>
                </a:cubicBezTo>
                <a:lnTo>
                  <a:pt x="1481940" y="451219"/>
                </a:lnTo>
                <a:lnTo>
                  <a:pt x="1400624" y="401819"/>
                </a:lnTo>
                <a:cubicBezTo>
                  <a:pt x="1025383" y="197975"/>
                  <a:pt x="595365" y="82187"/>
                  <a:pt x="138304" y="82187"/>
                </a:cubicBezTo>
                <a:lnTo>
                  <a:pt x="0" y="89171"/>
                </a:lnTo>
                <a:lnTo>
                  <a:pt x="0" y="6984"/>
                </a:lnTo>
                <a:close/>
              </a:path>
            </a:pathLst>
          </a:custGeom>
          <a:solidFill>
            <a:srgbClr val="FFD48A">
              <a:alpha val="3373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52197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565487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A2F4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907521" y="4522151"/>
            <a:ext cx="18399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50" lIns="19950" spcFirstLastPara="1" rIns="19950" wrap="square" tIns="19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br>
              <a:rPr b="1" lang="vi" sz="1200">
                <a:solidFill>
                  <a:srgbClr val="CA2F47"/>
                </a:solidFill>
              </a:rPr>
            </a:br>
            <a:r>
              <a:rPr b="1" lang="vi" sz="1200">
                <a:solidFill>
                  <a:srgbClr val="CA2F47"/>
                </a:solidFill>
              </a:rPr>
              <a:t>Đồng hành cùng bạn !</a:t>
            </a:r>
            <a:endParaRPr b="1" sz="1200">
              <a:solidFill>
                <a:srgbClr val="CA2F47"/>
              </a:solidFill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62600" y="140100"/>
            <a:ext cx="8818800" cy="486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" title="Logo trong suốt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53938" y="4274776"/>
            <a:ext cx="653575" cy="6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0825" y="4449988"/>
            <a:ext cx="183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endParaRPr b="1" sz="1200">
              <a:solidFill>
                <a:srgbClr val="CA2F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Đồng hành cùng bạn</a:t>
            </a:r>
            <a:endParaRPr b="1" sz="1200">
              <a:solidFill>
                <a:srgbClr val="CA2F47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2F4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60950" y="276450"/>
            <a:ext cx="882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3600">
                <a:solidFill>
                  <a:srgbClr val="351C75"/>
                </a:solidFill>
              </a:rPr>
              <a:t>Dùng ChatGPT</a:t>
            </a:r>
            <a:endParaRPr sz="3600">
              <a:solidFill>
                <a:srgbClr val="351C75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12000" y="1071300"/>
            <a:ext cx="8115300" cy="32946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✅ </a:t>
            </a:r>
            <a:r>
              <a:rPr lang="vi">
                <a:solidFill>
                  <a:srgbClr val="351C75"/>
                </a:solidFill>
              </a:rPr>
              <a:t>Hiểu ngữ cảnh rất tốt, dịch mượt, giữ mạch văn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✅ Có thể huấn luyện bằng thuật ngữ riêng, chuyên nghiệp, đúng ngữ cảnh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✅ Phù hợp dịch từng đoạn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➖ Tốc độ xử lý: chậm hơn Google dịch 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➖ Không phù hợp dịch dạng file</a:t>
            </a:r>
            <a:endParaRPr>
              <a:solidFill>
                <a:srgbClr val="351C7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rgbClr val="351C75"/>
                </a:solidFill>
              </a:rPr>
              <a:t>👉 Nên dùng trong trường hợp dịch từng đoạn, độ chính xác cao, cần sử dụng đúng thuật ngữ chuyên ngành</a:t>
            </a:r>
            <a:endParaRPr sz="18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2F47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160950" y="276450"/>
            <a:ext cx="882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3600">
                <a:solidFill>
                  <a:srgbClr val="351C75"/>
                </a:solidFill>
              </a:rPr>
              <a:t>Hướng dẫn sử dụng</a:t>
            </a:r>
            <a:endParaRPr sz="3600">
              <a:solidFill>
                <a:srgbClr val="351C75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868500" y="1015350"/>
            <a:ext cx="7407000" cy="33507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000"/>
              <a:buAutoNum type="arabicPeriod"/>
            </a:pPr>
            <a:r>
              <a:rPr lang="vi" sz="1000">
                <a:solidFill>
                  <a:srgbClr val="351C75"/>
                </a:solidFill>
              </a:rPr>
              <a:t>Chuẩn bị file thuật ngữ.</a:t>
            </a:r>
            <a:endParaRPr sz="1000">
              <a:solidFill>
                <a:srgbClr val="351C75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000"/>
              <a:buAutoNum type="arabicPeriod"/>
            </a:pPr>
            <a:r>
              <a:rPr lang="vi" sz="1000">
                <a:solidFill>
                  <a:srgbClr val="351C75"/>
                </a:solidFill>
              </a:rPr>
              <a:t>Mở thread ChatGPT mới, đính kèm file thuật ngữ (hoặc paste danh sách thuật ngữ) và nhập prompt sau:</a:t>
            </a:r>
            <a:br>
              <a:rPr lang="vi" sz="1000">
                <a:solidFill>
                  <a:srgbClr val="351C75"/>
                </a:solidFill>
              </a:rPr>
            </a:br>
            <a:r>
              <a:rPr lang="vi" sz="1000">
                <a:solidFill>
                  <a:srgbClr val="351C75"/>
                </a:solidFill>
              </a:rPr>
              <a:t>—---</a:t>
            </a:r>
            <a:br>
              <a:rPr lang="vi" sz="1000">
                <a:solidFill>
                  <a:srgbClr val="351C75"/>
                </a:solidFill>
              </a:rPr>
            </a:br>
            <a:r>
              <a:rPr lang="vi" sz="1000">
                <a:solidFill>
                  <a:srgbClr val="351C75"/>
                </a:solidFill>
              </a:rPr>
              <a:t>[LMS] Dịch Nhật-Việt</a:t>
            </a:r>
            <a:br>
              <a:rPr lang="vi" sz="1000">
                <a:solidFill>
                  <a:srgbClr val="351C75"/>
                </a:solidFill>
              </a:rPr>
            </a:br>
            <a:r>
              <a:rPr lang="vi" sz="1000">
                <a:solidFill>
                  <a:srgbClr val="351C75"/>
                </a:solidFill>
              </a:rPr>
              <a:t>Từ bây giờ tôi sẽ sử dụng thread này để dịch tài liệu IT từ tiếng Nhật sang tiếng Việt.</a:t>
            </a:r>
            <a:br>
              <a:rPr lang="vi" sz="1000">
                <a:solidFill>
                  <a:srgbClr val="351C75"/>
                </a:solidFill>
              </a:rPr>
            </a:br>
            <a:r>
              <a:rPr lang="vi" sz="1000">
                <a:solidFill>
                  <a:srgbClr val="351C75"/>
                </a:solidFill>
              </a:rPr>
              <a:t>File đính kèm là bảng thuật ngữ cần được ưu tiên sử dụng trong mọi bản dịch.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351C75"/>
                </a:solidFill>
              </a:rPr>
              <a:t>Hãy đọc toàn bộ nội dung file, sau đó lưu tất cả cặp Tiếng Nhật – Tiếng Việt để áp dụng một cách nghiêm ngặt và nhất quán vào mọi bản dịch trong thread này. </a:t>
            </a:r>
            <a:endParaRPr sz="1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351C75"/>
                </a:solidFill>
              </a:rPr>
              <a:t>             Yêu cầu DỊCH TUYỆT ĐỐI CHÍNH XÁC bám theo câu gốc, KHÔNG thêm bớt nội dung, KHÔNG suy diễn.</a:t>
            </a:r>
            <a:endParaRPr sz="10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351C75"/>
                </a:solidFill>
              </a:rPr>
              <a:t>Tôi sẽ gửi lần lượt các đoạn yêu cầu dịch. </a:t>
            </a:r>
            <a:br>
              <a:rPr lang="vi" sz="1000">
                <a:solidFill>
                  <a:srgbClr val="351C75"/>
                </a:solidFill>
              </a:rPr>
            </a:br>
            <a:r>
              <a:rPr lang="vi" sz="1000">
                <a:solidFill>
                  <a:srgbClr val="351C75"/>
                </a:solidFill>
              </a:rPr>
              <a:t>Nếu đã ghi nhớ và sẵn sàng thực hiện dịch, hãy trả lời “Sẵn sàng”.</a:t>
            </a:r>
            <a:br>
              <a:rPr lang="vi" sz="1000">
                <a:solidFill>
                  <a:srgbClr val="351C75"/>
                </a:solidFill>
              </a:rPr>
            </a:br>
            <a:r>
              <a:rPr lang="vi" sz="1000">
                <a:solidFill>
                  <a:srgbClr val="351C75"/>
                </a:solidFill>
              </a:rPr>
              <a:t>—---</a:t>
            </a:r>
            <a:endParaRPr sz="1000">
              <a:solidFill>
                <a:srgbClr val="351C75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000"/>
              <a:buAutoNum type="arabicPeriod"/>
            </a:pPr>
            <a:r>
              <a:rPr lang="vi" sz="1000">
                <a:solidFill>
                  <a:srgbClr val="351C75"/>
                </a:solidFill>
              </a:rPr>
              <a:t>Paste câu cần dịch vào thread đó (không cần ghi lại yêu cầu). Sử dụng thread này cho mọi lần dịch trong dự án.</a:t>
            </a:r>
            <a:endParaRPr sz="10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2F47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160950" y="276450"/>
            <a:ext cx="882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351C75"/>
                </a:solidFill>
              </a:rPr>
              <a:t>Thực hành</a:t>
            </a:r>
            <a:endParaRPr sz="3600">
              <a:solidFill>
                <a:srgbClr val="351C75"/>
              </a:solidFill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12000" y="1071300"/>
            <a:ext cx="8115300" cy="31398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>
                <a:solidFill>
                  <a:srgbClr val="351C75"/>
                </a:solidFill>
              </a:rPr>
              <a:t>Bài 1: </a:t>
            </a:r>
            <a:r>
              <a:rPr lang="vi" sz="1600">
                <a:solidFill>
                  <a:srgbClr val="351C75"/>
                </a:solidFill>
              </a:rPr>
              <a:t>D</a:t>
            </a:r>
            <a:r>
              <a:rPr lang="vi" sz="1600">
                <a:solidFill>
                  <a:srgbClr val="351C75"/>
                </a:solidFill>
              </a:rPr>
              <a:t>ùng file thuật ngữ sau, tạo thread ChatGPT dịch Nhật - Việt theo hướng dẫn. </a:t>
            </a:r>
            <a:endParaRPr sz="16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>
                <a:solidFill>
                  <a:srgbClr val="351C75"/>
                </a:solidFill>
                <a:highlight>
                  <a:srgbClr val="FFFF00"/>
                </a:highlight>
              </a:rPr>
              <a:t>Tạo file thuật ngữ và add link vào đây</a:t>
            </a:r>
            <a:endParaRPr sz="1600">
              <a:solidFill>
                <a:srgbClr val="351C75"/>
              </a:solidFill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51C75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>
                <a:solidFill>
                  <a:srgbClr val="351C75"/>
                </a:solidFill>
              </a:rPr>
              <a:t>Bài 2: </a:t>
            </a:r>
            <a:r>
              <a:rPr lang="vi" sz="1600">
                <a:solidFill>
                  <a:srgbClr val="351C75"/>
                </a:solidFill>
              </a:rPr>
              <a:t>Dịch đoạn sau sang tiếng Nhật ở thread ChatGPT vừa tạo.</a:t>
            </a:r>
            <a:endParaRPr sz="16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>
                <a:solidFill>
                  <a:srgbClr val="351C75"/>
                </a:solidFill>
              </a:rPr>
              <a:t>Kiểm tra xem đoạn ChatGPT dịch có sử dụng chính xác các thuật ngữ trong file không.</a:t>
            </a:r>
            <a:endParaRPr sz="16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>
                <a:solidFill>
                  <a:srgbClr val="351C75"/>
                </a:solidFill>
                <a:highlight>
                  <a:srgbClr val="FFFF00"/>
                </a:highlight>
              </a:rPr>
              <a:t>Add đoạn cần dịch vào đây</a:t>
            </a:r>
            <a:endParaRPr sz="16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áng nhẹ tự tạ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