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0" Type="http://schemas.openxmlformats.org/officeDocument/2006/relationships/slide" Target="slides/slide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89041af11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89041af11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89041af116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89041af116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9041af116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9041af11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9041af116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89041af116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ster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1" name="Google Shape;11;p2"/>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8" name="Google Shape;18;p4"/>
          <p:cNvSpPr txBox="1"/>
          <p:nvPr>
            <p:ph idx="1" type="body"/>
          </p:nvPr>
        </p:nvSpPr>
        <p:spPr>
          <a:xfrm>
            <a:off x="311700" y="1152475"/>
            <a:ext cx="85206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2" name="Google Shape;22;p5"/>
          <p:cNvSpPr txBox="1"/>
          <p:nvPr>
            <p:ph idx="1" type="body"/>
          </p:nvPr>
        </p:nvSpPr>
        <p:spPr>
          <a:xfrm>
            <a:off x="3117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30" name="Google Shape;30;p7"/>
          <p:cNvSpPr txBox="1"/>
          <p:nvPr>
            <p:ph idx="1" type="body"/>
          </p:nvPr>
        </p:nvSpPr>
        <p:spPr>
          <a:xfrm>
            <a:off x="311700" y="1389600"/>
            <a:ext cx="2808000" cy="3179400"/>
          </a:xfrm>
          <a:prstGeom prst="rect">
            <a:avLst/>
          </a:prstGeom>
          <a:noFill/>
          <a:ln>
            <a:noFill/>
          </a:ln>
        </p:spPr>
        <p:txBody>
          <a:bodyPr anchorCtr="0" anchor="ctr"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38" name="Google Shape;38;p9"/>
          <p:cNvSpPr txBox="1"/>
          <p:nvPr>
            <p:ph idx="1" type="subTitle"/>
          </p:nvPr>
        </p:nvSpPr>
        <p:spPr>
          <a:xfrm>
            <a:off x="265500" y="2803075"/>
            <a:ext cx="4045200" cy="12351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17500" lvl="0" marL="457200">
              <a:spcBef>
                <a:spcPts val="0"/>
              </a:spcBef>
              <a:spcAft>
                <a:spcPts val="0"/>
              </a:spcAft>
              <a:buSzPts val="14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4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46" name="Google Shape;46;p11"/>
          <p:cNvSpPr txBox="1"/>
          <p:nvPr>
            <p:ph idx="1" type="body"/>
          </p:nvPr>
        </p:nvSpPr>
        <p:spPr>
          <a:xfrm>
            <a:off x="311700" y="3152225"/>
            <a:ext cx="8520600" cy="1300800"/>
          </a:xfrm>
          <a:prstGeom prst="rect">
            <a:avLst/>
          </a:prstGeom>
          <a:noFill/>
          <a:ln>
            <a:noFill/>
          </a:ln>
        </p:spPr>
        <p:txBody>
          <a:bodyPr anchorCtr="0" anchor="ctr" bIns="91425" lIns="91425" spcFirstLastPara="1" rIns="91425" wrap="square" tIns="91425">
            <a:noAutofit/>
          </a:bodyPr>
          <a:lstStyle>
            <a:lvl1pPr indent="-317500" lvl="0" marL="457200" algn="ctr">
              <a:spcBef>
                <a:spcPts val="0"/>
              </a:spcBef>
              <a:spcAft>
                <a:spcPts val="0"/>
              </a:spcAft>
              <a:buSzPts val="14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pic>
        <p:nvPicPr>
          <p:cNvPr id="7" name="Google Shape;7;p1" title="Logo trong suốt.png"/>
          <p:cNvPicPr preferRelativeResize="0"/>
          <p:nvPr/>
        </p:nvPicPr>
        <p:blipFill>
          <a:blip r:embed="rId1">
            <a:alphaModFix/>
          </a:blip>
          <a:stretch>
            <a:fillRect/>
          </a:stretch>
        </p:blipFill>
        <p:spPr>
          <a:xfrm>
            <a:off x="0" y="4489550"/>
            <a:ext cx="650375" cy="653950"/>
          </a:xfrm>
          <a:prstGeom prst="rect">
            <a:avLst/>
          </a:prstGeom>
          <a:noFill/>
          <a:ln>
            <a:noFill/>
          </a:ln>
        </p:spPr>
      </p:pic>
      <p:sp>
        <p:nvSpPr>
          <p:cNvPr id="8" name="Google Shape;8;p1"/>
          <p:cNvSpPr txBox="1"/>
          <p:nvPr/>
        </p:nvSpPr>
        <p:spPr>
          <a:xfrm>
            <a:off x="612116" y="4633988"/>
            <a:ext cx="19002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vi" sz="1200">
                <a:solidFill>
                  <a:srgbClr val="990000"/>
                </a:solidFill>
              </a:rPr>
              <a:t>Quỳnh Nga IT</a:t>
            </a:r>
            <a:endParaRPr b="1" sz="1200">
              <a:solidFill>
                <a:srgbClr val="990000"/>
              </a:solidFill>
            </a:endParaRPr>
          </a:p>
          <a:p>
            <a:pPr indent="0" lvl="0" marL="0" rtl="0" algn="l">
              <a:spcBef>
                <a:spcPts val="0"/>
              </a:spcBef>
              <a:spcAft>
                <a:spcPts val="0"/>
              </a:spcAft>
              <a:buNone/>
            </a:pPr>
            <a:r>
              <a:rPr b="1" lang="vi" sz="1200">
                <a:solidFill>
                  <a:srgbClr val="990000"/>
                </a:solidFill>
              </a:rPr>
              <a:t>Đồng Hành Cùng Bạn!</a:t>
            </a:r>
            <a:endParaRPr b="1" sz="1200">
              <a:solidFill>
                <a:srgbClr val="99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60950" y="321275"/>
            <a:ext cx="8822100" cy="738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vi" sz="3600">
                <a:solidFill>
                  <a:srgbClr val="351C75"/>
                </a:solidFill>
              </a:rPr>
              <a:t>Thực hành 02</a:t>
            </a:r>
            <a:endParaRPr sz="3600">
              <a:solidFill>
                <a:srgbClr val="351C75"/>
              </a:solidFill>
            </a:endParaRPr>
          </a:p>
        </p:txBody>
      </p:sp>
      <p:sp>
        <p:nvSpPr>
          <p:cNvPr id="55" name="Google Shape;55;p13"/>
          <p:cNvSpPr/>
          <p:nvPr/>
        </p:nvSpPr>
        <p:spPr>
          <a:xfrm>
            <a:off x="951400" y="1015350"/>
            <a:ext cx="7353300" cy="33171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rgbClr val="000000"/>
              </a:buClr>
              <a:buSzPts val="1100"/>
              <a:buFont typeface="Arial"/>
              <a:buNone/>
            </a:pPr>
            <a:r>
              <a:rPr b="1" lang="vi">
                <a:solidFill>
                  <a:srgbClr val="351C75"/>
                </a:solidFill>
              </a:rPr>
              <a:t>Dịch nội dung sau sang tiếng Nhật để gửi cho khách hàng</a:t>
            </a:r>
            <a:endParaRPr b="1">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“Em ơi dịch hộ anh cái này gửi cho khách với. </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Team mình ko làm kịp nên xin lùi deadline nouhin. </a:t>
            </a:r>
            <a:br>
              <a:rPr lang="vi" sz="1100">
                <a:solidFill>
                  <a:srgbClr val="351C75"/>
                </a:solidFill>
              </a:rPr>
            </a:br>
            <a:r>
              <a:rPr lang="vi" sz="1100">
                <a:solidFill>
                  <a:srgbClr val="351C75"/>
                </a:solidFill>
              </a:rPr>
              <a:t>Trong lúc coding thì bên mình phát sinh nhiều cái phải xác nhận thêm quá, với lại test cũng phát sinh nhiều bug hơn dự kiến, nên cần phải test confirm lại chắc chắn sau khi fix bug.</a:t>
            </a:r>
            <a:endParaRPr sz="1100">
              <a:solidFill>
                <a:srgbClr val="351C75"/>
              </a:solidFill>
            </a:endParaRPr>
          </a:p>
          <a:p>
            <a:pPr indent="0" lvl="0" marL="0" rtl="0" algn="l">
              <a:lnSpc>
                <a:spcPct val="115000"/>
              </a:lnSpc>
              <a:spcBef>
                <a:spcPts val="1200"/>
              </a:spcBef>
              <a:spcAft>
                <a:spcPts val="0"/>
              </a:spcAft>
              <a:buClr>
                <a:schemeClr val="dk1"/>
              </a:buClr>
              <a:buSzPts val="1100"/>
              <a:buFont typeface="Arial"/>
              <a:buNone/>
            </a:pPr>
            <a:r>
              <a:rPr lang="vi" sz="1100">
                <a:solidFill>
                  <a:srgbClr val="351C75"/>
                </a:solidFill>
              </a:rPr>
              <a:t>Hiện tại, team đang tập trung fix bug và re-test để đảm bảo chất lượng. Mong khách thông cảm và có thể cho mình dời lịch deliver sang thứ Tư tuần sau có được không.</a:t>
            </a:r>
            <a:endParaRPr sz="1100">
              <a:solidFill>
                <a:srgbClr val="351C75"/>
              </a:solidFill>
            </a:endParaRPr>
          </a:p>
          <a:p>
            <a:pPr indent="0" lvl="0" marL="0" rtl="0" algn="l">
              <a:lnSpc>
                <a:spcPct val="115000"/>
              </a:lnSpc>
              <a:spcBef>
                <a:spcPts val="1200"/>
              </a:spcBef>
              <a:spcAft>
                <a:spcPts val="1200"/>
              </a:spcAft>
              <a:buNone/>
            </a:pPr>
            <a:r>
              <a:rPr lang="vi" sz="1100">
                <a:solidFill>
                  <a:srgbClr val="351C75"/>
                </a:solidFill>
              </a:rPr>
              <a:t>Nhớ nói sao cho chân thành và xin lỗi khách hộ anh nhé.”</a:t>
            </a:r>
            <a:endParaRPr>
              <a:solidFill>
                <a:srgbClr val="351C75"/>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4"/>
          <p:cNvGrpSpPr/>
          <p:nvPr/>
        </p:nvGrpSpPr>
        <p:grpSpPr>
          <a:xfrm>
            <a:off x="2877819" y="902232"/>
            <a:ext cx="3339000" cy="3339000"/>
            <a:chOff x="2902488" y="902232"/>
            <a:chExt cx="3339000" cy="3339000"/>
          </a:xfrm>
        </p:grpSpPr>
        <p:sp>
          <p:nvSpPr>
            <p:cNvPr id="61" name="Google Shape;61;p14"/>
            <p:cNvSpPr/>
            <p:nvPr/>
          </p:nvSpPr>
          <p:spPr>
            <a:xfrm rot="-5400000">
              <a:off x="2902488" y="902232"/>
              <a:ext cx="3339000" cy="3339000"/>
            </a:xfrm>
            <a:prstGeom prst="ellipse">
              <a:avLst/>
            </a:prstGeom>
            <a:noFill/>
            <a:ln cap="flat" cmpd="sng" w="19050">
              <a:solidFill>
                <a:srgbClr val="1D7E75"/>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p:nvPr/>
          </p:nvSpPr>
          <p:spPr>
            <a:xfrm>
              <a:off x="3123738" y="1123632"/>
              <a:ext cx="2896500" cy="2896200"/>
            </a:xfrm>
            <a:prstGeom prst="pie">
              <a:avLst>
                <a:gd fmla="val 21577108" name="adj1"/>
                <a:gd fmla="val 16214886" name="adj2"/>
              </a:avLst>
            </a:prstGeom>
            <a:solidFill>
              <a:srgbClr val="83E3D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 name="Google Shape;63;p14"/>
          <p:cNvGrpSpPr/>
          <p:nvPr/>
        </p:nvGrpSpPr>
        <p:grpSpPr>
          <a:xfrm>
            <a:off x="3639369" y="1663782"/>
            <a:ext cx="1815900" cy="1815900"/>
            <a:chOff x="3664038" y="1663782"/>
            <a:chExt cx="1815900" cy="1815900"/>
          </a:xfrm>
        </p:grpSpPr>
        <p:sp>
          <p:nvSpPr>
            <p:cNvPr id="64" name="Google Shape;64;p14"/>
            <p:cNvSpPr/>
            <p:nvPr/>
          </p:nvSpPr>
          <p:spPr>
            <a:xfrm>
              <a:off x="3664038" y="1663782"/>
              <a:ext cx="1815900" cy="1815900"/>
            </a:xfrm>
            <a:prstGeom prst="ellipse">
              <a:avLst/>
            </a:prstGeom>
            <a:solidFill>
              <a:srgbClr val="1B786F"/>
            </a:solidFill>
            <a:ln>
              <a:noFill/>
            </a:ln>
            <a:effectLst>
              <a:outerShdw blurRad="228600" rotWithShape="0" algn="tl" dir="5400000" dist="50800">
                <a:srgbClr val="000000">
                  <a:alpha val="549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65" name="Google Shape;65;p14"/>
            <p:cNvSpPr txBox="1"/>
            <p:nvPr/>
          </p:nvSpPr>
          <p:spPr>
            <a:xfrm>
              <a:off x="3899988" y="2158482"/>
              <a:ext cx="1344000" cy="826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
                  <a:solidFill>
                    <a:srgbClr val="FFFFFF"/>
                  </a:solidFill>
                </a:rPr>
                <a:t>Xử lý thông tin gốc</a:t>
              </a:r>
              <a:endParaRPr b="1">
                <a:solidFill>
                  <a:srgbClr val="FFFFFF"/>
                </a:solidFill>
              </a:endParaRPr>
            </a:p>
          </p:txBody>
        </p:sp>
      </p:grpSp>
      <p:grpSp>
        <p:nvGrpSpPr>
          <p:cNvPr id="66" name="Google Shape;66;p14"/>
          <p:cNvGrpSpPr/>
          <p:nvPr/>
        </p:nvGrpSpPr>
        <p:grpSpPr>
          <a:xfrm>
            <a:off x="4017396" y="445829"/>
            <a:ext cx="1068600" cy="1068600"/>
            <a:chOff x="2859873" y="853971"/>
            <a:chExt cx="1068600" cy="1068600"/>
          </a:xfrm>
        </p:grpSpPr>
        <p:sp>
          <p:nvSpPr>
            <p:cNvPr id="67" name="Google Shape;67;p14"/>
            <p:cNvSpPr/>
            <p:nvPr/>
          </p:nvSpPr>
          <p:spPr>
            <a:xfrm>
              <a:off x="2859873" y="853971"/>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68" name="Google Shape;68;p14"/>
            <p:cNvSpPr txBox="1"/>
            <p:nvPr/>
          </p:nvSpPr>
          <p:spPr>
            <a:xfrm>
              <a:off x="3012800" y="1022197"/>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 sz="800">
                  <a:solidFill>
                    <a:srgbClr val="FFFFFF"/>
                  </a:solidFill>
                </a:rPr>
                <a:t>1.</a:t>
              </a:r>
              <a:r>
                <a:rPr b="1" lang="vi" sz="800">
                  <a:solidFill>
                    <a:srgbClr val="FFFFFF"/>
                  </a:solidFill>
                </a:rPr>
                <a:t>Mục đích chính của thông tin (Tiêu đề)</a:t>
              </a:r>
              <a:endParaRPr b="1" sz="800">
                <a:solidFill>
                  <a:srgbClr val="FFFFFF"/>
                </a:solidFill>
              </a:endParaRPr>
            </a:p>
          </p:txBody>
        </p:sp>
      </p:grpSp>
      <p:grpSp>
        <p:nvGrpSpPr>
          <p:cNvPr id="69" name="Google Shape;69;p14"/>
          <p:cNvGrpSpPr/>
          <p:nvPr/>
        </p:nvGrpSpPr>
        <p:grpSpPr>
          <a:xfrm>
            <a:off x="4007576" y="3633373"/>
            <a:ext cx="1068600" cy="1068600"/>
            <a:chOff x="5214448" y="3234278"/>
            <a:chExt cx="1068600" cy="1068600"/>
          </a:xfrm>
        </p:grpSpPr>
        <p:sp>
          <p:nvSpPr>
            <p:cNvPr id="70" name="Google Shape;70;p14"/>
            <p:cNvSpPr/>
            <p:nvPr/>
          </p:nvSpPr>
          <p:spPr>
            <a:xfrm>
              <a:off x="5214448" y="3234278"/>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71" name="Google Shape;71;p14"/>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 sz="800">
                  <a:solidFill>
                    <a:srgbClr val="FFFFFF"/>
                  </a:solidFill>
                </a:rPr>
                <a:t>3. </a:t>
              </a:r>
              <a:r>
                <a:rPr b="1" lang="vi" sz="800">
                  <a:solidFill>
                    <a:srgbClr val="FFFFFF"/>
                  </a:solidFill>
                </a:rPr>
                <a:t>Hiệu đính</a:t>
              </a:r>
              <a:endParaRPr b="1" sz="800">
                <a:solidFill>
                  <a:srgbClr val="FFFFFF"/>
                </a:solidFill>
              </a:endParaRPr>
            </a:p>
          </p:txBody>
        </p:sp>
      </p:grpSp>
      <p:grpSp>
        <p:nvGrpSpPr>
          <p:cNvPr id="72" name="Google Shape;72;p14"/>
          <p:cNvGrpSpPr/>
          <p:nvPr/>
        </p:nvGrpSpPr>
        <p:grpSpPr>
          <a:xfrm>
            <a:off x="2421251" y="2041025"/>
            <a:ext cx="1068600" cy="1068600"/>
            <a:chOff x="5214448" y="3234278"/>
            <a:chExt cx="1068600" cy="1068600"/>
          </a:xfrm>
        </p:grpSpPr>
        <p:sp>
          <p:nvSpPr>
            <p:cNvPr id="73" name="Google Shape;73;p14"/>
            <p:cNvSpPr/>
            <p:nvPr/>
          </p:nvSpPr>
          <p:spPr>
            <a:xfrm>
              <a:off x="5214448" y="3234278"/>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74" name="Google Shape;74;p14"/>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 sz="800">
                  <a:solidFill>
                    <a:srgbClr val="FFFFFF"/>
                  </a:solidFill>
                </a:rPr>
                <a:t>4. </a:t>
              </a:r>
              <a:r>
                <a:rPr b="1" lang="vi" sz="800">
                  <a:solidFill>
                    <a:srgbClr val="FFFFFF"/>
                  </a:solidFill>
                </a:rPr>
                <a:t>Chuyển ngữ</a:t>
              </a:r>
              <a:endParaRPr b="1" sz="800">
                <a:solidFill>
                  <a:srgbClr val="FFFFFF"/>
                </a:solidFill>
              </a:endParaRPr>
            </a:p>
          </p:txBody>
        </p:sp>
      </p:grpSp>
      <p:grpSp>
        <p:nvGrpSpPr>
          <p:cNvPr id="75" name="Google Shape;75;p14"/>
          <p:cNvGrpSpPr/>
          <p:nvPr/>
        </p:nvGrpSpPr>
        <p:grpSpPr>
          <a:xfrm>
            <a:off x="5606759" y="2041025"/>
            <a:ext cx="1068600" cy="1068600"/>
            <a:chOff x="5214448" y="3234278"/>
            <a:chExt cx="1068600" cy="1068600"/>
          </a:xfrm>
        </p:grpSpPr>
        <p:sp>
          <p:nvSpPr>
            <p:cNvPr id="76" name="Google Shape;76;p14"/>
            <p:cNvSpPr/>
            <p:nvPr/>
          </p:nvSpPr>
          <p:spPr>
            <a:xfrm>
              <a:off x="5214448" y="3234278"/>
              <a:ext cx="1068600" cy="1068600"/>
            </a:xfrm>
            <a:prstGeom prst="ellipse">
              <a:avLst/>
            </a:prstGeom>
            <a:solidFill>
              <a:srgbClr val="155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b="1"/>
            </a:p>
          </p:txBody>
        </p:sp>
        <p:sp>
          <p:nvSpPr>
            <p:cNvPr id="77" name="Google Shape;77;p14"/>
            <p:cNvSpPr txBox="1"/>
            <p:nvPr/>
          </p:nvSpPr>
          <p:spPr>
            <a:xfrm>
              <a:off x="5367375" y="3402503"/>
              <a:ext cx="762600" cy="7323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vi" sz="800">
                  <a:solidFill>
                    <a:srgbClr val="FFFFFF"/>
                  </a:solidFill>
                </a:rPr>
                <a:t>2. </a:t>
              </a:r>
              <a:r>
                <a:rPr b="1" lang="vi" sz="800">
                  <a:solidFill>
                    <a:srgbClr val="FFFFFF"/>
                  </a:solidFill>
                </a:rPr>
                <a:t>Xác định tính đầy đủ của thô ng tin (căn cứ, logic)</a:t>
              </a:r>
              <a:endParaRPr b="1" sz="800">
                <a:solidFill>
                  <a:srgbClr val="FFFFFF"/>
                </a:solidFill>
              </a:endParaRPr>
            </a:p>
          </p:txBody>
        </p:sp>
      </p:grpSp>
      <p:sp>
        <p:nvSpPr>
          <p:cNvPr id="78" name="Google Shape;78;p14"/>
          <p:cNvSpPr txBox="1"/>
          <p:nvPr/>
        </p:nvSpPr>
        <p:spPr>
          <a:xfrm>
            <a:off x="989575" y="574800"/>
            <a:ext cx="2105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2400"/>
              <a:t>4 bước xử lý</a:t>
            </a:r>
            <a:endParaRPr sz="24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5"/>
          <p:cNvSpPr/>
          <p:nvPr/>
        </p:nvSpPr>
        <p:spPr>
          <a:xfrm>
            <a:off x="4194359" y="456450"/>
            <a:ext cx="4762800" cy="42306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Title：Về việc xin thay đổi lịch nộp hàng lần này</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Dear anh Tanaka</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Tôi là An bên công ty ABC.</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Về việc nộp hàng lần này, trong quá trình phát triển đã phát sinh nhiều nội dung cần xác nhận dẫn đến mất thời gian hơn dự kiến. Thêm vào đó, khi test cũng phát sinh nhiều bug hơn dự kiến, nên cần phải test confirm lại chắc chắn sau khi fix bug.</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Hiện tại chúng tôi đang tập trung fix bug và re-test để đảm bảo chất lượng. Dự kiến là thứ 4 tuần sau sẽ hoàn thành. Vậy cho phép chúng tôi dờ </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i lịch nộp hàng sang thứ 4 tuần sau có được không.</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Chúng tôi thực sự xin lỗi, mong các bạn thông cảm và cân nhắc giúp chúng tôi.</a:t>
            </a:r>
            <a:endParaRPr sz="1100">
              <a:solidFill>
                <a:schemeClr val="dk1"/>
              </a:solidFill>
            </a:endParaRPr>
          </a:p>
          <a:p>
            <a:pPr indent="0" lvl="0" marL="0" rtl="0" algn="l">
              <a:lnSpc>
                <a:spcPct val="115000"/>
              </a:lnSpc>
              <a:spcBef>
                <a:spcPts val="1200"/>
              </a:spcBef>
              <a:spcAft>
                <a:spcPts val="1200"/>
              </a:spcAft>
              <a:buNone/>
            </a:pPr>
            <a:r>
              <a:rPr lang="vi" sz="1100">
                <a:solidFill>
                  <a:schemeClr val="dk1"/>
                </a:solidFill>
              </a:rPr>
              <a:t>Mong các bạn tiếp tục giúp đỡ. </a:t>
            </a:r>
            <a:endParaRPr b="1">
              <a:solidFill>
                <a:schemeClr val="dk1"/>
              </a:solidFill>
            </a:endParaRPr>
          </a:p>
        </p:txBody>
      </p:sp>
      <p:sp>
        <p:nvSpPr>
          <p:cNvPr id="84" name="Google Shape;84;p15"/>
          <p:cNvSpPr/>
          <p:nvPr/>
        </p:nvSpPr>
        <p:spPr>
          <a:xfrm>
            <a:off x="0" y="746825"/>
            <a:ext cx="4194600" cy="33171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“Em ơi dịch hộ anh cái này gửi cho khách với. </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Team mình ko làm kịp nên xin lùi </a:t>
            </a:r>
            <a:r>
              <a:rPr lang="vi" sz="1100">
                <a:solidFill>
                  <a:srgbClr val="FF0000"/>
                </a:solidFill>
              </a:rPr>
              <a:t>deadline nouhin. </a:t>
            </a:r>
            <a:br>
              <a:rPr lang="vi" sz="1100">
                <a:solidFill>
                  <a:srgbClr val="FF0000"/>
                </a:solidFill>
              </a:rPr>
            </a:br>
            <a:r>
              <a:rPr lang="vi" sz="1100">
                <a:solidFill>
                  <a:schemeClr val="dk1"/>
                </a:solidFill>
              </a:rPr>
              <a:t>Trong lúc </a:t>
            </a:r>
            <a:r>
              <a:rPr lang="vi" sz="1100">
                <a:solidFill>
                  <a:srgbClr val="FF0000"/>
                </a:solidFill>
              </a:rPr>
              <a:t>coding</a:t>
            </a:r>
            <a:r>
              <a:rPr lang="vi" sz="1100">
                <a:solidFill>
                  <a:schemeClr val="dk1"/>
                </a:solidFill>
              </a:rPr>
              <a:t> thì bên mình phát sinh nhiều cái phải xác nhận thêm quá, với lại test cũng phát sinh nhiều bug hơn dự kiến, nên cần phải</a:t>
            </a:r>
            <a:r>
              <a:rPr lang="vi" sz="1100">
                <a:solidFill>
                  <a:srgbClr val="FF0000"/>
                </a:solidFill>
              </a:rPr>
              <a:t> test confirm</a:t>
            </a:r>
            <a:r>
              <a:rPr lang="vi" sz="1100">
                <a:solidFill>
                  <a:schemeClr val="dk1"/>
                </a:solidFill>
              </a:rPr>
              <a:t> lại chắc chắn sau khi fix bug.</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Hiện tại, team đang tập trung</a:t>
            </a:r>
            <a:r>
              <a:rPr lang="vi" sz="1100">
                <a:solidFill>
                  <a:srgbClr val="FF0000"/>
                </a:solidFill>
              </a:rPr>
              <a:t> fix bug </a:t>
            </a:r>
            <a:r>
              <a:rPr lang="vi" sz="1100">
                <a:solidFill>
                  <a:schemeClr val="dk1"/>
                </a:solidFill>
              </a:rPr>
              <a:t>và </a:t>
            </a:r>
            <a:r>
              <a:rPr lang="vi" sz="1100">
                <a:solidFill>
                  <a:srgbClr val="FF0000"/>
                </a:solidFill>
              </a:rPr>
              <a:t>re-test</a:t>
            </a:r>
            <a:r>
              <a:rPr lang="vi" sz="1100">
                <a:solidFill>
                  <a:schemeClr val="dk1"/>
                </a:solidFill>
              </a:rPr>
              <a:t> để đảm bảo chất lượng. Dự kiến thứ 4 tuần sau là xong. Mong khách thông cảm và có thể cho mình dời lịch</a:t>
            </a:r>
            <a:r>
              <a:rPr lang="vi" sz="1100">
                <a:solidFill>
                  <a:srgbClr val="FF0000"/>
                </a:solidFill>
              </a:rPr>
              <a:t> deliver </a:t>
            </a:r>
            <a:r>
              <a:rPr lang="vi" sz="1100">
                <a:solidFill>
                  <a:schemeClr val="dk1"/>
                </a:solidFill>
              </a:rPr>
              <a:t>sang thứ Tư tuần sau có được không.</a:t>
            </a:r>
            <a:endParaRPr sz="1100">
              <a:solidFill>
                <a:schemeClr val="dk1"/>
              </a:solidFill>
            </a:endParaRPr>
          </a:p>
          <a:p>
            <a:pPr indent="0" lvl="0" marL="0" rtl="0" algn="l">
              <a:lnSpc>
                <a:spcPct val="115000"/>
              </a:lnSpc>
              <a:spcBef>
                <a:spcPts val="1200"/>
              </a:spcBef>
              <a:spcAft>
                <a:spcPts val="1200"/>
              </a:spcAft>
              <a:buNone/>
            </a:pPr>
            <a:r>
              <a:rPr lang="vi" sz="1100">
                <a:solidFill>
                  <a:schemeClr val="dk1"/>
                </a:solidFill>
              </a:rPr>
              <a:t>Nhớ nói sao cho chân thành và xin lỗi khách hộ anh nhé.”</a:t>
            </a:r>
            <a:endParaRPr b="1" sz="1100">
              <a:solidFill>
                <a:schemeClr val="dk1"/>
              </a:solidFill>
            </a:endParaRPr>
          </a:p>
        </p:txBody>
      </p:sp>
      <p:sp>
        <p:nvSpPr>
          <p:cNvPr id="85" name="Google Shape;85;p15"/>
          <p:cNvSpPr txBox="1"/>
          <p:nvPr/>
        </p:nvSpPr>
        <p:spPr>
          <a:xfrm>
            <a:off x="1577450" y="346625"/>
            <a:ext cx="851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a:t>Mail gốc</a:t>
            </a:r>
            <a:endParaRPr/>
          </a:p>
        </p:txBody>
      </p:sp>
      <p:sp>
        <p:nvSpPr>
          <p:cNvPr id="86" name="Google Shape;86;p15"/>
          <p:cNvSpPr txBox="1"/>
          <p:nvPr/>
        </p:nvSpPr>
        <p:spPr>
          <a:xfrm>
            <a:off x="5985275" y="56250"/>
            <a:ext cx="1401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a:t>Mail hiệu đính</a:t>
            </a:r>
            <a:endParaRPr/>
          </a:p>
        </p:txBody>
      </p:sp>
      <p:sp>
        <p:nvSpPr>
          <p:cNvPr id="87" name="Google Shape;87;p15"/>
          <p:cNvSpPr txBox="1"/>
          <p:nvPr/>
        </p:nvSpPr>
        <p:spPr>
          <a:xfrm>
            <a:off x="1903800" y="1450471"/>
            <a:ext cx="1509300" cy="2025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5"/>
          <p:cNvSpPr/>
          <p:nvPr/>
        </p:nvSpPr>
        <p:spPr>
          <a:xfrm>
            <a:off x="3276875" y="1178575"/>
            <a:ext cx="395700" cy="4002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vi"/>
              <a:t>1</a:t>
            </a:r>
            <a:endParaRPr/>
          </a:p>
        </p:txBody>
      </p:sp>
      <p:sp>
        <p:nvSpPr>
          <p:cNvPr id="89" name="Google Shape;89;p15"/>
          <p:cNvSpPr txBox="1"/>
          <p:nvPr/>
        </p:nvSpPr>
        <p:spPr>
          <a:xfrm>
            <a:off x="184350" y="1681563"/>
            <a:ext cx="3822300" cy="795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5"/>
          <p:cNvSpPr/>
          <p:nvPr/>
        </p:nvSpPr>
        <p:spPr>
          <a:xfrm>
            <a:off x="670775" y="2076975"/>
            <a:ext cx="395700" cy="4002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vi"/>
              <a:t>2</a:t>
            </a:r>
            <a:endParaRPr/>
          </a:p>
        </p:txBody>
      </p:sp>
      <p:sp>
        <p:nvSpPr>
          <p:cNvPr id="91" name="Google Shape;91;p15"/>
          <p:cNvSpPr txBox="1"/>
          <p:nvPr/>
        </p:nvSpPr>
        <p:spPr>
          <a:xfrm>
            <a:off x="827550" y="2596350"/>
            <a:ext cx="3179100" cy="1857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5"/>
          <p:cNvSpPr/>
          <p:nvPr/>
        </p:nvSpPr>
        <p:spPr>
          <a:xfrm>
            <a:off x="3878550" y="2489100"/>
            <a:ext cx="395700" cy="4002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vi"/>
              <a:t>3</a:t>
            </a:r>
            <a:endParaRPr/>
          </a:p>
        </p:txBody>
      </p:sp>
      <p:sp>
        <p:nvSpPr>
          <p:cNvPr id="93" name="Google Shape;93;p15"/>
          <p:cNvSpPr txBox="1"/>
          <p:nvPr/>
        </p:nvSpPr>
        <p:spPr>
          <a:xfrm>
            <a:off x="1013150" y="2803175"/>
            <a:ext cx="2028600" cy="1857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5"/>
          <p:cNvSpPr txBox="1"/>
          <p:nvPr/>
        </p:nvSpPr>
        <p:spPr>
          <a:xfrm>
            <a:off x="233825" y="2976350"/>
            <a:ext cx="3772800" cy="4002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a:off x="728125" y="2695925"/>
            <a:ext cx="395700" cy="4002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vi"/>
              <a:t>4</a:t>
            </a:r>
            <a:endParaRPr/>
          </a:p>
        </p:txBody>
      </p:sp>
      <p:sp>
        <p:nvSpPr>
          <p:cNvPr id="96" name="Google Shape;96;p15"/>
          <p:cNvSpPr/>
          <p:nvPr/>
        </p:nvSpPr>
        <p:spPr>
          <a:xfrm>
            <a:off x="1805150" y="3096125"/>
            <a:ext cx="395700" cy="400200"/>
          </a:xfrm>
          <a:prstGeom prst="flowChartConnector">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vi"/>
              <a:t>5</a:t>
            </a:r>
            <a:endParaRPr/>
          </a:p>
        </p:txBody>
      </p:sp>
      <p:sp>
        <p:nvSpPr>
          <p:cNvPr id="97" name="Google Shape;97;p15"/>
          <p:cNvSpPr txBox="1"/>
          <p:nvPr/>
        </p:nvSpPr>
        <p:spPr>
          <a:xfrm>
            <a:off x="159600" y="3925554"/>
            <a:ext cx="38718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a:t>1 Mục đích -&gt; 2 Bối cảnh  </a:t>
            </a:r>
            <a:endParaRPr/>
          </a:p>
          <a:p>
            <a:pPr indent="0" lvl="0" marL="0" rtl="0" algn="l">
              <a:spcBef>
                <a:spcPts val="0"/>
              </a:spcBef>
              <a:spcAft>
                <a:spcPts val="0"/>
              </a:spcAft>
              <a:buNone/>
            </a:pPr>
            <a:r>
              <a:rPr lang="vi"/>
              <a:t>hiện trạng -&gt; 3 Action/Solution -&gt; 4 Dự kiến plan -&gt; 5 Nhờ vả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p:nvPr/>
        </p:nvSpPr>
        <p:spPr>
          <a:xfrm>
            <a:off x="0" y="737350"/>
            <a:ext cx="4012500" cy="38634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Title</a:t>
            </a:r>
            <a:r>
              <a:rPr lang="vi" sz="1100">
                <a:solidFill>
                  <a:schemeClr val="dk1"/>
                </a:solidFill>
                <a:latin typeface="MS Mincho"/>
                <a:ea typeface="MS Mincho"/>
                <a:cs typeface="MS Mincho"/>
                <a:sym typeface="MS Mincho"/>
              </a:rPr>
              <a:t>：</a:t>
            </a:r>
            <a:r>
              <a:rPr lang="vi" sz="1100">
                <a:solidFill>
                  <a:schemeClr val="dk1"/>
                </a:solidFill>
              </a:rPr>
              <a:t>Về việc xin thay đổi lịch nộp hàng lần này</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Dear anh Tanaka</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Tôi là An bên công ty ABC.</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Về việc nộp hàng lần này, trong quá trình phát triển đã phát sinh nhiều nội dung cần xác nhận dẫn đến mất thời gian hơn dự kiến. Thêm vào đó, khi test cũng phát sinh nhiều bug hơn dự kiến, nên cần phải test confirm lại chắc chắn sau khi fix bug.</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Hiện tại chúng tôi đang tập trung fix bug và re-test để đảm bảo chất lượng. Dự kiến là thứ 4 tuần sau sẽ hoàn thành. Vậy cho phép chúng tôi dời lịch nộp hàng sang thứ 4 tuần sau có được không.</a:t>
            </a:r>
            <a:endParaRPr sz="1100">
              <a:solidFill>
                <a:schemeClr val="dk1"/>
              </a:solidFill>
            </a:endParaRPr>
          </a:p>
          <a:p>
            <a:pPr indent="0" lvl="0" marL="0" rtl="0" algn="l">
              <a:lnSpc>
                <a:spcPct val="115000"/>
              </a:lnSpc>
              <a:spcBef>
                <a:spcPts val="1200"/>
              </a:spcBef>
              <a:spcAft>
                <a:spcPts val="0"/>
              </a:spcAft>
              <a:buClr>
                <a:srgbClr val="000000"/>
              </a:buClr>
              <a:buSzPts val="1100"/>
              <a:buFont typeface="Arial"/>
              <a:buNone/>
            </a:pPr>
            <a:r>
              <a:rPr lang="vi" sz="1100">
                <a:solidFill>
                  <a:schemeClr val="dk1"/>
                </a:solidFill>
              </a:rPr>
              <a:t>Chúng tôi thực sự xin lỗi, mong các bạn thông cảm và cân nhắc giúp chúng tôi.</a:t>
            </a:r>
            <a:endParaRPr sz="1100">
              <a:solidFill>
                <a:schemeClr val="dk1"/>
              </a:solidFill>
            </a:endParaRPr>
          </a:p>
          <a:p>
            <a:pPr indent="0" lvl="0" marL="0" rtl="0" algn="l">
              <a:lnSpc>
                <a:spcPct val="115000"/>
              </a:lnSpc>
              <a:spcBef>
                <a:spcPts val="1200"/>
              </a:spcBef>
              <a:spcAft>
                <a:spcPts val="1200"/>
              </a:spcAft>
              <a:buNone/>
            </a:pPr>
            <a:r>
              <a:rPr lang="vi" sz="1100">
                <a:solidFill>
                  <a:schemeClr val="dk1"/>
                </a:solidFill>
              </a:rPr>
              <a:t>Mong các bạn tiếp tục giúp đỡ. </a:t>
            </a:r>
            <a:endParaRPr b="1">
              <a:solidFill>
                <a:schemeClr val="dk1"/>
              </a:solidFill>
            </a:endParaRPr>
          </a:p>
        </p:txBody>
      </p:sp>
      <p:sp>
        <p:nvSpPr>
          <p:cNvPr id="103" name="Google Shape;103;p16"/>
          <p:cNvSpPr/>
          <p:nvPr/>
        </p:nvSpPr>
        <p:spPr>
          <a:xfrm>
            <a:off x="3825300" y="-150"/>
            <a:ext cx="5318700" cy="5143500"/>
          </a:xfrm>
          <a:prstGeom prst="roundRect">
            <a:avLst>
              <a:gd fmla="val 16667" name="adj"/>
            </a:avLst>
          </a:prstGeom>
          <a:solidFill>
            <a:srgbClr val="FFF5F5"/>
          </a:solid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vi" sz="900">
                <a:solidFill>
                  <a:schemeClr val="dk1"/>
                </a:solidFill>
              </a:rPr>
              <a:t>件名： 今回の納品日変更のお願い </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株式会社XYZ</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 田中様 </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いつもお世話になっております。 </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株式会社ABCのアンでございます。 </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今回の納品につきまして、開発工程で確認すべき事項が多く発生し、当初の予定より時間を要している状況です。 さらに、テスト工程で想定以上の不具合が発生したため、修正後の再テストを確実に行う必要がございます。</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 現在は品質を確保するため、バグ修正と再テストを集中的に進めております。 誠に恐縮ですが、納品日を来週の水曜日まで延期させていただけないでしょうか。</a:t>
            </a:r>
            <a:endParaRPr sz="900">
              <a:solidFill>
                <a:schemeClr val="dk1"/>
              </a:solidFill>
            </a:endParaRPr>
          </a:p>
          <a:p>
            <a:pPr indent="0" lvl="0" marL="0" rtl="0" algn="l">
              <a:lnSpc>
                <a:spcPct val="115000"/>
              </a:lnSpc>
              <a:spcBef>
                <a:spcPts val="1200"/>
              </a:spcBef>
              <a:spcAft>
                <a:spcPts val="0"/>
              </a:spcAft>
              <a:buNone/>
            </a:pPr>
            <a:r>
              <a:rPr lang="vi" sz="900">
                <a:solidFill>
                  <a:schemeClr val="dk1"/>
                </a:solidFill>
              </a:rPr>
              <a:t>この度はご迷惑をおかけしてしまい、大変申し訳ございません。 何卒ご理解・ご検討のほど、よろしくお願い申し上げます。 </a:t>
            </a:r>
            <a:endParaRPr sz="900">
              <a:solidFill>
                <a:schemeClr val="dk1"/>
              </a:solidFill>
            </a:endParaRPr>
          </a:p>
          <a:p>
            <a:pPr indent="0" lvl="0" marL="0" rtl="0" algn="l">
              <a:lnSpc>
                <a:spcPct val="115000"/>
              </a:lnSpc>
              <a:spcBef>
                <a:spcPts val="1200"/>
              </a:spcBef>
              <a:spcAft>
                <a:spcPts val="0"/>
              </a:spcAft>
              <a:buNone/>
            </a:pPr>
            <a:r>
              <a:t/>
            </a:r>
            <a:endParaRPr sz="900">
              <a:solidFill>
                <a:schemeClr val="dk1"/>
              </a:solidFill>
            </a:endParaRPr>
          </a:p>
          <a:p>
            <a:pPr indent="0" lvl="0" marL="0" rtl="0" algn="l">
              <a:lnSpc>
                <a:spcPct val="115000"/>
              </a:lnSpc>
              <a:spcBef>
                <a:spcPts val="1200"/>
              </a:spcBef>
              <a:spcAft>
                <a:spcPts val="1200"/>
              </a:spcAft>
              <a:buNone/>
            </a:pPr>
            <a:r>
              <a:rPr lang="vi" sz="900">
                <a:solidFill>
                  <a:schemeClr val="dk1"/>
                </a:solidFill>
              </a:rPr>
              <a:t>引き続きどうぞよろしくお願いいたします。</a:t>
            </a:r>
            <a:endParaRPr sz="900">
              <a:solidFill>
                <a:schemeClr val="dk1"/>
              </a:solidFill>
            </a:endParaRPr>
          </a:p>
        </p:txBody>
      </p:sp>
      <p:sp>
        <p:nvSpPr>
          <p:cNvPr id="104" name="Google Shape;104;p16"/>
          <p:cNvSpPr txBox="1"/>
          <p:nvPr/>
        </p:nvSpPr>
        <p:spPr>
          <a:xfrm>
            <a:off x="456500" y="217800"/>
            <a:ext cx="637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vi" sz="1800"/>
              <a:t>Bài chữa mẫu</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7"/>
          <p:cNvSpPr txBox="1"/>
          <p:nvPr>
            <p:ph idx="1" type="body"/>
          </p:nvPr>
        </p:nvSpPr>
        <p:spPr>
          <a:xfrm>
            <a:off x="311700" y="1152475"/>
            <a:ext cx="8520600" cy="3416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