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Lato"/>
      <p:regular r:id="rId9"/>
      <p:bold r:id="rId10"/>
      <p:italic r:id="rId11"/>
      <p:boldItalic r:id="rId12"/>
    </p:embeddedFont>
    <p:embeddedFont>
      <p:font typeface="Manrope ExtraBold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italic.fntdata"/><Relationship Id="rId10" Type="http://schemas.openxmlformats.org/officeDocument/2006/relationships/font" Target="fonts/Lato-bold.fntdata"/><Relationship Id="rId13" Type="http://schemas.openxmlformats.org/officeDocument/2006/relationships/font" Target="fonts/ManropeExtraBold-bold.fntdata"/><Relationship Id="rId12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1096f3a80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1096f3a80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1096f3a80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1096f3a80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1096f3a80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1096f3a80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0" y="505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-48150" y="5252875"/>
            <a:ext cx="8520600" cy="25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talog Slide" showMasterSp="0">
  <p:cSld name="Catalog Slid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3283436"/>
            <a:ext cx="1863699" cy="1860064"/>
          </a:xfrm>
          <a:custGeom>
            <a:rect b="b" l="l" r="r" t="t"/>
            <a:pathLst>
              <a:path extrusionOk="0" h="2480085" w="2484932">
                <a:moveTo>
                  <a:pt x="309827" y="0"/>
                </a:moveTo>
                <a:cubicBezTo>
                  <a:pt x="1511104" y="0"/>
                  <a:pt x="2484932" y="974408"/>
                  <a:pt x="2484932" y="2176401"/>
                </a:cubicBezTo>
                <a:cubicBezTo>
                  <a:pt x="2484932" y="2251526"/>
                  <a:pt x="2481128" y="2325761"/>
                  <a:pt x="2473703" y="2398926"/>
                </a:cubicBezTo>
                <a:lnTo>
                  <a:pt x="2461324" y="2480085"/>
                </a:lnTo>
                <a:lnTo>
                  <a:pt x="0" y="2480085"/>
                </a:lnTo>
                <a:lnTo>
                  <a:pt x="0" y="24589"/>
                </a:lnTo>
                <a:lnTo>
                  <a:pt x="87435" y="11237"/>
                </a:lnTo>
                <a:cubicBezTo>
                  <a:pt x="160556" y="3807"/>
                  <a:pt x="234747" y="0"/>
                  <a:pt x="309827" y="0"/>
                </a:cubicBezTo>
                <a:close/>
              </a:path>
            </a:pathLst>
          </a:custGeom>
          <a:solidFill>
            <a:srgbClr val="FED48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5256" y="3086100"/>
            <a:ext cx="1604772" cy="16047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1337310" y="1373029"/>
            <a:ext cx="2513400" cy="24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anrope ExtraBold"/>
              <a:buChar char="●"/>
              <a:defRPr b="1" sz="35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/>
          <p:nvPr/>
        </p:nvSpPr>
        <p:spPr>
          <a:xfrm>
            <a:off x="1932597" y="4402044"/>
            <a:ext cx="152295" cy="741456"/>
          </a:xfrm>
          <a:custGeom>
            <a:rect b="b" l="l" r="r" t="t"/>
            <a:pathLst>
              <a:path extrusionOk="0" h="988608" w="203060">
                <a:moveTo>
                  <a:pt x="42778" y="0"/>
                </a:moveTo>
                <a:cubicBezTo>
                  <a:pt x="66188" y="0"/>
                  <a:pt x="85165" y="18977"/>
                  <a:pt x="85165" y="42387"/>
                </a:cubicBezTo>
                <a:lnTo>
                  <a:pt x="84788" y="43297"/>
                </a:lnTo>
                <a:lnTo>
                  <a:pt x="86463" y="43297"/>
                </a:lnTo>
                <a:lnTo>
                  <a:pt x="138259" y="244742"/>
                </a:lnTo>
                <a:cubicBezTo>
                  <a:pt x="180747" y="452376"/>
                  <a:pt x="203060" y="667360"/>
                  <a:pt x="203060" y="887555"/>
                </a:cubicBezTo>
                <a:lnTo>
                  <a:pt x="197958" y="988608"/>
                </a:lnTo>
                <a:lnTo>
                  <a:pt x="114136" y="988608"/>
                </a:lnTo>
                <a:lnTo>
                  <a:pt x="119238" y="887555"/>
                </a:lnTo>
                <a:cubicBezTo>
                  <a:pt x="119238" y="673147"/>
                  <a:pt x="97512" y="463813"/>
                  <a:pt x="56140" y="261635"/>
                </a:cubicBezTo>
                <a:lnTo>
                  <a:pt x="0" y="43297"/>
                </a:lnTo>
                <a:lnTo>
                  <a:pt x="768" y="43297"/>
                </a:lnTo>
                <a:lnTo>
                  <a:pt x="391" y="42387"/>
                </a:lnTo>
                <a:cubicBezTo>
                  <a:pt x="391" y="18977"/>
                  <a:pt x="19368" y="0"/>
                  <a:pt x="42778" y="0"/>
                </a:cubicBezTo>
                <a:close/>
              </a:path>
            </a:pathLst>
          </a:custGeom>
          <a:solidFill>
            <a:srgbClr val="FFD48A">
              <a:alpha val="400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3040893"/>
            <a:ext cx="1167066" cy="348629"/>
          </a:xfrm>
          <a:custGeom>
            <a:rect b="b" l="l" r="r" t="t"/>
            <a:pathLst>
              <a:path extrusionOk="0" h="464839" w="1556088">
                <a:moveTo>
                  <a:pt x="138304" y="0"/>
                </a:moveTo>
                <a:cubicBezTo>
                  <a:pt x="609550" y="0"/>
                  <a:pt x="1052913" y="119382"/>
                  <a:pt x="1439800" y="329551"/>
                </a:cubicBezTo>
                <a:lnTo>
                  <a:pt x="1530165" y="384449"/>
                </a:lnTo>
                <a:lnTo>
                  <a:pt x="1529608" y="385365"/>
                </a:lnTo>
                <a:lnTo>
                  <a:pt x="1543435" y="391092"/>
                </a:lnTo>
                <a:cubicBezTo>
                  <a:pt x="1551253" y="398910"/>
                  <a:pt x="1556088" y="409710"/>
                  <a:pt x="1556088" y="421639"/>
                </a:cubicBezTo>
                <a:cubicBezTo>
                  <a:pt x="1556088" y="445498"/>
                  <a:pt x="1536747" y="464839"/>
                  <a:pt x="1512888" y="464839"/>
                </a:cubicBezTo>
                <a:cubicBezTo>
                  <a:pt x="1500959" y="464839"/>
                  <a:pt x="1490159" y="460004"/>
                  <a:pt x="1482341" y="452186"/>
                </a:cubicBezTo>
                <a:lnTo>
                  <a:pt x="1481940" y="451219"/>
                </a:lnTo>
                <a:lnTo>
                  <a:pt x="1400624" y="401819"/>
                </a:lnTo>
                <a:cubicBezTo>
                  <a:pt x="1025383" y="197975"/>
                  <a:pt x="595365" y="82187"/>
                  <a:pt x="138304" y="82187"/>
                </a:cubicBezTo>
                <a:lnTo>
                  <a:pt x="0" y="89171"/>
                </a:lnTo>
                <a:lnTo>
                  <a:pt x="0" y="6984"/>
                </a:lnTo>
                <a:close/>
              </a:path>
            </a:pathLst>
          </a:custGeom>
          <a:solidFill>
            <a:srgbClr val="FFD48A">
              <a:alpha val="337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52197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6565487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A2F4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  <p:sp>
        <p:nvSpPr>
          <p:cNvPr id="7" name="Google Shape;7;p1"/>
          <p:cNvSpPr txBox="1"/>
          <p:nvPr/>
        </p:nvSpPr>
        <p:spPr>
          <a:xfrm>
            <a:off x="907521" y="4522151"/>
            <a:ext cx="1839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950" lIns="19950" spcFirstLastPara="1" rIns="19950" wrap="square" tIns="19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br>
              <a:rPr b="1" lang="vi" sz="1200">
                <a:solidFill>
                  <a:srgbClr val="CA2F47"/>
                </a:solidFill>
              </a:rPr>
            </a:br>
            <a:r>
              <a:rPr b="1" lang="vi" sz="1200">
                <a:solidFill>
                  <a:srgbClr val="CA2F47"/>
                </a:solidFill>
              </a:rPr>
              <a:t>Đồng hành cùng bạn !</a:t>
            </a:r>
            <a:endParaRPr b="1" sz="1200">
              <a:solidFill>
                <a:srgbClr val="CA2F47"/>
              </a:solidFill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162600" y="140100"/>
            <a:ext cx="8818800" cy="4863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 title="Logo trong suốt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53938" y="4274776"/>
            <a:ext cx="653575" cy="6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850825" y="4449988"/>
            <a:ext cx="183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Quỳnh Nga IT</a:t>
            </a:r>
            <a:endParaRPr b="1" sz="1200">
              <a:solidFill>
                <a:srgbClr val="CA2F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1200">
                <a:solidFill>
                  <a:srgbClr val="CA2F47"/>
                </a:solidFill>
              </a:rPr>
              <a:t>Đồng hành cùng bạn</a:t>
            </a:r>
            <a:endParaRPr b="1" sz="1200">
              <a:solidFill>
                <a:srgbClr val="CA2F47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document/d/1ODn09404tWJU9iFpby5naoEKOg7Z5Hle/edit?usp=sharing&amp;ouid=104416917441975431198&amp;rtpof=true&amp;sd=true" TargetMode="External"/><Relationship Id="rId4" Type="http://schemas.openxmlformats.org/officeDocument/2006/relationships/hyperlink" Target="https://docs.google.com/document/d/1hbad5-rsIEc9jA8YA5R5UcqjmvxvUa_U/edit?usp=sharing&amp;ouid=104416917441975431198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Dùng Google Docs</a:t>
            </a:r>
            <a:endParaRPr b="1" sz="3600">
              <a:solidFill>
                <a:srgbClr val="351C75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28075" y="1015350"/>
            <a:ext cx="7942500" cy="31398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Là tính năng Google Dịch tích hợp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✅ Dễ sử dụng, giữ định dạng gốc tốt.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✅ Cho ra bản dịch nhanh chóng, dễ dàng chia sẻ.</a:t>
            </a:r>
            <a:endParaRPr>
              <a:solidFill>
                <a:srgbClr val="351C7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351C75"/>
                </a:solidFill>
              </a:rPr>
              <a:t>✅ </a:t>
            </a:r>
            <a:r>
              <a:rPr b="1" lang="vi">
                <a:solidFill>
                  <a:srgbClr val="351C75"/>
                </a:solidFill>
              </a:rPr>
              <a:t>Thuận tiện trong việc tạo tài liệu báo cáo…cần dịch sang tiếng Nhật</a:t>
            </a:r>
            <a:endParaRPr b="1">
              <a:solidFill>
                <a:srgbClr val="351C75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vi" sz="1800">
                <a:solidFill>
                  <a:srgbClr val="351C75"/>
                </a:solidFill>
              </a:rPr>
              <a:t>👉</a:t>
            </a:r>
            <a:r>
              <a:rPr lang="vi" sz="1800">
                <a:solidFill>
                  <a:srgbClr val="351C75"/>
                </a:solidFill>
              </a:rPr>
              <a:t> Nên </a:t>
            </a:r>
            <a:r>
              <a:rPr b="1" lang="vi" sz="1800">
                <a:solidFill>
                  <a:srgbClr val="351C75"/>
                </a:solidFill>
              </a:rPr>
              <a:t>dùng trong trường hợp cần dịch nhanh để hiểu sơ bộ nội dung tổng quan</a:t>
            </a:r>
            <a:r>
              <a:rPr lang="vi" sz="1800">
                <a:solidFill>
                  <a:srgbClr val="351C75"/>
                </a:solidFill>
              </a:rPr>
              <a:t>, sau đó cần review lại.</a:t>
            </a:r>
            <a:endParaRPr sz="1800"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Hướng dẫn sử dụng</a:t>
            </a:r>
            <a:endParaRPr b="1" sz="3600">
              <a:solidFill>
                <a:srgbClr val="351C75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528075" y="1015350"/>
            <a:ext cx="7942500" cy="31398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Mở tài liệu trong Google Docs</a:t>
            </a:r>
            <a:endParaRPr sz="1800">
              <a:solidFill>
                <a:srgbClr val="351C75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800">
                <a:solidFill>
                  <a:srgbClr val="351C75"/>
                </a:solidFill>
              </a:rPr>
              <a:t>Trường hợp là file .docx thì cần “Lưu dưới dạng Google tài liệu”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Vào menu </a:t>
            </a:r>
            <a:r>
              <a:rPr b="1" lang="vi" sz="1800">
                <a:solidFill>
                  <a:srgbClr val="351C75"/>
                </a:solidFill>
              </a:rPr>
              <a:t>Tools (Công cụ)</a:t>
            </a:r>
            <a:r>
              <a:rPr lang="vi" sz="1800">
                <a:solidFill>
                  <a:srgbClr val="351C75"/>
                </a:solidFill>
              </a:rPr>
              <a:t> → </a:t>
            </a:r>
            <a:r>
              <a:rPr b="1" lang="vi" sz="1800">
                <a:solidFill>
                  <a:srgbClr val="351C75"/>
                </a:solidFill>
              </a:rPr>
              <a:t>Translate Document (Dịch tài liệu)</a:t>
            </a:r>
            <a:r>
              <a:rPr lang="vi" sz="1800">
                <a:solidFill>
                  <a:srgbClr val="351C75"/>
                </a:solidFill>
              </a:rPr>
              <a:t> </a:t>
            </a:r>
            <a:endParaRPr sz="1800">
              <a:solidFill>
                <a:srgbClr val="351C75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AutoNum type="arabicPeriod"/>
            </a:pPr>
            <a:r>
              <a:rPr lang="vi" sz="1800">
                <a:solidFill>
                  <a:srgbClr val="351C75"/>
                </a:solidFill>
              </a:rPr>
              <a:t>Chọn ngôn ngữ → Google tạo bản sao tài liệu đã dịch.</a:t>
            </a:r>
            <a:endParaRPr>
              <a:solidFill>
                <a:srgbClr val="351C7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2F47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60950" y="276450"/>
            <a:ext cx="882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vi" sz="3600">
                <a:solidFill>
                  <a:srgbClr val="351C75"/>
                </a:solidFill>
              </a:rPr>
              <a:t>Thực hành</a:t>
            </a:r>
            <a:endParaRPr sz="3600">
              <a:solidFill>
                <a:srgbClr val="351C75"/>
              </a:solidFill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12000" y="1071300"/>
            <a:ext cx="8115300" cy="31398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AutoNum type="arabicPeriod"/>
            </a:pPr>
            <a:r>
              <a:rPr lang="vi" sz="1600">
                <a:solidFill>
                  <a:srgbClr val="351C75"/>
                </a:solidFill>
                <a:highlight>
                  <a:srgbClr val="FFF5F5"/>
                </a:highlight>
              </a:rPr>
              <a:t>Sử dụng công cụ dịch của Google Docs, chạy dịch file sau sang tiếng Việt</a:t>
            </a:r>
            <a:r>
              <a:rPr lang="vi" sz="1600">
                <a:solidFill>
                  <a:srgbClr val="351C75"/>
                </a:solidFill>
                <a:highlight>
                  <a:srgbClr val="FFF5F5"/>
                </a:highlight>
              </a:rPr>
              <a:t>  </a:t>
            </a:r>
            <a:r>
              <a:rPr lang="vi" sz="1600" u="sng">
                <a:solidFill>
                  <a:schemeClr val="hlink"/>
                </a:solidFill>
                <a:highlight>
                  <a:srgbClr val="FFF5F5"/>
                </a:highlight>
                <a:hlinkClick r:id="rId3"/>
              </a:rPr>
              <a:t>https://docs.google.com/document/d/1ODn09404tWJU9iFpby5naoEKOg7Z5Hle/edit?usp=sharing&amp;ouid=104416917441975431198&amp;rtpof=true&amp;sd=true</a:t>
            </a:r>
            <a:r>
              <a:rPr lang="vi" sz="1600">
                <a:solidFill>
                  <a:srgbClr val="351C75"/>
                </a:solidFill>
                <a:highlight>
                  <a:srgbClr val="FFF5F5"/>
                </a:highlight>
              </a:rPr>
              <a:t> </a:t>
            </a:r>
            <a:endParaRPr sz="1600">
              <a:solidFill>
                <a:srgbClr val="351C75"/>
              </a:solidFill>
              <a:highlight>
                <a:srgbClr val="FFF5F5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51C75"/>
              </a:solidFill>
              <a:highlight>
                <a:srgbClr val="FFF5F5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600"/>
              <a:buAutoNum type="arabicPeriod"/>
            </a:pPr>
            <a:r>
              <a:rPr lang="vi" sz="1600">
                <a:solidFill>
                  <a:srgbClr val="351C75"/>
                </a:solidFill>
                <a:highlight>
                  <a:srgbClr val="FFF5F5"/>
                </a:highlight>
              </a:rPr>
              <a:t>S</a:t>
            </a:r>
            <a:r>
              <a:rPr lang="vi" sz="1600">
                <a:solidFill>
                  <a:srgbClr val="351C75"/>
                </a:solidFill>
                <a:highlight>
                  <a:srgbClr val="FFF5F5"/>
                </a:highlight>
              </a:rPr>
              <a:t>ử dụng công cụ dịch của Google Docs, chạy dịch file sau sang tiếng Nhật.</a:t>
            </a:r>
            <a:endParaRPr sz="1600">
              <a:solidFill>
                <a:srgbClr val="351C75"/>
              </a:solidFill>
              <a:highlight>
                <a:srgbClr val="FFF5F5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 u="sng">
                <a:solidFill>
                  <a:schemeClr val="hlink"/>
                </a:solidFill>
                <a:highlight>
                  <a:srgbClr val="FFF5F5"/>
                </a:highlight>
                <a:hlinkClick r:id="rId4"/>
              </a:rPr>
              <a:t>https://docs.google.com/document/d/1hbad5-rsIEc9jA8YA5R5UcqjmvxvUa_U/edit?usp=sharing&amp;ouid=104416917441975431198&amp;rtpof=true&amp;sd=true</a:t>
            </a:r>
            <a:r>
              <a:rPr lang="vi" sz="1600">
                <a:solidFill>
                  <a:srgbClr val="351C75"/>
                </a:solidFill>
                <a:highlight>
                  <a:srgbClr val="FFF5F5"/>
                </a:highlight>
              </a:rPr>
              <a:t> </a:t>
            </a:r>
            <a:endParaRPr sz="1600">
              <a:solidFill>
                <a:srgbClr val="351C75"/>
              </a:solidFill>
              <a:highlight>
                <a:srgbClr val="FFF5F5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áng nhẹ tự tạ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