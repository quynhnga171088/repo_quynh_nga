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Nunito"/>
      <p:regular r:id="rId25"/>
      <p:bold r:id="rId26"/>
      <p:italic r:id="rId27"/>
      <p:boldItalic r:id="rId28"/>
    </p:embeddedFont>
    <p:embeddedFont>
      <p:font typeface="Montserrat"/>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http://customooxmlschemas.google.com/">
      <go:slidesCustomData xmlns:go="http://customooxmlschemas.google.com/" r:id="rId33" roundtripDataSignature="AMtx7mjcWSBY/zKYKabpkebnFSdgZ4rz5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bold.fntdata"/><Relationship Id="rId25" Type="http://schemas.openxmlformats.org/officeDocument/2006/relationships/font" Target="fonts/Nunito-regular.fntdata"/><Relationship Id="rId28" Type="http://schemas.openxmlformats.org/officeDocument/2006/relationships/font" Target="fonts/Nunito-boldItalic.fntdata"/><Relationship Id="rId27" Type="http://schemas.openxmlformats.org/officeDocument/2006/relationships/font" Target="fonts/Nunit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italic.fntdata"/><Relationship Id="rId30" Type="http://schemas.openxmlformats.org/officeDocument/2006/relationships/font" Target="fonts/Montserrat-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Montserrat-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0b28ca41f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0b28ca41f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0e45e625f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0e45e625f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0e45e625f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0e45e625f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0e45e625f2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0e45e625f2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0e45e625f2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0e45e625f2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0e45e625f2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10e45e625f2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0e45e625f2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0e45e625f2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0e45e625f2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0e45e625f2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0e45e625f2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0e45e625f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0e45e625f2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0e45e625f2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0e45e625f2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0e45e625f2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0e45e625f2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10e45e625f2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18"/>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18"/>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8"/>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8"/>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 name="Google Shape;14;p18"/>
          <p:cNvGrpSpPr/>
          <p:nvPr/>
        </p:nvGrpSpPr>
        <p:grpSpPr>
          <a:xfrm>
            <a:off x="255200" y="592"/>
            <a:ext cx="2250363" cy="1044300"/>
            <a:chOff x="255200" y="592"/>
            <a:chExt cx="2250363" cy="1044300"/>
          </a:xfrm>
        </p:grpSpPr>
        <p:sp>
          <p:nvSpPr>
            <p:cNvPr id="15" name="Google Shape;15;p18"/>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18"/>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8"/>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 name="Google Shape;18;p18"/>
          <p:cNvGrpSpPr/>
          <p:nvPr/>
        </p:nvGrpSpPr>
        <p:grpSpPr>
          <a:xfrm>
            <a:off x="905395" y="592"/>
            <a:ext cx="2250363" cy="1044300"/>
            <a:chOff x="905395" y="592"/>
            <a:chExt cx="2250363" cy="1044300"/>
          </a:xfrm>
        </p:grpSpPr>
        <p:sp>
          <p:nvSpPr>
            <p:cNvPr id="19" name="Google Shape;19;p18"/>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8"/>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18"/>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 name="Google Shape;22;p18"/>
          <p:cNvGrpSpPr/>
          <p:nvPr/>
        </p:nvGrpSpPr>
        <p:grpSpPr>
          <a:xfrm>
            <a:off x="7057468" y="5088"/>
            <a:ext cx="1851281" cy="752108"/>
            <a:chOff x="6917201" y="0"/>
            <a:chExt cx="2227776" cy="863400"/>
          </a:xfrm>
        </p:grpSpPr>
        <p:sp>
          <p:nvSpPr>
            <p:cNvPr id="23" name="Google Shape;23;p18"/>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18"/>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18"/>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 name="Google Shape;26;p18"/>
          <p:cNvGrpSpPr/>
          <p:nvPr/>
        </p:nvGrpSpPr>
        <p:grpSpPr>
          <a:xfrm>
            <a:off x="6553032" y="4217852"/>
            <a:ext cx="2389067" cy="925737"/>
            <a:chOff x="6917201" y="0"/>
            <a:chExt cx="2227776" cy="863400"/>
          </a:xfrm>
        </p:grpSpPr>
        <p:sp>
          <p:nvSpPr>
            <p:cNvPr id="27" name="Google Shape;27;p18"/>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18"/>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18"/>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 name="Google Shape;30;p18"/>
          <p:cNvGrpSpPr/>
          <p:nvPr/>
        </p:nvGrpSpPr>
        <p:grpSpPr>
          <a:xfrm>
            <a:off x="199149" y="4055652"/>
            <a:ext cx="2795412" cy="1083308"/>
            <a:chOff x="6917201" y="0"/>
            <a:chExt cx="2227776" cy="863400"/>
          </a:xfrm>
        </p:grpSpPr>
        <p:sp>
          <p:nvSpPr>
            <p:cNvPr id="31" name="Google Shape;31;p1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1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1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 name="Google Shape;34;p18"/>
          <p:cNvSpPr txBox="1"/>
          <p:nvPr>
            <p:ph type="ctrTitle"/>
          </p:nvPr>
        </p:nvSpPr>
        <p:spPr>
          <a:xfrm>
            <a:off x="1858703" y="1822833"/>
            <a:ext cx="5361300" cy="1448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35" name="Google Shape;35;p18"/>
          <p:cNvSpPr txBox="1"/>
          <p:nvPr>
            <p:ph idx="1" type="subTitle"/>
          </p:nvPr>
        </p:nvSpPr>
        <p:spPr>
          <a:xfrm>
            <a:off x="1858700" y="3413158"/>
            <a:ext cx="5361300" cy="52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18"/>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37" name="Shape 37"/>
        <p:cNvGrpSpPr/>
        <p:nvPr/>
      </p:nvGrpSpPr>
      <p:grpSpPr>
        <a:xfrm>
          <a:off x="0" y="0"/>
          <a:ext cx="0" cy="0"/>
          <a:chOff x="0" y="0"/>
          <a:chExt cx="0" cy="0"/>
        </a:xfrm>
      </p:grpSpPr>
      <p:sp>
        <p:nvSpPr>
          <p:cNvPr id="38" name="Google Shape;38;p1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1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9"/>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2" name="Google Shape;42;p19"/>
          <p:cNvSpPr txBox="1"/>
          <p:nvPr>
            <p:ph idx="1" type="body"/>
          </p:nvPr>
        </p:nvSpPr>
        <p:spPr>
          <a:xfrm>
            <a:off x="819150" y="1990725"/>
            <a:ext cx="75057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3" name="Google Shape;43;p19"/>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44" name="Shape 44"/>
        <p:cNvGrpSpPr/>
        <p:nvPr/>
      </p:nvGrpSpPr>
      <p:grpSpPr>
        <a:xfrm>
          <a:off x="0" y="0"/>
          <a:ext cx="0" cy="0"/>
          <a:chOff x="0" y="0"/>
          <a:chExt cx="0" cy="0"/>
        </a:xfrm>
      </p:grpSpPr>
      <p:sp>
        <p:nvSpPr>
          <p:cNvPr id="45" name="Google Shape;45;p20"/>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0"/>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2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0"/>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9" name="Google Shape;49;p20"/>
          <p:cNvSpPr txBox="1"/>
          <p:nvPr>
            <p:ph idx="1" type="body"/>
          </p:nvPr>
        </p:nvSpPr>
        <p:spPr>
          <a:xfrm>
            <a:off x="819150" y="1990725"/>
            <a:ext cx="36861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0" name="Google Shape;50;p20"/>
          <p:cNvSpPr txBox="1"/>
          <p:nvPr>
            <p:ph idx="2" type="body"/>
          </p:nvPr>
        </p:nvSpPr>
        <p:spPr>
          <a:xfrm>
            <a:off x="4638675" y="1990725"/>
            <a:ext cx="36861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1" name="Google Shape;51;p20"/>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52" name="Shape 52"/>
        <p:cNvGrpSpPr/>
        <p:nvPr/>
      </p:nvGrpSpPr>
      <p:grpSpPr>
        <a:xfrm>
          <a:off x="0" y="0"/>
          <a:ext cx="0" cy="0"/>
          <a:chOff x="0" y="0"/>
          <a:chExt cx="0" cy="0"/>
        </a:xfrm>
      </p:grpSpPr>
      <p:sp>
        <p:nvSpPr>
          <p:cNvPr id="53" name="Google Shape;53;p21"/>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1"/>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21"/>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21"/>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57" name="Google Shape;57;p2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58" name="Shape 58"/>
        <p:cNvGrpSpPr/>
        <p:nvPr/>
      </p:nvGrpSpPr>
      <p:grpSpPr>
        <a:xfrm>
          <a:off x="0" y="0"/>
          <a:ext cx="0" cy="0"/>
          <a:chOff x="0" y="0"/>
          <a:chExt cx="0" cy="0"/>
        </a:xfrm>
      </p:grpSpPr>
      <p:sp>
        <p:nvSpPr>
          <p:cNvPr id="59" name="Google Shape;59;p22"/>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22"/>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1" name="Google Shape;61;p22"/>
          <p:cNvGrpSpPr/>
          <p:nvPr/>
        </p:nvGrpSpPr>
        <p:grpSpPr>
          <a:xfrm>
            <a:off x="255991" y="-118"/>
            <a:ext cx="2251347" cy="1043408"/>
            <a:chOff x="3961956" y="4383950"/>
            <a:chExt cx="1160548" cy="548700"/>
          </a:xfrm>
        </p:grpSpPr>
        <p:sp>
          <p:nvSpPr>
            <p:cNvPr id="62" name="Google Shape;62;p22"/>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22"/>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22"/>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5" name="Google Shape;65;p22"/>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6" name="Google Shape;66;p22"/>
          <p:cNvGrpSpPr/>
          <p:nvPr/>
        </p:nvGrpSpPr>
        <p:grpSpPr>
          <a:xfrm>
            <a:off x="34934" y="4522125"/>
            <a:ext cx="1593305" cy="617072"/>
            <a:chOff x="6917201" y="0"/>
            <a:chExt cx="2227776" cy="863400"/>
          </a:xfrm>
        </p:grpSpPr>
        <p:sp>
          <p:nvSpPr>
            <p:cNvPr id="67" name="Google Shape;67;p22"/>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22"/>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22"/>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 name="Google Shape;70;p22"/>
          <p:cNvGrpSpPr/>
          <p:nvPr/>
        </p:nvGrpSpPr>
        <p:grpSpPr>
          <a:xfrm>
            <a:off x="5886353" y="1243"/>
            <a:ext cx="3257453" cy="1261514"/>
            <a:chOff x="6917201" y="0"/>
            <a:chExt cx="2227776" cy="863400"/>
          </a:xfrm>
        </p:grpSpPr>
        <p:sp>
          <p:nvSpPr>
            <p:cNvPr id="71" name="Google Shape;71;p2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2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2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4" name="Google Shape;74;p22"/>
          <p:cNvSpPr txBox="1"/>
          <p:nvPr>
            <p:ph type="title"/>
          </p:nvPr>
        </p:nvSpPr>
        <p:spPr>
          <a:xfrm>
            <a:off x="1393929" y="1301146"/>
            <a:ext cx="6366900" cy="25392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200"/>
              <a:buNone/>
              <a:defRPr sz="32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75" name="Google Shape;75;p22"/>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76" name="Shape 76"/>
        <p:cNvGrpSpPr/>
        <p:nvPr/>
      </p:nvGrpSpPr>
      <p:grpSpPr>
        <a:xfrm>
          <a:off x="0" y="0"/>
          <a:ext cx="0" cy="0"/>
          <a:chOff x="0" y="0"/>
          <a:chExt cx="0" cy="0"/>
        </a:xfrm>
      </p:grpSpPr>
      <p:sp>
        <p:nvSpPr>
          <p:cNvPr id="77" name="Google Shape;77;p2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8" name="Google Shape;78;p23"/>
          <p:cNvGrpSpPr/>
          <p:nvPr/>
        </p:nvGrpSpPr>
        <p:grpSpPr>
          <a:xfrm>
            <a:off x="5594190" y="3961115"/>
            <a:ext cx="2910143" cy="1182340"/>
            <a:chOff x="6917201" y="0"/>
            <a:chExt cx="2227776" cy="863400"/>
          </a:xfrm>
        </p:grpSpPr>
        <p:sp>
          <p:nvSpPr>
            <p:cNvPr id="79" name="Google Shape;79;p2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2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2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2" name="Google Shape;82;p23"/>
          <p:cNvGrpSpPr/>
          <p:nvPr/>
        </p:nvGrpSpPr>
        <p:grpSpPr>
          <a:xfrm>
            <a:off x="199149" y="2"/>
            <a:ext cx="2795412" cy="1083308"/>
            <a:chOff x="6917201" y="0"/>
            <a:chExt cx="2227776" cy="863400"/>
          </a:xfrm>
        </p:grpSpPr>
        <p:sp>
          <p:nvSpPr>
            <p:cNvPr id="83" name="Google Shape;83;p2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6" name="Google Shape;86;p23"/>
          <p:cNvSpPr txBox="1"/>
          <p:nvPr>
            <p:ph type="title"/>
          </p:nvPr>
        </p:nvSpPr>
        <p:spPr>
          <a:xfrm>
            <a:off x="1888684" y="1746100"/>
            <a:ext cx="5377500" cy="1646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2"/>
              </a:buClr>
              <a:buSzPts val="3200"/>
              <a:buNone/>
              <a:defRPr sz="3200">
                <a:solidFill>
                  <a:schemeClr val="dk2"/>
                </a:solidFill>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p:txBody>
      </p:sp>
      <p:sp>
        <p:nvSpPr>
          <p:cNvPr id="87" name="Google Shape;87;p23"/>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88" name="Shape 88"/>
        <p:cNvGrpSpPr/>
        <p:nvPr/>
      </p:nvGrpSpPr>
      <p:grpSpPr>
        <a:xfrm>
          <a:off x="0" y="0"/>
          <a:ext cx="0" cy="0"/>
          <a:chOff x="0" y="0"/>
          <a:chExt cx="0" cy="0"/>
        </a:xfrm>
      </p:grpSpPr>
      <p:sp>
        <p:nvSpPr>
          <p:cNvPr id="89" name="Google Shape;89;p2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4"/>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2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4"/>
          <p:cNvSpPr txBox="1"/>
          <p:nvPr>
            <p:ph type="title"/>
          </p:nvPr>
        </p:nvSpPr>
        <p:spPr>
          <a:xfrm>
            <a:off x="819150" y="845600"/>
            <a:ext cx="3709200" cy="1383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93" name="Google Shape;93;p24"/>
          <p:cNvSpPr txBox="1"/>
          <p:nvPr>
            <p:ph idx="1" type="body"/>
          </p:nvPr>
        </p:nvSpPr>
        <p:spPr>
          <a:xfrm>
            <a:off x="830700" y="2319050"/>
            <a:ext cx="3709200" cy="21198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94" name="Google Shape;94;p24"/>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2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2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2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25"/>
          <p:cNvSpPr txBox="1"/>
          <p:nvPr>
            <p:ph type="title"/>
          </p:nvPr>
        </p:nvSpPr>
        <p:spPr>
          <a:xfrm>
            <a:off x="819150" y="845600"/>
            <a:ext cx="6424200" cy="705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0" name="Google Shape;100;p25"/>
          <p:cNvSpPr txBox="1"/>
          <p:nvPr>
            <p:ph idx="1" type="subTitle"/>
          </p:nvPr>
        </p:nvSpPr>
        <p:spPr>
          <a:xfrm>
            <a:off x="819150" y="1550700"/>
            <a:ext cx="5859900" cy="39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25"/>
          <p:cNvSpPr txBox="1"/>
          <p:nvPr>
            <p:ph idx="2" type="body"/>
          </p:nvPr>
        </p:nvSpPr>
        <p:spPr>
          <a:xfrm>
            <a:off x="819150" y="2467050"/>
            <a:ext cx="5859900" cy="209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02" name="Google Shape;102;p25"/>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26"/>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26"/>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2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26"/>
          <p:cNvSpPr txBox="1"/>
          <p:nvPr>
            <p:ph idx="1" type="body"/>
          </p:nvPr>
        </p:nvSpPr>
        <p:spPr>
          <a:xfrm>
            <a:off x="328025" y="4163500"/>
            <a:ext cx="7415100" cy="605100"/>
          </a:xfrm>
          <a:prstGeom prst="rect">
            <a:avLst/>
          </a:prstGeom>
          <a:noFill/>
          <a:ln>
            <a:noFill/>
          </a:ln>
        </p:spPr>
        <p:txBody>
          <a:bodyPr anchorCtr="0" anchor="b"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08" name="Google Shape;108;p26"/>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27"/>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1" name="Google Shape;111;p27"/>
          <p:cNvGrpSpPr/>
          <p:nvPr/>
        </p:nvGrpSpPr>
        <p:grpSpPr>
          <a:xfrm>
            <a:off x="5959222" y="4119576"/>
            <a:ext cx="2520950" cy="1024165"/>
            <a:chOff x="6917201" y="0"/>
            <a:chExt cx="2227776" cy="863400"/>
          </a:xfrm>
        </p:grpSpPr>
        <p:sp>
          <p:nvSpPr>
            <p:cNvPr id="112" name="Google Shape;112;p27"/>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7"/>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27"/>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5" name="Google Shape;115;p27"/>
          <p:cNvGrpSpPr/>
          <p:nvPr/>
        </p:nvGrpSpPr>
        <p:grpSpPr>
          <a:xfrm>
            <a:off x="199149" y="2"/>
            <a:ext cx="2795412" cy="1083308"/>
            <a:chOff x="6917201" y="0"/>
            <a:chExt cx="2227776" cy="863400"/>
          </a:xfrm>
        </p:grpSpPr>
        <p:sp>
          <p:nvSpPr>
            <p:cNvPr id="116" name="Google Shape;116;p27"/>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27"/>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7"/>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9" name="Google Shape;119;p27"/>
          <p:cNvSpPr txBox="1"/>
          <p:nvPr>
            <p:ph hasCustomPrompt="1" type="title"/>
          </p:nvPr>
        </p:nvSpPr>
        <p:spPr>
          <a:xfrm>
            <a:off x="1385850" y="1383850"/>
            <a:ext cx="6372300" cy="13797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2"/>
              </a:buClr>
              <a:buSzPts val="8600"/>
              <a:buNone/>
              <a:defRPr sz="8600">
                <a:solidFill>
                  <a:schemeClr val="dk2"/>
                </a:solidFill>
              </a:defRPr>
            </a:lvl1pPr>
            <a:lvl2pPr lvl="1" algn="ctr">
              <a:lnSpc>
                <a:spcPct val="100000"/>
              </a:lnSpc>
              <a:spcBef>
                <a:spcPts val="0"/>
              </a:spcBef>
              <a:spcAft>
                <a:spcPts val="0"/>
              </a:spcAft>
              <a:buClr>
                <a:schemeClr val="dk2"/>
              </a:buClr>
              <a:buSzPts val="8600"/>
              <a:buNone/>
              <a:defRPr sz="8600">
                <a:solidFill>
                  <a:schemeClr val="dk2"/>
                </a:solidFill>
              </a:defRPr>
            </a:lvl2pPr>
            <a:lvl3pPr lvl="2" algn="ctr">
              <a:lnSpc>
                <a:spcPct val="100000"/>
              </a:lnSpc>
              <a:spcBef>
                <a:spcPts val="0"/>
              </a:spcBef>
              <a:spcAft>
                <a:spcPts val="0"/>
              </a:spcAft>
              <a:buClr>
                <a:schemeClr val="dk2"/>
              </a:buClr>
              <a:buSzPts val="8600"/>
              <a:buNone/>
              <a:defRPr sz="8600">
                <a:solidFill>
                  <a:schemeClr val="dk2"/>
                </a:solidFill>
              </a:defRPr>
            </a:lvl3pPr>
            <a:lvl4pPr lvl="3" algn="ctr">
              <a:lnSpc>
                <a:spcPct val="100000"/>
              </a:lnSpc>
              <a:spcBef>
                <a:spcPts val="0"/>
              </a:spcBef>
              <a:spcAft>
                <a:spcPts val="0"/>
              </a:spcAft>
              <a:buClr>
                <a:schemeClr val="dk2"/>
              </a:buClr>
              <a:buSzPts val="8600"/>
              <a:buNone/>
              <a:defRPr sz="8600">
                <a:solidFill>
                  <a:schemeClr val="dk2"/>
                </a:solidFill>
              </a:defRPr>
            </a:lvl4pPr>
            <a:lvl5pPr lvl="4" algn="ctr">
              <a:lnSpc>
                <a:spcPct val="100000"/>
              </a:lnSpc>
              <a:spcBef>
                <a:spcPts val="0"/>
              </a:spcBef>
              <a:spcAft>
                <a:spcPts val="0"/>
              </a:spcAft>
              <a:buClr>
                <a:schemeClr val="dk2"/>
              </a:buClr>
              <a:buSzPts val="8600"/>
              <a:buNone/>
              <a:defRPr sz="8600">
                <a:solidFill>
                  <a:schemeClr val="dk2"/>
                </a:solidFill>
              </a:defRPr>
            </a:lvl5pPr>
            <a:lvl6pPr lvl="5" algn="ctr">
              <a:lnSpc>
                <a:spcPct val="100000"/>
              </a:lnSpc>
              <a:spcBef>
                <a:spcPts val="0"/>
              </a:spcBef>
              <a:spcAft>
                <a:spcPts val="0"/>
              </a:spcAft>
              <a:buClr>
                <a:schemeClr val="dk2"/>
              </a:buClr>
              <a:buSzPts val="8600"/>
              <a:buNone/>
              <a:defRPr sz="8600">
                <a:solidFill>
                  <a:schemeClr val="dk2"/>
                </a:solidFill>
              </a:defRPr>
            </a:lvl6pPr>
            <a:lvl7pPr lvl="6" algn="ctr">
              <a:lnSpc>
                <a:spcPct val="100000"/>
              </a:lnSpc>
              <a:spcBef>
                <a:spcPts val="0"/>
              </a:spcBef>
              <a:spcAft>
                <a:spcPts val="0"/>
              </a:spcAft>
              <a:buClr>
                <a:schemeClr val="dk2"/>
              </a:buClr>
              <a:buSzPts val="8600"/>
              <a:buNone/>
              <a:defRPr sz="8600">
                <a:solidFill>
                  <a:schemeClr val="dk2"/>
                </a:solidFill>
              </a:defRPr>
            </a:lvl7pPr>
            <a:lvl8pPr lvl="7" algn="ctr">
              <a:lnSpc>
                <a:spcPct val="100000"/>
              </a:lnSpc>
              <a:spcBef>
                <a:spcPts val="0"/>
              </a:spcBef>
              <a:spcAft>
                <a:spcPts val="0"/>
              </a:spcAft>
              <a:buClr>
                <a:schemeClr val="dk2"/>
              </a:buClr>
              <a:buSzPts val="8600"/>
              <a:buNone/>
              <a:defRPr sz="8600">
                <a:solidFill>
                  <a:schemeClr val="dk2"/>
                </a:solidFill>
              </a:defRPr>
            </a:lvl8pPr>
            <a:lvl9pPr lvl="8" algn="ctr">
              <a:lnSpc>
                <a:spcPct val="100000"/>
              </a:lnSpc>
              <a:spcBef>
                <a:spcPts val="0"/>
              </a:spcBef>
              <a:spcAft>
                <a:spcPts val="0"/>
              </a:spcAft>
              <a:buClr>
                <a:schemeClr val="dk2"/>
              </a:buClr>
              <a:buSzPts val="8600"/>
              <a:buNone/>
              <a:defRPr sz="8600">
                <a:solidFill>
                  <a:schemeClr val="dk2"/>
                </a:solidFill>
              </a:defRPr>
            </a:lvl9pPr>
          </a:lstStyle>
          <a:p>
            <a:r>
              <a:t>xx%</a:t>
            </a:r>
          </a:p>
        </p:txBody>
      </p:sp>
      <p:sp>
        <p:nvSpPr>
          <p:cNvPr id="120" name="Google Shape;120;p27"/>
          <p:cNvSpPr txBox="1"/>
          <p:nvPr>
            <p:ph idx="1" type="body"/>
          </p:nvPr>
        </p:nvSpPr>
        <p:spPr>
          <a:xfrm>
            <a:off x="1385850" y="2863850"/>
            <a:ext cx="6372300" cy="641100"/>
          </a:xfrm>
          <a:prstGeom prst="rect">
            <a:avLst/>
          </a:prstGeom>
          <a:noFill/>
          <a:ln>
            <a:noFill/>
          </a:ln>
        </p:spPr>
        <p:txBody>
          <a:bodyPr anchorCtr="0" anchor="t" bIns="91425" lIns="91425" spcFirstLastPara="1" rIns="91425" wrap="square" tIns="91425">
            <a:normAutofit/>
          </a:bodyPr>
          <a:lstStyle>
            <a:lvl1pPr indent="-311150" lvl="0" marL="457200" algn="ctr">
              <a:lnSpc>
                <a:spcPct val="115000"/>
              </a:lnSpc>
              <a:spcBef>
                <a:spcPts val="0"/>
              </a:spcBef>
              <a:spcAft>
                <a:spcPts val="0"/>
              </a:spcAft>
              <a:buSzPts val="1300"/>
              <a:buChar char="●"/>
              <a:defRPr/>
            </a:lvl1pPr>
            <a:lvl2pPr indent="-298450" lvl="1" marL="914400" algn="ctr">
              <a:lnSpc>
                <a:spcPct val="115000"/>
              </a:lnSpc>
              <a:spcBef>
                <a:spcPts val="0"/>
              </a:spcBef>
              <a:spcAft>
                <a:spcPts val="0"/>
              </a:spcAft>
              <a:buSzPts val="1100"/>
              <a:buChar char="○"/>
              <a:defRPr/>
            </a:lvl2pPr>
            <a:lvl3pPr indent="-298450" lvl="2" marL="1371600" algn="ctr">
              <a:lnSpc>
                <a:spcPct val="115000"/>
              </a:lnSpc>
              <a:spcBef>
                <a:spcPts val="0"/>
              </a:spcBef>
              <a:spcAft>
                <a:spcPts val="0"/>
              </a:spcAft>
              <a:buSzPts val="1100"/>
              <a:buChar char="■"/>
              <a:defRPr/>
            </a:lvl3pPr>
            <a:lvl4pPr indent="-298450" lvl="3" marL="1828800" algn="ctr">
              <a:lnSpc>
                <a:spcPct val="115000"/>
              </a:lnSpc>
              <a:spcBef>
                <a:spcPts val="0"/>
              </a:spcBef>
              <a:spcAft>
                <a:spcPts val="0"/>
              </a:spcAft>
              <a:buSzPts val="1100"/>
              <a:buChar char="●"/>
              <a:defRPr/>
            </a:lvl4pPr>
            <a:lvl5pPr indent="-298450" lvl="4" marL="2286000" algn="ctr">
              <a:lnSpc>
                <a:spcPct val="115000"/>
              </a:lnSpc>
              <a:spcBef>
                <a:spcPts val="0"/>
              </a:spcBef>
              <a:spcAft>
                <a:spcPts val="0"/>
              </a:spcAft>
              <a:buSzPts val="1100"/>
              <a:buChar char="○"/>
              <a:defRPr/>
            </a:lvl5pPr>
            <a:lvl6pPr indent="-298450" lvl="5" marL="2743200" algn="ctr">
              <a:lnSpc>
                <a:spcPct val="115000"/>
              </a:lnSpc>
              <a:spcBef>
                <a:spcPts val="0"/>
              </a:spcBef>
              <a:spcAft>
                <a:spcPts val="0"/>
              </a:spcAft>
              <a:buSzPts val="1100"/>
              <a:buChar char="■"/>
              <a:defRPr/>
            </a:lvl6pPr>
            <a:lvl7pPr indent="-298450" lvl="6" marL="3200400" algn="ctr">
              <a:lnSpc>
                <a:spcPct val="115000"/>
              </a:lnSpc>
              <a:spcBef>
                <a:spcPts val="0"/>
              </a:spcBef>
              <a:spcAft>
                <a:spcPts val="0"/>
              </a:spcAft>
              <a:buSzPts val="1100"/>
              <a:buChar char="●"/>
              <a:defRPr/>
            </a:lvl7pPr>
            <a:lvl8pPr indent="-298450" lvl="7" marL="3657600" algn="ctr">
              <a:lnSpc>
                <a:spcPct val="115000"/>
              </a:lnSpc>
              <a:spcBef>
                <a:spcPts val="0"/>
              </a:spcBef>
              <a:spcAft>
                <a:spcPts val="0"/>
              </a:spcAft>
              <a:buSzPts val="1100"/>
              <a:buChar char="○"/>
              <a:defRPr/>
            </a:lvl8pPr>
            <a:lvl9pPr indent="-298450" lvl="8" marL="4114800" algn="ctr">
              <a:lnSpc>
                <a:spcPct val="115000"/>
              </a:lnSpc>
              <a:spcBef>
                <a:spcPts val="0"/>
              </a:spcBef>
              <a:spcAft>
                <a:spcPts val="0"/>
              </a:spcAft>
              <a:buSzPts val="1100"/>
              <a:buChar char="■"/>
              <a:defRPr/>
            </a:lvl9pPr>
          </a:lstStyle>
          <a:p/>
        </p:txBody>
      </p:sp>
      <p:sp>
        <p:nvSpPr>
          <p:cNvPr id="121" name="Google Shape;121;p27"/>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28"/>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1pPr>
            <a:lvl2pPr lvl="1"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2pPr>
            <a:lvl3pPr lvl="2"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3pPr>
            <a:lvl4pPr lvl="3"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4pPr>
            <a:lvl5pPr lvl="4"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5pPr>
            <a:lvl6pPr lvl="5"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6pPr>
            <a:lvl7pPr lvl="6"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7pPr>
            <a:lvl8pPr lvl="7"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8pPr>
            <a:lvl9pPr lvl="8"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9pPr>
          </a:lstStyle>
          <a:p/>
        </p:txBody>
      </p:sp>
      <p:sp>
        <p:nvSpPr>
          <p:cNvPr id="7" name="Google Shape;7;p17"/>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dk2"/>
              </a:buClr>
              <a:buSzPts val="1300"/>
              <a:buFont typeface="Calibri"/>
              <a:buChar char="●"/>
              <a:defRPr b="0" i="0" sz="1300" u="none" cap="none" strike="noStrike">
                <a:solidFill>
                  <a:schemeClr val="dk2"/>
                </a:solidFill>
                <a:latin typeface="Calibri"/>
                <a:ea typeface="Calibri"/>
                <a:cs typeface="Calibri"/>
                <a:sym typeface="Calibri"/>
              </a:defRPr>
            </a:lvl1pPr>
            <a:lvl2pPr indent="-298450" lvl="1" marL="9144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2pPr>
            <a:lvl3pPr indent="-298450" lvl="2" marL="13716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3pPr>
            <a:lvl4pPr indent="-298450" lvl="3" marL="18288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4pPr>
            <a:lvl5pPr indent="-298450" lvl="4" marL="22860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5pPr>
            <a:lvl6pPr indent="-298450" lvl="5" marL="27432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6pPr>
            <a:lvl7pPr indent="-298450" lvl="6" marL="32004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7pPr>
            <a:lvl8pPr indent="-298450" lvl="7" marL="36576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8pPr>
            <a:lvl9pPr indent="-298450" lvl="8" marL="41148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9pPr>
          </a:lstStyle>
          <a:p/>
        </p:txBody>
      </p:sp>
      <p:sp>
        <p:nvSpPr>
          <p:cNvPr id="8" name="Google Shape;8;p17"/>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13.png"/><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
          <p:cNvSpPr txBox="1"/>
          <p:nvPr>
            <p:ph type="ctrTitle"/>
          </p:nvPr>
        </p:nvSpPr>
        <p:spPr>
          <a:xfrm>
            <a:off x="1858703" y="1822833"/>
            <a:ext cx="5361300" cy="14481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800"/>
              <a:buNone/>
            </a:pPr>
            <a:r>
              <a:rPr lang="en"/>
              <a:t>GIAO TIẾP TRONG KINH DOANH</a:t>
            </a:r>
            <a:endParaRPr/>
          </a:p>
        </p:txBody>
      </p:sp>
      <p:sp>
        <p:nvSpPr>
          <p:cNvPr id="129" name="Google Shape;129;p1"/>
          <p:cNvSpPr txBox="1"/>
          <p:nvPr>
            <p:ph idx="1" type="subTitle"/>
          </p:nvPr>
        </p:nvSpPr>
        <p:spPr>
          <a:xfrm>
            <a:off x="1858700" y="3413158"/>
            <a:ext cx="5361300" cy="5226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ctr">
              <a:lnSpc>
                <a:spcPct val="100000"/>
              </a:lnSpc>
              <a:spcBef>
                <a:spcPts val="0"/>
              </a:spcBef>
              <a:spcAft>
                <a:spcPts val="0"/>
              </a:spcAft>
              <a:buSzPct val="100000"/>
              <a:buNone/>
            </a:pPr>
            <a:r>
              <a:rPr lang="en"/>
              <a:t>Version 1.00</a:t>
            </a:r>
            <a:endParaRPr/>
          </a:p>
          <a:p>
            <a:pPr indent="0" lvl="0" marL="0" rtl="0" algn="ctr">
              <a:lnSpc>
                <a:spcPct val="100000"/>
              </a:lnSpc>
              <a:spcBef>
                <a:spcPts val="0"/>
              </a:spcBef>
              <a:spcAft>
                <a:spcPts val="0"/>
              </a:spcAft>
              <a:buSzPct val="100000"/>
              <a:buNone/>
            </a:pPr>
            <a:r>
              <a:rPr lang="en"/>
              <a:t>NgaNT</a:t>
            </a:r>
            <a:endParaRPr/>
          </a:p>
        </p:txBody>
      </p:sp>
      <p:pic>
        <p:nvPicPr>
          <p:cNvPr id="130" name="Google Shape;130;p1"/>
          <p:cNvPicPr preferRelativeResize="0"/>
          <p:nvPr/>
        </p:nvPicPr>
        <p:blipFill>
          <a:blip r:embed="rId3">
            <a:alphaModFix/>
          </a:blip>
          <a:stretch>
            <a:fillRect/>
          </a:stretch>
        </p:blipFill>
        <p:spPr>
          <a:xfrm>
            <a:off x="8359875" y="354150"/>
            <a:ext cx="553350" cy="7460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
          <p:cNvSpPr txBox="1"/>
          <p:nvPr>
            <p:ph type="ctrTitle"/>
          </p:nvPr>
        </p:nvSpPr>
        <p:spPr>
          <a:xfrm>
            <a:off x="2073575" y="721605"/>
            <a:ext cx="5361300" cy="522600"/>
          </a:xfrm>
          <a:prstGeom prst="rect">
            <a:avLst/>
          </a:prstGeom>
          <a:noFill/>
          <a:ln>
            <a:noFill/>
          </a:ln>
        </p:spPr>
        <p:txBody>
          <a:bodyPr anchorCtr="0" anchor="ctr"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solidFill>
                  <a:srgbClr val="000000"/>
                </a:solidFill>
              </a:rPr>
              <a:t>Nội dung</a:t>
            </a:r>
            <a:endParaRPr>
              <a:solidFill>
                <a:srgbClr val="000000"/>
              </a:solidFill>
            </a:endParaRPr>
          </a:p>
        </p:txBody>
      </p:sp>
      <p:sp>
        <p:nvSpPr>
          <p:cNvPr id="136" name="Google Shape;136;p2"/>
          <p:cNvSpPr txBox="1"/>
          <p:nvPr>
            <p:ph idx="1" type="subTitle"/>
          </p:nvPr>
        </p:nvSpPr>
        <p:spPr>
          <a:xfrm>
            <a:off x="1034075" y="1316100"/>
            <a:ext cx="7198200" cy="3075300"/>
          </a:xfrm>
          <a:prstGeom prst="rect">
            <a:avLst/>
          </a:prstGeom>
          <a:noFill/>
          <a:ln>
            <a:noFill/>
          </a:ln>
        </p:spPr>
        <p:txBody>
          <a:bodyPr anchorCtr="0" anchor="t" bIns="91425" lIns="91425" spcFirstLastPara="1" rIns="91425" wrap="square" tIns="91425">
            <a:noAutofit/>
          </a:bodyPr>
          <a:lstStyle/>
          <a:p>
            <a:pPr indent="-336550" lvl="0" marL="457200" rtl="0" algn="l">
              <a:lnSpc>
                <a:spcPct val="100000"/>
              </a:lnSpc>
              <a:spcBef>
                <a:spcPts val="0"/>
              </a:spcBef>
              <a:spcAft>
                <a:spcPts val="0"/>
              </a:spcAft>
              <a:buClr>
                <a:srgbClr val="000000"/>
              </a:buClr>
              <a:buSzPts val="1700"/>
              <a:buAutoNum type="arabicPeriod"/>
            </a:pPr>
            <a:r>
              <a:rPr lang="en" sz="1700">
                <a:solidFill>
                  <a:srgbClr val="000000"/>
                </a:solidFill>
              </a:rPr>
              <a:t>Khái niệm Business Manner</a:t>
            </a:r>
            <a:endParaRPr sz="1700">
              <a:solidFill>
                <a:srgbClr val="000000"/>
              </a:solidFill>
            </a:endParaRPr>
          </a:p>
          <a:p>
            <a:pPr indent="-336550" lvl="0" marL="457200" rtl="0" algn="l">
              <a:lnSpc>
                <a:spcPct val="100000"/>
              </a:lnSpc>
              <a:spcBef>
                <a:spcPts val="0"/>
              </a:spcBef>
              <a:spcAft>
                <a:spcPts val="0"/>
              </a:spcAft>
              <a:buClr>
                <a:srgbClr val="000000"/>
              </a:buClr>
              <a:buSzPts val="1700"/>
              <a:buAutoNum type="arabicPeriod"/>
            </a:pPr>
            <a:r>
              <a:rPr lang="en" sz="1700">
                <a:solidFill>
                  <a:srgbClr val="000000"/>
                </a:solidFill>
              </a:rPr>
              <a:t>Tầm quan trọng của </a:t>
            </a:r>
            <a:r>
              <a:rPr lang="en" sz="1700">
                <a:solidFill>
                  <a:srgbClr val="000000"/>
                </a:solidFill>
              </a:rPr>
              <a:t>Business Manner</a:t>
            </a:r>
            <a:endParaRPr sz="1700">
              <a:solidFill>
                <a:srgbClr val="000000"/>
              </a:solidFill>
            </a:endParaRPr>
          </a:p>
          <a:p>
            <a:pPr indent="-336550" lvl="0" marL="457200" rtl="0" algn="l">
              <a:lnSpc>
                <a:spcPct val="100000"/>
              </a:lnSpc>
              <a:spcBef>
                <a:spcPts val="0"/>
              </a:spcBef>
              <a:spcAft>
                <a:spcPts val="0"/>
              </a:spcAft>
              <a:buClr>
                <a:srgbClr val="000000"/>
              </a:buClr>
              <a:buSzPts val="1700"/>
              <a:buAutoNum type="arabicPeriod"/>
            </a:pPr>
            <a:r>
              <a:rPr lang="en" sz="1700">
                <a:solidFill>
                  <a:srgbClr val="000000"/>
                </a:solidFill>
              </a:rPr>
              <a:t>Tiêu chuẩn Business Manner của Nhật</a:t>
            </a:r>
            <a:endParaRPr sz="1700">
              <a:solidFill>
                <a:srgbClr val="000000"/>
              </a:solidFill>
            </a:endParaRPr>
          </a:p>
          <a:p>
            <a:pPr indent="-336550" lvl="0" marL="457200" rtl="0" algn="l">
              <a:lnSpc>
                <a:spcPct val="100000"/>
              </a:lnSpc>
              <a:spcBef>
                <a:spcPts val="0"/>
              </a:spcBef>
              <a:spcAft>
                <a:spcPts val="0"/>
              </a:spcAft>
              <a:buClr>
                <a:srgbClr val="000000"/>
              </a:buClr>
              <a:buSzPts val="1700"/>
              <a:buChar char="➔"/>
            </a:pPr>
            <a:r>
              <a:rPr lang="en" sz="1700">
                <a:solidFill>
                  <a:srgbClr val="000000"/>
                </a:solidFill>
              </a:rPr>
              <a:t>Vị trí ngồi trong phòng họp</a:t>
            </a:r>
            <a:endParaRPr sz="1700">
              <a:solidFill>
                <a:srgbClr val="000000"/>
              </a:solidFill>
            </a:endParaRPr>
          </a:p>
          <a:p>
            <a:pPr indent="-336550" lvl="0" marL="457200" rtl="0" algn="l">
              <a:lnSpc>
                <a:spcPct val="100000"/>
              </a:lnSpc>
              <a:spcBef>
                <a:spcPts val="0"/>
              </a:spcBef>
              <a:spcAft>
                <a:spcPts val="0"/>
              </a:spcAft>
              <a:buClr>
                <a:srgbClr val="000000"/>
              </a:buClr>
              <a:buSzPts val="1700"/>
              <a:buChar char="➔"/>
            </a:pPr>
            <a:r>
              <a:rPr lang="en" sz="1700">
                <a:solidFill>
                  <a:srgbClr val="000000"/>
                </a:solidFill>
              </a:rPr>
              <a:t>Cách giao tiếp</a:t>
            </a:r>
            <a:endParaRPr sz="1700">
              <a:solidFill>
                <a:srgbClr val="000000"/>
              </a:solidFill>
            </a:endParaRPr>
          </a:p>
          <a:p>
            <a:pPr indent="-336550" lvl="0" marL="457200" rtl="0" algn="l">
              <a:lnSpc>
                <a:spcPct val="100000"/>
              </a:lnSpc>
              <a:spcBef>
                <a:spcPts val="0"/>
              </a:spcBef>
              <a:spcAft>
                <a:spcPts val="0"/>
              </a:spcAft>
              <a:buClr>
                <a:srgbClr val="000000"/>
              </a:buClr>
              <a:buSzPts val="1700"/>
              <a:buAutoNum type="arabicPeriod"/>
            </a:pPr>
            <a:r>
              <a:rPr lang="en" sz="1700">
                <a:solidFill>
                  <a:srgbClr val="000000"/>
                </a:solidFill>
              </a:rPr>
              <a:t>Q&amp;A</a:t>
            </a:r>
            <a:endParaRPr sz="1700">
              <a:solidFill>
                <a:srgbClr val="000000"/>
              </a:solidFill>
            </a:endParaRPr>
          </a:p>
          <a:p>
            <a:pPr indent="-336550" lvl="0" marL="457200" rtl="0" algn="l">
              <a:lnSpc>
                <a:spcPct val="100000"/>
              </a:lnSpc>
              <a:spcBef>
                <a:spcPts val="0"/>
              </a:spcBef>
              <a:spcAft>
                <a:spcPts val="0"/>
              </a:spcAft>
              <a:buClr>
                <a:srgbClr val="000000"/>
              </a:buClr>
              <a:buSzPts val="1700"/>
              <a:buAutoNum type="arabicPeriod"/>
            </a:pPr>
            <a:r>
              <a:rPr lang="en" sz="1700">
                <a:solidFill>
                  <a:srgbClr val="000000"/>
                </a:solidFill>
              </a:rPr>
              <a:t>Thực hành ngắn</a:t>
            </a:r>
            <a:endParaRPr sz="1700">
              <a:solidFill>
                <a:srgbClr val="000000"/>
              </a:solidFill>
            </a:endParaRPr>
          </a:p>
          <a:p>
            <a:pPr indent="0" lvl="0" marL="0" rtl="0" algn="l">
              <a:lnSpc>
                <a:spcPct val="100000"/>
              </a:lnSpc>
              <a:spcBef>
                <a:spcPts val="0"/>
              </a:spcBef>
              <a:spcAft>
                <a:spcPts val="0"/>
              </a:spcAft>
              <a:buSzPts val="1600"/>
              <a:buNone/>
            </a:pPr>
            <a:r>
              <a:t/>
            </a:r>
            <a:endParaRPr sz="1700">
              <a:solidFill>
                <a:srgbClr val="000000"/>
              </a:solidFill>
            </a:endParaRPr>
          </a:p>
        </p:txBody>
      </p:sp>
      <p:pic>
        <p:nvPicPr>
          <p:cNvPr id="137" name="Google Shape;137;p2"/>
          <p:cNvPicPr preferRelativeResize="0"/>
          <p:nvPr/>
        </p:nvPicPr>
        <p:blipFill>
          <a:blip r:embed="rId3">
            <a:alphaModFix/>
          </a:blip>
          <a:stretch>
            <a:fillRect/>
          </a:stretch>
        </p:blipFill>
        <p:spPr>
          <a:xfrm>
            <a:off x="8374650" y="368950"/>
            <a:ext cx="553350" cy="74609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10b28ca41fa_0_1"/>
          <p:cNvSpPr txBox="1"/>
          <p:nvPr>
            <p:ph type="ctrTitle"/>
          </p:nvPr>
        </p:nvSpPr>
        <p:spPr>
          <a:xfrm>
            <a:off x="1804975" y="872926"/>
            <a:ext cx="5361300" cy="591000"/>
          </a:xfrm>
          <a:prstGeom prst="rect">
            <a:avLst/>
          </a:prstGeom>
        </p:spPr>
        <p:txBody>
          <a:bodyPr anchorCtr="0" anchor="ctr" bIns="91425" lIns="91425" spcFirstLastPara="1" rIns="91425" wrap="square" tIns="91425">
            <a:normAutofit/>
          </a:bodyPr>
          <a:lstStyle/>
          <a:p>
            <a:pPr indent="-387350" lvl="0" marL="457200" rtl="0" algn="l">
              <a:spcBef>
                <a:spcPts val="0"/>
              </a:spcBef>
              <a:spcAft>
                <a:spcPts val="0"/>
              </a:spcAft>
              <a:buClr>
                <a:srgbClr val="000000"/>
              </a:buClr>
              <a:buSzPts val="2500"/>
              <a:buFont typeface="Calibri"/>
              <a:buAutoNum type="arabicPeriod"/>
            </a:pPr>
            <a:r>
              <a:rPr lang="en" sz="2500">
                <a:solidFill>
                  <a:srgbClr val="000000"/>
                </a:solidFill>
                <a:latin typeface="Calibri"/>
                <a:ea typeface="Calibri"/>
                <a:cs typeface="Calibri"/>
                <a:sym typeface="Calibri"/>
              </a:rPr>
              <a:t>Khái niệm Business Manner</a:t>
            </a:r>
            <a:endParaRPr sz="4600">
              <a:solidFill>
                <a:srgbClr val="000000"/>
              </a:solidFill>
            </a:endParaRPr>
          </a:p>
        </p:txBody>
      </p:sp>
      <p:sp>
        <p:nvSpPr>
          <p:cNvPr id="143" name="Google Shape;143;g10b28ca41fa_0_1"/>
          <p:cNvSpPr txBox="1"/>
          <p:nvPr>
            <p:ph idx="1" type="subTitle"/>
          </p:nvPr>
        </p:nvSpPr>
        <p:spPr>
          <a:xfrm>
            <a:off x="1891350" y="1463926"/>
            <a:ext cx="5361300" cy="1208700"/>
          </a:xfrm>
          <a:prstGeom prst="rect">
            <a:avLst/>
          </a:prstGeom>
        </p:spPr>
        <p:txBody>
          <a:bodyPr anchorCtr="0" anchor="t" bIns="91425" lIns="91425" spcFirstLastPara="1" rIns="91425" wrap="square" tIns="91425">
            <a:noAutofit/>
          </a:bodyPr>
          <a:lstStyle/>
          <a:p>
            <a:pPr indent="-364490" lvl="0" marL="457200" rtl="0" algn="l">
              <a:lnSpc>
                <a:spcPct val="115000"/>
              </a:lnSpc>
              <a:spcBef>
                <a:spcPts val="0"/>
              </a:spcBef>
              <a:spcAft>
                <a:spcPts val="0"/>
              </a:spcAft>
              <a:buClr>
                <a:srgbClr val="000000"/>
              </a:buClr>
              <a:buSzPts val="2140"/>
              <a:buChar char="❖"/>
            </a:pPr>
            <a:r>
              <a:rPr lang="en" sz="2140">
                <a:solidFill>
                  <a:srgbClr val="000000"/>
                </a:solidFill>
              </a:rPr>
              <a:t>Là tác phong, thái độ, cử chỉ</a:t>
            </a:r>
            <a:endParaRPr sz="2140">
              <a:solidFill>
                <a:srgbClr val="000000"/>
              </a:solidFill>
            </a:endParaRPr>
          </a:p>
          <a:p>
            <a:pPr indent="-364490" lvl="0" marL="457200" rtl="0" algn="l">
              <a:lnSpc>
                <a:spcPct val="115000"/>
              </a:lnSpc>
              <a:spcBef>
                <a:spcPts val="0"/>
              </a:spcBef>
              <a:spcAft>
                <a:spcPts val="0"/>
              </a:spcAft>
              <a:buClr>
                <a:srgbClr val="000000"/>
              </a:buClr>
              <a:buSzPts val="2140"/>
              <a:buChar char="❖"/>
            </a:pPr>
            <a:r>
              <a:rPr lang="en" sz="2140">
                <a:solidFill>
                  <a:srgbClr val="000000"/>
                </a:solidFill>
              </a:rPr>
              <a:t> Là ngôn ngữ cơ thể ( trực tiếp/gián tiếp)</a:t>
            </a:r>
            <a:endParaRPr sz="2140">
              <a:solidFill>
                <a:srgbClr val="000000"/>
              </a:solidFill>
            </a:endParaRPr>
          </a:p>
          <a:p>
            <a:pPr indent="-364490" lvl="0" marL="457200" rtl="0" algn="l">
              <a:lnSpc>
                <a:spcPct val="115000"/>
              </a:lnSpc>
              <a:spcBef>
                <a:spcPts val="0"/>
              </a:spcBef>
              <a:spcAft>
                <a:spcPts val="0"/>
              </a:spcAft>
              <a:buClr>
                <a:srgbClr val="000000"/>
              </a:buClr>
              <a:buSzPts val="2140"/>
              <a:buChar char="❖"/>
            </a:pPr>
            <a:r>
              <a:rPr lang="en" sz="2140">
                <a:solidFill>
                  <a:srgbClr val="000000"/>
                </a:solidFill>
              </a:rPr>
              <a:t>Là những hành vi, thói quen.</a:t>
            </a:r>
            <a:endParaRPr sz="2140">
              <a:solidFill>
                <a:srgbClr val="000000"/>
              </a:solidFill>
            </a:endParaRPr>
          </a:p>
          <a:p>
            <a:pPr indent="0" lvl="0" marL="0" rtl="0" algn="ctr">
              <a:lnSpc>
                <a:spcPct val="115000"/>
              </a:lnSpc>
              <a:spcBef>
                <a:spcPts val="0"/>
              </a:spcBef>
              <a:spcAft>
                <a:spcPts val="0"/>
              </a:spcAft>
              <a:buSzPts val="440"/>
              <a:buNone/>
            </a:pPr>
            <a:r>
              <a:t/>
            </a:r>
            <a:endParaRPr sz="1340">
              <a:solidFill>
                <a:srgbClr val="000000"/>
              </a:solidFill>
            </a:endParaRPr>
          </a:p>
        </p:txBody>
      </p:sp>
      <p:pic>
        <p:nvPicPr>
          <p:cNvPr id="144" name="Google Shape;144;g10b28ca41fa_0_1"/>
          <p:cNvPicPr preferRelativeResize="0"/>
          <p:nvPr/>
        </p:nvPicPr>
        <p:blipFill>
          <a:blip r:embed="rId3">
            <a:alphaModFix/>
          </a:blip>
          <a:stretch>
            <a:fillRect/>
          </a:stretch>
        </p:blipFill>
        <p:spPr>
          <a:xfrm>
            <a:off x="4973575" y="2672516"/>
            <a:ext cx="3932361" cy="2166183"/>
          </a:xfrm>
          <a:prstGeom prst="rect">
            <a:avLst/>
          </a:prstGeom>
          <a:noFill/>
          <a:ln>
            <a:noFill/>
          </a:ln>
        </p:spPr>
      </p:pic>
      <p:pic>
        <p:nvPicPr>
          <p:cNvPr id="145" name="Google Shape;145;g10b28ca41fa_0_1"/>
          <p:cNvPicPr preferRelativeResize="0"/>
          <p:nvPr/>
        </p:nvPicPr>
        <p:blipFill>
          <a:blip r:embed="rId4">
            <a:alphaModFix/>
          </a:blip>
          <a:stretch>
            <a:fillRect/>
          </a:stretch>
        </p:blipFill>
        <p:spPr>
          <a:xfrm>
            <a:off x="404025" y="2672516"/>
            <a:ext cx="3556090" cy="2166183"/>
          </a:xfrm>
          <a:prstGeom prst="rect">
            <a:avLst/>
          </a:prstGeom>
          <a:noFill/>
          <a:ln>
            <a:noFill/>
          </a:ln>
        </p:spPr>
      </p:pic>
      <p:sp>
        <p:nvSpPr>
          <p:cNvPr id="146" name="Google Shape;146;g10b28ca41fa_0_1"/>
          <p:cNvSpPr txBox="1"/>
          <p:nvPr/>
        </p:nvSpPr>
        <p:spPr>
          <a:xfrm>
            <a:off x="-1356375" y="188025"/>
            <a:ext cx="7338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pic>
        <p:nvPicPr>
          <p:cNvPr id="147" name="Google Shape;147;g10b28ca41fa_0_1"/>
          <p:cNvPicPr preferRelativeResize="0"/>
          <p:nvPr/>
        </p:nvPicPr>
        <p:blipFill>
          <a:blip r:embed="rId5">
            <a:alphaModFix/>
          </a:blip>
          <a:stretch>
            <a:fillRect/>
          </a:stretch>
        </p:blipFill>
        <p:spPr>
          <a:xfrm>
            <a:off x="8352575" y="376350"/>
            <a:ext cx="553350" cy="74609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10e45e625f2_0_1"/>
          <p:cNvSpPr txBox="1"/>
          <p:nvPr>
            <p:ph type="ctrTitle"/>
          </p:nvPr>
        </p:nvSpPr>
        <p:spPr>
          <a:xfrm>
            <a:off x="2113850" y="385879"/>
            <a:ext cx="5361300" cy="748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2500">
                <a:solidFill>
                  <a:srgbClr val="000000"/>
                </a:solidFill>
              </a:rPr>
              <a:t>2. </a:t>
            </a:r>
            <a:r>
              <a:rPr lang="en" sz="2500">
                <a:solidFill>
                  <a:srgbClr val="000000"/>
                </a:solidFill>
                <a:latin typeface="Calibri"/>
                <a:ea typeface="Calibri"/>
                <a:cs typeface="Calibri"/>
                <a:sym typeface="Calibri"/>
              </a:rPr>
              <a:t>Tầm quan trọng của Business Manner</a:t>
            </a:r>
            <a:endParaRPr sz="2500">
              <a:solidFill>
                <a:srgbClr val="000000"/>
              </a:solidFill>
            </a:endParaRPr>
          </a:p>
        </p:txBody>
      </p:sp>
      <p:sp>
        <p:nvSpPr>
          <p:cNvPr id="153" name="Google Shape;153;g10e45e625f2_0_1"/>
          <p:cNvSpPr txBox="1"/>
          <p:nvPr>
            <p:ph idx="1" type="subTitle"/>
          </p:nvPr>
        </p:nvSpPr>
        <p:spPr>
          <a:xfrm>
            <a:off x="899900" y="1134675"/>
            <a:ext cx="7789200" cy="15309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Clr>
                <a:srgbClr val="333333"/>
              </a:buClr>
              <a:buSzPts val="2100"/>
              <a:buFont typeface="Arial"/>
              <a:buChar char="★"/>
            </a:pPr>
            <a:r>
              <a:rPr lang="en" sz="2100">
                <a:solidFill>
                  <a:srgbClr val="333333"/>
                </a:solidFill>
                <a:latin typeface="Arial"/>
                <a:ea typeface="Arial"/>
                <a:cs typeface="Arial"/>
                <a:sym typeface="Arial"/>
              </a:rPr>
              <a:t>Giúp công việc suôn sẻ hơn</a:t>
            </a:r>
            <a:endParaRPr sz="2100">
              <a:solidFill>
                <a:srgbClr val="333333"/>
              </a:solidFill>
              <a:latin typeface="Arial"/>
              <a:ea typeface="Arial"/>
              <a:cs typeface="Arial"/>
              <a:sym typeface="Arial"/>
            </a:endParaRPr>
          </a:p>
          <a:p>
            <a:pPr indent="-361950" lvl="0" marL="457200" rtl="0" algn="l">
              <a:spcBef>
                <a:spcPts val="0"/>
              </a:spcBef>
              <a:spcAft>
                <a:spcPts val="0"/>
              </a:spcAft>
              <a:buClr>
                <a:srgbClr val="333333"/>
              </a:buClr>
              <a:buSzPts val="2100"/>
              <a:buFont typeface="Arial"/>
              <a:buChar char="★"/>
            </a:pPr>
            <a:r>
              <a:rPr lang="en" sz="2100">
                <a:solidFill>
                  <a:srgbClr val="333333"/>
                </a:solidFill>
                <a:latin typeface="Arial"/>
                <a:ea typeface="Arial"/>
                <a:cs typeface="Arial"/>
                <a:sym typeface="Arial"/>
              </a:rPr>
              <a:t> Tạo mối quan hệ tốt, môi trường làm việc tốt</a:t>
            </a:r>
            <a:endParaRPr sz="2100">
              <a:solidFill>
                <a:srgbClr val="333333"/>
              </a:solidFill>
              <a:latin typeface="Arial"/>
              <a:ea typeface="Arial"/>
              <a:cs typeface="Arial"/>
              <a:sym typeface="Arial"/>
            </a:endParaRPr>
          </a:p>
          <a:p>
            <a:pPr indent="-361950" lvl="0" marL="457200" rtl="0" algn="l">
              <a:spcBef>
                <a:spcPts val="0"/>
              </a:spcBef>
              <a:spcAft>
                <a:spcPts val="0"/>
              </a:spcAft>
              <a:buClr>
                <a:srgbClr val="333333"/>
              </a:buClr>
              <a:buSzPts val="2100"/>
              <a:buFont typeface="Arial"/>
              <a:buChar char="★"/>
            </a:pPr>
            <a:r>
              <a:rPr lang="en" sz="2100">
                <a:solidFill>
                  <a:srgbClr val="333333"/>
                </a:solidFill>
                <a:latin typeface="Arial"/>
                <a:ea typeface="Arial"/>
                <a:cs typeface="Arial"/>
                <a:sym typeface="Arial"/>
              </a:rPr>
              <a:t> Nâng cao hình ảnh cá nhân, công ty</a:t>
            </a:r>
            <a:endParaRPr sz="2100">
              <a:solidFill>
                <a:srgbClr val="333333"/>
              </a:solidFill>
              <a:latin typeface="Arial"/>
              <a:ea typeface="Arial"/>
              <a:cs typeface="Arial"/>
              <a:sym typeface="Arial"/>
            </a:endParaRPr>
          </a:p>
          <a:p>
            <a:pPr indent="-361950" lvl="0" marL="457200" rtl="0" algn="l">
              <a:spcBef>
                <a:spcPts val="0"/>
              </a:spcBef>
              <a:spcAft>
                <a:spcPts val="0"/>
              </a:spcAft>
              <a:buClr>
                <a:srgbClr val="333333"/>
              </a:buClr>
              <a:buSzPts val="2100"/>
              <a:buFont typeface="Arial"/>
              <a:buChar char="★"/>
            </a:pPr>
            <a:r>
              <a:rPr lang="en" sz="2100">
                <a:solidFill>
                  <a:srgbClr val="333333"/>
                </a:solidFill>
                <a:latin typeface="Arial"/>
                <a:ea typeface="Arial"/>
                <a:cs typeface="Arial"/>
                <a:sym typeface="Arial"/>
              </a:rPr>
              <a:t> Tạo niềm tin cho khách hàng.</a:t>
            </a:r>
            <a:endParaRPr sz="2100">
              <a:solidFill>
                <a:srgbClr val="000000"/>
              </a:solidFill>
              <a:latin typeface="Arial"/>
              <a:ea typeface="Arial"/>
              <a:cs typeface="Arial"/>
              <a:sym typeface="Arial"/>
            </a:endParaRPr>
          </a:p>
          <a:p>
            <a:pPr indent="0" lvl="0" marL="0" rtl="0" algn="ctr">
              <a:spcBef>
                <a:spcPts val="0"/>
              </a:spcBef>
              <a:spcAft>
                <a:spcPts val="0"/>
              </a:spcAft>
              <a:buNone/>
            </a:pPr>
            <a:r>
              <a:t/>
            </a:r>
            <a:endParaRPr sz="2100"/>
          </a:p>
        </p:txBody>
      </p:sp>
      <p:pic>
        <p:nvPicPr>
          <p:cNvPr id="154" name="Google Shape;154;g10e45e625f2_0_1"/>
          <p:cNvPicPr preferRelativeResize="0"/>
          <p:nvPr/>
        </p:nvPicPr>
        <p:blipFill>
          <a:blip r:embed="rId3">
            <a:alphaModFix/>
          </a:blip>
          <a:stretch>
            <a:fillRect/>
          </a:stretch>
        </p:blipFill>
        <p:spPr>
          <a:xfrm>
            <a:off x="4328975" y="2665575"/>
            <a:ext cx="4569955" cy="2173125"/>
          </a:xfrm>
          <a:prstGeom prst="rect">
            <a:avLst/>
          </a:prstGeom>
          <a:noFill/>
          <a:ln>
            <a:noFill/>
          </a:ln>
        </p:spPr>
      </p:pic>
      <p:pic>
        <p:nvPicPr>
          <p:cNvPr id="155" name="Google Shape;155;g10e45e625f2_0_1"/>
          <p:cNvPicPr preferRelativeResize="0"/>
          <p:nvPr/>
        </p:nvPicPr>
        <p:blipFill>
          <a:blip r:embed="rId4">
            <a:alphaModFix/>
          </a:blip>
          <a:stretch>
            <a:fillRect/>
          </a:stretch>
        </p:blipFill>
        <p:spPr>
          <a:xfrm>
            <a:off x="8382075" y="342825"/>
            <a:ext cx="553350" cy="74609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10e45e625f2_0_12"/>
          <p:cNvSpPr txBox="1"/>
          <p:nvPr>
            <p:ph type="ctrTitle"/>
          </p:nvPr>
        </p:nvSpPr>
        <p:spPr>
          <a:xfrm>
            <a:off x="2006425" y="282025"/>
            <a:ext cx="5621400" cy="9669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t/>
            </a:r>
            <a:endParaRPr sz="2500">
              <a:solidFill>
                <a:srgbClr val="000000"/>
              </a:solidFill>
              <a:latin typeface="Calibri"/>
              <a:ea typeface="Calibri"/>
              <a:cs typeface="Calibri"/>
              <a:sym typeface="Calibri"/>
            </a:endParaRPr>
          </a:p>
          <a:p>
            <a:pPr indent="0" lvl="0" marL="0" rtl="0" algn="l">
              <a:spcBef>
                <a:spcPts val="0"/>
              </a:spcBef>
              <a:spcAft>
                <a:spcPts val="0"/>
              </a:spcAft>
              <a:buNone/>
            </a:pPr>
            <a:r>
              <a:rPr lang="en" sz="2500">
                <a:solidFill>
                  <a:srgbClr val="000000"/>
                </a:solidFill>
                <a:latin typeface="Calibri"/>
                <a:ea typeface="Calibri"/>
                <a:cs typeface="Calibri"/>
                <a:sym typeface="Calibri"/>
              </a:rPr>
              <a:t>3.</a:t>
            </a:r>
            <a:r>
              <a:rPr lang="en" sz="2500">
                <a:solidFill>
                  <a:srgbClr val="000000"/>
                </a:solidFill>
                <a:latin typeface="Calibri"/>
                <a:ea typeface="Calibri"/>
                <a:cs typeface="Calibri"/>
                <a:sym typeface="Calibri"/>
              </a:rPr>
              <a:t>Tiêu chuẩn Business Manner của Nhật</a:t>
            </a:r>
            <a:endParaRPr sz="2500">
              <a:solidFill>
                <a:srgbClr val="000000"/>
              </a:solidFill>
              <a:latin typeface="Calibri"/>
              <a:ea typeface="Calibri"/>
              <a:cs typeface="Calibri"/>
              <a:sym typeface="Calibri"/>
            </a:endParaRPr>
          </a:p>
          <a:p>
            <a:pPr indent="-355600" lvl="0" marL="457200" rtl="0" algn="l">
              <a:spcBef>
                <a:spcPts val="0"/>
              </a:spcBef>
              <a:spcAft>
                <a:spcPts val="0"/>
              </a:spcAft>
              <a:buClr>
                <a:srgbClr val="000000"/>
              </a:buClr>
              <a:buSzPts val="2000"/>
              <a:buFont typeface="Calibri"/>
              <a:buChar char="➔"/>
            </a:pPr>
            <a:r>
              <a:rPr lang="en" sz="2000">
                <a:solidFill>
                  <a:srgbClr val="000000"/>
                </a:solidFill>
                <a:latin typeface="Calibri"/>
                <a:ea typeface="Calibri"/>
                <a:cs typeface="Calibri"/>
                <a:sym typeface="Calibri"/>
              </a:rPr>
              <a:t>Vị trí ngồi trong phòng họp</a:t>
            </a:r>
            <a:endParaRPr sz="2800">
              <a:solidFill>
                <a:srgbClr val="000000"/>
              </a:solidFill>
              <a:latin typeface="Calibri"/>
              <a:ea typeface="Calibri"/>
              <a:cs typeface="Calibri"/>
              <a:sym typeface="Calibri"/>
            </a:endParaRPr>
          </a:p>
          <a:p>
            <a:pPr indent="0" lvl="0" marL="0" rtl="0" algn="ctr">
              <a:spcBef>
                <a:spcPts val="0"/>
              </a:spcBef>
              <a:spcAft>
                <a:spcPts val="0"/>
              </a:spcAft>
              <a:buNone/>
            </a:pPr>
            <a:r>
              <a:t/>
            </a:r>
            <a:endParaRPr sz="2500"/>
          </a:p>
        </p:txBody>
      </p:sp>
      <p:sp>
        <p:nvSpPr>
          <p:cNvPr id="161" name="Google Shape;161;g10e45e625f2_0_12"/>
          <p:cNvSpPr txBox="1"/>
          <p:nvPr>
            <p:ph idx="1" type="subTitle"/>
          </p:nvPr>
        </p:nvSpPr>
        <p:spPr>
          <a:xfrm>
            <a:off x="268600" y="1396650"/>
            <a:ext cx="2551500" cy="564900"/>
          </a:xfrm>
          <a:prstGeom prst="rect">
            <a:avLst/>
          </a:prstGeom>
        </p:spPr>
        <p:txBody>
          <a:bodyPr anchorCtr="0" anchor="t" bIns="91425" lIns="91425" spcFirstLastPara="1" rIns="91425" wrap="square" tIns="91425">
            <a:noAutofit/>
          </a:bodyPr>
          <a:lstStyle/>
          <a:p>
            <a:pPr indent="-312420" lvl="0" marL="457200" rtl="0" algn="ctr">
              <a:lnSpc>
                <a:spcPct val="115000"/>
              </a:lnSpc>
              <a:spcBef>
                <a:spcPts val="0"/>
              </a:spcBef>
              <a:spcAft>
                <a:spcPts val="0"/>
              </a:spcAft>
              <a:buClr>
                <a:srgbClr val="000000"/>
              </a:buClr>
              <a:buSzPts val="1320"/>
              <a:buChar char="➢"/>
            </a:pPr>
            <a:r>
              <a:rPr lang="en" sz="1320">
                <a:solidFill>
                  <a:srgbClr val="000000"/>
                </a:solidFill>
              </a:rPr>
              <a:t>Phòng họp có cửa ra vào</a:t>
            </a:r>
            <a:endParaRPr sz="1320">
              <a:solidFill>
                <a:srgbClr val="000000"/>
              </a:solidFill>
            </a:endParaRPr>
          </a:p>
          <a:p>
            <a:pPr indent="-301307" lvl="0" marL="342900" rtl="0" algn="ctr">
              <a:lnSpc>
                <a:spcPct val="115000"/>
              </a:lnSpc>
              <a:spcBef>
                <a:spcPts val="0"/>
              </a:spcBef>
              <a:spcAft>
                <a:spcPts val="0"/>
              </a:spcAft>
              <a:buClr>
                <a:srgbClr val="000000"/>
              </a:buClr>
              <a:buSzPts val="1145"/>
              <a:buFont typeface="Arial"/>
              <a:buChar char="★"/>
            </a:pPr>
            <a:r>
              <a:rPr lang="en" sz="1145">
                <a:solidFill>
                  <a:srgbClr val="000000"/>
                </a:solidFill>
                <a:highlight>
                  <a:srgbClr val="FFFFFF"/>
                </a:highlight>
                <a:latin typeface="Arial"/>
                <a:ea typeface="Arial"/>
                <a:cs typeface="Arial"/>
                <a:sym typeface="Arial"/>
              </a:rPr>
              <a:t>1: </a:t>
            </a:r>
            <a:r>
              <a:rPr lang="en" sz="1145">
                <a:solidFill>
                  <a:srgbClr val="000000"/>
                </a:solidFill>
                <a:highlight>
                  <a:srgbClr val="FFFFFF"/>
                </a:highlight>
                <a:latin typeface="Arial"/>
                <a:ea typeface="Arial"/>
                <a:cs typeface="Arial"/>
                <a:sym typeface="Arial"/>
              </a:rPr>
              <a:t>Vị trí có địa vị cao nhất, </a:t>
            </a:r>
            <a:endParaRPr sz="1145">
              <a:solidFill>
                <a:srgbClr val="000000"/>
              </a:solidFill>
              <a:highlight>
                <a:srgbClr val="FFFFFF"/>
              </a:highlight>
              <a:latin typeface="Arial"/>
              <a:ea typeface="Arial"/>
              <a:cs typeface="Arial"/>
              <a:sym typeface="Arial"/>
            </a:endParaRPr>
          </a:p>
          <a:p>
            <a:pPr indent="-301307" lvl="0" marL="400050" rtl="0" algn="ctr">
              <a:lnSpc>
                <a:spcPct val="115000"/>
              </a:lnSpc>
              <a:spcBef>
                <a:spcPts val="0"/>
              </a:spcBef>
              <a:spcAft>
                <a:spcPts val="0"/>
              </a:spcAft>
              <a:buClr>
                <a:srgbClr val="000000"/>
              </a:buClr>
              <a:buSzPts val="1145"/>
              <a:buFont typeface="Arial"/>
              <a:buChar char="★"/>
            </a:pPr>
            <a:r>
              <a:rPr lang="en" sz="1145">
                <a:solidFill>
                  <a:srgbClr val="000000"/>
                </a:solidFill>
                <a:highlight>
                  <a:srgbClr val="FFFFFF"/>
                </a:highlight>
                <a:latin typeface="Arial"/>
                <a:ea typeface="Arial"/>
                <a:cs typeface="Arial"/>
                <a:sym typeface="Arial"/>
              </a:rPr>
              <a:t>4 : Vị trí có địa vị thấp nhất</a:t>
            </a:r>
            <a:endParaRPr sz="1320">
              <a:solidFill>
                <a:srgbClr val="000000"/>
              </a:solidFill>
            </a:endParaRPr>
          </a:p>
        </p:txBody>
      </p:sp>
      <p:sp>
        <p:nvSpPr>
          <p:cNvPr id="162" name="Google Shape;162;g10e45e625f2_0_12"/>
          <p:cNvSpPr txBox="1"/>
          <p:nvPr>
            <p:ph idx="1" type="subTitle"/>
          </p:nvPr>
        </p:nvSpPr>
        <p:spPr>
          <a:xfrm>
            <a:off x="-50" y="3021650"/>
            <a:ext cx="3088800" cy="564900"/>
          </a:xfrm>
          <a:prstGeom prst="rect">
            <a:avLst/>
          </a:prstGeom>
        </p:spPr>
        <p:txBody>
          <a:bodyPr anchorCtr="0" anchor="t" bIns="91425" lIns="171450" spcFirstLastPara="1" rIns="91425" wrap="square" tIns="91425">
            <a:noAutofit/>
          </a:bodyPr>
          <a:lstStyle/>
          <a:p>
            <a:pPr indent="-192214" lvl="0" marL="457200" rtl="0" algn="ctr">
              <a:lnSpc>
                <a:spcPct val="115000"/>
              </a:lnSpc>
              <a:spcBef>
                <a:spcPts val="0"/>
              </a:spcBef>
              <a:spcAft>
                <a:spcPts val="0"/>
              </a:spcAft>
              <a:buClr>
                <a:srgbClr val="000000"/>
              </a:buClr>
              <a:buSzPts val="1227"/>
              <a:buChar char="➢"/>
            </a:pPr>
            <a:r>
              <a:rPr lang="en" sz="1227">
                <a:solidFill>
                  <a:srgbClr val="000000"/>
                </a:solidFill>
              </a:rPr>
              <a:t>Phòng họp có cửa ra vào và cửa sổ</a:t>
            </a:r>
            <a:endParaRPr sz="1227">
              <a:solidFill>
                <a:srgbClr val="000000"/>
              </a:solidFill>
            </a:endParaRPr>
          </a:p>
          <a:p>
            <a:pPr indent="-301235" lvl="0" marL="114300" rtl="0" algn="ctr">
              <a:lnSpc>
                <a:spcPct val="115000"/>
              </a:lnSpc>
              <a:spcBef>
                <a:spcPts val="0"/>
              </a:spcBef>
              <a:spcAft>
                <a:spcPts val="0"/>
              </a:spcAft>
              <a:buClr>
                <a:srgbClr val="000000"/>
              </a:buClr>
              <a:buSzPts val="1144"/>
              <a:buFont typeface="Arial"/>
              <a:buChar char="★"/>
            </a:pPr>
            <a:r>
              <a:rPr lang="en" sz="1143">
                <a:solidFill>
                  <a:srgbClr val="000000"/>
                </a:solidFill>
                <a:highlight>
                  <a:srgbClr val="FFFFFF"/>
                </a:highlight>
                <a:latin typeface="Arial"/>
                <a:ea typeface="Arial"/>
                <a:cs typeface="Arial"/>
                <a:sym typeface="Arial"/>
              </a:rPr>
              <a:t>1: Vị trí có địa vị cao nhất, </a:t>
            </a:r>
            <a:endParaRPr sz="1143">
              <a:solidFill>
                <a:srgbClr val="000000"/>
              </a:solidFill>
              <a:highlight>
                <a:srgbClr val="FFFFFF"/>
              </a:highlight>
              <a:latin typeface="Arial"/>
              <a:ea typeface="Arial"/>
              <a:cs typeface="Arial"/>
              <a:sym typeface="Arial"/>
            </a:endParaRPr>
          </a:p>
          <a:p>
            <a:pPr indent="-301235" lvl="0" marL="171450" rtl="0" algn="ctr">
              <a:lnSpc>
                <a:spcPct val="115000"/>
              </a:lnSpc>
              <a:spcBef>
                <a:spcPts val="0"/>
              </a:spcBef>
              <a:spcAft>
                <a:spcPts val="0"/>
              </a:spcAft>
              <a:buClr>
                <a:srgbClr val="000000"/>
              </a:buClr>
              <a:buSzPts val="1144"/>
              <a:buFont typeface="Arial"/>
              <a:buChar char="★"/>
            </a:pPr>
            <a:r>
              <a:rPr lang="en" sz="1143">
                <a:solidFill>
                  <a:srgbClr val="000000"/>
                </a:solidFill>
                <a:highlight>
                  <a:srgbClr val="FFFFFF"/>
                </a:highlight>
                <a:latin typeface="Arial"/>
                <a:ea typeface="Arial"/>
                <a:cs typeface="Arial"/>
                <a:sym typeface="Arial"/>
              </a:rPr>
              <a:t>4 : Vị trí có địa vị thấp nhất</a:t>
            </a:r>
            <a:endParaRPr sz="1227">
              <a:solidFill>
                <a:srgbClr val="000000"/>
              </a:solidFill>
            </a:endParaRPr>
          </a:p>
          <a:p>
            <a:pPr indent="0" lvl="0" marL="0" rtl="0" algn="ctr">
              <a:lnSpc>
                <a:spcPct val="115000"/>
              </a:lnSpc>
              <a:spcBef>
                <a:spcPts val="0"/>
              </a:spcBef>
              <a:spcAft>
                <a:spcPts val="0"/>
              </a:spcAft>
              <a:buSzPts val="523"/>
              <a:buNone/>
            </a:pPr>
            <a:r>
              <a:t/>
            </a:r>
            <a:endParaRPr sz="1360"/>
          </a:p>
        </p:txBody>
      </p:sp>
      <p:pic>
        <p:nvPicPr>
          <p:cNvPr id="163" name="Google Shape;163;g10e45e625f2_0_12"/>
          <p:cNvPicPr preferRelativeResize="0"/>
          <p:nvPr/>
        </p:nvPicPr>
        <p:blipFill>
          <a:blip r:embed="rId3">
            <a:alphaModFix/>
          </a:blip>
          <a:stretch>
            <a:fillRect/>
          </a:stretch>
        </p:blipFill>
        <p:spPr>
          <a:xfrm>
            <a:off x="4396100" y="1248925"/>
            <a:ext cx="3457575" cy="1504950"/>
          </a:xfrm>
          <a:prstGeom prst="rect">
            <a:avLst/>
          </a:prstGeom>
          <a:noFill/>
          <a:ln>
            <a:noFill/>
          </a:ln>
        </p:spPr>
      </p:pic>
      <p:pic>
        <p:nvPicPr>
          <p:cNvPr id="164" name="Google Shape;164;g10e45e625f2_0_12"/>
          <p:cNvPicPr preferRelativeResize="0"/>
          <p:nvPr/>
        </p:nvPicPr>
        <p:blipFill>
          <a:blip r:embed="rId4">
            <a:alphaModFix/>
          </a:blip>
          <a:stretch>
            <a:fillRect/>
          </a:stretch>
        </p:blipFill>
        <p:spPr>
          <a:xfrm>
            <a:off x="5237025" y="2884575"/>
            <a:ext cx="2514600" cy="1924050"/>
          </a:xfrm>
          <a:prstGeom prst="rect">
            <a:avLst/>
          </a:prstGeom>
          <a:noFill/>
          <a:ln>
            <a:noFill/>
          </a:ln>
        </p:spPr>
      </p:pic>
      <p:pic>
        <p:nvPicPr>
          <p:cNvPr id="165" name="Google Shape;165;g10e45e625f2_0_12"/>
          <p:cNvPicPr preferRelativeResize="0"/>
          <p:nvPr/>
        </p:nvPicPr>
        <p:blipFill>
          <a:blip r:embed="rId5">
            <a:alphaModFix/>
          </a:blip>
          <a:stretch>
            <a:fillRect/>
          </a:stretch>
        </p:blipFill>
        <p:spPr>
          <a:xfrm>
            <a:off x="8367250" y="392425"/>
            <a:ext cx="553350" cy="74609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10e45e625f2_0_31"/>
          <p:cNvSpPr txBox="1"/>
          <p:nvPr>
            <p:ph type="ctrTitle"/>
          </p:nvPr>
        </p:nvSpPr>
        <p:spPr>
          <a:xfrm>
            <a:off x="1979575" y="429750"/>
            <a:ext cx="5621400" cy="9669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t/>
            </a:r>
            <a:endParaRPr sz="2500">
              <a:solidFill>
                <a:srgbClr val="000000"/>
              </a:solidFill>
              <a:latin typeface="Calibri"/>
              <a:ea typeface="Calibri"/>
              <a:cs typeface="Calibri"/>
              <a:sym typeface="Calibri"/>
            </a:endParaRPr>
          </a:p>
          <a:p>
            <a:pPr indent="0" lvl="0" marL="0" rtl="0" algn="l">
              <a:spcBef>
                <a:spcPts val="0"/>
              </a:spcBef>
              <a:spcAft>
                <a:spcPts val="0"/>
              </a:spcAft>
              <a:buNone/>
            </a:pPr>
            <a:r>
              <a:rPr lang="en" sz="2500">
                <a:solidFill>
                  <a:srgbClr val="000000"/>
                </a:solidFill>
                <a:latin typeface="Calibri"/>
                <a:ea typeface="Calibri"/>
                <a:cs typeface="Calibri"/>
                <a:sym typeface="Calibri"/>
              </a:rPr>
              <a:t>3. Tiêu chuẩn Business Manner của Nhật</a:t>
            </a:r>
            <a:endParaRPr sz="2500">
              <a:solidFill>
                <a:srgbClr val="000000"/>
              </a:solidFill>
              <a:latin typeface="Calibri"/>
              <a:ea typeface="Calibri"/>
              <a:cs typeface="Calibri"/>
              <a:sym typeface="Calibri"/>
            </a:endParaRPr>
          </a:p>
          <a:p>
            <a:pPr indent="-355600" lvl="0" marL="457200" rtl="0" algn="l">
              <a:spcBef>
                <a:spcPts val="0"/>
              </a:spcBef>
              <a:spcAft>
                <a:spcPts val="0"/>
              </a:spcAft>
              <a:buClr>
                <a:srgbClr val="000000"/>
              </a:buClr>
              <a:buSzPts val="2000"/>
              <a:buFont typeface="Calibri"/>
              <a:buChar char="➔"/>
            </a:pPr>
            <a:r>
              <a:rPr lang="en" sz="2000">
                <a:solidFill>
                  <a:srgbClr val="000000"/>
                </a:solidFill>
                <a:latin typeface="Calibri"/>
                <a:ea typeface="Calibri"/>
                <a:cs typeface="Calibri"/>
                <a:sym typeface="Calibri"/>
              </a:rPr>
              <a:t>Vị trí ngồi trong phòng họp</a:t>
            </a:r>
            <a:endParaRPr sz="2800">
              <a:solidFill>
                <a:srgbClr val="000000"/>
              </a:solidFill>
              <a:latin typeface="Calibri"/>
              <a:ea typeface="Calibri"/>
              <a:cs typeface="Calibri"/>
              <a:sym typeface="Calibri"/>
            </a:endParaRPr>
          </a:p>
          <a:p>
            <a:pPr indent="0" lvl="0" marL="0" rtl="0" algn="ctr">
              <a:spcBef>
                <a:spcPts val="0"/>
              </a:spcBef>
              <a:spcAft>
                <a:spcPts val="0"/>
              </a:spcAft>
              <a:buNone/>
            </a:pPr>
            <a:r>
              <a:t/>
            </a:r>
            <a:endParaRPr sz="2500"/>
          </a:p>
        </p:txBody>
      </p:sp>
      <p:sp>
        <p:nvSpPr>
          <p:cNvPr id="171" name="Google Shape;171;g10e45e625f2_0_31"/>
          <p:cNvSpPr txBox="1"/>
          <p:nvPr>
            <p:ph idx="1" type="subTitle"/>
          </p:nvPr>
        </p:nvSpPr>
        <p:spPr>
          <a:xfrm>
            <a:off x="308875" y="1893550"/>
            <a:ext cx="2551500" cy="966900"/>
          </a:xfrm>
          <a:prstGeom prst="rect">
            <a:avLst/>
          </a:prstGeom>
        </p:spPr>
        <p:txBody>
          <a:bodyPr anchorCtr="0" anchor="t" bIns="91425" lIns="0" spcFirstLastPara="1" rIns="91425" wrap="square" tIns="91425">
            <a:noAutofit/>
          </a:bodyPr>
          <a:lstStyle/>
          <a:p>
            <a:pPr indent="-153669" lvl="0" marL="0" rtl="0" algn="ctr">
              <a:lnSpc>
                <a:spcPct val="115000"/>
              </a:lnSpc>
              <a:spcBef>
                <a:spcPts val="0"/>
              </a:spcBef>
              <a:spcAft>
                <a:spcPts val="0"/>
              </a:spcAft>
              <a:buClr>
                <a:srgbClr val="000000"/>
              </a:buClr>
              <a:buSzPts val="1520"/>
              <a:buChar char="➢"/>
            </a:pPr>
            <a:r>
              <a:rPr lang="en" sz="1550">
                <a:solidFill>
                  <a:srgbClr val="1B1B1B"/>
                </a:solidFill>
                <a:highlight>
                  <a:srgbClr val="FFFFFF"/>
                </a:highlight>
                <a:latin typeface="Arial"/>
                <a:ea typeface="Arial"/>
                <a:cs typeface="Arial"/>
                <a:sym typeface="Arial"/>
              </a:rPr>
              <a:t>Họp bàn tròn</a:t>
            </a:r>
            <a:endParaRPr sz="1520">
              <a:solidFill>
                <a:srgbClr val="000000"/>
              </a:solidFill>
            </a:endParaRPr>
          </a:p>
          <a:p>
            <a:pPr indent="-314007" lvl="0" marL="342900" rtl="0" algn="ctr">
              <a:lnSpc>
                <a:spcPct val="115000"/>
              </a:lnSpc>
              <a:spcBef>
                <a:spcPts val="0"/>
              </a:spcBef>
              <a:spcAft>
                <a:spcPts val="0"/>
              </a:spcAft>
              <a:buClr>
                <a:srgbClr val="000000"/>
              </a:buClr>
              <a:buSzPts val="1345"/>
              <a:buFont typeface="Arial"/>
              <a:buChar char="★"/>
            </a:pPr>
            <a:r>
              <a:rPr lang="en" sz="1345">
                <a:solidFill>
                  <a:srgbClr val="000000"/>
                </a:solidFill>
                <a:highlight>
                  <a:srgbClr val="FFFFFF"/>
                </a:highlight>
                <a:latin typeface="Arial"/>
                <a:ea typeface="Arial"/>
                <a:cs typeface="Arial"/>
                <a:sym typeface="Arial"/>
              </a:rPr>
              <a:t>1: Vị trí có địa vị cao nhất, </a:t>
            </a:r>
            <a:endParaRPr sz="1345">
              <a:solidFill>
                <a:srgbClr val="000000"/>
              </a:solidFill>
              <a:highlight>
                <a:srgbClr val="FFFFFF"/>
              </a:highlight>
              <a:latin typeface="Arial"/>
              <a:ea typeface="Arial"/>
              <a:cs typeface="Arial"/>
              <a:sym typeface="Arial"/>
            </a:endParaRPr>
          </a:p>
          <a:p>
            <a:pPr indent="-314007" lvl="0" marL="400050" rtl="0" algn="ctr">
              <a:lnSpc>
                <a:spcPct val="115000"/>
              </a:lnSpc>
              <a:spcBef>
                <a:spcPts val="0"/>
              </a:spcBef>
              <a:spcAft>
                <a:spcPts val="0"/>
              </a:spcAft>
              <a:buClr>
                <a:srgbClr val="000000"/>
              </a:buClr>
              <a:buSzPts val="1345"/>
              <a:buFont typeface="Arial"/>
              <a:buChar char="★"/>
            </a:pPr>
            <a:r>
              <a:rPr lang="en" sz="1345">
                <a:solidFill>
                  <a:srgbClr val="000000"/>
                </a:solidFill>
                <a:highlight>
                  <a:srgbClr val="FFFFFF"/>
                </a:highlight>
                <a:latin typeface="Arial"/>
                <a:ea typeface="Arial"/>
                <a:cs typeface="Arial"/>
                <a:sym typeface="Arial"/>
              </a:rPr>
              <a:t>4 : Vị trí có địa vị thấp nhất</a:t>
            </a:r>
            <a:endParaRPr sz="1520">
              <a:solidFill>
                <a:srgbClr val="000000"/>
              </a:solidFill>
            </a:endParaRPr>
          </a:p>
        </p:txBody>
      </p:sp>
      <p:pic>
        <p:nvPicPr>
          <p:cNvPr id="172" name="Google Shape;172;g10e45e625f2_0_31"/>
          <p:cNvPicPr preferRelativeResize="0"/>
          <p:nvPr/>
        </p:nvPicPr>
        <p:blipFill>
          <a:blip r:embed="rId3">
            <a:alphaModFix/>
          </a:blip>
          <a:stretch>
            <a:fillRect/>
          </a:stretch>
        </p:blipFill>
        <p:spPr>
          <a:xfrm>
            <a:off x="4677900" y="1544375"/>
            <a:ext cx="2923075" cy="2980675"/>
          </a:xfrm>
          <a:prstGeom prst="rect">
            <a:avLst/>
          </a:prstGeom>
          <a:noFill/>
          <a:ln>
            <a:noFill/>
          </a:ln>
        </p:spPr>
      </p:pic>
      <p:pic>
        <p:nvPicPr>
          <p:cNvPr id="173" name="Google Shape;173;g10e45e625f2_0_31"/>
          <p:cNvPicPr preferRelativeResize="0"/>
          <p:nvPr/>
        </p:nvPicPr>
        <p:blipFill>
          <a:blip r:embed="rId4">
            <a:alphaModFix/>
          </a:blip>
          <a:stretch>
            <a:fillRect/>
          </a:stretch>
        </p:blipFill>
        <p:spPr>
          <a:xfrm>
            <a:off x="8352475" y="354125"/>
            <a:ext cx="553350" cy="74609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10e45e625f2_0_42"/>
          <p:cNvSpPr txBox="1"/>
          <p:nvPr>
            <p:ph type="ctrTitle"/>
          </p:nvPr>
        </p:nvSpPr>
        <p:spPr>
          <a:xfrm>
            <a:off x="1979575" y="429750"/>
            <a:ext cx="5621400" cy="9669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t/>
            </a:r>
            <a:endParaRPr sz="2500">
              <a:solidFill>
                <a:srgbClr val="000000"/>
              </a:solidFill>
              <a:latin typeface="Calibri"/>
              <a:ea typeface="Calibri"/>
              <a:cs typeface="Calibri"/>
              <a:sym typeface="Calibri"/>
            </a:endParaRPr>
          </a:p>
          <a:p>
            <a:pPr indent="0" lvl="0" marL="0" rtl="0" algn="l">
              <a:spcBef>
                <a:spcPts val="0"/>
              </a:spcBef>
              <a:spcAft>
                <a:spcPts val="0"/>
              </a:spcAft>
              <a:buNone/>
            </a:pPr>
            <a:r>
              <a:rPr lang="en" sz="2500">
                <a:solidFill>
                  <a:srgbClr val="000000"/>
                </a:solidFill>
                <a:latin typeface="Calibri"/>
                <a:ea typeface="Calibri"/>
                <a:cs typeface="Calibri"/>
                <a:sym typeface="Calibri"/>
              </a:rPr>
              <a:t>3. Tiêu chuẩn Business Manner của Nhật</a:t>
            </a:r>
            <a:endParaRPr sz="2500">
              <a:solidFill>
                <a:srgbClr val="000000"/>
              </a:solidFill>
              <a:latin typeface="Calibri"/>
              <a:ea typeface="Calibri"/>
              <a:cs typeface="Calibri"/>
              <a:sym typeface="Calibri"/>
            </a:endParaRPr>
          </a:p>
          <a:p>
            <a:pPr indent="-355600" lvl="0" marL="457200" rtl="0" algn="l">
              <a:spcBef>
                <a:spcPts val="0"/>
              </a:spcBef>
              <a:spcAft>
                <a:spcPts val="0"/>
              </a:spcAft>
              <a:buClr>
                <a:srgbClr val="000000"/>
              </a:buClr>
              <a:buSzPts val="2000"/>
              <a:buFont typeface="Calibri"/>
              <a:buChar char="➔"/>
            </a:pPr>
            <a:r>
              <a:rPr lang="en" sz="2000">
                <a:solidFill>
                  <a:srgbClr val="000000"/>
                </a:solidFill>
                <a:latin typeface="Calibri"/>
                <a:ea typeface="Calibri"/>
                <a:cs typeface="Calibri"/>
                <a:sym typeface="Calibri"/>
              </a:rPr>
              <a:t>Vị trí ngồi trong phòng họp</a:t>
            </a:r>
            <a:endParaRPr sz="2800">
              <a:solidFill>
                <a:srgbClr val="000000"/>
              </a:solidFill>
              <a:latin typeface="Calibri"/>
              <a:ea typeface="Calibri"/>
              <a:cs typeface="Calibri"/>
              <a:sym typeface="Calibri"/>
            </a:endParaRPr>
          </a:p>
          <a:p>
            <a:pPr indent="0" lvl="0" marL="0" rtl="0" algn="ctr">
              <a:spcBef>
                <a:spcPts val="0"/>
              </a:spcBef>
              <a:spcAft>
                <a:spcPts val="0"/>
              </a:spcAft>
              <a:buNone/>
            </a:pPr>
            <a:r>
              <a:t/>
            </a:r>
            <a:endParaRPr sz="2500"/>
          </a:p>
        </p:txBody>
      </p:sp>
      <p:sp>
        <p:nvSpPr>
          <p:cNvPr id="179" name="Google Shape;179;g10e45e625f2_0_42"/>
          <p:cNvSpPr txBox="1"/>
          <p:nvPr>
            <p:ph idx="1" type="subTitle"/>
          </p:nvPr>
        </p:nvSpPr>
        <p:spPr>
          <a:xfrm>
            <a:off x="308875" y="1893550"/>
            <a:ext cx="2551500" cy="832500"/>
          </a:xfrm>
          <a:prstGeom prst="rect">
            <a:avLst/>
          </a:prstGeom>
        </p:spPr>
        <p:txBody>
          <a:bodyPr anchorCtr="0" anchor="t" bIns="91425" lIns="0" spcFirstLastPara="1" rIns="91425" wrap="square" tIns="91425">
            <a:noAutofit/>
          </a:bodyPr>
          <a:lstStyle/>
          <a:p>
            <a:pPr indent="-153669" lvl="0" marL="0" rtl="0" algn="ctr">
              <a:lnSpc>
                <a:spcPct val="115000"/>
              </a:lnSpc>
              <a:spcBef>
                <a:spcPts val="0"/>
              </a:spcBef>
              <a:spcAft>
                <a:spcPts val="0"/>
              </a:spcAft>
              <a:buClr>
                <a:srgbClr val="000000"/>
              </a:buClr>
              <a:buSzPts val="1520"/>
              <a:buChar char="➢"/>
            </a:pPr>
            <a:r>
              <a:rPr lang="en" sz="1350">
                <a:solidFill>
                  <a:srgbClr val="1B1B1B"/>
                </a:solidFill>
                <a:highlight>
                  <a:srgbClr val="FFFFFF"/>
                </a:highlight>
                <a:latin typeface="Arial"/>
                <a:ea typeface="Arial"/>
                <a:cs typeface="Arial"/>
                <a:sym typeface="Arial"/>
              </a:rPr>
              <a:t>Phòng họp có ghế sofa</a:t>
            </a:r>
            <a:endParaRPr sz="1520">
              <a:solidFill>
                <a:srgbClr val="000000"/>
              </a:solidFill>
            </a:endParaRPr>
          </a:p>
          <a:p>
            <a:pPr indent="-314007" lvl="0" marL="342900" rtl="0" algn="ctr">
              <a:lnSpc>
                <a:spcPct val="115000"/>
              </a:lnSpc>
              <a:spcBef>
                <a:spcPts val="0"/>
              </a:spcBef>
              <a:spcAft>
                <a:spcPts val="0"/>
              </a:spcAft>
              <a:buClr>
                <a:srgbClr val="000000"/>
              </a:buClr>
              <a:buSzPts val="1345"/>
              <a:buFont typeface="Arial"/>
              <a:buChar char="★"/>
            </a:pPr>
            <a:r>
              <a:rPr lang="en" sz="1345">
                <a:solidFill>
                  <a:srgbClr val="000000"/>
                </a:solidFill>
                <a:highlight>
                  <a:srgbClr val="FFFFFF"/>
                </a:highlight>
                <a:latin typeface="Arial"/>
                <a:ea typeface="Arial"/>
                <a:cs typeface="Arial"/>
                <a:sym typeface="Arial"/>
              </a:rPr>
              <a:t>1: Vị trí có địa vị cao nhất, </a:t>
            </a:r>
            <a:endParaRPr sz="1345">
              <a:solidFill>
                <a:srgbClr val="000000"/>
              </a:solidFill>
              <a:highlight>
                <a:srgbClr val="FFFFFF"/>
              </a:highlight>
              <a:latin typeface="Arial"/>
              <a:ea typeface="Arial"/>
              <a:cs typeface="Arial"/>
              <a:sym typeface="Arial"/>
            </a:endParaRPr>
          </a:p>
          <a:p>
            <a:pPr indent="-314007" lvl="0" marL="400050" rtl="0" algn="ctr">
              <a:lnSpc>
                <a:spcPct val="115000"/>
              </a:lnSpc>
              <a:spcBef>
                <a:spcPts val="0"/>
              </a:spcBef>
              <a:spcAft>
                <a:spcPts val="0"/>
              </a:spcAft>
              <a:buClr>
                <a:srgbClr val="000000"/>
              </a:buClr>
              <a:buSzPts val="1345"/>
              <a:buFont typeface="Arial"/>
              <a:buChar char="★"/>
            </a:pPr>
            <a:r>
              <a:rPr lang="en" sz="1345">
                <a:solidFill>
                  <a:srgbClr val="000000"/>
                </a:solidFill>
                <a:highlight>
                  <a:srgbClr val="FFFFFF"/>
                </a:highlight>
                <a:latin typeface="Arial"/>
                <a:ea typeface="Arial"/>
                <a:cs typeface="Arial"/>
                <a:sym typeface="Arial"/>
              </a:rPr>
              <a:t>4 : Vị trí có địa vị thấp nhất</a:t>
            </a:r>
            <a:endParaRPr sz="1520">
              <a:solidFill>
                <a:srgbClr val="000000"/>
              </a:solidFill>
            </a:endParaRPr>
          </a:p>
        </p:txBody>
      </p:sp>
      <p:pic>
        <p:nvPicPr>
          <p:cNvPr id="180" name="Google Shape;180;g10e45e625f2_0_42"/>
          <p:cNvPicPr preferRelativeResize="0"/>
          <p:nvPr/>
        </p:nvPicPr>
        <p:blipFill>
          <a:blip r:embed="rId3">
            <a:alphaModFix/>
          </a:blip>
          <a:stretch>
            <a:fillRect/>
          </a:stretch>
        </p:blipFill>
        <p:spPr>
          <a:xfrm>
            <a:off x="4463150" y="1309688"/>
            <a:ext cx="4352925" cy="2524125"/>
          </a:xfrm>
          <a:prstGeom prst="rect">
            <a:avLst/>
          </a:prstGeom>
          <a:noFill/>
          <a:ln>
            <a:noFill/>
          </a:ln>
        </p:spPr>
      </p:pic>
      <p:sp>
        <p:nvSpPr>
          <p:cNvPr id="181" name="Google Shape;181;g10e45e625f2_0_42"/>
          <p:cNvSpPr txBox="1"/>
          <p:nvPr>
            <p:ph idx="1" type="subTitle"/>
          </p:nvPr>
        </p:nvSpPr>
        <p:spPr>
          <a:xfrm>
            <a:off x="308875" y="3155925"/>
            <a:ext cx="3934800" cy="832500"/>
          </a:xfrm>
          <a:prstGeom prst="rect">
            <a:avLst/>
          </a:prstGeom>
        </p:spPr>
        <p:txBody>
          <a:bodyPr anchorCtr="0" anchor="t" bIns="91425" lIns="0" spcFirstLastPara="1" rIns="91425" wrap="square" tIns="91425">
            <a:noAutofit/>
          </a:bodyPr>
          <a:lstStyle/>
          <a:p>
            <a:pPr indent="0" lvl="0" marL="0" rtl="0" algn="l">
              <a:lnSpc>
                <a:spcPct val="115000"/>
              </a:lnSpc>
              <a:spcBef>
                <a:spcPts val="0"/>
              </a:spcBef>
              <a:spcAft>
                <a:spcPts val="0"/>
              </a:spcAft>
              <a:buNone/>
            </a:pPr>
            <a:r>
              <a:rPr lang="en" sz="800">
                <a:solidFill>
                  <a:srgbClr val="1B1B1B"/>
                </a:solidFill>
                <a:highlight>
                  <a:srgbClr val="FFFFFF"/>
                </a:highlight>
                <a:latin typeface="Arial"/>
                <a:ea typeface="Arial"/>
                <a:cs typeface="Arial"/>
                <a:sym typeface="Arial"/>
              </a:rPr>
              <a:t>Với các phòng bố trí ghế sofa theo kiểu châu Âu thì sao? Kamiza trong trường hợp này chính là ghế sofa dài, có phần lưng tựa và tay vịn. Các vị trí tiếp theo lần lượt là ghế có lưng tựa và tay vịn đủ cho một người, ghế có lưng tựa nhưng không có tay vịn và ghế không có cả hai, giống như hình minh họa bên phải..</a:t>
            </a:r>
            <a:endParaRPr sz="800">
              <a:solidFill>
                <a:srgbClr val="000000"/>
              </a:solidFill>
            </a:endParaRPr>
          </a:p>
        </p:txBody>
      </p:sp>
      <p:pic>
        <p:nvPicPr>
          <p:cNvPr id="182" name="Google Shape;182;g10e45e625f2_0_42"/>
          <p:cNvPicPr preferRelativeResize="0"/>
          <p:nvPr/>
        </p:nvPicPr>
        <p:blipFill>
          <a:blip r:embed="rId4">
            <a:alphaModFix/>
          </a:blip>
          <a:stretch>
            <a:fillRect/>
          </a:stretch>
        </p:blipFill>
        <p:spPr>
          <a:xfrm>
            <a:off x="8389475" y="339325"/>
            <a:ext cx="553350" cy="74609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10e45e625f2_0_52"/>
          <p:cNvSpPr txBox="1"/>
          <p:nvPr>
            <p:ph type="ctrTitle"/>
          </p:nvPr>
        </p:nvSpPr>
        <p:spPr>
          <a:xfrm>
            <a:off x="1979575" y="429750"/>
            <a:ext cx="5621400" cy="9669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t/>
            </a:r>
            <a:endParaRPr sz="2500">
              <a:solidFill>
                <a:srgbClr val="000000"/>
              </a:solidFill>
              <a:latin typeface="Calibri"/>
              <a:ea typeface="Calibri"/>
              <a:cs typeface="Calibri"/>
              <a:sym typeface="Calibri"/>
            </a:endParaRPr>
          </a:p>
          <a:p>
            <a:pPr indent="0" lvl="0" marL="0" rtl="0" algn="l">
              <a:spcBef>
                <a:spcPts val="0"/>
              </a:spcBef>
              <a:spcAft>
                <a:spcPts val="0"/>
              </a:spcAft>
              <a:buNone/>
            </a:pPr>
            <a:r>
              <a:rPr lang="en" sz="2500">
                <a:solidFill>
                  <a:srgbClr val="000000"/>
                </a:solidFill>
                <a:latin typeface="Calibri"/>
                <a:ea typeface="Calibri"/>
                <a:cs typeface="Calibri"/>
                <a:sym typeface="Calibri"/>
              </a:rPr>
              <a:t>3. Tiêu chuẩn Business Manner của Nhật</a:t>
            </a:r>
            <a:endParaRPr sz="2500">
              <a:solidFill>
                <a:srgbClr val="000000"/>
              </a:solidFill>
              <a:latin typeface="Calibri"/>
              <a:ea typeface="Calibri"/>
              <a:cs typeface="Calibri"/>
              <a:sym typeface="Calibri"/>
            </a:endParaRPr>
          </a:p>
          <a:p>
            <a:pPr indent="-355600" lvl="0" marL="457200" rtl="0" algn="l">
              <a:spcBef>
                <a:spcPts val="0"/>
              </a:spcBef>
              <a:spcAft>
                <a:spcPts val="0"/>
              </a:spcAft>
              <a:buClr>
                <a:srgbClr val="000000"/>
              </a:buClr>
              <a:buSzPts val="2000"/>
              <a:buFont typeface="Calibri"/>
              <a:buChar char="➔"/>
            </a:pPr>
            <a:r>
              <a:rPr lang="en" sz="2000">
                <a:solidFill>
                  <a:srgbClr val="000000"/>
                </a:solidFill>
                <a:latin typeface="Calibri"/>
                <a:ea typeface="Calibri"/>
                <a:cs typeface="Calibri"/>
                <a:sym typeface="Calibri"/>
              </a:rPr>
              <a:t>Vị trí ngồi trong phòng họp</a:t>
            </a:r>
            <a:endParaRPr sz="2800">
              <a:solidFill>
                <a:srgbClr val="000000"/>
              </a:solidFill>
              <a:latin typeface="Calibri"/>
              <a:ea typeface="Calibri"/>
              <a:cs typeface="Calibri"/>
              <a:sym typeface="Calibri"/>
            </a:endParaRPr>
          </a:p>
          <a:p>
            <a:pPr indent="0" lvl="0" marL="0" rtl="0" algn="ctr">
              <a:spcBef>
                <a:spcPts val="0"/>
              </a:spcBef>
              <a:spcAft>
                <a:spcPts val="0"/>
              </a:spcAft>
              <a:buNone/>
            </a:pPr>
            <a:r>
              <a:t/>
            </a:r>
            <a:endParaRPr sz="2500"/>
          </a:p>
        </p:txBody>
      </p:sp>
      <p:sp>
        <p:nvSpPr>
          <p:cNvPr id="188" name="Google Shape;188;g10e45e625f2_0_52"/>
          <p:cNvSpPr txBox="1"/>
          <p:nvPr>
            <p:ph idx="1" type="subTitle"/>
          </p:nvPr>
        </p:nvSpPr>
        <p:spPr>
          <a:xfrm>
            <a:off x="308875" y="1893550"/>
            <a:ext cx="2551500" cy="832500"/>
          </a:xfrm>
          <a:prstGeom prst="rect">
            <a:avLst/>
          </a:prstGeom>
        </p:spPr>
        <p:txBody>
          <a:bodyPr anchorCtr="0" anchor="t" bIns="91425" lIns="0" spcFirstLastPara="1" rIns="91425" wrap="square" tIns="91425">
            <a:noAutofit/>
          </a:bodyPr>
          <a:lstStyle/>
          <a:p>
            <a:pPr indent="-153669" lvl="0" marL="0" rtl="0" algn="ctr">
              <a:lnSpc>
                <a:spcPct val="115000"/>
              </a:lnSpc>
              <a:spcBef>
                <a:spcPts val="0"/>
              </a:spcBef>
              <a:spcAft>
                <a:spcPts val="0"/>
              </a:spcAft>
              <a:buClr>
                <a:srgbClr val="000000"/>
              </a:buClr>
              <a:buSzPts val="1520"/>
              <a:buChar char="➢"/>
            </a:pPr>
            <a:r>
              <a:rPr lang="en" sz="1350">
                <a:solidFill>
                  <a:srgbClr val="1B1B1B"/>
                </a:solidFill>
                <a:highlight>
                  <a:srgbClr val="FFFFFF"/>
                </a:highlight>
                <a:latin typeface="Arial"/>
                <a:ea typeface="Arial"/>
                <a:cs typeface="Arial"/>
                <a:sym typeface="Arial"/>
              </a:rPr>
              <a:t>Phòng họp có ghế sofa</a:t>
            </a:r>
            <a:endParaRPr sz="1520">
              <a:solidFill>
                <a:srgbClr val="000000"/>
              </a:solidFill>
            </a:endParaRPr>
          </a:p>
          <a:p>
            <a:pPr indent="-314007" lvl="0" marL="342900" rtl="0" algn="ctr">
              <a:lnSpc>
                <a:spcPct val="115000"/>
              </a:lnSpc>
              <a:spcBef>
                <a:spcPts val="0"/>
              </a:spcBef>
              <a:spcAft>
                <a:spcPts val="0"/>
              </a:spcAft>
              <a:buClr>
                <a:srgbClr val="000000"/>
              </a:buClr>
              <a:buSzPts val="1345"/>
              <a:buFont typeface="Arial"/>
              <a:buChar char="★"/>
            </a:pPr>
            <a:r>
              <a:rPr lang="en" sz="1345">
                <a:solidFill>
                  <a:srgbClr val="000000"/>
                </a:solidFill>
                <a:highlight>
                  <a:srgbClr val="FFFFFF"/>
                </a:highlight>
                <a:latin typeface="Arial"/>
                <a:ea typeface="Arial"/>
                <a:cs typeface="Arial"/>
                <a:sym typeface="Arial"/>
              </a:rPr>
              <a:t>1: Vị trí có địa vị cao nhất, </a:t>
            </a:r>
            <a:endParaRPr sz="1345">
              <a:solidFill>
                <a:srgbClr val="000000"/>
              </a:solidFill>
              <a:highlight>
                <a:srgbClr val="FFFFFF"/>
              </a:highlight>
              <a:latin typeface="Arial"/>
              <a:ea typeface="Arial"/>
              <a:cs typeface="Arial"/>
              <a:sym typeface="Arial"/>
            </a:endParaRPr>
          </a:p>
          <a:p>
            <a:pPr indent="-314007" lvl="0" marL="400050" rtl="0" algn="ctr">
              <a:lnSpc>
                <a:spcPct val="115000"/>
              </a:lnSpc>
              <a:spcBef>
                <a:spcPts val="0"/>
              </a:spcBef>
              <a:spcAft>
                <a:spcPts val="0"/>
              </a:spcAft>
              <a:buClr>
                <a:srgbClr val="000000"/>
              </a:buClr>
              <a:buSzPts val="1345"/>
              <a:buFont typeface="Arial"/>
              <a:buChar char="★"/>
            </a:pPr>
            <a:r>
              <a:rPr lang="en" sz="1345">
                <a:solidFill>
                  <a:srgbClr val="000000"/>
                </a:solidFill>
                <a:highlight>
                  <a:srgbClr val="FFFFFF"/>
                </a:highlight>
                <a:latin typeface="Arial"/>
                <a:ea typeface="Arial"/>
                <a:cs typeface="Arial"/>
                <a:sym typeface="Arial"/>
              </a:rPr>
              <a:t>4 : Vị trí có địa vị thấp nhất</a:t>
            </a:r>
            <a:endParaRPr sz="1520">
              <a:solidFill>
                <a:srgbClr val="000000"/>
              </a:solidFill>
            </a:endParaRPr>
          </a:p>
        </p:txBody>
      </p:sp>
      <p:pic>
        <p:nvPicPr>
          <p:cNvPr id="189" name="Google Shape;189;g10e45e625f2_0_52"/>
          <p:cNvPicPr preferRelativeResize="0"/>
          <p:nvPr/>
        </p:nvPicPr>
        <p:blipFill>
          <a:blip r:embed="rId3">
            <a:alphaModFix/>
          </a:blip>
          <a:stretch>
            <a:fillRect/>
          </a:stretch>
        </p:blipFill>
        <p:spPr>
          <a:xfrm>
            <a:off x="4391450" y="1488850"/>
            <a:ext cx="2739600" cy="3162275"/>
          </a:xfrm>
          <a:prstGeom prst="rect">
            <a:avLst/>
          </a:prstGeom>
          <a:noFill/>
          <a:ln>
            <a:noFill/>
          </a:ln>
        </p:spPr>
      </p:pic>
      <p:pic>
        <p:nvPicPr>
          <p:cNvPr id="190" name="Google Shape;190;g10e45e625f2_0_52"/>
          <p:cNvPicPr preferRelativeResize="0"/>
          <p:nvPr/>
        </p:nvPicPr>
        <p:blipFill>
          <a:blip r:embed="rId4">
            <a:alphaModFix/>
          </a:blip>
          <a:stretch>
            <a:fillRect/>
          </a:stretch>
        </p:blipFill>
        <p:spPr>
          <a:xfrm>
            <a:off x="8374650" y="361525"/>
            <a:ext cx="553350" cy="74609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10e45e625f2_0_60"/>
          <p:cNvSpPr txBox="1"/>
          <p:nvPr>
            <p:ph type="ctrTitle"/>
          </p:nvPr>
        </p:nvSpPr>
        <p:spPr>
          <a:xfrm>
            <a:off x="1979575" y="429750"/>
            <a:ext cx="5621400" cy="9669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t/>
            </a:r>
            <a:endParaRPr sz="2500">
              <a:solidFill>
                <a:srgbClr val="000000"/>
              </a:solidFill>
              <a:latin typeface="Calibri"/>
              <a:ea typeface="Calibri"/>
              <a:cs typeface="Calibri"/>
              <a:sym typeface="Calibri"/>
            </a:endParaRPr>
          </a:p>
          <a:p>
            <a:pPr indent="0" lvl="0" marL="0" rtl="0" algn="l">
              <a:spcBef>
                <a:spcPts val="0"/>
              </a:spcBef>
              <a:spcAft>
                <a:spcPts val="0"/>
              </a:spcAft>
              <a:buNone/>
            </a:pPr>
            <a:r>
              <a:rPr lang="en" sz="2500">
                <a:solidFill>
                  <a:srgbClr val="000000"/>
                </a:solidFill>
                <a:latin typeface="Calibri"/>
                <a:ea typeface="Calibri"/>
                <a:cs typeface="Calibri"/>
                <a:sym typeface="Calibri"/>
              </a:rPr>
              <a:t>3. Tiêu chuẩn Business Manner của Nhật</a:t>
            </a:r>
            <a:endParaRPr sz="2500">
              <a:solidFill>
                <a:srgbClr val="000000"/>
              </a:solidFill>
              <a:latin typeface="Calibri"/>
              <a:ea typeface="Calibri"/>
              <a:cs typeface="Calibri"/>
              <a:sym typeface="Calibri"/>
            </a:endParaRPr>
          </a:p>
          <a:p>
            <a:pPr indent="-355600" lvl="0" marL="457200" rtl="0" algn="l">
              <a:spcBef>
                <a:spcPts val="0"/>
              </a:spcBef>
              <a:spcAft>
                <a:spcPts val="0"/>
              </a:spcAft>
              <a:buClr>
                <a:srgbClr val="000000"/>
              </a:buClr>
              <a:buSzPts val="2000"/>
              <a:buFont typeface="Calibri"/>
              <a:buChar char="➔"/>
            </a:pPr>
            <a:r>
              <a:rPr lang="en" sz="2000">
                <a:solidFill>
                  <a:srgbClr val="000000"/>
                </a:solidFill>
                <a:latin typeface="Calibri"/>
                <a:ea typeface="Calibri"/>
                <a:cs typeface="Calibri"/>
                <a:sym typeface="Calibri"/>
              </a:rPr>
              <a:t>Vị trí ngồi trong phòng họp</a:t>
            </a:r>
            <a:endParaRPr sz="2800">
              <a:solidFill>
                <a:srgbClr val="000000"/>
              </a:solidFill>
              <a:latin typeface="Calibri"/>
              <a:ea typeface="Calibri"/>
              <a:cs typeface="Calibri"/>
              <a:sym typeface="Calibri"/>
            </a:endParaRPr>
          </a:p>
          <a:p>
            <a:pPr indent="0" lvl="0" marL="0" rtl="0" algn="ctr">
              <a:spcBef>
                <a:spcPts val="0"/>
              </a:spcBef>
              <a:spcAft>
                <a:spcPts val="0"/>
              </a:spcAft>
              <a:buNone/>
            </a:pPr>
            <a:r>
              <a:t/>
            </a:r>
            <a:endParaRPr sz="2500"/>
          </a:p>
        </p:txBody>
      </p:sp>
      <p:sp>
        <p:nvSpPr>
          <p:cNvPr id="196" name="Google Shape;196;g10e45e625f2_0_60"/>
          <p:cNvSpPr txBox="1"/>
          <p:nvPr>
            <p:ph idx="1" type="subTitle"/>
          </p:nvPr>
        </p:nvSpPr>
        <p:spPr>
          <a:xfrm>
            <a:off x="308875" y="1893550"/>
            <a:ext cx="3223200" cy="1638300"/>
          </a:xfrm>
          <a:prstGeom prst="rect">
            <a:avLst/>
          </a:prstGeom>
        </p:spPr>
        <p:txBody>
          <a:bodyPr anchorCtr="0" anchor="t" bIns="91425" lIns="0" spcFirstLastPara="1" rIns="91425" wrap="square" tIns="91425">
            <a:noAutofit/>
          </a:bodyPr>
          <a:lstStyle/>
          <a:p>
            <a:pPr indent="-153669" lvl="0" marL="0" rtl="0" algn="ctr">
              <a:lnSpc>
                <a:spcPct val="115000"/>
              </a:lnSpc>
              <a:spcBef>
                <a:spcPts val="0"/>
              </a:spcBef>
              <a:spcAft>
                <a:spcPts val="0"/>
              </a:spcAft>
              <a:buClr>
                <a:srgbClr val="000000"/>
              </a:buClr>
              <a:buSzPts val="1520"/>
              <a:buChar char="➢"/>
            </a:pPr>
            <a:r>
              <a:rPr lang="en" sz="1350">
                <a:solidFill>
                  <a:srgbClr val="1B1B1B"/>
                </a:solidFill>
                <a:highlight>
                  <a:srgbClr val="FFFFFF"/>
                </a:highlight>
                <a:latin typeface="Arial"/>
                <a:ea typeface="Arial"/>
                <a:cs typeface="Arial"/>
                <a:sym typeface="Arial"/>
              </a:rPr>
              <a:t>Phòng họp bố trí ghế hình chữ U</a:t>
            </a:r>
            <a:endParaRPr sz="1350">
              <a:solidFill>
                <a:srgbClr val="1B1B1B"/>
              </a:solidFill>
              <a:highlight>
                <a:srgbClr val="FFFFFF"/>
              </a:highlight>
              <a:latin typeface="Arial"/>
              <a:ea typeface="Arial"/>
              <a:cs typeface="Arial"/>
              <a:sym typeface="Arial"/>
            </a:endParaRPr>
          </a:p>
          <a:p>
            <a:pPr indent="0" lvl="0" marL="457200" rtl="0" algn="l">
              <a:lnSpc>
                <a:spcPct val="115000"/>
              </a:lnSpc>
              <a:spcBef>
                <a:spcPts val="0"/>
              </a:spcBef>
              <a:spcAft>
                <a:spcPts val="0"/>
              </a:spcAft>
              <a:buNone/>
            </a:pPr>
            <a:r>
              <a:rPr lang="en" sz="1350">
                <a:solidFill>
                  <a:srgbClr val="1B1B1B"/>
                </a:solidFill>
                <a:highlight>
                  <a:srgbClr val="FFFFFF"/>
                </a:highlight>
                <a:latin typeface="Arial"/>
                <a:ea typeface="Arial"/>
                <a:cs typeface="Arial"/>
                <a:sym typeface="Arial"/>
              </a:rPr>
              <a:t>(Nội bộ công ty, nhóm)</a:t>
            </a:r>
            <a:endParaRPr sz="1520">
              <a:solidFill>
                <a:srgbClr val="000000"/>
              </a:solidFill>
            </a:endParaRPr>
          </a:p>
          <a:p>
            <a:pPr indent="-314007" lvl="0" marL="342900" rtl="0" algn="ctr">
              <a:lnSpc>
                <a:spcPct val="115000"/>
              </a:lnSpc>
              <a:spcBef>
                <a:spcPts val="0"/>
              </a:spcBef>
              <a:spcAft>
                <a:spcPts val="0"/>
              </a:spcAft>
              <a:buClr>
                <a:srgbClr val="000000"/>
              </a:buClr>
              <a:buSzPts val="1345"/>
              <a:buFont typeface="Arial"/>
              <a:buChar char="★"/>
            </a:pPr>
            <a:r>
              <a:rPr lang="en" sz="1345">
                <a:solidFill>
                  <a:srgbClr val="000000"/>
                </a:solidFill>
                <a:highlight>
                  <a:srgbClr val="FFFFFF"/>
                </a:highlight>
                <a:latin typeface="Arial"/>
                <a:ea typeface="Arial"/>
                <a:cs typeface="Arial"/>
                <a:sym typeface="Arial"/>
              </a:rPr>
              <a:t>1: Vị trí có địa vị cao nhất, </a:t>
            </a:r>
            <a:endParaRPr sz="1345">
              <a:solidFill>
                <a:srgbClr val="000000"/>
              </a:solidFill>
              <a:highlight>
                <a:srgbClr val="FFFFFF"/>
              </a:highlight>
              <a:latin typeface="Arial"/>
              <a:ea typeface="Arial"/>
              <a:cs typeface="Arial"/>
              <a:sym typeface="Arial"/>
            </a:endParaRPr>
          </a:p>
          <a:p>
            <a:pPr indent="-314007" lvl="0" marL="400050" rtl="0" algn="ctr">
              <a:lnSpc>
                <a:spcPct val="115000"/>
              </a:lnSpc>
              <a:spcBef>
                <a:spcPts val="0"/>
              </a:spcBef>
              <a:spcAft>
                <a:spcPts val="0"/>
              </a:spcAft>
              <a:buClr>
                <a:srgbClr val="000000"/>
              </a:buClr>
              <a:buSzPts val="1345"/>
              <a:buFont typeface="Arial"/>
              <a:buChar char="★"/>
            </a:pPr>
            <a:r>
              <a:rPr lang="en" sz="1345">
                <a:solidFill>
                  <a:srgbClr val="000000"/>
                </a:solidFill>
                <a:highlight>
                  <a:srgbClr val="FFFFFF"/>
                </a:highlight>
                <a:latin typeface="Arial"/>
                <a:ea typeface="Arial"/>
                <a:cs typeface="Arial"/>
                <a:sym typeface="Arial"/>
              </a:rPr>
              <a:t>4 : Vị trí có địa vị thấp nhất</a:t>
            </a:r>
            <a:endParaRPr sz="1520">
              <a:solidFill>
                <a:srgbClr val="000000"/>
              </a:solidFill>
            </a:endParaRPr>
          </a:p>
        </p:txBody>
      </p:sp>
      <p:pic>
        <p:nvPicPr>
          <p:cNvPr id="197" name="Google Shape;197;g10e45e625f2_0_60"/>
          <p:cNvPicPr preferRelativeResize="0"/>
          <p:nvPr/>
        </p:nvPicPr>
        <p:blipFill>
          <a:blip r:embed="rId3">
            <a:alphaModFix/>
          </a:blip>
          <a:stretch>
            <a:fillRect/>
          </a:stretch>
        </p:blipFill>
        <p:spPr>
          <a:xfrm>
            <a:off x="4888350" y="1396650"/>
            <a:ext cx="2954475" cy="2922200"/>
          </a:xfrm>
          <a:prstGeom prst="rect">
            <a:avLst/>
          </a:prstGeom>
          <a:noFill/>
          <a:ln>
            <a:noFill/>
          </a:ln>
        </p:spPr>
      </p:pic>
      <p:pic>
        <p:nvPicPr>
          <p:cNvPr id="198" name="Google Shape;198;g10e45e625f2_0_60"/>
          <p:cNvPicPr preferRelativeResize="0"/>
          <p:nvPr/>
        </p:nvPicPr>
        <p:blipFill>
          <a:blip r:embed="rId4">
            <a:alphaModFix/>
          </a:blip>
          <a:stretch>
            <a:fillRect/>
          </a:stretch>
        </p:blipFill>
        <p:spPr>
          <a:xfrm>
            <a:off x="8367250" y="368950"/>
            <a:ext cx="553350" cy="74609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10e45e625f2_0_68"/>
          <p:cNvSpPr txBox="1"/>
          <p:nvPr>
            <p:ph type="ctrTitle"/>
          </p:nvPr>
        </p:nvSpPr>
        <p:spPr>
          <a:xfrm>
            <a:off x="1979575" y="429750"/>
            <a:ext cx="5621400" cy="9669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t/>
            </a:r>
            <a:endParaRPr sz="2500">
              <a:solidFill>
                <a:srgbClr val="000000"/>
              </a:solidFill>
              <a:latin typeface="Calibri"/>
              <a:ea typeface="Calibri"/>
              <a:cs typeface="Calibri"/>
              <a:sym typeface="Calibri"/>
            </a:endParaRPr>
          </a:p>
          <a:p>
            <a:pPr indent="0" lvl="0" marL="0" rtl="0" algn="l">
              <a:spcBef>
                <a:spcPts val="0"/>
              </a:spcBef>
              <a:spcAft>
                <a:spcPts val="0"/>
              </a:spcAft>
              <a:buNone/>
            </a:pPr>
            <a:r>
              <a:rPr lang="en" sz="2500">
                <a:solidFill>
                  <a:srgbClr val="000000"/>
                </a:solidFill>
                <a:latin typeface="Calibri"/>
                <a:ea typeface="Calibri"/>
                <a:cs typeface="Calibri"/>
                <a:sym typeface="Calibri"/>
              </a:rPr>
              <a:t>3. Tiêu chuẩn Business Manner của Nhật</a:t>
            </a:r>
            <a:endParaRPr sz="2500">
              <a:solidFill>
                <a:srgbClr val="000000"/>
              </a:solidFill>
              <a:latin typeface="Calibri"/>
              <a:ea typeface="Calibri"/>
              <a:cs typeface="Calibri"/>
              <a:sym typeface="Calibri"/>
            </a:endParaRPr>
          </a:p>
          <a:p>
            <a:pPr indent="-355600" lvl="0" marL="457200" rtl="0" algn="l">
              <a:spcBef>
                <a:spcPts val="0"/>
              </a:spcBef>
              <a:spcAft>
                <a:spcPts val="0"/>
              </a:spcAft>
              <a:buClr>
                <a:srgbClr val="000000"/>
              </a:buClr>
              <a:buSzPts val="2000"/>
              <a:buFont typeface="Calibri"/>
              <a:buChar char="➔"/>
            </a:pPr>
            <a:r>
              <a:rPr lang="en" sz="2000">
                <a:solidFill>
                  <a:srgbClr val="000000"/>
                </a:solidFill>
                <a:latin typeface="Calibri"/>
                <a:ea typeface="Calibri"/>
                <a:cs typeface="Calibri"/>
                <a:sym typeface="Calibri"/>
              </a:rPr>
              <a:t>Vị trí ngồi trong phòng họp</a:t>
            </a:r>
            <a:endParaRPr sz="2800">
              <a:solidFill>
                <a:srgbClr val="000000"/>
              </a:solidFill>
              <a:latin typeface="Calibri"/>
              <a:ea typeface="Calibri"/>
              <a:cs typeface="Calibri"/>
              <a:sym typeface="Calibri"/>
            </a:endParaRPr>
          </a:p>
          <a:p>
            <a:pPr indent="0" lvl="0" marL="0" rtl="0" algn="ctr">
              <a:spcBef>
                <a:spcPts val="0"/>
              </a:spcBef>
              <a:spcAft>
                <a:spcPts val="0"/>
              </a:spcAft>
              <a:buNone/>
            </a:pPr>
            <a:r>
              <a:t/>
            </a:r>
            <a:endParaRPr sz="2500"/>
          </a:p>
        </p:txBody>
      </p:sp>
      <p:sp>
        <p:nvSpPr>
          <p:cNvPr id="204" name="Google Shape;204;g10e45e625f2_0_68"/>
          <p:cNvSpPr txBox="1"/>
          <p:nvPr>
            <p:ph idx="1" type="subTitle"/>
          </p:nvPr>
        </p:nvSpPr>
        <p:spPr>
          <a:xfrm>
            <a:off x="308875" y="1893550"/>
            <a:ext cx="3223200" cy="1638300"/>
          </a:xfrm>
          <a:prstGeom prst="rect">
            <a:avLst/>
          </a:prstGeom>
        </p:spPr>
        <p:txBody>
          <a:bodyPr anchorCtr="0" anchor="t" bIns="91425" lIns="0" spcFirstLastPara="1" rIns="91425" wrap="square" tIns="91425">
            <a:noAutofit/>
          </a:bodyPr>
          <a:lstStyle/>
          <a:p>
            <a:pPr indent="-314325" lvl="0" marL="457200" rtl="0" algn="l">
              <a:lnSpc>
                <a:spcPct val="115000"/>
              </a:lnSpc>
              <a:spcBef>
                <a:spcPts val="0"/>
              </a:spcBef>
              <a:spcAft>
                <a:spcPts val="0"/>
              </a:spcAft>
              <a:buClr>
                <a:srgbClr val="1B1B1B"/>
              </a:buClr>
              <a:buSzPts val="1350"/>
              <a:buFont typeface="Arial"/>
              <a:buChar char="➢"/>
            </a:pPr>
            <a:r>
              <a:rPr lang="en" sz="1350">
                <a:solidFill>
                  <a:srgbClr val="1B1B1B"/>
                </a:solidFill>
                <a:highlight>
                  <a:srgbClr val="FFFFFF"/>
                </a:highlight>
                <a:latin typeface="Arial"/>
                <a:ea typeface="Arial"/>
                <a:cs typeface="Arial"/>
                <a:sym typeface="Arial"/>
              </a:rPr>
              <a:t>Bố trí vị trí ngồi Chủ - khách trong phòng họp có bàn hình chữ nhật</a:t>
            </a:r>
            <a:endParaRPr sz="1520">
              <a:solidFill>
                <a:srgbClr val="000000"/>
              </a:solidFill>
            </a:endParaRPr>
          </a:p>
          <a:p>
            <a:pPr indent="-314007" lvl="0" marL="342900" rtl="0" algn="ctr">
              <a:lnSpc>
                <a:spcPct val="115000"/>
              </a:lnSpc>
              <a:spcBef>
                <a:spcPts val="0"/>
              </a:spcBef>
              <a:spcAft>
                <a:spcPts val="0"/>
              </a:spcAft>
              <a:buClr>
                <a:srgbClr val="000000"/>
              </a:buClr>
              <a:buSzPts val="1345"/>
              <a:buFont typeface="Arial"/>
              <a:buChar char="★"/>
            </a:pPr>
            <a:r>
              <a:rPr lang="en" sz="1345">
                <a:solidFill>
                  <a:srgbClr val="000000"/>
                </a:solidFill>
                <a:highlight>
                  <a:srgbClr val="FFFFFF"/>
                </a:highlight>
                <a:latin typeface="Arial"/>
                <a:ea typeface="Arial"/>
                <a:cs typeface="Arial"/>
                <a:sym typeface="Arial"/>
              </a:rPr>
              <a:t>1: Vị trí có địa vị cao nhất, </a:t>
            </a:r>
            <a:endParaRPr sz="1345">
              <a:solidFill>
                <a:srgbClr val="000000"/>
              </a:solidFill>
              <a:highlight>
                <a:srgbClr val="FFFFFF"/>
              </a:highlight>
              <a:latin typeface="Arial"/>
              <a:ea typeface="Arial"/>
              <a:cs typeface="Arial"/>
              <a:sym typeface="Arial"/>
            </a:endParaRPr>
          </a:p>
          <a:p>
            <a:pPr indent="-314007" lvl="0" marL="400050" rtl="0" algn="ctr">
              <a:lnSpc>
                <a:spcPct val="115000"/>
              </a:lnSpc>
              <a:spcBef>
                <a:spcPts val="0"/>
              </a:spcBef>
              <a:spcAft>
                <a:spcPts val="0"/>
              </a:spcAft>
              <a:buClr>
                <a:srgbClr val="000000"/>
              </a:buClr>
              <a:buSzPts val="1345"/>
              <a:buFont typeface="Arial"/>
              <a:buChar char="★"/>
            </a:pPr>
            <a:r>
              <a:rPr lang="en" sz="1345">
                <a:solidFill>
                  <a:srgbClr val="000000"/>
                </a:solidFill>
                <a:highlight>
                  <a:srgbClr val="FFFFFF"/>
                </a:highlight>
                <a:latin typeface="Arial"/>
                <a:ea typeface="Arial"/>
                <a:cs typeface="Arial"/>
                <a:sym typeface="Arial"/>
              </a:rPr>
              <a:t>4 : Vị trí có địa vị thấp nhất</a:t>
            </a:r>
            <a:endParaRPr sz="1520">
              <a:solidFill>
                <a:srgbClr val="000000"/>
              </a:solidFill>
            </a:endParaRPr>
          </a:p>
        </p:txBody>
      </p:sp>
      <p:pic>
        <p:nvPicPr>
          <p:cNvPr id="205" name="Google Shape;205;g10e45e625f2_0_68"/>
          <p:cNvPicPr preferRelativeResize="0"/>
          <p:nvPr/>
        </p:nvPicPr>
        <p:blipFill>
          <a:blip r:embed="rId3">
            <a:alphaModFix/>
          </a:blip>
          <a:stretch>
            <a:fillRect/>
          </a:stretch>
        </p:blipFill>
        <p:spPr>
          <a:xfrm>
            <a:off x="4691963" y="1396650"/>
            <a:ext cx="2318525" cy="3147925"/>
          </a:xfrm>
          <a:prstGeom prst="rect">
            <a:avLst/>
          </a:prstGeom>
          <a:noFill/>
          <a:ln>
            <a:noFill/>
          </a:ln>
        </p:spPr>
      </p:pic>
      <p:pic>
        <p:nvPicPr>
          <p:cNvPr id="206" name="Google Shape;206;g10e45e625f2_0_68"/>
          <p:cNvPicPr preferRelativeResize="0"/>
          <p:nvPr/>
        </p:nvPicPr>
        <p:blipFill>
          <a:blip r:embed="rId4">
            <a:alphaModFix/>
          </a:blip>
          <a:stretch>
            <a:fillRect/>
          </a:stretch>
        </p:blipFill>
        <p:spPr>
          <a:xfrm>
            <a:off x="8337675" y="376350"/>
            <a:ext cx="553350" cy="74609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10e45e625f2_0_22"/>
          <p:cNvSpPr txBox="1"/>
          <p:nvPr>
            <p:ph type="ctrTitle"/>
          </p:nvPr>
        </p:nvSpPr>
        <p:spPr>
          <a:xfrm>
            <a:off x="1979575" y="429750"/>
            <a:ext cx="5621400" cy="9669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t/>
            </a:r>
            <a:endParaRPr sz="2500">
              <a:solidFill>
                <a:srgbClr val="000000"/>
              </a:solidFill>
              <a:latin typeface="Calibri"/>
              <a:ea typeface="Calibri"/>
              <a:cs typeface="Calibri"/>
              <a:sym typeface="Calibri"/>
            </a:endParaRPr>
          </a:p>
          <a:p>
            <a:pPr indent="0" lvl="0" marL="0" rtl="0" algn="l">
              <a:spcBef>
                <a:spcPts val="0"/>
              </a:spcBef>
              <a:spcAft>
                <a:spcPts val="0"/>
              </a:spcAft>
              <a:buNone/>
            </a:pPr>
            <a:r>
              <a:rPr lang="en" sz="2500">
                <a:solidFill>
                  <a:srgbClr val="000000"/>
                </a:solidFill>
                <a:latin typeface="Calibri"/>
                <a:ea typeface="Calibri"/>
                <a:cs typeface="Calibri"/>
                <a:sym typeface="Calibri"/>
              </a:rPr>
              <a:t>3. Tiêu chuẩn Business Manner của Nhật</a:t>
            </a:r>
            <a:endParaRPr sz="2500">
              <a:solidFill>
                <a:srgbClr val="000000"/>
              </a:solidFill>
              <a:latin typeface="Calibri"/>
              <a:ea typeface="Calibri"/>
              <a:cs typeface="Calibri"/>
              <a:sym typeface="Calibri"/>
            </a:endParaRPr>
          </a:p>
          <a:p>
            <a:pPr indent="-355600" lvl="0" marL="457200" rtl="0" algn="l">
              <a:spcBef>
                <a:spcPts val="0"/>
              </a:spcBef>
              <a:spcAft>
                <a:spcPts val="0"/>
              </a:spcAft>
              <a:buClr>
                <a:srgbClr val="000000"/>
              </a:buClr>
              <a:buSzPts val="2000"/>
              <a:buFont typeface="Calibri"/>
              <a:buChar char="➔"/>
            </a:pPr>
            <a:r>
              <a:rPr lang="en" sz="2000">
                <a:solidFill>
                  <a:srgbClr val="000000"/>
                </a:solidFill>
                <a:latin typeface="Calibri"/>
                <a:ea typeface="Calibri"/>
                <a:cs typeface="Calibri"/>
                <a:sym typeface="Calibri"/>
              </a:rPr>
              <a:t>Vị trí ngồi trong phòng họp</a:t>
            </a:r>
            <a:endParaRPr sz="2800">
              <a:solidFill>
                <a:srgbClr val="000000"/>
              </a:solidFill>
              <a:latin typeface="Calibri"/>
              <a:ea typeface="Calibri"/>
              <a:cs typeface="Calibri"/>
              <a:sym typeface="Calibri"/>
            </a:endParaRPr>
          </a:p>
          <a:p>
            <a:pPr indent="0" lvl="0" marL="0" rtl="0" algn="ctr">
              <a:spcBef>
                <a:spcPts val="0"/>
              </a:spcBef>
              <a:spcAft>
                <a:spcPts val="0"/>
              </a:spcAft>
              <a:buNone/>
            </a:pPr>
            <a:r>
              <a:t/>
            </a:r>
            <a:endParaRPr sz="2500"/>
          </a:p>
        </p:txBody>
      </p:sp>
      <p:sp>
        <p:nvSpPr>
          <p:cNvPr id="212" name="Google Shape;212;g10e45e625f2_0_22"/>
          <p:cNvSpPr txBox="1"/>
          <p:nvPr>
            <p:ph idx="1" type="subTitle"/>
          </p:nvPr>
        </p:nvSpPr>
        <p:spPr>
          <a:xfrm>
            <a:off x="644625" y="1718975"/>
            <a:ext cx="8124900" cy="2269500"/>
          </a:xfrm>
          <a:prstGeom prst="rect">
            <a:avLst/>
          </a:prstGeom>
        </p:spPr>
        <p:txBody>
          <a:bodyPr anchorCtr="0" anchor="t" bIns="91425" lIns="171450" spcFirstLastPara="1" rIns="91425" wrap="square" tIns="91425">
            <a:noAutofit/>
          </a:bodyPr>
          <a:lstStyle/>
          <a:p>
            <a:pPr indent="0" lvl="0" marL="0" rtl="0" algn="just">
              <a:lnSpc>
                <a:spcPct val="150000"/>
              </a:lnSpc>
              <a:spcBef>
                <a:spcPts val="0"/>
              </a:spcBef>
              <a:spcAft>
                <a:spcPts val="0"/>
              </a:spcAft>
              <a:buSzPts val="523"/>
              <a:buNone/>
            </a:pPr>
            <a:r>
              <a:rPr lang="en" sz="1450">
                <a:solidFill>
                  <a:srgbClr val="1B1B1B"/>
                </a:solidFill>
                <a:highlight>
                  <a:srgbClr val="FFFFFF"/>
                </a:highlight>
                <a:latin typeface="Arial"/>
                <a:ea typeface="Arial"/>
                <a:cs typeface="Arial"/>
                <a:sym typeface="Arial"/>
              </a:rPr>
              <a:t>Sở dĩ vị trí ở góc phòng được coi là kamiza (vị trí cao nhất)  là vì vị trí vừa giúp người ngồi có thể bình tĩnh quan sát được tổng thể cả căn phòng, lại ít bị ảnh hưởng khi có người đóng mở cửa ra vào để tiếp nước hay đưa tài liệu... Tuy nhiên, tùy theo cấu trúc căn phòng hay hướng máy điều hòa... mà cũng có những ngoại lệ. Chẳng hạn như nếu cửa sổ nhìn ra bên ngoài ở phía đối diện với cửa ra vào, thì để người ngồi có thể ngắm nhìn khung cảnh đó, vị trí gần cửa ra vào vẫn có thể coi là kamiza.</a:t>
            </a:r>
            <a:endParaRPr sz="1460"/>
          </a:p>
        </p:txBody>
      </p:sp>
      <p:pic>
        <p:nvPicPr>
          <p:cNvPr id="213" name="Google Shape;213;g10e45e625f2_0_22"/>
          <p:cNvPicPr preferRelativeResize="0"/>
          <p:nvPr/>
        </p:nvPicPr>
        <p:blipFill>
          <a:blip r:embed="rId3">
            <a:alphaModFix/>
          </a:blip>
          <a:stretch>
            <a:fillRect/>
          </a:stretch>
        </p:blipFill>
        <p:spPr>
          <a:xfrm>
            <a:off x="8359875" y="391125"/>
            <a:ext cx="553350" cy="74609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10e45e625f2_0_76"/>
          <p:cNvSpPr txBox="1"/>
          <p:nvPr>
            <p:ph type="ctrTitle"/>
          </p:nvPr>
        </p:nvSpPr>
        <p:spPr>
          <a:xfrm>
            <a:off x="2060150" y="725200"/>
            <a:ext cx="5621400" cy="7788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t/>
            </a:r>
            <a:endParaRPr sz="2500">
              <a:solidFill>
                <a:srgbClr val="000000"/>
              </a:solidFill>
              <a:latin typeface="Calibri"/>
              <a:ea typeface="Calibri"/>
              <a:cs typeface="Calibri"/>
              <a:sym typeface="Calibri"/>
            </a:endParaRPr>
          </a:p>
          <a:p>
            <a:pPr indent="0" lvl="0" marL="0" rtl="0" algn="l">
              <a:spcBef>
                <a:spcPts val="0"/>
              </a:spcBef>
              <a:spcAft>
                <a:spcPts val="0"/>
              </a:spcAft>
              <a:buNone/>
            </a:pPr>
            <a:r>
              <a:rPr lang="en" sz="2500">
                <a:solidFill>
                  <a:srgbClr val="000000"/>
                </a:solidFill>
                <a:latin typeface="Calibri"/>
                <a:ea typeface="Calibri"/>
                <a:cs typeface="Calibri"/>
                <a:sym typeface="Calibri"/>
              </a:rPr>
              <a:t>3. Tiêu chuẩn Business Manner của Nhật</a:t>
            </a:r>
            <a:endParaRPr sz="2500">
              <a:solidFill>
                <a:srgbClr val="000000"/>
              </a:solidFill>
              <a:latin typeface="Calibri"/>
              <a:ea typeface="Calibri"/>
              <a:cs typeface="Calibri"/>
              <a:sym typeface="Calibri"/>
            </a:endParaRPr>
          </a:p>
          <a:p>
            <a:pPr indent="-355600" lvl="0" marL="457200" rtl="0" algn="l">
              <a:spcBef>
                <a:spcPts val="0"/>
              </a:spcBef>
              <a:spcAft>
                <a:spcPts val="0"/>
              </a:spcAft>
              <a:buClr>
                <a:srgbClr val="000000"/>
              </a:buClr>
              <a:buSzPts val="2000"/>
              <a:buFont typeface="Calibri"/>
              <a:buChar char="➔"/>
            </a:pPr>
            <a:r>
              <a:rPr lang="en" sz="2000">
                <a:solidFill>
                  <a:srgbClr val="000000"/>
                </a:solidFill>
                <a:latin typeface="Calibri"/>
                <a:ea typeface="Calibri"/>
                <a:cs typeface="Calibri"/>
                <a:sym typeface="Calibri"/>
              </a:rPr>
              <a:t>Cách giao tiếp</a:t>
            </a:r>
            <a:endParaRPr sz="2000">
              <a:solidFill>
                <a:srgbClr val="000000"/>
              </a:solidFill>
              <a:latin typeface="Calibri"/>
              <a:ea typeface="Calibri"/>
              <a:cs typeface="Calibri"/>
              <a:sym typeface="Calibri"/>
            </a:endParaRPr>
          </a:p>
          <a:p>
            <a:pPr indent="0" lvl="0" marL="1371600" rtl="0" algn="l">
              <a:spcBef>
                <a:spcPts val="0"/>
              </a:spcBef>
              <a:spcAft>
                <a:spcPts val="0"/>
              </a:spcAft>
              <a:buNone/>
            </a:pPr>
            <a:r>
              <a:t/>
            </a:r>
            <a:endParaRPr sz="2000">
              <a:solidFill>
                <a:srgbClr val="000000"/>
              </a:solidFill>
              <a:latin typeface="Calibri"/>
              <a:ea typeface="Calibri"/>
              <a:cs typeface="Calibri"/>
              <a:sym typeface="Calibri"/>
            </a:endParaRPr>
          </a:p>
          <a:p>
            <a:pPr indent="0" lvl="0" marL="0" rtl="0" algn="ctr">
              <a:spcBef>
                <a:spcPts val="0"/>
              </a:spcBef>
              <a:spcAft>
                <a:spcPts val="0"/>
              </a:spcAft>
              <a:buNone/>
            </a:pPr>
            <a:r>
              <a:t/>
            </a:r>
            <a:endParaRPr sz="2500"/>
          </a:p>
        </p:txBody>
      </p:sp>
      <p:sp>
        <p:nvSpPr>
          <p:cNvPr id="219" name="Google Shape;219;g10e45e625f2_0_76"/>
          <p:cNvSpPr txBox="1"/>
          <p:nvPr>
            <p:ph idx="1" type="subTitle"/>
          </p:nvPr>
        </p:nvSpPr>
        <p:spPr>
          <a:xfrm>
            <a:off x="228325" y="1410100"/>
            <a:ext cx="3934800" cy="429900"/>
          </a:xfrm>
          <a:prstGeom prst="rect">
            <a:avLst/>
          </a:prstGeom>
        </p:spPr>
        <p:txBody>
          <a:bodyPr anchorCtr="0" anchor="t" bIns="91425" lIns="171450" spcFirstLastPara="1" rIns="91425" wrap="square" tIns="91425">
            <a:noAutofit/>
          </a:bodyPr>
          <a:lstStyle/>
          <a:p>
            <a:pPr indent="-301625" lvl="0" marL="457200" rtl="0" algn="l">
              <a:lnSpc>
                <a:spcPct val="150000"/>
              </a:lnSpc>
              <a:spcBef>
                <a:spcPts val="0"/>
              </a:spcBef>
              <a:spcAft>
                <a:spcPts val="0"/>
              </a:spcAft>
              <a:buClr>
                <a:srgbClr val="1B1B1B"/>
              </a:buClr>
              <a:buSzPts val="1150"/>
              <a:buFont typeface="Arial"/>
              <a:buChar char="●"/>
            </a:pPr>
            <a:r>
              <a:rPr lang="en" sz="1150">
                <a:solidFill>
                  <a:srgbClr val="1B1B1B"/>
                </a:solidFill>
                <a:highlight>
                  <a:srgbClr val="FFFFFF"/>
                </a:highlight>
                <a:latin typeface="Arial"/>
                <a:ea typeface="Arial"/>
                <a:cs typeface="Arial"/>
                <a:sym typeface="Arial"/>
              </a:rPr>
              <a:t>Cách cúi chào của người Nhật trong kinh doanh</a:t>
            </a:r>
            <a:endParaRPr sz="1260"/>
          </a:p>
        </p:txBody>
      </p:sp>
      <p:pic>
        <p:nvPicPr>
          <p:cNvPr id="220" name="Google Shape;220;g10e45e625f2_0_76"/>
          <p:cNvPicPr preferRelativeResize="0"/>
          <p:nvPr/>
        </p:nvPicPr>
        <p:blipFill>
          <a:blip r:embed="rId3">
            <a:alphaModFix/>
          </a:blip>
          <a:stretch>
            <a:fillRect/>
          </a:stretch>
        </p:blipFill>
        <p:spPr>
          <a:xfrm>
            <a:off x="4490100" y="2032425"/>
            <a:ext cx="4488075" cy="2833612"/>
          </a:xfrm>
          <a:prstGeom prst="rect">
            <a:avLst/>
          </a:prstGeom>
          <a:noFill/>
          <a:ln>
            <a:noFill/>
          </a:ln>
        </p:spPr>
      </p:pic>
      <p:pic>
        <p:nvPicPr>
          <p:cNvPr id="221" name="Google Shape;221;g10e45e625f2_0_76"/>
          <p:cNvPicPr preferRelativeResize="0"/>
          <p:nvPr/>
        </p:nvPicPr>
        <p:blipFill>
          <a:blip r:embed="rId4">
            <a:alphaModFix/>
          </a:blip>
          <a:stretch>
            <a:fillRect/>
          </a:stretch>
        </p:blipFill>
        <p:spPr>
          <a:xfrm>
            <a:off x="658050" y="1840000"/>
            <a:ext cx="3505075" cy="2998700"/>
          </a:xfrm>
          <a:prstGeom prst="rect">
            <a:avLst/>
          </a:prstGeom>
          <a:noFill/>
          <a:ln>
            <a:noFill/>
          </a:ln>
        </p:spPr>
      </p:pic>
      <p:pic>
        <p:nvPicPr>
          <p:cNvPr id="222" name="Google Shape;222;g10e45e625f2_0_76"/>
          <p:cNvPicPr preferRelativeResize="0"/>
          <p:nvPr/>
        </p:nvPicPr>
        <p:blipFill>
          <a:blip r:embed="rId5">
            <a:alphaModFix/>
          </a:blip>
          <a:stretch>
            <a:fillRect/>
          </a:stretch>
        </p:blipFill>
        <p:spPr>
          <a:xfrm>
            <a:off x="8359875" y="405925"/>
            <a:ext cx="553350" cy="74609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10e45e625f2_0_84"/>
          <p:cNvSpPr txBox="1"/>
          <p:nvPr>
            <p:ph type="ctrTitle"/>
          </p:nvPr>
        </p:nvSpPr>
        <p:spPr>
          <a:xfrm>
            <a:off x="2060150" y="725200"/>
            <a:ext cx="5621400" cy="7788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t/>
            </a:r>
            <a:endParaRPr sz="2500">
              <a:solidFill>
                <a:srgbClr val="000000"/>
              </a:solidFill>
              <a:latin typeface="Calibri"/>
              <a:ea typeface="Calibri"/>
              <a:cs typeface="Calibri"/>
              <a:sym typeface="Calibri"/>
            </a:endParaRPr>
          </a:p>
          <a:p>
            <a:pPr indent="0" lvl="0" marL="0" rtl="0" algn="l">
              <a:spcBef>
                <a:spcPts val="0"/>
              </a:spcBef>
              <a:spcAft>
                <a:spcPts val="0"/>
              </a:spcAft>
              <a:buNone/>
            </a:pPr>
            <a:r>
              <a:rPr lang="en" sz="2500">
                <a:solidFill>
                  <a:srgbClr val="000000"/>
                </a:solidFill>
                <a:latin typeface="Calibri"/>
                <a:ea typeface="Calibri"/>
                <a:cs typeface="Calibri"/>
                <a:sym typeface="Calibri"/>
              </a:rPr>
              <a:t>3. Tiêu chuẩn Business Manner của Nhật</a:t>
            </a:r>
            <a:endParaRPr sz="2500">
              <a:solidFill>
                <a:srgbClr val="000000"/>
              </a:solidFill>
              <a:latin typeface="Calibri"/>
              <a:ea typeface="Calibri"/>
              <a:cs typeface="Calibri"/>
              <a:sym typeface="Calibri"/>
            </a:endParaRPr>
          </a:p>
          <a:p>
            <a:pPr indent="-355600" lvl="0" marL="457200" rtl="0" algn="l">
              <a:spcBef>
                <a:spcPts val="0"/>
              </a:spcBef>
              <a:spcAft>
                <a:spcPts val="0"/>
              </a:spcAft>
              <a:buClr>
                <a:srgbClr val="000000"/>
              </a:buClr>
              <a:buSzPts val="2000"/>
              <a:buFont typeface="Calibri"/>
              <a:buChar char="➔"/>
            </a:pPr>
            <a:r>
              <a:rPr lang="en" sz="2000">
                <a:solidFill>
                  <a:srgbClr val="000000"/>
                </a:solidFill>
                <a:latin typeface="Calibri"/>
                <a:ea typeface="Calibri"/>
                <a:cs typeface="Calibri"/>
                <a:sym typeface="Calibri"/>
              </a:rPr>
              <a:t>Cách giao tiếp</a:t>
            </a:r>
            <a:endParaRPr sz="2000">
              <a:solidFill>
                <a:srgbClr val="000000"/>
              </a:solidFill>
              <a:latin typeface="Calibri"/>
              <a:ea typeface="Calibri"/>
              <a:cs typeface="Calibri"/>
              <a:sym typeface="Calibri"/>
            </a:endParaRPr>
          </a:p>
          <a:p>
            <a:pPr indent="-307975" lvl="0" marL="457200" rtl="0" algn="l">
              <a:lnSpc>
                <a:spcPct val="150000"/>
              </a:lnSpc>
              <a:spcBef>
                <a:spcPts val="0"/>
              </a:spcBef>
              <a:spcAft>
                <a:spcPts val="0"/>
              </a:spcAft>
              <a:buClr>
                <a:srgbClr val="1B1B1B"/>
              </a:buClr>
              <a:buSzPts val="1250"/>
              <a:buFont typeface="Arial"/>
              <a:buChar char="●"/>
            </a:pPr>
            <a:r>
              <a:rPr lang="en" sz="1250">
                <a:solidFill>
                  <a:srgbClr val="1B1B1B"/>
                </a:solidFill>
                <a:highlight>
                  <a:srgbClr val="FFFFFF"/>
                </a:highlight>
                <a:latin typeface="Arial"/>
                <a:ea typeface="Arial"/>
                <a:cs typeface="Arial"/>
                <a:sym typeface="Arial"/>
              </a:rPr>
              <a:t>Cách cúi chào của người Nhật trong kinh doanh</a:t>
            </a:r>
            <a:endParaRPr sz="2100">
              <a:solidFill>
                <a:srgbClr val="000000"/>
              </a:solidFill>
              <a:latin typeface="Calibri"/>
              <a:ea typeface="Calibri"/>
              <a:cs typeface="Calibri"/>
              <a:sym typeface="Calibri"/>
            </a:endParaRPr>
          </a:p>
          <a:p>
            <a:pPr indent="0" lvl="0" marL="1371600" rtl="0" algn="l">
              <a:spcBef>
                <a:spcPts val="0"/>
              </a:spcBef>
              <a:spcAft>
                <a:spcPts val="0"/>
              </a:spcAft>
              <a:buNone/>
            </a:pPr>
            <a:r>
              <a:t/>
            </a:r>
            <a:endParaRPr sz="2000">
              <a:solidFill>
                <a:srgbClr val="000000"/>
              </a:solidFill>
              <a:latin typeface="Calibri"/>
              <a:ea typeface="Calibri"/>
              <a:cs typeface="Calibri"/>
              <a:sym typeface="Calibri"/>
            </a:endParaRPr>
          </a:p>
          <a:p>
            <a:pPr indent="0" lvl="0" marL="0" rtl="0" algn="ctr">
              <a:spcBef>
                <a:spcPts val="0"/>
              </a:spcBef>
              <a:spcAft>
                <a:spcPts val="0"/>
              </a:spcAft>
              <a:buNone/>
            </a:pPr>
            <a:r>
              <a:t/>
            </a:r>
            <a:endParaRPr sz="2500"/>
          </a:p>
        </p:txBody>
      </p:sp>
      <p:sp>
        <p:nvSpPr>
          <p:cNvPr id="228" name="Google Shape;228;g10e45e625f2_0_84"/>
          <p:cNvSpPr txBox="1"/>
          <p:nvPr>
            <p:ph idx="1" type="subTitle"/>
          </p:nvPr>
        </p:nvSpPr>
        <p:spPr>
          <a:xfrm>
            <a:off x="228325" y="1410100"/>
            <a:ext cx="8594700" cy="926700"/>
          </a:xfrm>
          <a:prstGeom prst="rect">
            <a:avLst/>
          </a:prstGeom>
        </p:spPr>
        <p:txBody>
          <a:bodyPr anchorCtr="0" anchor="t" bIns="91425" lIns="171450" spcFirstLastPara="1" rIns="91425" wrap="square" tIns="91425">
            <a:noAutofit/>
          </a:bodyPr>
          <a:lstStyle/>
          <a:p>
            <a:pPr indent="-304800" lvl="0" marL="457200" rtl="0" algn="l">
              <a:lnSpc>
                <a:spcPct val="150000"/>
              </a:lnSpc>
              <a:spcBef>
                <a:spcPts val="0"/>
              </a:spcBef>
              <a:spcAft>
                <a:spcPts val="0"/>
              </a:spcAft>
              <a:buClr>
                <a:srgbClr val="1B1B1B"/>
              </a:buClr>
              <a:buSzPts val="1200"/>
              <a:buFont typeface="Arial"/>
              <a:buChar char="❖"/>
            </a:pPr>
            <a:r>
              <a:rPr lang="en" sz="1200">
                <a:solidFill>
                  <a:srgbClr val="1B1B1B"/>
                </a:solidFill>
                <a:highlight>
                  <a:srgbClr val="FFFFFF"/>
                </a:highlight>
                <a:latin typeface="Arial"/>
                <a:ea typeface="Arial"/>
                <a:cs typeface="Arial"/>
                <a:sym typeface="Arial"/>
              </a:rPr>
              <a:t>Đối với nam: hai bàn tay duỗi thẳng, khép ngón, khép hai cánh tay sát bên sườn, và cúi xuống. Đối với nữ: hai tay duỗi thẳng, đặt trước người tạo thành hình chữ V sao cho bàn tay trái đặt trên bàn tay phải, ngón tay duỗi thẳng và khép lại, rồi từ từ cúi chào.</a:t>
            </a:r>
            <a:endParaRPr sz="1200"/>
          </a:p>
        </p:txBody>
      </p:sp>
      <p:sp>
        <p:nvSpPr>
          <p:cNvPr id="229" name="Google Shape;229;g10e45e625f2_0_84"/>
          <p:cNvSpPr txBox="1"/>
          <p:nvPr>
            <p:ph idx="1" type="subTitle"/>
          </p:nvPr>
        </p:nvSpPr>
        <p:spPr>
          <a:xfrm>
            <a:off x="228325" y="2471025"/>
            <a:ext cx="8594700" cy="2148600"/>
          </a:xfrm>
          <a:prstGeom prst="rect">
            <a:avLst/>
          </a:prstGeom>
        </p:spPr>
        <p:txBody>
          <a:bodyPr anchorCtr="0" anchor="t" bIns="91425" lIns="171450" spcFirstLastPara="1" rIns="91425" wrap="square" tIns="91425">
            <a:noAutofit/>
          </a:bodyPr>
          <a:lstStyle/>
          <a:p>
            <a:pPr indent="-301625" lvl="0" marL="457200" rtl="0" algn="l">
              <a:lnSpc>
                <a:spcPct val="150000"/>
              </a:lnSpc>
              <a:spcBef>
                <a:spcPts val="0"/>
              </a:spcBef>
              <a:spcAft>
                <a:spcPts val="0"/>
              </a:spcAft>
              <a:buClr>
                <a:srgbClr val="1B1B1B"/>
              </a:buClr>
              <a:buSzPts val="1150"/>
              <a:buFont typeface="Arial"/>
              <a:buChar char="❖"/>
            </a:pPr>
            <a:r>
              <a:rPr lang="en" sz="1150">
                <a:solidFill>
                  <a:srgbClr val="1B1B1B"/>
                </a:solidFill>
                <a:highlight>
                  <a:srgbClr val="FFFFFF"/>
                </a:highlight>
                <a:latin typeface="Arial"/>
                <a:ea typeface="Arial"/>
                <a:cs typeface="Arial"/>
                <a:sym typeface="Arial"/>
              </a:rPr>
              <a:t>Kiểu Eshaku (会釈): Khẽ cúi chào. Với Kiểu Eshaku, người Nhật sẽ cúi đầu khoảng 15º khi chào nhau. Mắt nhìn xa khoảng 3m. Giữ tư thế này trong khoảng 1 giây. Người Nhật chào nhau vài lần trong ngày, nhưng chỉ lần đầu tiên thì phải chào thi lễ, những lần sau chỉ khẽ cúi chào</a:t>
            </a:r>
            <a:endParaRPr sz="1150">
              <a:solidFill>
                <a:srgbClr val="1B1B1B"/>
              </a:solidFill>
              <a:highlight>
                <a:srgbClr val="FFFFFF"/>
              </a:highlight>
              <a:latin typeface="Arial"/>
              <a:ea typeface="Arial"/>
              <a:cs typeface="Arial"/>
              <a:sym typeface="Arial"/>
            </a:endParaRPr>
          </a:p>
          <a:p>
            <a:pPr indent="-301625" lvl="0" marL="457200" rtl="0" algn="l">
              <a:lnSpc>
                <a:spcPct val="150000"/>
              </a:lnSpc>
              <a:spcBef>
                <a:spcPts val="0"/>
              </a:spcBef>
              <a:spcAft>
                <a:spcPts val="0"/>
              </a:spcAft>
              <a:buClr>
                <a:srgbClr val="1B1B1B"/>
              </a:buClr>
              <a:buSzPts val="1150"/>
              <a:buFont typeface="Arial"/>
              <a:buChar char="❖"/>
            </a:pPr>
            <a:r>
              <a:rPr lang="en" sz="1150">
                <a:solidFill>
                  <a:srgbClr val="1B1B1B"/>
                </a:solidFill>
                <a:highlight>
                  <a:srgbClr val="FFFFFF"/>
                </a:highlight>
                <a:latin typeface="Arial"/>
                <a:ea typeface="Arial"/>
                <a:cs typeface="Arial"/>
                <a:sym typeface="Arial"/>
              </a:rPr>
              <a:t>Kiểu Keirei (敬礼): Kiểu cúi chào bình thường. Đây là kiểu Ojigi dùng để chào cấp trên, khách hàng hoặc những người lớn tuổi hơn mình. Người Nhật sẽ cúi đầu khoảng 30 ~ 35º, giữ nguyên 2-3 giây khi thực hiện kiểu chào này. Mắt nhìn xa khoảng 2m.</a:t>
            </a:r>
            <a:endParaRPr sz="1150">
              <a:solidFill>
                <a:srgbClr val="1B1B1B"/>
              </a:solidFill>
              <a:highlight>
                <a:srgbClr val="FFFFFF"/>
              </a:highlight>
              <a:latin typeface="Arial"/>
              <a:ea typeface="Arial"/>
              <a:cs typeface="Arial"/>
              <a:sym typeface="Arial"/>
            </a:endParaRPr>
          </a:p>
          <a:p>
            <a:pPr indent="-301625" lvl="0" marL="457200" rtl="0" algn="l">
              <a:lnSpc>
                <a:spcPct val="150000"/>
              </a:lnSpc>
              <a:spcBef>
                <a:spcPts val="0"/>
              </a:spcBef>
              <a:spcAft>
                <a:spcPts val="0"/>
              </a:spcAft>
              <a:buClr>
                <a:srgbClr val="1B1B1B"/>
              </a:buClr>
              <a:buSzPts val="1150"/>
              <a:buFont typeface="Arial"/>
              <a:buChar char="❖"/>
            </a:pPr>
            <a:r>
              <a:rPr lang="en" sz="1150">
                <a:solidFill>
                  <a:srgbClr val="1B1B1B"/>
                </a:solidFill>
                <a:highlight>
                  <a:srgbClr val="FFFFFF"/>
                </a:highlight>
                <a:latin typeface="Arial"/>
                <a:ea typeface="Arial"/>
                <a:cs typeface="Arial"/>
                <a:sym typeface="Arial"/>
              </a:rPr>
              <a:t>Kiểu Saikeirei (最敬礼): Kiểu cúi chào trang trọng nhất. Người Nhật sẽ cúi đầu khoảng từ 45~60º khi thực hiện kiểu chào này. Thường thực hiện trước bàn thờ trong các đền của Thần đạo, chùa của Phật giáo, trước Quốc kỳ, trước Thiên Hoàng.</a:t>
            </a:r>
            <a:endParaRPr sz="1150">
              <a:solidFill>
                <a:srgbClr val="1B1B1B"/>
              </a:solidFill>
              <a:highlight>
                <a:srgbClr val="FFFFFF"/>
              </a:highlight>
              <a:latin typeface="Arial"/>
              <a:ea typeface="Arial"/>
              <a:cs typeface="Arial"/>
              <a:sym typeface="Arial"/>
            </a:endParaRPr>
          </a:p>
        </p:txBody>
      </p:sp>
      <p:pic>
        <p:nvPicPr>
          <p:cNvPr id="230" name="Google Shape;230;g10e45e625f2_0_84"/>
          <p:cNvPicPr preferRelativeResize="0"/>
          <p:nvPr/>
        </p:nvPicPr>
        <p:blipFill>
          <a:blip r:embed="rId3">
            <a:alphaModFix/>
          </a:blip>
          <a:stretch>
            <a:fillRect/>
          </a:stretch>
        </p:blipFill>
        <p:spPr>
          <a:xfrm>
            <a:off x="8374650" y="354125"/>
            <a:ext cx="553350" cy="74609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6"/>
          <p:cNvSpPr txBox="1"/>
          <p:nvPr>
            <p:ph type="title"/>
          </p:nvPr>
        </p:nvSpPr>
        <p:spPr>
          <a:xfrm>
            <a:off x="781025" y="320450"/>
            <a:ext cx="7505700" cy="95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rgbClr val="000000"/>
                </a:solidFill>
                <a:latin typeface="Calibri"/>
                <a:ea typeface="Calibri"/>
                <a:cs typeface="Calibri"/>
                <a:sym typeface="Calibri"/>
              </a:rPr>
              <a:t>3. Tiêu chuẩn Business Manner của Nhật</a:t>
            </a:r>
            <a:endParaRPr sz="2500">
              <a:solidFill>
                <a:srgbClr val="000000"/>
              </a:solidFill>
              <a:latin typeface="Calibri"/>
              <a:ea typeface="Calibri"/>
              <a:cs typeface="Calibri"/>
              <a:sym typeface="Calibri"/>
            </a:endParaRPr>
          </a:p>
          <a:p>
            <a:pPr indent="-355600" lvl="0" marL="457200" rtl="0" algn="l">
              <a:spcBef>
                <a:spcPts val="0"/>
              </a:spcBef>
              <a:spcAft>
                <a:spcPts val="0"/>
              </a:spcAft>
              <a:buClr>
                <a:srgbClr val="000000"/>
              </a:buClr>
              <a:buSzPts val="2000"/>
              <a:buFont typeface="Calibri"/>
              <a:buChar char="➔"/>
            </a:pPr>
            <a:r>
              <a:rPr lang="en" sz="2000">
                <a:solidFill>
                  <a:srgbClr val="000000"/>
                </a:solidFill>
                <a:latin typeface="Calibri"/>
                <a:ea typeface="Calibri"/>
                <a:cs typeface="Calibri"/>
                <a:sym typeface="Calibri"/>
              </a:rPr>
              <a:t>Cách giao tiếp</a:t>
            </a:r>
            <a:endParaRPr/>
          </a:p>
          <a:p>
            <a:pPr indent="0" lvl="0" marL="0" rtl="0" algn="l">
              <a:spcBef>
                <a:spcPts val="0"/>
              </a:spcBef>
              <a:spcAft>
                <a:spcPts val="0"/>
              </a:spcAft>
              <a:buNone/>
            </a:pPr>
            <a:r>
              <a:rPr lang="en" sz="1800">
                <a:solidFill>
                  <a:srgbClr val="000000"/>
                </a:solidFill>
              </a:rPr>
              <a:t>Một</a:t>
            </a:r>
            <a:r>
              <a:rPr lang="en" sz="770">
                <a:solidFill>
                  <a:srgbClr val="000000"/>
                </a:solidFill>
                <a:latin typeface="Calibri"/>
                <a:ea typeface="Calibri"/>
                <a:cs typeface="Calibri"/>
                <a:sym typeface="Calibri"/>
              </a:rPr>
              <a:t> </a:t>
            </a:r>
            <a:r>
              <a:rPr lang="en" sz="1800">
                <a:solidFill>
                  <a:srgbClr val="000000"/>
                </a:solidFill>
              </a:rPr>
              <a:t>số kính ngữ thường hay sử dụng</a:t>
            </a:r>
            <a:r>
              <a:rPr lang="en">
                <a:solidFill>
                  <a:srgbClr val="000000"/>
                </a:solidFill>
              </a:rPr>
              <a:t>.</a:t>
            </a:r>
            <a:endParaRPr sz="1970">
              <a:solidFill>
                <a:srgbClr val="000000"/>
              </a:solidFill>
              <a:latin typeface="Calibri"/>
              <a:ea typeface="Calibri"/>
              <a:cs typeface="Calibri"/>
              <a:sym typeface="Calibri"/>
            </a:endParaRPr>
          </a:p>
          <a:p>
            <a:pPr indent="0" lvl="0" marL="0" rtl="0" algn="l">
              <a:lnSpc>
                <a:spcPct val="100000"/>
              </a:lnSpc>
              <a:spcBef>
                <a:spcPts val="1200"/>
              </a:spcBef>
              <a:spcAft>
                <a:spcPts val="0"/>
              </a:spcAft>
              <a:buSzPts val="990"/>
              <a:buNone/>
            </a:pPr>
            <a:r>
              <a:t/>
            </a:r>
            <a:endParaRPr sz="3200"/>
          </a:p>
        </p:txBody>
      </p:sp>
      <p:sp>
        <p:nvSpPr>
          <p:cNvPr id="236" name="Google Shape;236;p6"/>
          <p:cNvSpPr txBox="1"/>
          <p:nvPr>
            <p:ph idx="1" type="body"/>
          </p:nvPr>
        </p:nvSpPr>
        <p:spPr>
          <a:xfrm>
            <a:off x="819150" y="1990725"/>
            <a:ext cx="3686100" cy="244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sp>
        <p:nvSpPr>
          <p:cNvPr id="237" name="Google Shape;237;p6"/>
          <p:cNvSpPr txBox="1"/>
          <p:nvPr>
            <p:ph idx="2" type="body"/>
          </p:nvPr>
        </p:nvSpPr>
        <p:spPr>
          <a:xfrm>
            <a:off x="4638675" y="1990725"/>
            <a:ext cx="3686100" cy="244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pic>
        <p:nvPicPr>
          <p:cNvPr id="238" name="Google Shape;238;p6"/>
          <p:cNvPicPr preferRelativeResize="0"/>
          <p:nvPr/>
        </p:nvPicPr>
        <p:blipFill rotWithShape="1">
          <a:blip r:embed="rId3">
            <a:alphaModFix/>
          </a:blip>
          <a:srcRect b="0" l="0" r="0" t="0"/>
          <a:stretch/>
        </p:blipFill>
        <p:spPr>
          <a:xfrm>
            <a:off x="654075" y="1614700"/>
            <a:ext cx="3667125" cy="2360425"/>
          </a:xfrm>
          <a:prstGeom prst="rect">
            <a:avLst/>
          </a:prstGeom>
          <a:noFill/>
          <a:ln>
            <a:noFill/>
          </a:ln>
        </p:spPr>
      </p:pic>
      <p:pic>
        <p:nvPicPr>
          <p:cNvPr id="239" name="Google Shape;239;p6"/>
          <p:cNvPicPr preferRelativeResize="0"/>
          <p:nvPr/>
        </p:nvPicPr>
        <p:blipFill rotWithShape="1">
          <a:blip r:embed="rId4">
            <a:alphaModFix/>
          </a:blip>
          <a:srcRect b="0" l="0" r="0" t="0"/>
          <a:stretch/>
        </p:blipFill>
        <p:spPr>
          <a:xfrm>
            <a:off x="4676738" y="1570912"/>
            <a:ext cx="3609975" cy="2448000"/>
          </a:xfrm>
          <a:prstGeom prst="rect">
            <a:avLst/>
          </a:prstGeom>
          <a:noFill/>
          <a:ln>
            <a:noFill/>
          </a:ln>
        </p:spPr>
      </p:pic>
      <p:pic>
        <p:nvPicPr>
          <p:cNvPr id="240" name="Google Shape;240;p6"/>
          <p:cNvPicPr preferRelativeResize="0"/>
          <p:nvPr/>
        </p:nvPicPr>
        <p:blipFill>
          <a:blip r:embed="rId5">
            <a:alphaModFix/>
          </a:blip>
          <a:stretch>
            <a:fillRect/>
          </a:stretch>
        </p:blipFill>
        <p:spPr>
          <a:xfrm>
            <a:off x="8359850" y="220900"/>
            <a:ext cx="553350" cy="74609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7"/>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500">
                <a:solidFill>
                  <a:srgbClr val="000000"/>
                </a:solidFill>
                <a:latin typeface="Calibri"/>
                <a:ea typeface="Calibri"/>
                <a:cs typeface="Calibri"/>
                <a:sym typeface="Calibri"/>
              </a:rPr>
              <a:t>3. Tiêu chuẩn Business Manner của Nhật</a:t>
            </a:r>
            <a:endParaRPr sz="2500">
              <a:solidFill>
                <a:srgbClr val="000000"/>
              </a:solidFill>
              <a:latin typeface="Calibri"/>
              <a:ea typeface="Calibri"/>
              <a:cs typeface="Calibri"/>
              <a:sym typeface="Calibri"/>
            </a:endParaRPr>
          </a:p>
          <a:p>
            <a:pPr indent="-342900" lvl="0" marL="457200" rtl="0" algn="l">
              <a:spcBef>
                <a:spcPts val="0"/>
              </a:spcBef>
              <a:spcAft>
                <a:spcPts val="0"/>
              </a:spcAft>
              <a:buClr>
                <a:srgbClr val="000000"/>
              </a:buClr>
              <a:buSzPct val="100000"/>
              <a:buFont typeface="Calibri"/>
              <a:buChar char="➔"/>
            </a:pPr>
            <a:r>
              <a:rPr lang="en" sz="2000">
                <a:solidFill>
                  <a:srgbClr val="000000"/>
                </a:solidFill>
                <a:latin typeface="Calibri"/>
                <a:ea typeface="Calibri"/>
                <a:cs typeface="Calibri"/>
                <a:sym typeface="Calibri"/>
              </a:rPr>
              <a:t>Cách giao tiếp</a:t>
            </a:r>
            <a:endParaRPr/>
          </a:p>
          <a:p>
            <a:pPr indent="0" lvl="0" marL="0" rtl="0" algn="l">
              <a:lnSpc>
                <a:spcPct val="115000"/>
              </a:lnSpc>
              <a:spcBef>
                <a:spcPts val="0"/>
              </a:spcBef>
              <a:spcAft>
                <a:spcPts val="1200"/>
              </a:spcAft>
              <a:buClr>
                <a:srgbClr val="000000"/>
              </a:buClr>
              <a:buSzPct val="49499"/>
              <a:buFont typeface="Arial"/>
              <a:buNone/>
            </a:pPr>
            <a:r>
              <a:rPr lang="en" sz="2000">
                <a:solidFill>
                  <a:srgbClr val="000000"/>
                </a:solidFill>
              </a:rPr>
              <a:t>Một số kính ngữ thường hay sử dụng sai</a:t>
            </a:r>
            <a:endParaRPr sz="2400">
              <a:solidFill>
                <a:srgbClr val="000000"/>
              </a:solidFill>
            </a:endParaRPr>
          </a:p>
        </p:txBody>
      </p:sp>
      <p:sp>
        <p:nvSpPr>
          <p:cNvPr id="246" name="Google Shape;246;p7"/>
          <p:cNvSpPr txBox="1"/>
          <p:nvPr>
            <p:ph idx="1" type="body"/>
          </p:nvPr>
        </p:nvSpPr>
        <p:spPr>
          <a:xfrm>
            <a:off x="819150" y="1990725"/>
            <a:ext cx="3686100" cy="2448000"/>
          </a:xfrm>
          <a:prstGeom prst="rect">
            <a:avLst/>
          </a:prstGeom>
          <a:noFill/>
          <a:ln>
            <a:noFill/>
          </a:ln>
        </p:spPr>
        <p:txBody>
          <a:bodyPr anchorCtr="0" anchor="t" bIns="91425" lIns="91425" spcFirstLastPara="1" rIns="91425" wrap="square" tIns="91425">
            <a:normAutofit fontScale="92500" lnSpcReduction="20000"/>
          </a:bodyPr>
          <a:lstStyle/>
          <a:p>
            <a:pPr indent="0" lvl="0" marL="0" marR="0" rtl="0" algn="l">
              <a:lnSpc>
                <a:spcPct val="115000"/>
              </a:lnSpc>
              <a:spcBef>
                <a:spcPts val="0"/>
              </a:spcBef>
              <a:spcAft>
                <a:spcPts val="0"/>
              </a:spcAft>
              <a:buSzPct val="88223"/>
              <a:buNone/>
            </a:pPr>
            <a:r>
              <a:rPr lang="en" sz="1593">
                <a:solidFill>
                  <a:srgbClr val="333333"/>
                </a:solidFill>
                <a:highlight>
                  <a:srgbClr val="FFFFFF"/>
                </a:highlight>
                <a:latin typeface="Montserrat"/>
                <a:ea typeface="Montserrat"/>
                <a:cs typeface="Montserrat"/>
                <a:sym typeface="Montserrat"/>
              </a:rPr>
              <a:t>Sai:</a:t>
            </a:r>
            <a:endParaRPr sz="1593">
              <a:solidFill>
                <a:srgbClr val="333333"/>
              </a:solidFill>
              <a:highlight>
                <a:srgbClr val="FFFFFF"/>
              </a:highlight>
              <a:latin typeface="Montserrat"/>
              <a:ea typeface="Montserrat"/>
              <a:cs typeface="Montserrat"/>
              <a:sym typeface="Montserrat"/>
            </a:endParaRPr>
          </a:p>
          <a:p>
            <a:pPr indent="-329829" lvl="0" marL="457200" marR="0" rtl="0" algn="l">
              <a:lnSpc>
                <a:spcPct val="115000"/>
              </a:lnSpc>
              <a:spcBef>
                <a:spcPts val="1200"/>
              </a:spcBef>
              <a:spcAft>
                <a:spcPts val="0"/>
              </a:spcAft>
              <a:buClr>
                <a:srgbClr val="333333"/>
              </a:buClr>
              <a:buSzPct val="99882"/>
              <a:buFont typeface="Montserrat"/>
              <a:buAutoNum type="arabicPeriod"/>
            </a:pPr>
            <a:r>
              <a:rPr lang="en" sz="1720">
                <a:solidFill>
                  <a:srgbClr val="333333"/>
                </a:solidFill>
                <a:highlight>
                  <a:srgbClr val="FFFFFF"/>
                </a:highlight>
                <a:latin typeface="Montserrat"/>
                <a:ea typeface="Montserrat"/>
                <a:cs typeface="Montserrat"/>
                <a:sym typeface="Montserrat"/>
              </a:rPr>
              <a:t>どうぞお召し上がり下さい</a:t>
            </a:r>
            <a:endParaRPr sz="1720">
              <a:solidFill>
                <a:srgbClr val="333333"/>
              </a:solidFill>
              <a:highlight>
                <a:srgbClr val="FFFFFF"/>
              </a:highlight>
              <a:latin typeface="Montserrat"/>
              <a:ea typeface="Montserrat"/>
              <a:cs typeface="Montserrat"/>
              <a:sym typeface="Montserrat"/>
            </a:endParaRPr>
          </a:p>
          <a:p>
            <a:pPr indent="-329829" lvl="0" marL="457200" marR="0" rtl="0" algn="l">
              <a:lnSpc>
                <a:spcPct val="115000"/>
              </a:lnSpc>
              <a:spcBef>
                <a:spcPts val="0"/>
              </a:spcBef>
              <a:spcAft>
                <a:spcPts val="0"/>
              </a:spcAft>
              <a:buClr>
                <a:srgbClr val="333333"/>
              </a:buClr>
              <a:buSzPct val="99882"/>
              <a:buFont typeface="Montserrat"/>
              <a:buAutoNum type="arabicPeriod"/>
            </a:pPr>
            <a:r>
              <a:rPr lang="en" sz="1720">
                <a:solidFill>
                  <a:srgbClr val="333333"/>
                </a:solidFill>
                <a:highlight>
                  <a:srgbClr val="FFFFFF"/>
                </a:highlight>
                <a:latin typeface="Montserrat"/>
                <a:ea typeface="Montserrat"/>
                <a:cs typeface="Montserrat"/>
                <a:sym typeface="Montserrat"/>
              </a:rPr>
              <a:t>おっしゃられる通りだと思います</a:t>
            </a:r>
            <a:endParaRPr sz="1720">
              <a:solidFill>
                <a:srgbClr val="333333"/>
              </a:solidFill>
              <a:highlight>
                <a:srgbClr val="FFFFFF"/>
              </a:highlight>
              <a:latin typeface="Montserrat"/>
              <a:ea typeface="Montserrat"/>
              <a:cs typeface="Montserrat"/>
              <a:sym typeface="Montserrat"/>
            </a:endParaRPr>
          </a:p>
          <a:p>
            <a:pPr indent="-329829" lvl="0" marL="457200" marR="0" rtl="0" algn="l">
              <a:lnSpc>
                <a:spcPct val="115000"/>
              </a:lnSpc>
              <a:spcBef>
                <a:spcPts val="0"/>
              </a:spcBef>
              <a:spcAft>
                <a:spcPts val="0"/>
              </a:spcAft>
              <a:buClr>
                <a:srgbClr val="333333"/>
              </a:buClr>
              <a:buSzPct val="99882"/>
              <a:buFont typeface="Montserrat"/>
              <a:buAutoNum type="arabicPeriod"/>
            </a:pPr>
            <a:r>
              <a:rPr lang="en" sz="1720">
                <a:solidFill>
                  <a:srgbClr val="333333"/>
                </a:solidFill>
                <a:highlight>
                  <a:srgbClr val="FFFFFF"/>
                </a:highlight>
                <a:latin typeface="Montserrat"/>
                <a:ea typeface="Montserrat"/>
                <a:cs typeface="Montserrat"/>
                <a:sym typeface="Montserrat"/>
              </a:rPr>
              <a:t>ご覧になられる</a:t>
            </a:r>
            <a:endParaRPr sz="1720">
              <a:solidFill>
                <a:srgbClr val="333333"/>
              </a:solidFill>
              <a:highlight>
                <a:srgbClr val="FFFFFF"/>
              </a:highlight>
              <a:latin typeface="Montserrat"/>
              <a:ea typeface="Montserrat"/>
              <a:cs typeface="Montserrat"/>
              <a:sym typeface="Montserrat"/>
            </a:endParaRPr>
          </a:p>
          <a:p>
            <a:pPr indent="-329829" lvl="0" marL="457200" marR="0" rtl="0" algn="l">
              <a:lnSpc>
                <a:spcPct val="115000"/>
              </a:lnSpc>
              <a:spcBef>
                <a:spcPts val="0"/>
              </a:spcBef>
              <a:spcAft>
                <a:spcPts val="0"/>
              </a:spcAft>
              <a:buClr>
                <a:srgbClr val="333333"/>
              </a:buClr>
              <a:buSzPct val="99882"/>
              <a:buFont typeface="Montserrat"/>
              <a:buAutoNum type="arabicPeriod"/>
            </a:pPr>
            <a:r>
              <a:rPr lang="en" sz="1720">
                <a:solidFill>
                  <a:srgbClr val="333333"/>
                </a:solidFill>
                <a:highlight>
                  <a:srgbClr val="FFFFFF"/>
                </a:highlight>
                <a:latin typeface="Montserrat"/>
                <a:ea typeface="Montserrat"/>
                <a:cs typeface="Montserrat"/>
                <a:sym typeface="Montserrat"/>
              </a:rPr>
              <a:t>お客様がお越しになられました</a:t>
            </a:r>
            <a:endParaRPr sz="1720">
              <a:solidFill>
                <a:srgbClr val="333333"/>
              </a:solidFill>
              <a:highlight>
                <a:srgbClr val="FFFFFF"/>
              </a:highlight>
              <a:latin typeface="Montserrat"/>
              <a:ea typeface="Montserrat"/>
              <a:cs typeface="Montserrat"/>
              <a:sym typeface="Montserrat"/>
            </a:endParaRPr>
          </a:p>
          <a:p>
            <a:pPr indent="0" lvl="0" marL="0" marR="0" rtl="0" algn="l">
              <a:lnSpc>
                <a:spcPct val="115000"/>
              </a:lnSpc>
              <a:spcBef>
                <a:spcPts val="1200"/>
              </a:spcBef>
              <a:spcAft>
                <a:spcPts val="0"/>
              </a:spcAft>
              <a:buSzPct val="122209"/>
              <a:buNone/>
            </a:pPr>
            <a:r>
              <a:t/>
            </a:r>
            <a:endParaRPr sz="1150">
              <a:solidFill>
                <a:srgbClr val="333333"/>
              </a:solidFill>
              <a:highlight>
                <a:srgbClr val="FFFFFF"/>
              </a:highlight>
              <a:latin typeface="Montserrat"/>
              <a:ea typeface="Montserrat"/>
              <a:cs typeface="Montserrat"/>
              <a:sym typeface="Montserrat"/>
            </a:endParaRPr>
          </a:p>
          <a:p>
            <a:pPr indent="0" lvl="0" marL="0" marR="0" rtl="0" algn="l">
              <a:lnSpc>
                <a:spcPct val="115000"/>
              </a:lnSpc>
              <a:spcBef>
                <a:spcPts val="1200"/>
              </a:spcBef>
              <a:spcAft>
                <a:spcPts val="0"/>
              </a:spcAft>
              <a:buSzPct val="122209"/>
              <a:buNone/>
            </a:pPr>
            <a:r>
              <a:t/>
            </a:r>
            <a:endParaRPr sz="1150">
              <a:solidFill>
                <a:srgbClr val="333333"/>
              </a:solidFill>
              <a:highlight>
                <a:srgbClr val="FFFFFF"/>
              </a:highlight>
              <a:latin typeface="Montserrat"/>
              <a:ea typeface="Montserrat"/>
              <a:cs typeface="Montserrat"/>
              <a:sym typeface="Montserrat"/>
            </a:endParaRPr>
          </a:p>
          <a:p>
            <a:pPr indent="0" lvl="0" marL="0" marR="0" rtl="0" algn="l">
              <a:lnSpc>
                <a:spcPct val="115000"/>
              </a:lnSpc>
              <a:spcBef>
                <a:spcPts val="1200"/>
              </a:spcBef>
              <a:spcAft>
                <a:spcPts val="1200"/>
              </a:spcAft>
              <a:buSzPct val="122209"/>
              <a:buNone/>
            </a:pPr>
            <a:r>
              <a:t/>
            </a:r>
            <a:endParaRPr sz="1150">
              <a:solidFill>
                <a:srgbClr val="333333"/>
              </a:solidFill>
              <a:highlight>
                <a:srgbClr val="FFFFFF"/>
              </a:highlight>
              <a:latin typeface="Montserrat"/>
              <a:ea typeface="Montserrat"/>
              <a:cs typeface="Montserrat"/>
              <a:sym typeface="Montserrat"/>
            </a:endParaRPr>
          </a:p>
        </p:txBody>
      </p:sp>
      <p:sp>
        <p:nvSpPr>
          <p:cNvPr id="247" name="Google Shape;247;p7"/>
          <p:cNvSpPr txBox="1"/>
          <p:nvPr>
            <p:ph idx="2" type="body"/>
          </p:nvPr>
        </p:nvSpPr>
        <p:spPr>
          <a:xfrm>
            <a:off x="4638675" y="1990725"/>
            <a:ext cx="3686100" cy="244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n" sz="1550">
                <a:solidFill>
                  <a:srgbClr val="333333"/>
                </a:solidFill>
                <a:highlight>
                  <a:srgbClr val="FFFFFF"/>
                </a:highlight>
                <a:latin typeface="Montserrat"/>
                <a:ea typeface="Montserrat"/>
                <a:cs typeface="Montserrat"/>
                <a:sym typeface="Montserrat"/>
              </a:rPr>
              <a:t>Đúng:</a:t>
            </a:r>
            <a:endParaRPr/>
          </a:p>
          <a:p>
            <a:pPr indent="-327025" lvl="0" marL="457200" rtl="0" algn="l">
              <a:lnSpc>
                <a:spcPct val="115000"/>
              </a:lnSpc>
              <a:spcBef>
                <a:spcPts val="1200"/>
              </a:spcBef>
              <a:spcAft>
                <a:spcPts val="0"/>
              </a:spcAft>
              <a:buClr>
                <a:srgbClr val="333333"/>
              </a:buClr>
              <a:buSzPts val="1550"/>
              <a:buFont typeface="Montserrat"/>
              <a:buAutoNum type="arabicPeriod"/>
            </a:pPr>
            <a:r>
              <a:rPr lang="en" sz="1550">
                <a:solidFill>
                  <a:srgbClr val="333333"/>
                </a:solidFill>
                <a:highlight>
                  <a:srgbClr val="FFFFFF"/>
                </a:highlight>
                <a:latin typeface="Montserrat"/>
                <a:ea typeface="Montserrat"/>
                <a:cs typeface="Montserrat"/>
                <a:sym typeface="Montserrat"/>
              </a:rPr>
              <a:t>どうぞ召し上がって下さい</a:t>
            </a:r>
            <a:endParaRPr sz="1550">
              <a:solidFill>
                <a:srgbClr val="333333"/>
              </a:solidFill>
              <a:highlight>
                <a:srgbClr val="FFFFFF"/>
              </a:highlight>
              <a:latin typeface="Montserrat"/>
              <a:ea typeface="Montserrat"/>
              <a:cs typeface="Montserrat"/>
              <a:sym typeface="Montserrat"/>
            </a:endParaRPr>
          </a:p>
          <a:p>
            <a:pPr indent="-327025" lvl="0" marL="457200" rtl="0" algn="l">
              <a:lnSpc>
                <a:spcPct val="115000"/>
              </a:lnSpc>
              <a:spcBef>
                <a:spcPts val="0"/>
              </a:spcBef>
              <a:spcAft>
                <a:spcPts val="0"/>
              </a:spcAft>
              <a:buClr>
                <a:srgbClr val="333333"/>
              </a:buClr>
              <a:buSzPts val="1550"/>
              <a:buFont typeface="Montserrat"/>
              <a:buAutoNum type="arabicPeriod"/>
            </a:pPr>
            <a:r>
              <a:rPr lang="en" sz="1550">
                <a:solidFill>
                  <a:srgbClr val="333333"/>
                </a:solidFill>
                <a:highlight>
                  <a:srgbClr val="FFFFFF"/>
                </a:highlight>
                <a:latin typeface="Montserrat"/>
                <a:ea typeface="Montserrat"/>
                <a:cs typeface="Montserrat"/>
                <a:sym typeface="Montserrat"/>
              </a:rPr>
              <a:t>おっしゃる通りだと思います</a:t>
            </a:r>
            <a:endParaRPr sz="1550">
              <a:solidFill>
                <a:srgbClr val="333333"/>
              </a:solidFill>
              <a:highlight>
                <a:srgbClr val="FFFFFF"/>
              </a:highlight>
              <a:latin typeface="Montserrat"/>
              <a:ea typeface="Montserrat"/>
              <a:cs typeface="Montserrat"/>
              <a:sym typeface="Montserrat"/>
            </a:endParaRPr>
          </a:p>
          <a:p>
            <a:pPr indent="-327025" lvl="0" marL="457200" rtl="0" algn="l">
              <a:lnSpc>
                <a:spcPct val="115000"/>
              </a:lnSpc>
              <a:spcBef>
                <a:spcPts val="0"/>
              </a:spcBef>
              <a:spcAft>
                <a:spcPts val="0"/>
              </a:spcAft>
              <a:buClr>
                <a:srgbClr val="333333"/>
              </a:buClr>
              <a:buSzPts val="1550"/>
              <a:buFont typeface="Montserrat"/>
              <a:buAutoNum type="arabicPeriod"/>
            </a:pPr>
            <a:r>
              <a:rPr lang="en" sz="1550">
                <a:solidFill>
                  <a:srgbClr val="333333"/>
                </a:solidFill>
                <a:highlight>
                  <a:srgbClr val="FFFFFF"/>
                </a:highlight>
                <a:latin typeface="Montserrat"/>
                <a:ea typeface="Montserrat"/>
                <a:cs typeface="Montserrat"/>
                <a:sym typeface="Montserrat"/>
              </a:rPr>
              <a:t>ご覧になる</a:t>
            </a:r>
            <a:endParaRPr sz="1550">
              <a:solidFill>
                <a:srgbClr val="333333"/>
              </a:solidFill>
              <a:highlight>
                <a:srgbClr val="FFFFFF"/>
              </a:highlight>
              <a:latin typeface="Montserrat"/>
              <a:ea typeface="Montserrat"/>
              <a:cs typeface="Montserrat"/>
              <a:sym typeface="Montserrat"/>
            </a:endParaRPr>
          </a:p>
          <a:p>
            <a:pPr indent="-327025" lvl="0" marL="457200" rtl="0" algn="l">
              <a:lnSpc>
                <a:spcPct val="115000"/>
              </a:lnSpc>
              <a:spcBef>
                <a:spcPts val="0"/>
              </a:spcBef>
              <a:spcAft>
                <a:spcPts val="0"/>
              </a:spcAft>
              <a:buClr>
                <a:srgbClr val="333333"/>
              </a:buClr>
              <a:buSzPts val="1550"/>
              <a:buFont typeface="Montserrat"/>
              <a:buAutoNum type="arabicPeriod"/>
            </a:pPr>
            <a:r>
              <a:rPr lang="en" sz="1550">
                <a:solidFill>
                  <a:srgbClr val="333333"/>
                </a:solidFill>
                <a:highlight>
                  <a:srgbClr val="FFFFFF"/>
                </a:highlight>
                <a:latin typeface="Montserrat"/>
                <a:ea typeface="Montserrat"/>
                <a:cs typeface="Montserrat"/>
                <a:sym typeface="Montserrat"/>
              </a:rPr>
              <a:t>お客様がお越しになりました</a:t>
            </a:r>
            <a:endParaRPr sz="1550">
              <a:solidFill>
                <a:srgbClr val="333333"/>
              </a:solidFill>
              <a:highlight>
                <a:srgbClr val="FFFFFF"/>
              </a:highlight>
              <a:latin typeface="Montserrat"/>
              <a:ea typeface="Montserrat"/>
              <a:cs typeface="Montserrat"/>
              <a:sym typeface="Montserrat"/>
            </a:endParaRPr>
          </a:p>
        </p:txBody>
      </p:sp>
      <p:pic>
        <p:nvPicPr>
          <p:cNvPr id="248" name="Google Shape;248;p7"/>
          <p:cNvPicPr preferRelativeResize="0"/>
          <p:nvPr/>
        </p:nvPicPr>
        <p:blipFill>
          <a:blip r:embed="rId3">
            <a:alphaModFix/>
          </a:blip>
          <a:stretch>
            <a:fillRect/>
          </a:stretch>
        </p:blipFill>
        <p:spPr>
          <a:xfrm>
            <a:off x="8359850" y="228300"/>
            <a:ext cx="553350" cy="74609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8"/>
          <p:cNvSpPr txBox="1"/>
          <p:nvPr>
            <p:ph type="title"/>
          </p:nvPr>
        </p:nvSpPr>
        <p:spPr>
          <a:xfrm>
            <a:off x="819150" y="335275"/>
            <a:ext cx="7505700" cy="9546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500">
                <a:solidFill>
                  <a:srgbClr val="000000"/>
                </a:solidFill>
                <a:latin typeface="Calibri"/>
                <a:ea typeface="Calibri"/>
                <a:cs typeface="Calibri"/>
                <a:sym typeface="Calibri"/>
              </a:rPr>
              <a:t>3. Tiêu chuẩn Business Manner của Nhật</a:t>
            </a:r>
            <a:endParaRPr sz="2500">
              <a:solidFill>
                <a:srgbClr val="000000"/>
              </a:solidFill>
              <a:latin typeface="Calibri"/>
              <a:ea typeface="Calibri"/>
              <a:cs typeface="Calibri"/>
              <a:sym typeface="Calibri"/>
            </a:endParaRPr>
          </a:p>
          <a:p>
            <a:pPr indent="-342900" lvl="0" marL="457200" rtl="0" algn="l">
              <a:spcBef>
                <a:spcPts val="0"/>
              </a:spcBef>
              <a:spcAft>
                <a:spcPts val="0"/>
              </a:spcAft>
              <a:buClr>
                <a:srgbClr val="000000"/>
              </a:buClr>
              <a:buSzPct val="100000"/>
              <a:buFont typeface="Calibri"/>
              <a:buChar char="➔"/>
            </a:pPr>
            <a:r>
              <a:rPr lang="en" sz="2000">
                <a:solidFill>
                  <a:srgbClr val="000000"/>
                </a:solidFill>
                <a:latin typeface="Calibri"/>
                <a:ea typeface="Calibri"/>
                <a:cs typeface="Calibri"/>
                <a:sym typeface="Calibri"/>
              </a:rPr>
              <a:t>Cách giao tiếp</a:t>
            </a:r>
            <a:endParaRPr/>
          </a:p>
          <a:p>
            <a:pPr indent="0" lvl="0" marL="0" rtl="0" algn="l">
              <a:lnSpc>
                <a:spcPct val="100000"/>
              </a:lnSpc>
              <a:spcBef>
                <a:spcPts val="0"/>
              </a:spcBef>
              <a:spcAft>
                <a:spcPts val="0"/>
              </a:spcAft>
              <a:buSzPct val="166666"/>
              <a:buNone/>
            </a:pPr>
            <a:r>
              <a:rPr lang="en" sz="2000">
                <a:solidFill>
                  <a:srgbClr val="000000"/>
                </a:solidFill>
              </a:rPr>
              <a:t>Một số kính ngữ tuyệt đối không sử dụng với khách hàng</a:t>
            </a:r>
            <a:endParaRPr sz="2000">
              <a:solidFill>
                <a:srgbClr val="000000"/>
              </a:solidFill>
            </a:endParaRPr>
          </a:p>
        </p:txBody>
      </p:sp>
      <p:sp>
        <p:nvSpPr>
          <p:cNvPr id="254" name="Google Shape;254;p8"/>
          <p:cNvSpPr txBox="1"/>
          <p:nvPr>
            <p:ph idx="1" type="body"/>
          </p:nvPr>
        </p:nvSpPr>
        <p:spPr>
          <a:xfrm>
            <a:off x="819150" y="1453550"/>
            <a:ext cx="3686100" cy="29853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l">
              <a:lnSpc>
                <a:spcPct val="115000"/>
              </a:lnSpc>
              <a:spcBef>
                <a:spcPts val="0"/>
              </a:spcBef>
              <a:spcAft>
                <a:spcPts val="0"/>
              </a:spcAft>
              <a:buSzPct val="82539"/>
              <a:buNone/>
            </a:pPr>
            <a:r>
              <a:rPr lang="en" sz="6300"/>
              <a:t>Kính ngữ không nên sử dụng với khách hàng:</a:t>
            </a:r>
            <a:endParaRPr sz="6300"/>
          </a:p>
          <a:p>
            <a:pPr indent="-328612" lvl="0" marL="457200" marR="0" rtl="0" algn="l">
              <a:lnSpc>
                <a:spcPct val="115000"/>
              </a:lnSpc>
              <a:spcBef>
                <a:spcPts val="1200"/>
              </a:spcBef>
              <a:spcAft>
                <a:spcPts val="0"/>
              </a:spcAft>
              <a:buClr>
                <a:srgbClr val="333333"/>
              </a:buClr>
              <a:buSzPct val="100000"/>
              <a:buFont typeface="Montserrat"/>
              <a:buAutoNum type="arabicPeriod"/>
            </a:pPr>
            <a:r>
              <a:rPr lang="en" sz="6300">
                <a:solidFill>
                  <a:srgbClr val="333333"/>
                </a:solidFill>
                <a:highlight>
                  <a:srgbClr val="FFFFFF"/>
                </a:highlight>
                <a:latin typeface="Montserrat"/>
                <a:ea typeface="Montserrat"/>
                <a:cs typeface="Montserrat"/>
                <a:sym typeface="Montserrat"/>
              </a:rPr>
              <a:t>ご苦労さまです</a:t>
            </a:r>
            <a:endParaRPr sz="6300">
              <a:solidFill>
                <a:srgbClr val="333333"/>
              </a:solidFill>
              <a:highlight>
                <a:srgbClr val="FFFFFF"/>
              </a:highlight>
              <a:latin typeface="Montserrat"/>
              <a:ea typeface="Montserrat"/>
              <a:cs typeface="Montserrat"/>
              <a:sym typeface="Montserrat"/>
            </a:endParaRPr>
          </a:p>
          <a:p>
            <a:pPr indent="-328612" lvl="0" marL="457200" marR="0" rtl="0" algn="l">
              <a:lnSpc>
                <a:spcPct val="115000"/>
              </a:lnSpc>
              <a:spcBef>
                <a:spcPts val="0"/>
              </a:spcBef>
              <a:spcAft>
                <a:spcPts val="0"/>
              </a:spcAft>
              <a:buClr>
                <a:srgbClr val="333333"/>
              </a:buClr>
              <a:buSzPct val="100000"/>
              <a:buFont typeface="Montserrat"/>
              <a:buAutoNum type="arabicPeriod"/>
            </a:pPr>
            <a:r>
              <a:rPr lang="en" sz="6300">
                <a:solidFill>
                  <a:srgbClr val="333333"/>
                </a:solidFill>
                <a:highlight>
                  <a:srgbClr val="FFFFFF"/>
                </a:highlight>
                <a:latin typeface="Montserrat"/>
                <a:ea typeface="Montserrat"/>
                <a:cs typeface="Montserrat"/>
                <a:sym typeface="Montserrat"/>
              </a:rPr>
              <a:t>了解しました</a:t>
            </a:r>
            <a:endParaRPr sz="6300">
              <a:solidFill>
                <a:srgbClr val="333333"/>
              </a:solidFill>
              <a:highlight>
                <a:srgbClr val="FFFFFF"/>
              </a:highlight>
              <a:latin typeface="Montserrat"/>
              <a:ea typeface="Montserrat"/>
              <a:cs typeface="Montserrat"/>
              <a:sym typeface="Montserrat"/>
            </a:endParaRPr>
          </a:p>
          <a:p>
            <a:pPr indent="-328612" lvl="0" marL="457200" marR="0" rtl="0" algn="l">
              <a:lnSpc>
                <a:spcPct val="115000"/>
              </a:lnSpc>
              <a:spcBef>
                <a:spcPts val="0"/>
              </a:spcBef>
              <a:spcAft>
                <a:spcPts val="0"/>
              </a:spcAft>
              <a:buClr>
                <a:srgbClr val="333333"/>
              </a:buClr>
              <a:buSzPct val="100000"/>
              <a:buFont typeface="Montserrat"/>
              <a:buAutoNum type="arabicPeriod"/>
            </a:pPr>
            <a:r>
              <a:rPr lang="en" sz="6300">
                <a:solidFill>
                  <a:srgbClr val="333333"/>
                </a:solidFill>
                <a:highlight>
                  <a:srgbClr val="FFFFFF"/>
                </a:highlight>
                <a:latin typeface="Montserrat"/>
                <a:ea typeface="Montserrat"/>
                <a:cs typeface="Montserrat"/>
                <a:sym typeface="Montserrat"/>
              </a:rPr>
              <a:t>しばらくぶりです</a:t>
            </a:r>
            <a:endParaRPr sz="6300">
              <a:solidFill>
                <a:srgbClr val="333333"/>
              </a:solidFill>
              <a:highlight>
                <a:srgbClr val="FFFFFF"/>
              </a:highlight>
              <a:latin typeface="Montserrat"/>
              <a:ea typeface="Montserrat"/>
              <a:cs typeface="Montserrat"/>
              <a:sym typeface="Montserrat"/>
            </a:endParaRPr>
          </a:p>
          <a:p>
            <a:pPr indent="-328612" lvl="0" marL="457200" marR="0" rtl="0" algn="l">
              <a:lnSpc>
                <a:spcPct val="115000"/>
              </a:lnSpc>
              <a:spcBef>
                <a:spcPts val="0"/>
              </a:spcBef>
              <a:spcAft>
                <a:spcPts val="0"/>
              </a:spcAft>
              <a:buClr>
                <a:srgbClr val="333333"/>
              </a:buClr>
              <a:buSzPct val="100000"/>
              <a:buFont typeface="Montserrat"/>
              <a:buAutoNum type="arabicPeriod"/>
            </a:pPr>
            <a:r>
              <a:rPr lang="en" sz="6300">
                <a:solidFill>
                  <a:srgbClr val="333333"/>
                </a:solidFill>
                <a:highlight>
                  <a:srgbClr val="FFFFFF"/>
                </a:highlight>
                <a:latin typeface="Montserrat"/>
                <a:ea typeface="Montserrat"/>
                <a:cs typeface="Montserrat"/>
                <a:sym typeface="Montserrat"/>
              </a:rPr>
              <a:t>いつもお世話様です</a:t>
            </a:r>
            <a:endParaRPr sz="6300">
              <a:solidFill>
                <a:srgbClr val="333333"/>
              </a:solidFill>
              <a:highlight>
                <a:srgbClr val="FFFFFF"/>
              </a:highlight>
              <a:latin typeface="Montserrat"/>
              <a:ea typeface="Montserrat"/>
              <a:cs typeface="Montserrat"/>
              <a:sym typeface="Montserrat"/>
            </a:endParaRPr>
          </a:p>
          <a:p>
            <a:pPr indent="-328612" lvl="0" marL="457200" marR="0" rtl="0" algn="l">
              <a:lnSpc>
                <a:spcPct val="115000"/>
              </a:lnSpc>
              <a:spcBef>
                <a:spcPts val="0"/>
              </a:spcBef>
              <a:spcAft>
                <a:spcPts val="0"/>
              </a:spcAft>
              <a:buClr>
                <a:srgbClr val="333333"/>
              </a:buClr>
              <a:buSzPct val="100000"/>
              <a:buFont typeface="Montserrat"/>
              <a:buAutoNum type="arabicPeriod"/>
            </a:pPr>
            <a:r>
              <a:rPr lang="en" sz="6300">
                <a:solidFill>
                  <a:srgbClr val="333333"/>
                </a:solidFill>
                <a:highlight>
                  <a:srgbClr val="FFFFFF"/>
                </a:highlight>
                <a:latin typeface="Montserrat"/>
                <a:ea typeface="Montserrat"/>
                <a:cs typeface="Montserrat"/>
                <a:sym typeface="Montserrat"/>
              </a:rPr>
              <a:t>ご一緒します</a:t>
            </a:r>
            <a:endParaRPr sz="6300">
              <a:solidFill>
                <a:srgbClr val="333333"/>
              </a:solidFill>
              <a:highlight>
                <a:srgbClr val="FFFFFF"/>
              </a:highlight>
              <a:latin typeface="Montserrat"/>
              <a:ea typeface="Montserrat"/>
              <a:cs typeface="Montserrat"/>
              <a:sym typeface="Montserrat"/>
            </a:endParaRPr>
          </a:p>
          <a:p>
            <a:pPr indent="-328612" lvl="0" marL="457200" marR="0" rtl="0" algn="l">
              <a:lnSpc>
                <a:spcPct val="115000"/>
              </a:lnSpc>
              <a:spcBef>
                <a:spcPts val="0"/>
              </a:spcBef>
              <a:spcAft>
                <a:spcPts val="0"/>
              </a:spcAft>
              <a:buClr>
                <a:srgbClr val="333333"/>
              </a:buClr>
              <a:buSzPct val="100000"/>
              <a:buFont typeface="Montserrat"/>
              <a:buAutoNum type="arabicPeriod"/>
            </a:pPr>
            <a:r>
              <a:rPr lang="en" sz="6300">
                <a:solidFill>
                  <a:srgbClr val="333333"/>
                </a:solidFill>
                <a:highlight>
                  <a:srgbClr val="FFFFFF"/>
                </a:highlight>
                <a:latin typeface="Montserrat"/>
                <a:ea typeface="Montserrat"/>
                <a:cs typeface="Montserrat"/>
                <a:sym typeface="Montserrat"/>
              </a:rPr>
              <a:t>大変参考になりました</a:t>
            </a:r>
            <a:endParaRPr sz="6300">
              <a:solidFill>
                <a:srgbClr val="333333"/>
              </a:solidFill>
              <a:highlight>
                <a:srgbClr val="FFFFFF"/>
              </a:highlight>
              <a:latin typeface="Montserrat"/>
              <a:ea typeface="Montserrat"/>
              <a:cs typeface="Montserrat"/>
              <a:sym typeface="Montserrat"/>
            </a:endParaRPr>
          </a:p>
          <a:p>
            <a:pPr indent="-328612" lvl="0" marL="457200" marR="0" rtl="0" algn="l">
              <a:lnSpc>
                <a:spcPct val="115000"/>
              </a:lnSpc>
              <a:spcBef>
                <a:spcPts val="0"/>
              </a:spcBef>
              <a:spcAft>
                <a:spcPts val="0"/>
              </a:spcAft>
              <a:buClr>
                <a:srgbClr val="333333"/>
              </a:buClr>
              <a:buSzPct val="100000"/>
              <a:buFont typeface="Montserrat"/>
              <a:buAutoNum type="arabicPeriod"/>
            </a:pPr>
            <a:r>
              <a:rPr lang="en" sz="6300">
                <a:solidFill>
                  <a:srgbClr val="333333"/>
                </a:solidFill>
                <a:highlight>
                  <a:srgbClr val="FFFFFF"/>
                </a:highlight>
                <a:latin typeface="Montserrat"/>
                <a:ea typeface="Montserrat"/>
                <a:cs typeface="Montserrat"/>
                <a:sym typeface="Montserrat"/>
              </a:rPr>
              <a:t>すいません</a:t>
            </a:r>
            <a:endParaRPr sz="6300">
              <a:solidFill>
                <a:srgbClr val="333333"/>
              </a:solidFill>
              <a:highlight>
                <a:srgbClr val="FFFFFF"/>
              </a:highlight>
              <a:latin typeface="Montserrat"/>
              <a:ea typeface="Montserrat"/>
              <a:cs typeface="Montserrat"/>
              <a:sym typeface="Montserrat"/>
            </a:endParaRPr>
          </a:p>
          <a:p>
            <a:pPr indent="-328612" lvl="0" marL="457200" marR="0" rtl="0" algn="l">
              <a:lnSpc>
                <a:spcPct val="115000"/>
              </a:lnSpc>
              <a:spcBef>
                <a:spcPts val="0"/>
              </a:spcBef>
              <a:spcAft>
                <a:spcPts val="0"/>
              </a:spcAft>
              <a:buClr>
                <a:srgbClr val="333333"/>
              </a:buClr>
              <a:buSzPct val="100000"/>
              <a:buFont typeface="Montserrat"/>
              <a:buAutoNum type="arabicPeriod"/>
            </a:pPr>
            <a:r>
              <a:rPr lang="en" sz="6300">
                <a:solidFill>
                  <a:srgbClr val="333333"/>
                </a:solidFill>
                <a:highlight>
                  <a:srgbClr val="FFFFFF"/>
                </a:highlight>
                <a:latin typeface="Montserrat"/>
                <a:ea typeface="Montserrat"/>
                <a:cs typeface="Montserrat"/>
                <a:sym typeface="Montserrat"/>
              </a:rPr>
              <a:t>なるほどですね</a:t>
            </a:r>
            <a:endParaRPr sz="6300">
              <a:solidFill>
                <a:srgbClr val="333333"/>
              </a:solidFill>
              <a:highlight>
                <a:srgbClr val="FFFFFF"/>
              </a:highlight>
              <a:latin typeface="Montserrat"/>
              <a:ea typeface="Montserrat"/>
              <a:cs typeface="Montserrat"/>
              <a:sym typeface="Montserrat"/>
            </a:endParaRPr>
          </a:p>
          <a:p>
            <a:pPr indent="-328612" lvl="0" marL="457200" marR="0" rtl="0" algn="l">
              <a:lnSpc>
                <a:spcPct val="115000"/>
              </a:lnSpc>
              <a:spcBef>
                <a:spcPts val="0"/>
              </a:spcBef>
              <a:spcAft>
                <a:spcPts val="0"/>
              </a:spcAft>
              <a:buClr>
                <a:srgbClr val="333333"/>
              </a:buClr>
              <a:buSzPct val="100000"/>
              <a:buFont typeface="Montserrat"/>
              <a:buAutoNum type="arabicPeriod"/>
            </a:pPr>
            <a:r>
              <a:rPr lang="en" sz="6300">
                <a:solidFill>
                  <a:srgbClr val="333333"/>
                </a:solidFill>
                <a:highlight>
                  <a:srgbClr val="FFFFFF"/>
                </a:highlight>
                <a:latin typeface="Montserrat"/>
                <a:ea typeface="Montserrat"/>
                <a:cs typeface="Montserrat"/>
                <a:sym typeface="Montserrat"/>
              </a:rPr>
              <a:t>おわかりいただけたでしょうか</a:t>
            </a:r>
            <a:endParaRPr sz="6300">
              <a:solidFill>
                <a:srgbClr val="333333"/>
              </a:solidFill>
              <a:highlight>
                <a:srgbClr val="FFFFFF"/>
              </a:highlight>
              <a:latin typeface="Montserrat"/>
              <a:ea typeface="Montserrat"/>
              <a:cs typeface="Montserrat"/>
              <a:sym typeface="Montserrat"/>
            </a:endParaRPr>
          </a:p>
          <a:p>
            <a:pPr indent="0" lvl="0" marL="457200" rtl="0" algn="l">
              <a:lnSpc>
                <a:spcPct val="115000"/>
              </a:lnSpc>
              <a:spcBef>
                <a:spcPts val="1200"/>
              </a:spcBef>
              <a:spcAft>
                <a:spcPts val="0"/>
              </a:spcAft>
              <a:buSzPts val="1300"/>
              <a:buNone/>
            </a:pPr>
            <a:r>
              <a:t/>
            </a:r>
            <a:endParaRPr b="1" sz="1150">
              <a:solidFill>
                <a:srgbClr val="333333"/>
              </a:solidFill>
              <a:highlight>
                <a:srgbClr val="F3F3F3"/>
              </a:highlight>
              <a:latin typeface="Montserrat"/>
              <a:ea typeface="Montserrat"/>
              <a:cs typeface="Montserrat"/>
              <a:sym typeface="Montserrat"/>
            </a:endParaRPr>
          </a:p>
          <a:p>
            <a:pPr indent="0" lvl="0" marL="0" rtl="0" algn="l">
              <a:lnSpc>
                <a:spcPct val="115000"/>
              </a:lnSpc>
              <a:spcBef>
                <a:spcPts val="1200"/>
              </a:spcBef>
              <a:spcAft>
                <a:spcPts val="0"/>
              </a:spcAft>
              <a:buSzPts val="1300"/>
              <a:buNone/>
            </a:pPr>
            <a:r>
              <a:t/>
            </a:r>
            <a:endParaRPr b="1" sz="1150">
              <a:solidFill>
                <a:srgbClr val="333333"/>
              </a:solidFill>
              <a:highlight>
                <a:srgbClr val="F3F3F3"/>
              </a:highlight>
              <a:latin typeface="Montserrat"/>
              <a:ea typeface="Montserrat"/>
              <a:cs typeface="Montserrat"/>
              <a:sym typeface="Montserrat"/>
            </a:endParaRPr>
          </a:p>
          <a:p>
            <a:pPr indent="0" lvl="0" marL="0" rtl="0" algn="l">
              <a:lnSpc>
                <a:spcPct val="115000"/>
              </a:lnSpc>
              <a:spcBef>
                <a:spcPts val="1200"/>
              </a:spcBef>
              <a:spcAft>
                <a:spcPts val="1200"/>
              </a:spcAft>
              <a:buSzPts val="1300"/>
              <a:buNone/>
            </a:pPr>
            <a:r>
              <a:t/>
            </a:r>
            <a:endParaRPr b="1" sz="1150">
              <a:solidFill>
                <a:srgbClr val="333333"/>
              </a:solidFill>
              <a:highlight>
                <a:srgbClr val="F3F3F3"/>
              </a:highlight>
              <a:latin typeface="Montserrat"/>
              <a:ea typeface="Montserrat"/>
              <a:cs typeface="Montserrat"/>
              <a:sym typeface="Montserrat"/>
            </a:endParaRPr>
          </a:p>
        </p:txBody>
      </p:sp>
      <p:sp>
        <p:nvSpPr>
          <p:cNvPr id="255" name="Google Shape;255;p8"/>
          <p:cNvSpPr txBox="1"/>
          <p:nvPr>
            <p:ph idx="2" type="body"/>
          </p:nvPr>
        </p:nvSpPr>
        <p:spPr>
          <a:xfrm>
            <a:off x="4505250" y="1453550"/>
            <a:ext cx="3686100" cy="3206400"/>
          </a:xfrm>
          <a:prstGeom prst="rect">
            <a:avLst/>
          </a:prstGeom>
          <a:noFill/>
          <a:ln>
            <a:noFill/>
          </a:ln>
        </p:spPr>
        <p:txBody>
          <a:bodyPr anchorCtr="0" anchor="t" bIns="91425" lIns="91425" spcFirstLastPara="1" rIns="91425" wrap="square" tIns="91425">
            <a:normAutofit fontScale="25000" lnSpcReduction="20000"/>
          </a:bodyPr>
          <a:lstStyle/>
          <a:p>
            <a:pPr indent="0" lvl="0" marL="0" marR="0" rtl="0" algn="l">
              <a:lnSpc>
                <a:spcPct val="115000"/>
              </a:lnSpc>
              <a:spcBef>
                <a:spcPts val="0"/>
              </a:spcBef>
              <a:spcAft>
                <a:spcPts val="0"/>
              </a:spcAft>
              <a:buSzPct val="88135"/>
              <a:buNone/>
            </a:pPr>
            <a:r>
              <a:rPr lang="en" sz="5900">
                <a:solidFill>
                  <a:srgbClr val="333333"/>
                </a:solidFill>
                <a:highlight>
                  <a:srgbClr val="FFFFFF"/>
                </a:highlight>
                <a:latin typeface="Montserrat"/>
                <a:ea typeface="Montserrat"/>
                <a:cs typeface="Montserrat"/>
                <a:sym typeface="Montserrat"/>
              </a:rPr>
              <a:t>Kính ngữ nên sử dụng với khách hàng:</a:t>
            </a:r>
            <a:endParaRPr sz="5900">
              <a:solidFill>
                <a:srgbClr val="333333"/>
              </a:solidFill>
              <a:highlight>
                <a:srgbClr val="FFFFFF"/>
              </a:highlight>
              <a:latin typeface="Montserrat"/>
              <a:ea typeface="Montserrat"/>
              <a:cs typeface="Montserrat"/>
              <a:sym typeface="Montserrat"/>
            </a:endParaRPr>
          </a:p>
          <a:p>
            <a:pPr indent="-328612" lvl="0" marL="457200" marR="0" rtl="0" algn="l">
              <a:lnSpc>
                <a:spcPct val="115000"/>
              </a:lnSpc>
              <a:spcBef>
                <a:spcPts val="1200"/>
              </a:spcBef>
              <a:spcAft>
                <a:spcPts val="0"/>
              </a:spcAft>
              <a:buClr>
                <a:srgbClr val="333333"/>
              </a:buClr>
              <a:buSzPct val="100000"/>
              <a:buFont typeface="Montserrat"/>
              <a:buAutoNum type="arabicPeriod"/>
            </a:pPr>
            <a:r>
              <a:rPr lang="en" sz="6300">
                <a:solidFill>
                  <a:srgbClr val="333333"/>
                </a:solidFill>
                <a:highlight>
                  <a:srgbClr val="FFFFFF"/>
                </a:highlight>
                <a:latin typeface="Montserrat"/>
                <a:ea typeface="Montserrat"/>
                <a:cs typeface="Montserrat"/>
                <a:sym typeface="Montserrat"/>
              </a:rPr>
              <a:t>お疲れさまです</a:t>
            </a:r>
            <a:endParaRPr sz="6300">
              <a:solidFill>
                <a:srgbClr val="333333"/>
              </a:solidFill>
              <a:highlight>
                <a:srgbClr val="FFFFFF"/>
              </a:highlight>
              <a:latin typeface="Montserrat"/>
              <a:ea typeface="Montserrat"/>
              <a:cs typeface="Montserrat"/>
              <a:sym typeface="Montserrat"/>
            </a:endParaRPr>
          </a:p>
          <a:p>
            <a:pPr indent="-328612" lvl="0" marL="457200" marR="0" rtl="0" algn="l">
              <a:lnSpc>
                <a:spcPct val="115000"/>
              </a:lnSpc>
              <a:spcBef>
                <a:spcPts val="0"/>
              </a:spcBef>
              <a:spcAft>
                <a:spcPts val="0"/>
              </a:spcAft>
              <a:buClr>
                <a:srgbClr val="333333"/>
              </a:buClr>
              <a:buSzPct val="100000"/>
              <a:buFont typeface="Montserrat"/>
              <a:buAutoNum type="arabicPeriod"/>
            </a:pPr>
            <a:r>
              <a:rPr lang="en" sz="6300">
                <a:solidFill>
                  <a:srgbClr val="333333"/>
                </a:solidFill>
                <a:highlight>
                  <a:srgbClr val="FFFFFF"/>
                </a:highlight>
                <a:latin typeface="Montserrat"/>
                <a:ea typeface="Montserrat"/>
                <a:cs typeface="Montserrat"/>
                <a:sym typeface="Montserrat"/>
              </a:rPr>
              <a:t>承知しました・かしこまりました</a:t>
            </a:r>
            <a:endParaRPr sz="6300">
              <a:solidFill>
                <a:srgbClr val="333333"/>
              </a:solidFill>
              <a:highlight>
                <a:srgbClr val="FFFFFF"/>
              </a:highlight>
              <a:latin typeface="Montserrat"/>
              <a:ea typeface="Montserrat"/>
              <a:cs typeface="Montserrat"/>
              <a:sym typeface="Montserrat"/>
            </a:endParaRPr>
          </a:p>
          <a:p>
            <a:pPr indent="-328612" lvl="0" marL="457200" marR="0" rtl="0" algn="l">
              <a:lnSpc>
                <a:spcPct val="115000"/>
              </a:lnSpc>
              <a:spcBef>
                <a:spcPts val="0"/>
              </a:spcBef>
              <a:spcAft>
                <a:spcPts val="0"/>
              </a:spcAft>
              <a:buClr>
                <a:srgbClr val="333333"/>
              </a:buClr>
              <a:buSzPct val="100000"/>
              <a:buFont typeface="Montserrat"/>
              <a:buAutoNum type="arabicPeriod"/>
            </a:pPr>
            <a:r>
              <a:rPr lang="en" sz="6300">
                <a:solidFill>
                  <a:srgbClr val="333333"/>
                </a:solidFill>
                <a:highlight>
                  <a:srgbClr val="FFFFFF"/>
                </a:highlight>
                <a:latin typeface="Montserrat"/>
                <a:ea typeface="Montserrat"/>
                <a:cs typeface="Montserrat"/>
                <a:sym typeface="Montserrat"/>
              </a:rPr>
              <a:t>お久しぶりです・ご無沙汰しておりました</a:t>
            </a:r>
            <a:endParaRPr sz="6300">
              <a:solidFill>
                <a:srgbClr val="333333"/>
              </a:solidFill>
              <a:highlight>
                <a:srgbClr val="FFFFFF"/>
              </a:highlight>
              <a:latin typeface="Montserrat"/>
              <a:ea typeface="Montserrat"/>
              <a:cs typeface="Montserrat"/>
              <a:sym typeface="Montserrat"/>
            </a:endParaRPr>
          </a:p>
          <a:p>
            <a:pPr indent="-328612" lvl="0" marL="457200" marR="0" rtl="0" algn="l">
              <a:lnSpc>
                <a:spcPct val="115000"/>
              </a:lnSpc>
              <a:spcBef>
                <a:spcPts val="0"/>
              </a:spcBef>
              <a:spcAft>
                <a:spcPts val="0"/>
              </a:spcAft>
              <a:buClr>
                <a:srgbClr val="333333"/>
              </a:buClr>
              <a:buSzPct val="100000"/>
              <a:buFont typeface="Montserrat"/>
              <a:buAutoNum type="arabicPeriod"/>
            </a:pPr>
            <a:r>
              <a:rPr lang="en" sz="6300">
                <a:solidFill>
                  <a:srgbClr val="333333"/>
                </a:solidFill>
                <a:highlight>
                  <a:srgbClr val="FFFFFF"/>
                </a:highlight>
                <a:latin typeface="Montserrat"/>
                <a:ea typeface="Montserrat"/>
                <a:cs typeface="Montserrat"/>
                <a:sym typeface="Montserrat"/>
              </a:rPr>
              <a:t>いつもお世話になっております</a:t>
            </a:r>
            <a:endParaRPr sz="6300">
              <a:solidFill>
                <a:srgbClr val="333333"/>
              </a:solidFill>
              <a:highlight>
                <a:srgbClr val="FFFFFF"/>
              </a:highlight>
              <a:latin typeface="Montserrat"/>
              <a:ea typeface="Montserrat"/>
              <a:cs typeface="Montserrat"/>
              <a:sym typeface="Montserrat"/>
            </a:endParaRPr>
          </a:p>
          <a:p>
            <a:pPr indent="-328612" lvl="0" marL="457200" marR="0" rtl="0" algn="l">
              <a:lnSpc>
                <a:spcPct val="115000"/>
              </a:lnSpc>
              <a:spcBef>
                <a:spcPts val="0"/>
              </a:spcBef>
              <a:spcAft>
                <a:spcPts val="0"/>
              </a:spcAft>
              <a:buClr>
                <a:srgbClr val="333333"/>
              </a:buClr>
              <a:buSzPct val="100000"/>
              <a:buFont typeface="Montserrat"/>
              <a:buAutoNum type="arabicPeriod"/>
            </a:pPr>
            <a:r>
              <a:rPr lang="en" sz="6300">
                <a:solidFill>
                  <a:srgbClr val="333333"/>
                </a:solidFill>
                <a:highlight>
                  <a:srgbClr val="FFFFFF"/>
                </a:highlight>
                <a:latin typeface="Montserrat"/>
                <a:ea typeface="Montserrat"/>
                <a:cs typeface="Montserrat"/>
                <a:sym typeface="Montserrat"/>
              </a:rPr>
              <a:t>お供させていただきます</a:t>
            </a:r>
            <a:endParaRPr sz="6300">
              <a:solidFill>
                <a:srgbClr val="333333"/>
              </a:solidFill>
              <a:highlight>
                <a:srgbClr val="FFFFFF"/>
              </a:highlight>
              <a:latin typeface="Montserrat"/>
              <a:ea typeface="Montserrat"/>
              <a:cs typeface="Montserrat"/>
              <a:sym typeface="Montserrat"/>
            </a:endParaRPr>
          </a:p>
          <a:p>
            <a:pPr indent="-328612" lvl="0" marL="457200" marR="0" rtl="0" algn="l">
              <a:lnSpc>
                <a:spcPct val="115000"/>
              </a:lnSpc>
              <a:spcBef>
                <a:spcPts val="0"/>
              </a:spcBef>
              <a:spcAft>
                <a:spcPts val="0"/>
              </a:spcAft>
              <a:buClr>
                <a:srgbClr val="333333"/>
              </a:buClr>
              <a:buSzPct val="100000"/>
              <a:buFont typeface="Montserrat"/>
              <a:buAutoNum type="arabicPeriod"/>
            </a:pPr>
            <a:r>
              <a:rPr lang="en" sz="6300">
                <a:solidFill>
                  <a:srgbClr val="333333"/>
                </a:solidFill>
                <a:highlight>
                  <a:srgbClr val="FFFFFF"/>
                </a:highlight>
                <a:latin typeface="Montserrat"/>
                <a:ea typeface="Montserrat"/>
                <a:cs typeface="Montserrat"/>
                <a:sym typeface="Montserrat"/>
              </a:rPr>
              <a:t>大変勉強になりました</a:t>
            </a:r>
            <a:endParaRPr sz="6300">
              <a:solidFill>
                <a:srgbClr val="333333"/>
              </a:solidFill>
              <a:highlight>
                <a:srgbClr val="FFFFFF"/>
              </a:highlight>
              <a:latin typeface="Montserrat"/>
              <a:ea typeface="Montserrat"/>
              <a:cs typeface="Montserrat"/>
              <a:sym typeface="Montserrat"/>
            </a:endParaRPr>
          </a:p>
          <a:p>
            <a:pPr indent="-328612" lvl="0" marL="457200" marR="0" rtl="0" algn="l">
              <a:lnSpc>
                <a:spcPct val="115000"/>
              </a:lnSpc>
              <a:spcBef>
                <a:spcPts val="0"/>
              </a:spcBef>
              <a:spcAft>
                <a:spcPts val="0"/>
              </a:spcAft>
              <a:buClr>
                <a:srgbClr val="333333"/>
              </a:buClr>
              <a:buSzPct val="100000"/>
              <a:buFont typeface="Montserrat"/>
              <a:buAutoNum type="arabicPeriod"/>
            </a:pPr>
            <a:r>
              <a:rPr lang="en" sz="6300">
                <a:solidFill>
                  <a:srgbClr val="333333"/>
                </a:solidFill>
                <a:highlight>
                  <a:srgbClr val="FFFFFF"/>
                </a:highlight>
                <a:latin typeface="Montserrat"/>
                <a:ea typeface="Montserrat"/>
                <a:cs typeface="Montserrat"/>
                <a:sym typeface="Montserrat"/>
              </a:rPr>
              <a:t>ありがとうございます・申し訳ございません</a:t>
            </a:r>
            <a:endParaRPr sz="6300">
              <a:solidFill>
                <a:srgbClr val="333333"/>
              </a:solidFill>
              <a:highlight>
                <a:srgbClr val="FFFFFF"/>
              </a:highlight>
              <a:latin typeface="Montserrat"/>
              <a:ea typeface="Montserrat"/>
              <a:cs typeface="Montserrat"/>
              <a:sym typeface="Montserrat"/>
            </a:endParaRPr>
          </a:p>
          <a:p>
            <a:pPr indent="-328612" lvl="0" marL="457200" marR="0" rtl="0" algn="l">
              <a:lnSpc>
                <a:spcPct val="115000"/>
              </a:lnSpc>
              <a:spcBef>
                <a:spcPts val="0"/>
              </a:spcBef>
              <a:spcAft>
                <a:spcPts val="0"/>
              </a:spcAft>
              <a:buClr>
                <a:srgbClr val="333333"/>
              </a:buClr>
              <a:buSzPct val="100000"/>
              <a:buFont typeface="Montserrat"/>
              <a:buAutoNum type="arabicPeriod"/>
            </a:pPr>
            <a:r>
              <a:rPr lang="en" sz="6300">
                <a:solidFill>
                  <a:srgbClr val="333333"/>
                </a:solidFill>
                <a:highlight>
                  <a:srgbClr val="FFFFFF"/>
                </a:highlight>
                <a:latin typeface="Montserrat"/>
                <a:ea typeface="Montserrat"/>
                <a:cs typeface="Montserrat"/>
                <a:sym typeface="Montserrat"/>
              </a:rPr>
              <a:t>おっしゃるとおりです</a:t>
            </a:r>
            <a:endParaRPr sz="6300">
              <a:solidFill>
                <a:srgbClr val="333333"/>
              </a:solidFill>
              <a:highlight>
                <a:srgbClr val="FFFFFF"/>
              </a:highlight>
              <a:latin typeface="Montserrat"/>
              <a:ea typeface="Montserrat"/>
              <a:cs typeface="Montserrat"/>
              <a:sym typeface="Montserrat"/>
            </a:endParaRPr>
          </a:p>
          <a:p>
            <a:pPr indent="-328612" lvl="0" marL="457200" marR="0" rtl="0" algn="l">
              <a:lnSpc>
                <a:spcPct val="115000"/>
              </a:lnSpc>
              <a:spcBef>
                <a:spcPts val="0"/>
              </a:spcBef>
              <a:spcAft>
                <a:spcPts val="0"/>
              </a:spcAft>
              <a:buClr>
                <a:srgbClr val="333333"/>
              </a:buClr>
              <a:buSzPct val="100000"/>
              <a:buFont typeface="Montserrat"/>
              <a:buAutoNum type="arabicPeriod"/>
            </a:pPr>
            <a:r>
              <a:rPr lang="en" sz="6300">
                <a:solidFill>
                  <a:srgbClr val="333333"/>
                </a:solidFill>
                <a:highlight>
                  <a:srgbClr val="FFFFFF"/>
                </a:highlight>
                <a:latin typeface="Montserrat"/>
                <a:ea typeface="Montserrat"/>
                <a:cs typeface="Montserrat"/>
                <a:sym typeface="Montserrat"/>
              </a:rPr>
              <a:t>ご理解いただけたでしょうか</a:t>
            </a:r>
            <a:endParaRPr sz="6300">
              <a:solidFill>
                <a:srgbClr val="333333"/>
              </a:solidFill>
              <a:highlight>
                <a:srgbClr val="FFFFFF"/>
              </a:highlight>
              <a:latin typeface="Montserrat"/>
              <a:ea typeface="Montserrat"/>
              <a:cs typeface="Montserrat"/>
              <a:sym typeface="Montserrat"/>
            </a:endParaRPr>
          </a:p>
          <a:p>
            <a:pPr indent="0" lvl="0" marL="457200" marR="0" rtl="0" algn="l">
              <a:lnSpc>
                <a:spcPct val="115000"/>
              </a:lnSpc>
              <a:spcBef>
                <a:spcPts val="1200"/>
              </a:spcBef>
              <a:spcAft>
                <a:spcPts val="0"/>
              </a:spcAft>
              <a:buSzPct val="82539"/>
              <a:buNone/>
            </a:pPr>
            <a:r>
              <a:t/>
            </a:r>
            <a:endParaRPr sz="6300">
              <a:solidFill>
                <a:srgbClr val="333333"/>
              </a:solidFill>
              <a:highlight>
                <a:srgbClr val="FFFFFF"/>
              </a:highlight>
              <a:latin typeface="Montserrat"/>
              <a:ea typeface="Montserrat"/>
              <a:cs typeface="Montserrat"/>
              <a:sym typeface="Montserrat"/>
            </a:endParaRPr>
          </a:p>
          <a:p>
            <a:pPr indent="0" lvl="0" marL="457200" marR="0" rtl="0" algn="l">
              <a:lnSpc>
                <a:spcPct val="115000"/>
              </a:lnSpc>
              <a:spcBef>
                <a:spcPts val="1200"/>
              </a:spcBef>
              <a:spcAft>
                <a:spcPts val="1200"/>
              </a:spcAft>
              <a:buSzPct val="82539"/>
              <a:buNone/>
            </a:pPr>
            <a:r>
              <a:t/>
            </a:r>
            <a:endParaRPr sz="6300">
              <a:solidFill>
                <a:srgbClr val="333333"/>
              </a:solidFill>
              <a:highlight>
                <a:srgbClr val="FFFFFF"/>
              </a:highlight>
              <a:latin typeface="Montserrat"/>
              <a:ea typeface="Montserrat"/>
              <a:cs typeface="Montserrat"/>
              <a:sym typeface="Montserrat"/>
            </a:endParaRPr>
          </a:p>
        </p:txBody>
      </p:sp>
      <p:pic>
        <p:nvPicPr>
          <p:cNvPr id="256" name="Google Shape;256;p8"/>
          <p:cNvPicPr preferRelativeResize="0"/>
          <p:nvPr/>
        </p:nvPicPr>
        <p:blipFill>
          <a:blip r:embed="rId3">
            <a:alphaModFix/>
          </a:blip>
          <a:stretch>
            <a:fillRect/>
          </a:stretch>
        </p:blipFill>
        <p:spPr>
          <a:xfrm>
            <a:off x="8359850" y="220925"/>
            <a:ext cx="553350" cy="74609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id="261" name="Google Shape;261;p15"/>
          <p:cNvPicPr preferRelativeResize="0"/>
          <p:nvPr/>
        </p:nvPicPr>
        <p:blipFill rotWithShape="1">
          <a:blip r:embed="rId3">
            <a:alphaModFix/>
          </a:blip>
          <a:srcRect b="0" l="0" r="0" t="0"/>
          <a:stretch/>
        </p:blipFill>
        <p:spPr>
          <a:xfrm>
            <a:off x="2635175" y="919875"/>
            <a:ext cx="4114312" cy="3399450"/>
          </a:xfrm>
          <a:prstGeom prst="rect">
            <a:avLst/>
          </a:prstGeom>
          <a:noFill/>
          <a:ln>
            <a:noFill/>
          </a:ln>
        </p:spPr>
      </p:pic>
      <p:pic>
        <p:nvPicPr>
          <p:cNvPr id="262" name="Google Shape;262;p15"/>
          <p:cNvPicPr preferRelativeResize="0"/>
          <p:nvPr/>
        </p:nvPicPr>
        <p:blipFill>
          <a:blip r:embed="rId4">
            <a:alphaModFix/>
          </a:blip>
          <a:stretch>
            <a:fillRect/>
          </a:stretch>
        </p:blipFill>
        <p:spPr>
          <a:xfrm>
            <a:off x="8374650" y="228325"/>
            <a:ext cx="553350" cy="74609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10e45e625f2_0_104"/>
          <p:cNvSpPr txBox="1"/>
          <p:nvPr>
            <p:ph type="ctrTitle"/>
          </p:nvPr>
        </p:nvSpPr>
        <p:spPr>
          <a:xfrm>
            <a:off x="1979550" y="1084204"/>
            <a:ext cx="5361300" cy="748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sz="2366">
                <a:solidFill>
                  <a:srgbClr val="000000"/>
                </a:solidFill>
                <a:latin typeface="Calibri"/>
                <a:ea typeface="Calibri"/>
                <a:cs typeface="Calibri"/>
                <a:sym typeface="Calibri"/>
              </a:rPr>
              <a:t>5. </a:t>
            </a:r>
            <a:r>
              <a:rPr lang="en" sz="2366">
                <a:solidFill>
                  <a:srgbClr val="000000"/>
                </a:solidFill>
                <a:latin typeface="Calibri"/>
                <a:ea typeface="Calibri"/>
                <a:cs typeface="Calibri"/>
                <a:sym typeface="Calibri"/>
              </a:rPr>
              <a:t>Thực hành ngắn</a:t>
            </a:r>
            <a:endParaRPr sz="2366">
              <a:solidFill>
                <a:srgbClr val="000000"/>
              </a:solidFill>
              <a:latin typeface="Calibri"/>
              <a:ea typeface="Calibri"/>
              <a:cs typeface="Calibri"/>
              <a:sym typeface="Calibri"/>
            </a:endParaRPr>
          </a:p>
          <a:p>
            <a:pPr indent="0" lvl="0" marL="0" rtl="0" algn="ctr">
              <a:spcBef>
                <a:spcPts val="0"/>
              </a:spcBef>
              <a:spcAft>
                <a:spcPts val="0"/>
              </a:spcAft>
              <a:buNone/>
            </a:pPr>
            <a:r>
              <a:t/>
            </a:r>
            <a:endParaRPr/>
          </a:p>
        </p:txBody>
      </p:sp>
      <p:sp>
        <p:nvSpPr>
          <p:cNvPr id="268" name="Google Shape;268;g10e45e625f2_0_104"/>
          <p:cNvSpPr txBox="1"/>
          <p:nvPr>
            <p:ph idx="1" type="subTitle"/>
          </p:nvPr>
        </p:nvSpPr>
        <p:spPr>
          <a:xfrm>
            <a:off x="819200" y="2310450"/>
            <a:ext cx="7923300" cy="52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35"/>
              <a:buNone/>
            </a:pPr>
            <a:r>
              <a:rPr lang="en" sz="1760">
                <a:solidFill>
                  <a:srgbClr val="000000"/>
                </a:solidFill>
              </a:rPr>
              <a:t>Thực hành ngắn về 3 kiểu chào trong business maner của người Nhật</a:t>
            </a:r>
            <a:endParaRPr sz="1760">
              <a:solidFill>
                <a:srgbClr val="000000"/>
              </a:solidFill>
            </a:endParaRPr>
          </a:p>
        </p:txBody>
      </p:sp>
      <p:pic>
        <p:nvPicPr>
          <p:cNvPr id="269" name="Google Shape;269;g10e45e625f2_0_104"/>
          <p:cNvPicPr preferRelativeResize="0"/>
          <p:nvPr/>
        </p:nvPicPr>
        <p:blipFill>
          <a:blip r:embed="rId3">
            <a:alphaModFix/>
          </a:blip>
          <a:stretch>
            <a:fillRect/>
          </a:stretch>
        </p:blipFill>
        <p:spPr>
          <a:xfrm>
            <a:off x="8389450" y="404700"/>
            <a:ext cx="553350" cy="74609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6"/>
          <p:cNvSpPr txBox="1"/>
          <p:nvPr>
            <p:ph type="title"/>
          </p:nvPr>
        </p:nvSpPr>
        <p:spPr>
          <a:xfrm>
            <a:off x="1393929" y="1301146"/>
            <a:ext cx="6366900" cy="25392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200"/>
              <a:buNone/>
            </a:pPr>
            <a:r>
              <a:rPr lang="en"/>
              <a:t>Thank you </a:t>
            </a:r>
            <a:endParaRPr/>
          </a:p>
        </p:txBody>
      </p:sp>
      <p:pic>
        <p:nvPicPr>
          <p:cNvPr id="275" name="Google Shape;275;p16"/>
          <p:cNvPicPr preferRelativeResize="0"/>
          <p:nvPr/>
        </p:nvPicPr>
        <p:blipFill>
          <a:blip r:embed="rId3">
            <a:alphaModFix/>
          </a:blip>
          <a:stretch>
            <a:fillRect/>
          </a:stretch>
        </p:blipFill>
        <p:spPr>
          <a:xfrm>
            <a:off x="8359850" y="555050"/>
            <a:ext cx="553350" cy="74609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