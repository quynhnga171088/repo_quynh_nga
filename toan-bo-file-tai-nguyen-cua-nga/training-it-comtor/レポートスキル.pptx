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Nuni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2A4722-A7EC-4208-A23F-C5C6FF4D2F63}">
  <a:tblStyle styleId="{882A4722-A7EC-4208-A23F-C5C6FF4D2F6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boldItalic.fntdata"/><Relationship Id="rId25" Type="http://schemas.openxmlformats.org/officeDocument/2006/relationships/font" Target="fonts/Nuni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123fc7f7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123fc7f7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23fc7f7f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123fc7f7f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123fc7f7f5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123fc7f7f5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23fc7f7f5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23fc7f7f5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23fc7f7f5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23fc7f7f5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23fc7f7f5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23fc7f7f5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23fc7f7f5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123fc7f7f5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0331c765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0331c765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10331c765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10331c765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0331c765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0331c765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0331c765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0331c765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0331c765c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0331c765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10331c765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10331c765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07a4622adb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07a4622adb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07a4622adb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07a4622adb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Kỹ năng report</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Solution Department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4"/>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35" name="Google Shape;135;p14"/>
          <p:cNvSpPr txBox="1"/>
          <p:nvPr/>
        </p:nvSpPr>
        <p:spPr>
          <a:xfrm>
            <a:off x="606225" y="404150"/>
            <a:ext cx="7587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Mục lục</a:t>
            </a:r>
            <a:endParaRPr sz="2500">
              <a:latin typeface="Calibri"/>
              <a:ea typeface="Calibri"/>
              <a:cs typeface="Calibri"/>
              <a:sym typeface="Calibri"/>
            </a:endParaRPr>
          </a:p>
        </p:txBody>
      </p:sp>
      <p:sp>
        <p:nvSpPr>
          <p:cNvPr id="136" name="Google Shape;136;p14"/>
          <p:cNvSpPr txBox="1"/>
          <p:nvPr/>
        </p:nvSpPr>
        <p:spPr>
          <a:xfrm>
            <a:off x="778050" y="1018825"/>
            <a:ext cx="7587900" cy="38790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SzPts val="3000"/>
              <a:buFont typeface="Calibri"/>
              <a:buChar char="➢"/>
            </a:pPr>
            <a:r>
              <a:rPr lang="en" sz="3000">
                <a:latin typeface="Calibri"/>
                <a:ea typeface="Calibri"/>
                <a:cs typeface="Calibri"/>
                <a:sym typeface="Calibri"/>
              </a:rPr>
              <a:t>Report là gì?</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Không report và report không đúng cách</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Các loại report?</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Report cho ai?</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Report lúc nào?</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Phương thức gửi báo cáo</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Q&amp;A</a:t>
            </a:r>
            <a:endParaRPr sz="3000">
              <a:latin typeface="Calibri"/>
              <a:ea typeface="Calibri"/>
              <a:cs typeface="Calibri"/>
              <a:sym typeface="Calibri"/>
            </a:endParaRPr>
          </a:p>
          <a:p>
            <a:pPr indent="-419100" lvl="0" marL="457200" rtl="0" algn="l">
              <a:spcBef>
                <a:spcPts val="0"/>
              </a:spcBef>
              <a:spcAft>
                <a:spcPts val="0"/>
              </a:spcAft>
              <a:buSzPts val="3000"/>
              <a:buFont typeface="Calibri"/>
              <a:buChar char="➢"/>
            </a:pPr>
            <a:r>
              <a:rPr lang="en" sz="3000">
                <a:latin typeface="Calibri"/>
                <a:ea typeface="Calibri"/>
                <a:cs typeface="Calibri"/>
                <a:sym typeface="Calibri"/>
              </a:rPr>
              <a:t>Quiz</a:t>
            </a:r>
            <a:endParaRPr sz="30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5"/>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42" name="Google Shape;142;p15"/>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Report là gì?</a:t>
            </a:r>
            <a:endParaRPr sz="2500">
              <a:latin typeface="Calibri"/>
              <a:ea typeface="Calibri"/>
              <a:cs typeface="Calibri"/>
              <a:sym typeface="Calibri"/>
            </a:endParaRPr>
          </a:p>
        </p:txBody>
      </p:sp>
      <p:cxnSp>
        <p:nvCxnSpPr>
          <p:cNvPr id="143" name="Google Shape;143;p15"/>
          <p:cNvCxnSpPr/>
          <p:nvPr/>
        </p:nvCxnSpPr>
        <p:spPr>
          <a:xfrm>
            <a:off x="7673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144" name="Google Shape;144;p15"/>
          <p:cNvSpPr txBox="1"/>
          <p:nvPr/>
        </p:nvSpPr>
        <p:spPr>
          <a:xfrm>
            <a:off x="484525" y="1119500"/>
            <a:ext cx="3894900" cy="33246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Là một phương thức giao tiếp trong công việc, sử dụng để phòng tránh những trouble xảy ra trong communication giữa VN - JP, cấp trên - cấp dưới.</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 sz="1700">
                <a:latin typeface="Calibri"/>
                <a:ea typeface="Calibri"/>
                <a:cs typeface="Calibri"/>
                <a:sym typeface="Calibri"/>
              </a:rPr>
              <a:t>Nếu report được thực hiện một cách minh bạch, rõ ràng thì về tổng thể dự án chắc chắn cũng sẽ trở nên thuận lợi</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 sz="1700">
                <a:latin typeface="Calibri"/>
                <a:ea typeface="Calibri"/>
                <a:cs typeface="Calibri"/>
                <a:sym typeface="Calibri"/>
              </a:rPr>
              <a:t>Kỹ năng report không phải tích lũy từ kinh nghiệm mà nó được</a:t>
            </a:r>
            <a:r>
              <a:rPr lang="en" sz="1700">
                <a:solidFill>
                  <a:srgbClr val="FF0000"/>
                </a:solidFill>
                <a:latin typeface="Calibri"/>
                <a:ea typeface="Calibri"/>
                <a:cs typeface="Calibri"/>
                <a:sym typeface="Calibri"/>
              </a:rPr>
              <a:t> cải thiện từ chính trong ý nghĩ của bản thân bạn. </a:t>
            </a:r>
            <a:endParaRPr sz="1700">
              <a:solidFill>
                <a:srgbClr val="FF0000"/>
              </a:solidFill>
              <a:latin typeface="Calibri"/>
              <a:ea typeface="Calibri"/>
              <a:cs typeface="Calibri"/>
              <a:sym typeface="Calibri"/>
            </a:endParaRPr>
          </a:p>
        </p:txBody>
      </p:sp>
      <p:pic>
        <p:nvPicPr>
          <p:cNvPr id="145" name="Google Shape;145;p15"/>
          <p:cNvPicPr preferRelativeResize="0"/>
          <p:nvPr/>
        </p:nvPicPr>
        <p:blipFill>
          <a:blip r:embed="rId4">
            <a:alphaModFix/>
          </a:blip>
          <a:stretch>
            <a:fillRect/>
          </a:stretch>
        </p:blipFill>
        <p:spPr>
          <a:xfrm>
            <a:off x="4426025" y="1239800"/>
            <a:ext cx="4543625" cy="2655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16"/>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51" name="Google Shape;151;p16"/>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Không report và report không đúng cách</a:t>
            </a:r>
            <a:endParaRPr sz="2500">
              <a:latin typeface="Calibri"/>
              <a:ea typeface="Calibri"/>
              <a:cs typeface="Calibri"/>
              <a:sym typeface="Calibri"/>
            </a:endParaRPr>
          </a:p>
        </p:txBody>
      </p:sp>
      <p:cxnSp>
        <p:nvCxnSpPr>
          <p:cNvPr id="152" name="Google Shape;152;p16"/>
          <p:cNvCxnSpPr/>
          <p:nvPr/>
        </p:nvCxnSpPr>
        <p:spPr>
          <a:xfrm>
            <a:off x="7673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153" name="Google Shape;153;p16"/>
          <p:cNvSpPr txBox="1"/>
          <p:nvPr/>
        </p:nvSpPr>
        <p:spPr>
          <a:xfrm>
            <a:off x="484525" y="1119500"/>
            <a:ext cx="4379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Calibri"/>
                <a:ea typeface="Calibri"/>
                <a:cs typeface="Calibri"/>
                <a:sym typeface="Calibri"/>
              </a:rPr>
              <a:t>Tình huống 1</a:t>
            </a:r>
            <a:r>
              <a:rPr b="1" lang="en" sz="1700">
                <a:solidFill>
                  <a:srgbClr val="FF0000"/>
                </a:solidFill>
                <a:latin typeface="Calibri"/>
                <a:ea typeface="Calibri"/>
                <a:cs typeface="Calibri"/>
                <a:sym typeface="Calibri"/>
              </a:rPr>
              <a:t>（×）</a:t>
            </a:r>
            <a:endParaRPr b="1" sz="1700">
              <a:solidFill>
                <a:srgbClr val="FF0000"/>
              </a:solidFill>
              <a:latin typeface="Calibri"/>
              <a:ea typeface="Calibri"/>
              <a:cs typeface="Calibri"/>
              <a:sym typeface="Calibri"/>
            </a:endParaRPr>
          </a:p>
        </p:txBody>
      </p:sp>
      <p:sp>
        <p:nvSpPr>
          <p:cNvPr id="154" name="Google Shape;154;p16"/>
          <p:cNvSpPr txBox="1"/>
          <p:nvPr/>
        </p:nvSpPr>
        <p:spPr>
          <a:xfrm>
            <a:off x="596975" y="1681213"/>
            <a:ext cx="43794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Calibri"/>
                <a:ea typeface="Calibri"/>
                <a:cs typeface="Calibri"/>
                <a:sym typeface="Calibri"/>
              </a:rPr>
              <a:t>社長</a:t>
            </a:r>
            <a:r>
              <a:rPr lang="en" sz="1300">
                <a:latin typeface="Calibri"/>
                <a:ea typeface="Calibri"/>
                <a:cs typeface="Calibri"/>
                <a:sym typeface="Calibri"/>
              </a:rPr>
              <a:t>：</a:t>
            </a:r>
            <a:r>
              <a:rPr lang="en" sz="1300"/>
              <a:t>月末の締め会資料作成のために、下記の情報を共有してもらっていい？明日1/27まででお願いします。</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1月27日　11時45PM：何も言わない</a:t>
            </a:r>
            <a:endParaRPr sz="750">
              <a:solidFill>
                <a:srgbClr val="1D1C1D"/>
              </a:solidFill>
              <a:highlight>
                <a:srgbClr val="F8F8F8"/>
              </a:highlight>
            </a:endParaRPr>
          </a:p>
          <a:p>
            <a:pPr indent="0" lvl="0" marL="0" rtl="0" algn="l">
              <a:spcBef>
                <a:spcPts val="0"/>
              </a:spcBef>
              <a:spcAft>
                <a:spcPts val="0"/>
              </a:spcAft>
              <a:buNone/>
            </a:pPr>
            <a:r>
              <a:rPr lang="en" sz="1300"/>
              <a:t>1月27日　15時00PM：何も言わない</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1月27日　17時00PM</a:t>
            </a:r>
            <a:endParaRPr sz="1300"/>
          </a:p>
          <a:p>
            <a:pPr indent="0" lvl="0" marL="0" rtl="0" algn="l">
              <a:spcBef>
                <a:spcPts val="0"/>
              </a:spcBef>
              <a:spcAft>
                <a:spcPts val="0"/>
              </a:spcAft>
              <a:buNone/>
            </a:pPr>
            <a:r>
              <a:rPr b="1" lang="en" sz="1300"/>
              <a:t>社員</a:t>
            </a:r>
            <a:r>
              <a:rPr lang="en" sz="1300"/>
              <a:t>：すみません、他の作業を優先してしまったので、明日（1月28日）に報告してもよろしいでしょうか？</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社長</a:t>
            </a:r>
            <a:r>
              <a:rPr lang="en" sz="1300"/>
              <a:t>：もう要らないよう。</a:t>
            </a:r>
            <a:endParaRPr sz="1300"/>
          </a:p>
        </p:txBody>
      </p:sp>
      <p:grpSp>
        <p:nvGrpSpPr>
          <p:cNvPr id="155" name="Google Shape;155;p16"/>
          <p:cNvGrpSpPr/>
          <p:nvPr/>
        </p:nvGrpSpPr>
        <p:grpSpPr>
          <a:xfrm>
            <a:off x="4907825" y="1161890"/>
            <a:ext cx="5472225" cy="3402088"/>
            <a:chOff x="4907825" y="1161890"/>
            <a:chExt cx="5472225" cy="3402088"/>
          </a:xfrm>
        </p:grpSpPr>
        <p:pic>
          <p:nvPicPr>
            <p:cNvPr id="156" name="Google Shape;156;p16"/>
            <p:cNvPicPr preferRelativeResize="0"/>
            <p:nvPr/>
          </p:nvPicPr>
          <p:blipFill>
            <a:blip r:embed="rId4">
              <a:alphaModFix/>
            </a:blip>
            <a:stretch>
              <a:fillRect/>
            </a:stretch>
          </p:blipFill>
          <p:spPr>
            <a:xfrm>
              <a:off x="4907825" y="1161890"/>
              <a:ext cx="3888101" cy="3402088"/>
            </a:xfrm>
            <a:prstGeom prst="rect">
              <a:avLst/>
            </a:prstGeom>
            <a:noFill/>
            <a:ln>
              <a:noFill/>
            </a:ln>
          </p:spPr>
        </p:pic>
        <p:sp>
          <p:nvSpPr>
            <p:cNvPr id="157" name="Google Shape;157;p16"/>
            <p:cNvSpPr txBox="1"/>
            <p:nvPr/>
          </p:nvSpPr>
          <p:spPr>
            <a:xfrm>
              <a:off x="5013050" y="1267250"/>
              <a:ext cx="53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Calibri"/>
                  <a:ea typeface="Calibri"/>
                  <a:cs typeface="Calibri"/>
                  <a:sym typeface="Calibri"/>
                </a:rPr>
                <a:t>社長</a:t>
              </a:r>
              <a:endParaRPr b="1">
                <a:latin typeface="Calibri"/>
                <a:ea typeface="Calibri"/>
                <a:cs typeface="Calibri"/>
                <a:sym typeface="Calibri"/>
              </a:endParaRPr>
            </a:p>
          </p:txBody>
        </p:sp>
        <p:sp>
          <p:nvSpPr>
            <p:cNvPr id="158" name="Google Shape;158;p16"/>
            <p:cNvSpPr/>
            <p:nvPr/>
          </p:nvSpPr>
          <p:spPr>
            <a:xfrm>
              <a:off x="7193446" y="1329423"/>
              <a:ext cx="1761102" cy="902448"/>
            </a:xfrm>
            <a:prstGeom prst="irregularSeal1">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要らない</a:t>
              </a:r>
              <a:endParaRPr/>
            </a:p>
          </p:txBody>
        </p:sp>
      </p:grpSp>
      <p:sp>
        <p:nvSpPr>
          <p:cNvPr id="159" name="Google Shape;159;p16"/>
          <p:cNvSpPr txBox="1"/>
          <p:nvPr/>
        </p:nvSpPr>
        <p:spPr>
          <a:xfrm>
            <a:off x="422500" y="4182425"/>
            <a:ext cx="5367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Calibri"/>
                <a:ea typeface="Calibri"/>
                <a:cs typeface="Calibri"/>
                <a:sym typeface="Calibri"/>
              </a:rPr>
              <a:t>=&gt; Không report vào bất kỳ thời gian nào trong ngày, hậu quả trễ deadline và sếp ko cần nữa</a:t>
            </a:r>
            <a:endParaRPr>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7"/>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65" name="Google Shape;165;p17"/>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Không report và report không đúng cách</a:t>
            </a:r>
            <a:endParaRPr sz="2500">
              <a:latin typeface="Calibri"/>
              <a:ea typeface="Calibri"/>
              <a:cs typeface="Calibri"/>
              <a:sym typeface="Calibri"/>
            </a:endParaRPr>
          </a:p>
        </p:txBody>
      </p:sp>
      <p:cxnSp>
        <p:nvCxnSpPr>
          <p:cNvPr id="166" name="Google Shape;166;p17"/>
          <p:cNvCxnSpPr/>
          <p:nvPr/>
        </p:nvCxnSpPr>
        <p:spPr>
          <a:xfrm>
            <a:off x="7673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167" name="Google Shape;167;p17"/>
          <p:cNvSpPr txBox="1"/>
          <p:nvPr/>
        </p:nvSpPr>
        <p:spPr>
          <a:xfrm>
            <a:off x="484525" y="1119500"/>
            <a:ext cx="4379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Calibri"/>
                <a:ea typeface="Calibri"/>
                <a:cs typeface="Calibri"/>
                <a:sym typeface="Calibri"/>
              </a:rPr>
              <a:t>Tình huống 1</a:t>
            </a:r>
            <a:r>
              <a:rPr b="1" lang="en" sz="1700">
                <a:solidFill>
                  <a:srgbClr val="FF0000"/>
                </a:solidFill>
                <a:latin typeface="Calibri"/>
                <a:ea typeface="Calibri"/>
                <a:cs typeface="Calibri"/>
                <a:sym typeface="Calibri"/>
              </a:rPr>
              <a:t>（〇）</a:t>
            </a:r>
            <a:endParaRPr b="1" sz="1700">
              <a:solidFill>
                <a:srgbClr val="FF0000"/>
              </a:solidFill>
              <a:latin typeface="Calibri"/>
              <a:ea typeface="Calibri"/>
              <a:cs typeface="Calibri"/>
              <a:sym typeface="Calibri"/>
            </a:endParaRPr>
          </a:p>
        </p:txBody>
      </p:sp>
      <p:sp>
        <p:nvSpPr>
          <p:cNvPr id="168" name="Google Shape;168;p17"/>
          <p:cNvSpPr txBox="1"/>
          <p:nvPr/>
        </p:nvSpPr>
        <p:spPr>
          <a:xfrm>
            <a:off x="571700" y="1607350"/>
            <a:ext cx="43794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latin typeface="Calibri"/>
                <a:ea typeface="Calibri"/>
                <a:cs typeface="Calibri"/>
                <a:sym typeface="Calibri"/>
              </a:rPr>
              <a:t>社長</a:t>
            </a:r>
            <a:r>
              <a:rPr lang="en" sz="1100">
                <a:latin typeface="Calibri"/>
                <a:ea typeface="Calibri"/>
                <a:cs typeface="Calibri"/>
                <a:sym typeface="Calibri"/>
              </a:rPr>
              <a:t>：</a:t>
            </a:r>
            <a:r>
              <a:rPr lang="en" sz="1100"/>
              <a:t>月末の締め会資料作成のために、下記の情報を共有してもらっていい？明日1/27まででお願いします。</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1月27日　11時45PM</a:t>
            </a:r>
            <a:endParaRPr sz="1100"/>
          </a:p>
          <a:p>
            <a:pPr indent="0" lvl="0" marL="0" rtl="0" algn="l">
              <a:spcBef>
                <a:spcPts val="0"/>
              </a:spcBef>
              <a:spcAft>
                <a:spcPts val="0"/>
              </a:spcAft>
              <a:buNone/>
            </a:pPr>
            <a:r>
              <a:rPr b="1" lang="en" sz="1100"/>
              <a:t>社員：</a:t>
            </a:r>
            <a:endParaRPr b="1" sz="1100"/>
          </a:p>
          <a:p>
            <a:pPr indent="-298450" lvl="0" marL="457200" rtl="0" algn="l">
              <a:spcBef>
                <a:spcPts val="0"/>
              </a:spcBef>
              <a:spcAft>
                <a:spcPts val="0"/>
              </a:spcAft>
              <a:buSzPts val="1100"/>
              <a:buChar char="●"/>
            </a:pPr>
            <a:r>
              <a:rPr lang="en" sz="1100"/>
              <a:t>OOOの件については進捗を一回目ご報告いたします。</a:t>
            </a:r>
            <a:endParaRPr sz="1100"/>
          </a:p>
          <a:p>
            <a:pPr indent="-298450" lvl="0" marL="457200" rtl="0" algn="l">
              <a:spcBef>
                <a:spcPts val="0"/>
              </a:spcBef>
              <a:spcAft>
                <a:spcPts val="0"/>
              </a:spcAft>
              <a:buSzPts val="1100"/>
              <a:buChar char="●"/>
            </a:pPr>
            <a:r>
              <a:rPr lang="en" sz="1100"/>
              <a:t>現在、情報を調査しているところで進捗が50％になっています。以下にご確認しておいてください。</a:t>
            </a:r>
            <a:endParaRPr sz="1100"/>
          </a:p>
          <a:p>
            <a:pPr indent="-298450" lvl="1" marL="914400" rtl="0" algn="l">
              <a:spcBef>
                <a:spcPts val="0"/>
              </a:spcBef>
              <a:spcAft>
                <a:spcPts val="0"/>
              </a:spcAft>
              <a:buSzPts val="1100"/>
              <a:buChar char="○"/>
            </a:pPr>
            <a:r>
              <a:rPr lang="en" sz="1100"/>
              <a:t>。。。</a:t>
            </a:r>
            <a:endParaRPr sz="1100"/>
          </a:p>
          <a:p>
            <a:pPr indent="-298450" lvl="1" marL="914400" rtl="0" algn="l">
              <a:spcBef>
                <a:spcPts val="0"/>
              </a:spcBef>
              <a:spcAft>
                <a:spcPts val="0"/>
              </a:spcAft>
              <a:buSzPts val="1100"/>
              <a:buChar char="○"/>
            </a:pPr>
            <a:r>
              <a:rPr lang="en" sz="1100"/>
              <a:t>。。。</a:t>
            </a:r>
            <a:endParaRPr sz="1100"/>
          </a:p>
          <a:p>
            <a:pPr indent="-298450" lvl="0" marL="457200" rtl="0" algn="l">
              <a:spcBef>
                <a:spcPts val="0"/>
              </a:spcBef>
              <a:spcAft>
                <a:spcPts val="0"/>
              </a:spcAft>
              <a:buSzPts val="1100"/>
              <a:buChar char="●"/>
            </a:pPr>
            <a:r>
              <a:rPr lang="en" sz="1100"/>
              <a:t>調査の続きを継続しますので、17時までにまたご連絡させていただきます。</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1月27日　15時00PM</a:t>
            </a:r>
            <a:endParaRPr sz="1100"/>
          </a:p>
          <a:p>
            <a:pPr indent="0" lvl="0" marL="0" rtl="0" algn="l">
              <a:spcBef>
                <a:spcPts val="0"/>
              </a:spcBef>
              <a:spcAft>
                <a:spcPts val="0"/>
              </a:spcAft>
              <a:buNone/>
            </a:pPr>
            <a:r>
              <a:rPr lang="en" sz="1100"/>
              <a:t>社員：</a:t>
            </a:r>
            <a:r>
              <a:rPr b="1" lang="en" sz="1100"/>
              <a:t>【すみません、他の作業を優先してしまったので、明日（1月28日）に全ての情報をご共有してもよろしいでしょうか？】</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b="1" lang="en" sz="1100"/>
              <a:t>社長</a:t>
            </a:r>
            <a:r>
              <a:rPr lang="en" sz="1100"/>
              <a:t>：</a:t>
            </a:r>
            <a:r>
              <a:rPr lang="en" sz="1100"/>
              <a:t>了解です。では、明日に残りの部分を共有ください。仕事を無理にしてください。</a:t>
            </a:r>
            <a:endParaRPr sz="1100"/>
          </a:p>
        </p:txBody>
      </p:sp>
      <p:pic>
        <p:nvPicPr>
          <p:cNvPr id="169" name="Google Shape;169;p17"/>
          <p:cNvPicPr preferRelativeResize="0"/>
          <p:nvPr/>
        </p:nvPicPr>
        <p:blipFill>
          <a:blip r:embed="rId4">
            <a:alphaModFix/>
          </a:blip>
          <a:stretch>
            <a:fillRect/>
          </a:stretch>
        </p:blipFill>
        <p:spPr>
          <a:xfrm>
            <a:off x="4951100" y="1119490"/>
            <a:ext cx="3888099" cy="36887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8"/>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75" name="Google Shape;175;p18"/>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Không report và report không đúng cách</a:t>
            </a:r>
            <a:endParaRPr sz="2500">
              <a:latin typeface="Calibri"/>
              <a:ea typeface="Calibri"/>
              <a:cs typeface="Calibri"/>
              <a:sym typeface="Calibri"/>
            </a:endParaRPr>
          </a:p>
        </p:txBody>
      </p:sp>
      <p:cxnSp>
        <p:nvCxnSpPr>
          <p:cNvPr id="176" name="Google Shape;176;p18"/>
          <p:cNvCxnSpPr/>
          <p:nvPr/>
        </p:nvCxnSpPr>
        <p:spPr>
          <a:xfrm>
            <a:off x="7673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177" name="Google Shape;177;p18"/>
          <p:cNvSpPr txBox="1"/>
          <p:nvPr/>
        </p:nvSpPr>
        <p:spPr>
          <a:xfrm>
            <a:off x="484525" y="1119500"/>
            <a:ext cx="4379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Calibri"/>
                <a:ea typeface="Calibri"/>
                <a:cs typeface="Calibri"/>
                <a:sym typeface="Calibri"/>
              </a:rPr>
              <a:t>Tình huống 2</a:t>
            </a:r>
            <a:r>
              <a:rPr b="1" lang="en" sz="1700">
                <a:solidFill>
                  <a:srgbClr val="FF0000"/>
                </a:solidFill>
                <a:latin typeface="Calibri"/>
                <a:ea typeface="Calibri"/>
                <a:cs typeface="Calibri"/>
                <a:sym typeface="Calibri"/>
              </a:rPr>
              <a:t>（×）</a:t>
            </a:r>
            <a:endParaRPr b="1" sz="1700">
              <a:solidFill>
                <a:srgbClr val="FF0000"/>
              </a:solidFill>
              <a:latin typeface="Calibri"/>
              <a:ea typeface="Calibri"/>
              <a:cs typeface="Calibri"/>
              <a:sym typeface="Calibri"/>
            </a:endParaRPr>
          </a:p>
        </p:txBody>
      </p:sp>
      <p:sp>
        <p:nvSpPr>
          <p:cNvPr id="178" name="Google Shape;178;p18"/>
          <p:cNvSpPr txBox="1"/>
          <p:nvPr/>
        </p:nvSpPr>
        <p:spPr>
          <a:xfrm>
            <a:off x="571700" y="1607350"/>
            <a:ext cx="4379400" cy="278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Calibri"/>
                <a:ea typeface="Calibri"/>
                <a:cs typeface="Calibri"/>
                <a:sym typeface="Calibri"/>
              </a:rPr>
              <a:t>お客さん：</a:t>
            </a:r>
            <a:r>
              <a:rPr lang="en" sz="1300">
                <a:latin typeface="Calibri"/>
                <a:ea typeface="Calibri"/>
                <a:cs typeface="Calibri"/>
                <a:sym typeface="Calibri"/>
              </a:rPr>
              <a:t>これらのことの結果を明日の午前の10時までに報告して頂けませんか？</a:t>
            </a:r>
            <a:endParaRPr sz="1300">
              <a:latin typeface="Calibri"/>
              <a:ea typeface="Calibri"/>
              <a:cs typeface="Calibri"/>
              <a:sym typeface="Calibri"/>
            </a:endParaRPr>
          </a:p>
          <a:p>
            <a:pPr indent="0" lvl="0" marL="0" rtl="0" algn="l">
              <a:spcBef>
                <a:spcPts val="0"/>
              </a:spcBef>
              <a:spcAft>
                <a:spcPts val="0"/>
              </a:spcAft>
              <a:buNone/>
            </a:pPr>
            <a:r>
              <a:rPr lang="en" sz="1300">
                <a:latin typeface="Calibri"/>
                <a:ea typeface="Calibri"/>
                <a:cs typeface="Calibri"/>
                <a:sym typeface="Calibri"/>
              </a:rPr>
              <a:t>・1項目。。。</a:t>
            </a:r>
            <a:endParaRPr sz="1300">
              <a:latin typeface="Calibri"/>
              <a:ea typeface="Calibri"/>
              <a:cs typeface="Calibri"/>
              <a:sym typeface="Calibri"/>
            </a:endParaRPr>
          </a:p>
          <a:p>
            <a:pPr indent="0" lvl="0" marL="0" rtl="0" algn="l">
              <a:spcBef>
                <a:spcPts val="0"/>
              </a:spcBef>
              <a:spcAft>
                <a:spcPts val="0"/>
              </a:spcAft>
              <a:buNone/>
            </a:pPr>
            <a:r>
              <a:rPr lang="en" sz="1300">
                <a:latin typeface="Calibri"/>
                <a:ea typeface="Calibri"/>
                <a:cs typeface="Calibri"/>
                <a:sym typeface="Calibri"/>
              </a:rPr>
              <a:t>・2項目。。。</a:t>
            </a:r>
            <a:endParaRPr sz="1300">
              <a:latin typeface="Calibri"/>
              <a:ea typeface="Calibri"/>
              <a:cs typeface="Calibri"/>
              <a:sym typeface="Calibri"/>
            </a:endParaRPr>
          </a:p>
          <a:p>
            <a:pPr indent="0" lvl="0" marL="0" rtl="0" algn="l">
              <a:spcBef>
                <a:spcPts val="0"/>
              </a:spcBef>
              <a:spcAft>
                <a:spcPts val="0"/>
              </a:spcAft>
              <a:buNone/>
            </a:pPr>
            <a:r>
              <a:rPr b="1" lang="en" sz="1300"/>
              <a:t>社員：</a:t>
            </a:r>
            <a:r>
              <a:rPr lang="en" sz="1300"/>
              <a:t>はい。かしこまりました。</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翌日の午前の10時</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社員：</a:t>
            </a:r>
            <a:r>
              <a:rPr lang="en" sz="1300"/>
              <a:t>「実は昨日電話したんですけど、まず1回目は全然でてくれなくて</a:t>
            </a:r>
            <a:r>
              <a:rPr b="1" lang="en" sz="1300">
                <a:solidFill>
                  <a:srgbClr val="FF0000"/>
                </a:solidFill>
              </a:rPr>
              <a:t>……</a:t>
            </a:r>
            <a:r>
              <a:rPr lang="en" sz="1300"/>
              <a:t>というわけで、結果が取れていません。」</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お客さん：</a:t>
            </a:r>
            <a:r>
              <a:rPr lang="en" sz="1300"/>
              <a:t>イライラされる＞”＜</a:t>
            </a:r>
            <a:endParaRPr sz="1300"/>
          </a:p>
        </p:txBody>
      </p:sp>
      <p:pic>
        <p:nvPicPr>
          <p:cNvPr id="179" name="Google Shape;179;p18"/>
          <p:cNvPicPr preferRelativeResize="0"/>
          <p:nvPr/>
        </p:nvPicPr>
        <p:blipFill>
          <a:blip r:embed="rId4">
            <a:alphaModFix/>
          </a:blip>
          <a:stretch>
            <a:fillRect/>
          </a:stretch>
        </p:blipFill>
        <p:spPr>
          <a:xfrm>
            <a:off x="4951100" y="1441450"/>
            <a:ext cx="3888101" cy="2443025"/>
          </a:xfrm>
          <a:prstGeom prst="rect">
            <a:avLst/>
          </a:prstGeom>
          <a:noFill/>
          <a:ln>
            <a:noFill/>
          </a:ln>
        </p:spPr>
      </p:pic>
      <p:sp>
        <p:nvSpPr>
          <p:cNvPr id="180" name="Google Shape;180;p18"/>
          <p:cNvSpPr txBox="1"/>
          <p:nvPr/>
        </p:nvSpPr>
        <p:spPr>
          <a:xfrm>
            <a:off x="422500" y="4266275"/>
            <a:ext cx="53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latin typeface="Calibri"/>
                <a:ea typeface="Calibri"/>
                <a:cs typeface="Calibri"/>
                <a:sym typeface="Calibri"/>
              </a:rPr>
              <a:t>=&gt; Report dài dòng, luộm thuộm. Khách hàng sốt ruột chờ đợi kết quả</a:t>
            </a:r>
            <a:endParaRPr>
              <a:solidFill>
                <a:srgbClr val="FF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19"/>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86" name="Google Shape;186;p19"/>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Không report và report không đúng cách</a:t>
            </a:r>
            <a:endParaRPr sz="2500">
              <a:latin typeface="Calibri"/>
              <a:ea typeface="Calibri"/>
              <a:cs typeface="Calibri"/>
              <a:sym typeface="Calibri"/>
            </a:endParaRPr>
          </a:p>
        </p:txBody>
      </p:sp>
      <p:cxnSp>
        <p:nvCxnSpPr>
          <p:cNvPr id="187" name="Google Shape;187;p19"/>
          <p:cNvCxnSpPr/>
          <p:nvPr/>
        </p:nvCxnSpPr>
        <p:spPr>
          <a:xfrm>
            <a:off x="7673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188" name="Google Shape;188;p19"/>
          <p:cNvSpPr txBox="1"/>
          <p:nvPr/>
        </p:nvSpPr>
        <p:spPr>
          <a:xfrm>
            <a:off x="484525" y="1119500"/>
            <a:ext cx="4379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Calibri"/>
                <a:ea typeface="Calibri"/>
                <a:cs typeface="Calibri"/>
                <a:sym typeface="Calibri"/>
              </a:rPr>
              <a:t>Tình huống 2</a:t>
            </a:r>
            <a:r>
              <a:rPr b="1" lang="en" sz="1700">
                <a:solidFill>
                  <a:srgbClr val="FF0000"/>
                </a:solidFill>
                <a:latin typeface="Calibri"/>
                <a:ea typeface="Calibri"/>
                <a:cs typeface="Calibri"/>
                <a:sym typeface="Calibri"/>
              </a:rPr>
              <a:t>（〇）</a:t>
            </a:r>
            <a:endParaRPr b="1" sz="1700">
              <a:solidFill>
                <a:srgbClr val="FF0000"/>
              </a:solidFill>
              <a:latin typeface="Calibri"/>
              <a:ea typeface="Calibri"/>
              <a:cs typeface="Calibri"/>
              <a:sym typeface="Calibri"/>
            </a:endParaRPr>
          </a:p>
        </p:txBody>
      </p:sp>
      <p:sp>
        <p:nvSpPr>
          <p:cNvPr id="189" name="Google Shape;189;p19"/>
          <p:cNvSpPr txBox="1"/>
          <p:nvPr/>
        </p:nvSpPr>
        <p:spPr>
          <a:xfrm>
            <a:off x="571700" y="1607350"/>
            <a:ext cx="43794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latin typeface="Calibri"/>
                <a:ea typeface="Calibri"/>
                <a:cs typeface="Calibri"/>
                <a:sym typeface="Calibri"/>
              </a:rPr>
              <a:t>お客さん：</a:t>
            </a:r>
            <a:r>
              <a:rPr lang="en" sz="1300">
                <a:latin typeface="Calibri"/>
                <a:ea typeface="Calibri"/>
                <a:cs typeface="Calibri"/>
                <a:sym typeface="Calibri"/>
              </a:rPr>
              <a:t>これらのことの結果を明日の午前の10時までに報告して頂けませんか？</a:t>
            </a:r>
            <a:endParaRPr sz="1300">
              <a:latin typeface="Calibri"/>
              <a:ea typeface="Calibri"/>
              <a:cs typeface="Calibri"/>
              <a:sym typeface="Calibri"/>
            </a:endParaRPr>
          </a:p>
          <a:p>
            <a:pPr indent="0" lvl="0" marL="0" rtl="0" algn="l">
              <a:spcBef>
                <a:spcPts val="0"/>
              </a:spcBef>
              <a:spcAft>
                <a:spcPts val="0"/>
              </a:spcAft>
              <a:buNone/>
            </a:pPr>
            <a:r>
              <a:rPr lang="en" sz="1300">
                <a:latin typeface="Calibri"/>
                <a:ea typeface="Calibri"/>
                <a:cs typeface="Calibri"/>
                <a:sym typeface="Calibri"/>
              </a:rPr>
              <a:t>・1項目。。。</a:t>
            </a:r>
            <a:endParaRPr sz="1300">
              <a:latin typeface="Calibri"/>
              <a:ea typeface="Calibri"/>
              <a:cs typeface="Calibri"/>
              <a:sym typeface="Calibri"/>
            </a:endParaRPr>
          </a:p>
          <a:p>
            <a:pPr indent="0" lvl="0" marL="0" rtl="0" algn="l">
              <a:spcBef>
                <a:spcPts val="0"/>
              </a:spcBef>
              <a:spcAft>
                <a:spcPts val="0"/>
              </a:spcAft>
              <a:buNone/>
            </a:pPr>
            <a:r>
              <a:rPr lang="en" sz="1300">
                <a:latin typeface="Calibri"/>
                <a:ea typeface="Calibri"/>
                <a:cs typeface="Calibri"/>
                <a:sym typeface="Calibri"/>
              </a:rPr>
              <a:t>・2項目。。。</a:t>
            </a:r>
            <a:endParaRPr sz="1300">
              <a:latin typeface="Calibri"/>
              <a:ea typeface="Calibri"/>
              <a:cs typeface="Calibri"/>
              <a:sym typeface="Calibri"/>
            </a:endParaRPr>
          </a:p>
          <a:p>
            <a:pPr indent="0" lvl="0" marL="0" rtl="0" algn="l">
              <a:spcBef>
                <a:spcPts val="0"/>
              </a:spcBef>
              <a:spcAft>
                <a:spcPts val="0"/>
              </a:spcAft>
              <a:buNone/>
            </a:pPr>
            <a:r>
              <a:rPr b="1" lang="en" sz="1300"/>
              <a:t>社員：</a:t>
            </a:r>
            <a:r>
              <a:rPr lang="en" sz="1300"/>
              <a:t>はい。かしこまりました。</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翌日の午前の10時</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社員：</a:t>
            </a:r>
            <a:r>
              <a:rPr b="1" lang="en" sz="1300"/>
              <a:t>「今日は情報が取れていません。理由としては…」</a:t>
            </a:r>
            <a:endParaRPr b="1"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お客さん：</a:t>
            </a:r>
            <a:r>
              <a:rPr lang="en" sz="1300"/>
              <a:t>わかりました。</a:t>
            </a:r>
            <a:endParaRPr sz="1300"/>
          </a:p>
        </p:txBody>
      </p:sp>
      <p:pic>
        <p:nvPicPr>
          <p:cNvPr id="190" name="Google Shape;190;p19"/>
          <p:cNvPicPr preferRelativeResize="0"/>
          <p:nvPr/>
        </p:nvPicPr>
        <p:blipFill>
          <a:blip r:embed="rId4">
            <a:alphaModFix/>
          </a:blip>
          <a:stretch>
            <a:fillRect/>
          </a:stretch>
        </p:blipFill>
        <p:spPr>
          <a:xfrm>
            <a:off x="5038275" y="1394840"/>
            <a:ext cx="3888100" cy="290539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0"/>
          <p:cNvPicPr preferRelativeResize="0"/>
          <p:nvPr/>
        </p:nvPicPr>
        <p:blipFill>
          <a:blip r:embed="rId3">
            <a:alphaModFix/>
          </a:blip>
          <a:stretch>
            <a:fillRect/>
          </a:stretch>
        </p:blipFill>
        <p:spPr>
          <a:xfrm>
            <a:off x="8285850" y="372325"/>
            <a:ext cx="553350" cy="746090"/>
          </a:xfrm>
          <a:prstGeom prst="rect">
            <a:avLst/>
          </a:prstGeom>
          <a:noFill/>
          <a:ln>
            <a:noFill/>
          </a:ln>
        </p:spPr>
      </p:pic>
      <p:sp>
        <p:nvSpPr>
          <p:cNvPr id="196" name="Google Shape;196;p20"/>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Các loại report?</a:t>
            </a:r>
            <a:endParaRPr sz="2500">
              <a:latin typeface="Calibri"/>
              <a:ea typeface="Calibri"/>
              <a:cs typeface="Calibri"/>
              <a:sym typeface="Calibri"/>
            </a:endParaRPr>
          </a:p>
        </p:txBody>
      </p:sp>
      <p:cxnSp>
        <p:nvCxnSpPr>
          <p:cNvPr id="197" name="Google Shape;197;p20"/>
          <p:cNvCxnSpPr/>
          <p:nvPr/>
        </p:nvCxnSpPr>
        <p:spPr>
          <a:xfrm>
            <a:off x="10748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198" name="Google Shape;198;p20"/>
          <p:cNvSpPr txBox="1"/>
          <p:nvPr/>
        </p:nvSpPr>
        <p:spPr>
          <a:xfrm>
            <a:off x="338625" y="1018825"/>
            <a:ext cx="8143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Có rất nhiều loại report được sử dụng trong nhiều lĩnh vực khác nhau. Ở đây sẽ đề cập đến các loại report hay sử dụng nhất trong lĩnh vực phát triển phần mềm </a:t>
            </a:r>
            <a:r>
              <a:rPr lang="en">
                <a:solidFill>
                  <a:srgbClr val="FF0000"/>
                </a:solidFill>
                <a:latin typeface="Calibri"/>
                <a:ea typeface="Calibri"/>
                <a:cs typeface="Calibri"/>
                <a:sym typeface="Calibri"/>
              </a:rPr>
              <a:t>( cho Brse/comtor trong phạm vi dự án )</a:t>
            </a:r>
            <a:endParaRPr>
              <a:solidFill>
                <a:srgbClr val="FF0000"/>
              </a:solidFill>
              <a:latin typeface="Calibri"/>
              <a:ea typeface="Calibri"/>
              <a:cs typeface="Calibri"/>
              <a:sym typeface="Calibri"/>
            </a:endParaRPr>
          </a:p>
        </p:txBody>
      </p:sp>
      <p:graphicFrame>
        <p:nvGraphicFramePr>
          <p:cNvPr id="199" name="Google Shape;199;p20"/>
          <p:cNvGraphicFramePr/>
          <p:nvPr/>
        </p:nvGraphicFramePr>
        <p:xfrm>
          <a:off x="442350" y="1634425"/>
          <a:ext cx="3000000" cy="3000000"/>
        </p:xfrm>
        <a:graphic>
          <a:graphicData uri="http://schemas.openxmlformats.org/drawingml/2006/table">
            <a:tbl>
              <a:tblPr>
                <a:noFill/>
                <a:tableStyleId>{882A4722-A7EC-4208-A23F-C5C6FF4D2F63}</a:tableStyleId>
              </a:tblPr>
              <a:tblGrid>
                <a:gridCol w="2753100"/>
                <a:gridCol w="2753100"/>
                <a:gridCol w="2753100"/>
              </a:tblGrid>
              <a:tr h="393250">
                <a:tc>
                  <a:txBody>
                    <a:bodyPr/>
                    <a:lstStyle/>
                    <a:p>
                      <a:pPr indent="0" lvl="0" marL="0" rtl="0" algn="l">
                        <a:spcBef>
                          <a:spcPts val="0"/>
                        </a:spcBef>
                        <a:spcAft>
                          <a:spcPts val="0"/>
                        </a:spcAft>
                        <a:buNone/>
                      </a:pPr>
                      <a:r>
                        <a:rPr lang="en" sz="700"/>
                        <a:t>Periodic report</a:t>
                      </a:r>
                      <a:endParaRPr sz="700"/>
                    </a:p>
                  </a:txBody>
                  <a:tcPr marT="91425" marB="91425" marR="91425" marL="91425"/>
                </a:tc>
                <a:tc>
                  <a:txBody>
                    <a:bodyPr/>
                    <a:lstStyle/>
                    <a:p>
                      <a:pPr indent="0" lvl="0" marL="0" rtl="0" algn="l">
                        <a:spcBef>
                          <a:spcPts val="0"/>
                        </a:spcBef>
                        <a:spcAft>
                          <a:spcPts val="0"/>
                        </a:spcAft>
                        <a:buNone/>
                      </a:pPr>
                      <a:r>
                        <a:rPr lang="en" sz="700"/>
                        <a:t>Daily Report</a:t>
                      </a:r>
                      <a:endParaRPr sz="700"/>
                    </a:p>
                  </a:txBody>
                  <a:tcPr marT="91425" marB="91425" marR="91425" marL="91425"/>
                </a:tc>
                <a:tc>
                  <a:txBody>
                    <a:bodyPr/>
                    <a:lstStyle/>
                    <a:p>
                      <a:pPr indent="0" lvl="0" marL="0" rtl="0" algn="l">
                        <a:spcBef>
                          <a:spcPts val="0"/>
                        </a:spcBef>
                        <a:spcAft>
                          <a:spcPts val="0"/>
                        </a:spcAft>
                        <a:buNone/>
                      </a:pPr>
                      <a:r>
                        <a:rPr lang="en" sz="700"/>
                        <a:t>Report định kỳ hàng ngày, vào một thời điểm cố định sáng hoặc chiều</a:t>
                      </a:r>
                      <a:endParaRPr sz="700"/>
                    </a:p>
                  </a:txBody>
                  <a:tcPr marT="91425" marB="91425" marR="91425" marL="91425"/>
                </a:tc>
              </a:tr>
              <a:tr h="393250">
                <a:tc>
                  <a:txBody>
                    <a:bodyPr/>
                    <a:lstStyle/>
                    <a:p>
                      <a:pPr indent="0" lvl="0" marL="0" rtl="0" algn="l">
                        <a:spcBef>
                          <a:spcPts val="0"/>
                        </a:spcBef>
                        <a:spcAft>
                          <a:spcPts val="0"/>
                        </a:spcAft>
                        <a:buNone/>
                      </a:pPr>
                      <a:r>
                        <a:t/>
                      </a:r>
                      <a:endParaRPr sz="700"/>
                    </a:p>
                  </a:txBody>
                  <a:tcPr marT="91425" marB="91425" marR="91425" marL="91425"/>
                </a:tc>
                <a:tc>
                  <a:txBody>
                    <a:bodyPr/>
                    <a:lstStyle/>
                    <a:p>
                      <a:pPr indent="0" lvl="0" marL="0" rtl="0" algn="l">
                        <a:spcBef>
                          <a:spcPts val="0"/>
                        </a:spcBef>
                        <a:spcAft>
                          <a:spcPts val="0"/>
                        </a:spcAft>
                        <a:buNone/>
                      </a:pPr>
                      <a:r>
                        <a:rPr lang="en" sz="700"/>
                        <a:t>Weekly Report</a:t>
                      </a:r>
                      <a:endParaRPr sz="700"/>
                    </a:p>
                  </a:txBody>
                  <a:tcPr marT="91425" marB="91425" marR="91425" marL="91425"/>
                </a:tc>
                <a:tc>
                  <a:txBody>
                    <a:bodyPr/>
                    <a:lstStyle/>
                    <a:p>
                      <a:pPr indent="0" lvl="0" marL="0" rtl="0" algn="l">
                        <a:spcBef>
                          <a:spcPts val="0"/>
                        </a:spcBef>
                        <a:spcAft>
                          <a:spcPts val="0"/>
                        </a:spcAft>
                        <a:buNone/>
                      </a:pPr>
                      <a:r>
                        <a:rPr lang="en" sz="700"/>
                        <a:t>Report định kỳ hàng tuần, vào một ngày và thời điểm cố định trong tuần</a:t>
                      </a:r>
                      <a:endParaRPr sz="700"/>
                    </a:p>
                  </a:txBody>
                  <a:tcPr marT="91425" marB="91425" marR="91425" marL="91425"/>
                </a:tc>
              </a:tr>
              <a:tr h="629225">
                <a:tc>
                  <a:txBody>
                    <a:bodyPr/>
                    <a:lstStyle/>
                    <a:p>
                      <a:pPr indent="0" lvl="0" marL="0" rtl="0" algn="l">
                        <a:spcBef>
                          <a:spcPts val="0"/>
                        </a:spcBef>
                        <a:spcAft>
                          <a:spcPts val="0"/>
                        </a:spcAft>
                        <a:buNone/>
                      </a:pPr>
                      <a:r>
                        <a:rPr lang="en" sz="700"/>
                        <a:t>Informational report</a:t>
                      </a:r>
                      <a:endParaRPr sz="700"/>
                    </a:p>
                  </a:txBody>
                  <a:tcPr marT="91425" marB="91425" marR="91425" marL="91425"/>
                </a:tc>
                <a:tc>
                  <a:txBody>
                    <a:bodyPr/>
                    <a:lstStyle/>
                    <a:p>
                      <a:pPr indent="0" lvl="0" marL="0" rtl="0" algn="l">
                        <a:spcBef>
                          <a:spcPts val="0"/>
                        </a:spcBef>
                        <a:spcAft>
                          <a:spcPts val="0"/>
                        </a:spcAft>
                        <a:buNone/>
                      </a:pPr>
                      <a:r>
                        <a:rPr lang="en" sz="700"/>
                        <a:t>Report tiến độ</a:t>
                      </a:r>
                      <a:endParaRPr sz="700"/>
                    </a:p>
                  </a:txBody>
                  <a:tcPr marT="91425" marB="91425" marR="91425" marL="91425"/>
                </a:tc>
                <a:tc>
                  <a:txBody>
                    <a:bodyPr/>
                    <a:lstStyle/>
                    <a:p>
                      <a:pPr indent="0" lvl="0" marL="0" rtl="0" algn="l">
                        <a:spcBef>
                          <a:spcPts val="0"/>
                        </a:spcBef>
                        <a:spcAft>
                          <a:spcPts val="0"/>
                        </a:spcAft>
                        <a:buNone/>
                      </a:pPr>
                      <a:r>
                        <a:rPr lang="en" sz="700"/>
                        <a:t>Report chi tiết tiến độ của dự án. Thực hiện vào giữa giai đoạn phát triển hoặc gần giai đoạn release. Hoặc trong các cuộc họp định kỳ hàng ngày, hàng tuần</a:t>
                      </a:r>
                      <a:endParaRPr sz="700"/>
                    </a:p>
                  </a:txBody>
                  <a:tcPr marT="91425" marB="91425" marR="91425" marL="91425"/>
                </a:tc>
              </a:tr>
              <a:tr h="511250">
                <a:tc>
                  <a:txBody>
                    <a:bodyPr/>
                    <a:lstStyle/>
                    <a:p>
                      <a:pPr indent="0" lvl="0" marL="0" rtl="0" algn="l">
                        <a:spcBef>
                          <a:spcPts val="0"/>
                        </a:spcBef>
                        <a:spcAft>
                          <a:spcPts val="0"/>
                        </a:spcAft>
                        <a:buNone/>
                      </a:pPr>
                      <a:r>
                        <a:t/>
                      </a:r>
                      <a:endParaRPr sz="700"/>
                    </a:p>
                  </a:txBody>
                  <a:tcPr marT="91425" marB="91425" marR="91425" marL="91425"/>
                </a:tc>
                <a:tc>
                  <a:txBody>
                    <a:bodyPr/>
                    <a:lstStyle/>
                    <a:p>
                      <a:pPr indent="0" lvl="0" marL="0" rtl="0" algn="l">
                        <a:spcBef>
                          <a:spcPts val="0"/>
                        </a:spcBef>
                        <a:spcAft>
                          <a:spcPts val="0"/>
                        </a:spcAft>
                        <a:buNone/>
                      </a:pPr>
                      <a:r>
                        <a:rPr lang="en" sz="700"/>
                        <a:t>Report Issue</a:t>
                      </a:r>
                      <a:endParaRPr sz="700"/>
                    </a:p>
                  </a:txBody>
                  <a:tcPr marT="91425" marB="91425" marR="91425" marL="91425"/>
                </a:tc>
                <a:tc>
                  <a:txBody>
                    <a:bodyPr/>
                    <a:lstStyle/>
                    <a:p>
                      <a:pPr indent="0" lvl="0" marL="0" rtl="0" algn="l">
                        <a:spcBef>
                          <a:spcPts val="0"/>
                        </a:spcBef>
                        <a:spcAft>
                          <a:spcPts val="0"/>
                        </a:spcAft>
                        <a:buNone/>
                      </a:pPr>
                      <a:r>
                        <a:rPr lang="en" sz="700"/>
                        <a:t>Report các loại issue đã xảy ra trong quá trình phát triển. Thực hiện liên tục ngay sau khi xảy ra issue đó, càng nhanh càng tốt</a:t>
                      </a:r>
                      <a:endParaRPr sz="700"/>
                    </a:p>
                  </a:txBody>
                  <a:tcPr marT="91425" marB="91425" marR="91425" marL="91425"/>
                </a:tc>
              </a:tr>
              <a:tr h="629225">
                <a:tc>
                  <a:txBody>
                    <a:bodyPr/>
                    <a:lstStyle/>
                    <a:p>
                      <a:pPr indent="0" lvl="0" marL="0" rtl="0" algn="l">
                        <a:spcBef>
                          <a:spcPts val="0"/>
                        </a:spcBef>
                        <a:spcAft>
                          <a:spcPts val="0"/>
                        </a:spcAft>
                        <a:buNone/>
                      </a:pPr>
                      <a:r>
                        <a:t/>
                      </a:r>
                      <a:endParaRPr sz="700"/>
                    </a:p>
                  </a:txBody>
                  <a:tcPr marT="91425" marB="91425" marR="91425" marL="91425"/>
                </a:tc>
                <a:tc>
                  <a:txBody>
                    <a:bodyPr/>
                    <a:lstStyle/>
                    <a:p>
                      <a:pPr indent="0" lvl="0" marL="0" rtl="0" algn="l">
                        <a:spcBef>
                          <a:spcPts val="0"/>
                        </a:spcBef>
                        <a:spcAft>
                          <a:spcPts val="0"/>
                        </a:spcAft>
                        <a:buNone/>
                      </a:pPr>
                      <a:r>
                        <a:rPr lang="en" sz="700"/>
                        <a:t>Report Risk</a:t>
                      </a:r>
                      <a:endParaRPr sz="700"/>
                    </a:p>
                  </a:txBody>
                  <a:tcPr marT="91425" marB="91425" marR="91425" marL="91425"/>
                </a:tc>
                <a:tc>
                  <a:txBody>
                    <a:bodyPr/>
                    <a:lstStyle/>
                    <a:p>
                      <a:pPr indent="0" lvl="0" marL="0" rtl="0" algn="l">
                        <a:spcBef>
                          <a:spcPts val="0"/>
                        </a:spcBef>
                        <a:spcAft>
                          <a:spcPts val="0"/>
                        </a:spcAft>
                        <a:buNone/>
                      </a:pPr>
                      <a:r>
                        <a:rPr lang="en" sz="700"/>
                        <a:t>Report các loại risk có nguy cơ xảy ra trước khi bước vào giai đoạn implement. Thường sẽ được thực hiện vào đầu dự án hoặc đầu mỗi sprint hoặc mỗi khi thực hiện 1 task nào đó.</a:t>
                      </a:r>
                      <a:endParaRPr sz="700"/>
                    </a:p>
                  </a:txBody>
                  <a:tcPr marT="91425" marB="91425" marR="91425" marL="91425"/>
                </a:tc>
              </a:tr>
              <a:tr h="511250">
                <a:tc>
                  <a:txBody>
                    <a:bodyPr/>
                    <a:lstStyle/>
                    <a:p>
                      <a:pPr indent="0" lvl="0" marL="0" rtl="0" algn="l">
                        <a:spcBef>
                          <a:spcPts val="0"/>
                        </a:spcBef>
                        <a:spcAft>
                          <a:spcPts val="0"/>
                        </a:spcAft>
                        <a:buNone/>
                      </a:pPr>
                      <a:r>
                        <a:t/>
                      </a:r>
                      <a:endParaRPr sz="700"/>
                    </a:p>
                  </a:txBody>
                  <a:tcPr marT="91425" marB="91425" marR="91425" marL="91425"/>
                </a:tc>
                <a:tc>
                  <a:txBody>
                    <a:bodyPr/>
                    <a:lstStyle/>
                    <a:p>
                      <a:pPr indent="0" lvl="0" marL="0" rtl="0" algn="l">
                        <a:spcBef>
                          <a:spcPts val="0"/>
                        </a:spcBef>
                        <a:spcAft>
                          <a:spcPts val="0"/>
                        </a:spcAft>
                        <a:buNone/>
                      </a:pPr>
                      <a:r>
                        <a:rPr lang="en" sz="700"/>
                        <a:t>Report resource</a:t>
                      </a:r>
                      <a:endParaRPr sz="700"/>
                    </a:p>
                  </a:txBody>
                  <a:tcPr marT="91425" marB="91425" marR="91425" marL="91425"/>
                </a:tc>
                <a:tc>
                  <a:txBody>
                    <a:bodyPr/>
                    <a:lstStyle/>
                    <a:p>
                      <a:pPr indent="0" lvl="0" marL="0" rtl="0" algn="l">
                        <a:spcBef>
                          <a:spcPts val="0"/>
                        </a:spcBef>
                        <a:spcAft>
                          <a:spcPts val="0"/>
                        </a:spcAft>
                        <a:buNone/>
                      </a:pPr>
                      <a:r>
                        <a:rPr lang="en" sz="700"/>
                        <a:t>Report về tình hình nhân sự trong dự án, để kịp thời nắm tình hình và điều chỉnh khối lượng công việc / quản lý cost cho hợp lý</a:t>
                      </a:r>
                      <a:endParaRPr sz="7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21"/>
          <p:cNvPicPr preferRelativeResize="0"/>
          <p:nvPr/>
        </p:nvPicPr>
        <p:blipFill>
          <a:blip r:embed="rId3">
            <a:alphaModFix/>
          </a:blip>
          <a:stretch>
            <a:fillRect/>
          </a:stretch>
        </p:blipFill>
        <p:spPr>
          <a:xfrm>
            <a:off x="8285850" y="372325"/>
            <a:ext cx="553350" cy="746090"/>
          </a:xfrm>
          <a:prstGeom prst="rect">
            <a:avLst/>
          </a:prstGeom>
          <a:noFill/>
          <a:ln>
            <a:noFill/>
          </a:ln>
        </p:spPr>
      </p:pic>
      <p:sp>
        <p:nvSpPr>
          <p:cNvPr id="205" name="Google Shape;205;p21"/>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Các loại report?</a:t>
            </a:r>
            <a:endParaRPr sz="2500">
              <a:latin typeface="Calibri"/>
              <a:ea typeface="Calibri"/>
              <a:cs typeface="Calibri"/>
              <a:sym typeface="Calibri"/>
            </a:endParaRPr>
          </a:p>
        </p:txBody>
      </p:sp>
      <p:cxnSp>
        <p:nvCxnSpPr>
          <p:cNvPr id="206" name="Google Shape;206;p21"/>
          <p:cNvCxnSpPr/>
          <p:nvPr/>
        </p:nvCxnSpPr>
        <p:spPr>
          <a:xfrm>
            <a:off x="10748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207" name="Google Shape;207;p21"/>
          <p:cNvSpPr txBox="1"/>
          <p:nvPr/>
        </p:nvSpPr>
        <p:spPr>
          <a:xfrm>
            <a:off x="338625" y="1018825"/>
            <a:ext cx="81438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alibri"/>
                <a:ea typeface="Calibri"/>
                <a:cs typeface="Calibri"/>
                <a:sym typeface="Calibri"/>
              </a:rPr>
              <a:t>Ngoài ra còn nhiều loại report khác như dưới đây:</a:t>
            </a:r>
            <a:endParaRPr sz="1000">
              <a:latin typeface="Calibri"/>
              <a:ea typeface="Calibri"/>
              <a:cs typeface="Calibri"/>
              <a:sym typeface="Calibri"/>
            </a:endParaRPr>
          </a:p>
          <a:p>
            <a:pPr indent="0" lvl="0" marL="0" rtl="0" algn="l">
              <a:spcBef>
                <a:spcPts val="0"/>
              </a:spcBef>
              <a:spcAft>
                <a:spcPts val="0"/>
              </a:spcAft>
              <a:buNone/>
            </a:pPr>
            <a:r>
              <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Analytical report</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Trong quá trình phát triển phát triển có nhiều vấn đề ĐÃ - ĐANG - SẼ phát sinh từ bên trong và bên ngoài dự án, dẫn tới ảnh hưởng hiệu suất và năng suất của tổng thể. Báo cáo phân tích này giúp cho người quản lý cấp cao nhìn thấy trước được nguy cơ để đưa ra phương pháp đối ứng hợp lý. Đảm bảo cho business thành công.</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Proposal report</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Đề xuất là một loại báo cáo phổ biến nhất mà bạn có thể sẽ thấy mình phải viết ở nơi làm việc. Các báo cáo này có bản chất thuyết phục: các đề xuất cố gắng thuyết phục người đọc chấp nhận ý tưởng đề xuất của người viết. Đề xuất, theo nghĩa kỹ thuật, là một tài liệu cố gắng thuyết phục người đọc thực hiện một kế hoạch đã đề xuất hoặc chấp thuận một dự án được đề xuất. </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external/internal report</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Báo cáo Internal đề cập đến việc thu thập dữ liệu để sử dụng nội bộ. Nói một cách đơn giản, bạn không thu thập và phân tích dữ liệu để trình bày cho khách hàng hoặc bất kỳ ai bên ngoài team dự án của của bạn, mà để sử dụng nó trong team dự án cho các mục đích khác nhau</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Báo cáo External đề cập đến việc trình bày dữ liệu cung cấp cho các đối tượng bên ngoài team dự án như khách hàng, giám đốc công ty vv…vv như tiến độ, tình trạng dự án có thuận lợi hay gặp risk/issue gì đó hay không. V</a:t>
            </a:r>
            <a:r>
              <a:rPr lang="en" sz="1000">
                <a:latin typeface="Calibri"/>
                <a:ea typeface="Calibri"/>
                <a:cs typeface="Calibri"/>
                <a:sym typeface="Calibri"/>
              </a:rPr>
              <a:t>ới mục đích các bên cùng nắm được tình hình thực tế, đưa ra các biện pháp đối ứng kịp thời cho business của dự án.</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Vertical Report</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Báo cáo dọc là một loại hình báo cáo theo thứ bậc, cấp dưới -&gt; cấp trên: member - team leader, team leader - project leader, project leader - PM vv…vv</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Lateral report</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Báo cáo ngang là một loại hình báo cáo giữa các bên: tester - dev, comtor - project leader, Brse - project leader/PM vv…vv</a:t>
            </a:r>
            <a:endParaRPr sz="1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13" name="Google Shape;213;p22"/>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Report cho ai?</a:t>
            </a:r>
            <a:endParaRPr sz="2500">
              <a:latin typeface="Calibri"/>
              <a:ea typeface="Calibri"/>
              <a:cs typeface="Calibri"/>
              <a:sym typeface="Calibri"/>
            </a:endParaRPr>
          </a:p>
        </p:txBody>
      </p:sp>
      <p:cxnSp>
        <p:nvCxnSpPr>
          <p:cNvPr id="214" name="Google Shape;214;p22"/>
          <p:cNvCxnSpPr/>
          <p:nvPr/>
        </p:nvCxnSpPr>
        <p:spPr>
          <a:xfrm>
            <a:off x="10748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215" name="Google Shape;215;p22"/>
          <p:cNvSpPr txBox="1"/>
          <p:nvPr/>
        </p:nvSpPr>
        <p:spPr>
          <a:xfrm>
            <a:off x="338625" y="1018825"/>
            <a:ext cx="814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Vậy thì comtor / brse cần biết đối tượng report của mình là ai. Hãy cùng xem chi tiết sau đây:</a:t>
            </a:r>
            <a:endParaRPr>
              <a:latin typeface="Calibri"/>
              <a:ea typeface="Calibri"/>
              <a:cs typeface="Calibri"/>
              <a:sym typeface="Calibri"/>
            </a:endParaRPr>
          </a:p>
        </p:txBody>
      </p:sp>
      <p:graphicFrame>
        <p:nvGraphicFramePr>
          <p:cNvPr id="216" name="Google Shape;216;p22"/>
          <p:cNvGraphicFramePr/>
          <p:nvPr/>
        </p:nvGraphicFramePr>
        <p:xfrm>
          <a:off x="422500" y="1645150"/>
          <a:ext cx="3000000" cy="3000000"/>
        </p:xfrm>
        <a:graphic>
          <a:graphicData uri="http://schemas.openxmlformats.org/drawingml/2006/table">
            <a:tbl>
              <a:tblPr>
                <a:noFill/>
                <a:tableStyleId>{882A4722-A7EC-4208-A23F-C5C6FF4D2F63}</a:tableStyleId>
              </a:tblPr>
              <a:tblGrid>
                <a:gridCol w="3619500"/>
                <a:gridCol w="3619500"/>
              </a:tblGrid>
              <a:tr h="381000">
                <a:tc>
                  <a:txBody>
                    <a:bodyPr/>
                    <a:lstStyle/>
                    <a:p>
                      <a:pPr indent="0" lvl="0" marL="0" rtl="0" algn="l">
                        <a:spcBef>
                          <a:spcPts val="0"/>
                        </a:spcBef>
                        <a:spcAft>
                          <a:spcPts val="0"/>
                        </a:spcAft>
                        <a:buNone/>
                      </a:pPr>
                      <a:r>
                        <a:rPr lang="en"/>
                        <a:t>Khách hàng</a:t>
                      </a:r>
                      <a:endParaRPr/>
                    </a:p>
                  </a:txBody>
                  <a:tcPr marT="91425" marB="91425" marR="91425" marL="91425"/>
                </a:tc>
                <a:tc>
                  <a:txBody>
                    <a:bodyPr/>
                    <a:lstStyle/>
                    <a:p>
                      <a:pPr indent="0" lvl="0" marL="0" rtl="0" algn="l">
                        <a:spcBef>
                          <a:spcPts val="0"/>
                        </a:spcBef>
                        <a:spcAft>
                          <a:spcPts val="0"/>
                        </a:spcAft>
                        <a:buNone/>
                      </a:pPr>
                      <a:r>
                        <a:rPr lang="en"/>
                        <a:t>Khách hàng của của dự án bên nhật bản</a:t>
                      </a:r>
                      <a:endParaRPr/>
                    </a:p>
                  </a:txBody>
                  <a:tcPr marT="91425" marB="91425" marR="91425" marL="91425"/>
                </a:tc>
              </a:tr>
              <a:tr h="381000">
                <a:tc>
                  <a:txBody>
                    <a:bodyPr/>
                    <a:lstStyle/>
                    <a:p>
                      <a:pPr indent="0" lvl="0" marL="0" rtl="0" algn="l">
                        <a:spcBef>
                          <a:spcPts val="0"/>
                        </a:spcBef>
                        <a:spcAft>
                          <a:spcPts val="0"/>
                        </a:spcAft>
                        <a:buNone/>
                      </a:pPr>
                      <a:r>
                        <a:rPr lang="en"/>
                        <a:t>Giám đốc/ Managers</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CEO của công ty ( Mr Kakeya ) và các Managers của tổ chức khi có yêu cầu</a:t>
                      </a:r>
                      <a:endParaRPr/>
                    </a:p>
                  </a:txBody>
                  <a:tcPr marT="91425" marB="91425" marR="91425" marL="91425"/>
                </a:tc>
              </a:tr>
              <a:tr h="381000">
                <a:tc>
                  <a:txBody>
                    <a:bodyPr/>
                    <a:lstStyle/>
                    <a:p>
                      <a:pPr indent="0" lvl="0" marL="0" rtl="0" algn="l">
                        <a:spcBef>
                          <a:spcPts val="0"/>
                        </a:spcBef>
                        <a:spcAft>
                          <a:spcPts val="0"/>
                        </a:spcAft>
                        <a:buNone/>
                      </a:pPr>
                      <a:r>
                        <a:rPr lang="en"/>
                        <a:t>Leader</a:t>
                      </a:r>
                      <a:endParaRPr/>
                    </a:p>
                  </a:txBody>
                  <a:tcPr marT="91425" marB="91425" marR="91425" marL="91425"/>
                </a:tc>
                <a:tc>
                  <a:txBody>
                    <a:bodyPr/>
                    <a:lstStyle/>
                    <a:p>
                      <a:pPr indent="0" lvl="0" marL="0" rtl="0" algn="l">
                        <a:spcBef>
                          <a:spcPts val="0"/>
                        </a:spcBef>
                        <a:spcAft>
                          <a:spcPts val="0"/>
                        </a:spcAft>
                        <a:buNone/>
                      </a:pPr>
                      <a:r>
                        <a:rPr lang="en"/>
                        <a:t>Người quản lý trực tiếp của bản thân External/ Internal dự án</a:t>
                      </a:r>
                      <a:endParaRPr/>
                    </a:p>
                  </a:txBody>
                  <a:tcPr marT="91425" marB="91425" marR="91425" marL="91425"/>
                </a:tc>
              </a:tr>
              <a:tr h="381000">
                <a:tc>
                  <a:txBody>
                    <a:bodyPr/>
                    <a:lstStyle/>
                    <a:p>
                      <a:pPr indent="0" lvl="0" marL="0" rtl="0" algn="l">
                        <a:spcBef>
                          <a:spcPts val="0"/>
                        </a:spcBef>
                        <a:spcAft>
                          <a:spcPts val="0"/>
                        </a:spcAft>
                        <a:buNone/>
                      </a:pPr>
                      <a:r>
                        <a:rPr lang="en"/>
                        <a:t>Các bên</a:t>
                      </a:r>
                      <a:endParaRPr/>
                    </a:p>
                  </a:txBody>
                  <a:tcPr marT="91425" marB="91425" marR="91425" marL="91425"/>
                </a:tc>
                <a:tc>
                  <a:txBody>
                    <a:bodyPr/>
                    <a:lstStyle/>
                    <a:p>
                      <a:pPr indent="0" lvl="0" marL="0" rtl="0" algn="l">
                        <a:spcBef>
                          <a:spcPts val="0"/>
                        </a:spcBef>
                        <a:spcAft>
                          <a:spcPts val="0"/>
                        </a:spcAft>
                        <a:buNone/>
                      </a:pPr>
                      <a:r>
                        <a:rPr lang="en"/>
                        <a:t>Các bên liên quan trong quá trình làm việc ở công ty và dự án</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3"/>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22" name="Google Shape;222;p23"/>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Report lúc nào?</a:t>
            </a:r>
            <a:endParaRPr sz="2500">
              <a:latin typeface="Calibri"/>
              <a:ea typeface="Calibri"/>
              <a:cs typeface="Calibri"/>
              <a:sym typeface="Calibri"/>
            </a:endParaRPr>
          </a:p>
        </p:txBody>
      </p:sp>
      <p:cxnSp>
        <p:nvCxnSpPr>
          <p:cNvPr id="223" name="Google Shape;223;p23"/>
          <p:cNvCxnSpPr/>
          <p:nvPr/>
        </p:nvCxnSpPr>
        <p:spPr>
          <a:xfrm>
            <a:off x="10748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224" name="Google Shape;224;p23"/>
          <p:cNvSpPr txBox="1"/>
          <p:nvPr/>
        </p:nvSpPr>
        <p:spPr>
          <a:xfrm>
            <a:off x="338625" y="1018825"/>
            <a:ext cx="8143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Timing cho report là rất quan trọng, hãy xác định thời điểm gửi báo cáo cho phù hợp. Tốt nhất hãy xác định thời điểm dựa trên định luật Parkinson cho từng loại hình report.</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i="1" lang="en">
                <a:latin typeface="Calibri"/>
                <a:ea typeface="Calibri"/>
                <a:cs typeface="Calibri"/>
                <a:sym typeface="Calibri"/>
              </a:rPr>
              <a:t>※Định luật Parkinson là phương pháp xác định sự tập trung nhất của mỗi người vào từng thời điểm trong 1 ngày</a:t>
            </a:r>
            <a:endParaRPr i="1">
              <a:latin typeface="Calibri"/>
              <a:ea typeface="Calibri"/>
              <a:cs typeface="Calibri"/>
              <a:sym typeface="Calibri"/>
            </a:endParaRPr>
          </a:p>
        </p:txBody>
      </p:sp>
      <p:pic>
        <p:nvPicPr>
          <p:cNvPr id="225" name="Google Shape;225;p23"/>
          <p:cNvPicPr preferRelativeResize="0"/>
          <p:nvPr/>
        </p:nvPicPr>
        <p:blipFill>
          <a:blip r:embed="rId4">
            <a:alphaModFix/>
          </a:blip>
          <a:stretch>
            <a:fillRect/>
          </a:stretch>
        </p:blipFill>
        <p:spPr>
          <a:xfrm>
            <a:off x="2377113" y="2163100"/>
            <a:ext cx="4389774" cy="2557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24"/>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31" name="Google Shape;231;p24"/>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Phương thức gửi báo cáo</a:t>
            </a:r>
            <a:r>
              <a:rPr lang="en" sz="2500">
                <a:latin typeface="Calibri"/>
                <a:ea typeface="Calibri"/>
                <a:cs typeface="Calibri"/>
                <a:sym typeface="Calibri"/>
              </a:rPr>
              <a:t>?</a:t>
            </a:r>
            <a:endParaRPr sz="2500">
              <a:latin typeface="Calibri"/>
              <a:ea typeface="Calibri"/>
              <a:cs typeface="Calibri"/>
              <a:sym typeface="Calibri"/>
            </a:endParaRPr>
          </a:p>
        </p:txBody>
      </p:sp>
      <p:cxnSp>
        <p:nvCxnSpPr>
          <p:cNvPr id="232" name="Google Shape;232;p24"/>
          <p:cNvCxnSpPr/>
          <p:nvPr/>
        </p:nvCxnSpPr>
        <p:spPr>
          <a:xfrm>
            <a:off x="10748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233" name="Google Shape;233;p24"/>
          <p:cNvSpPr txBox="1"/>
          <p:nvPr/>
        </p:nvSpPr>
        <p:spPr>
          <a:xfrm>
            <a:off x="338625" y="888375"/>
            <a:ext cx="8143800" cy="365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alibri"/>
                <a:ea typeface="Calibri"/>
                <a:cs typeface="Calibri"/>
                <a:sym typeface="Calibri"/>
              </a:rPr>
              <a:t>Khi gửi báo cáo cần chú ý những điểm sau:</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Đặt timing báo cáo cho phù hợp</a:t>
            </a:r>
            <a:endParaRPr sz="1000">
              <a:latin typeface="Calibri"/>
              <a:ea typeface="Calibri"/>
              <a:cs typeface="Calibri"/>
              <a:sym typeface="Calibri"/>
            </a:endParaRPr>
          </a:p>
          <a:p>
            <a:pPr indent="-292100" lvl="1" marL="914400" rtl="0" algn="l">
              <a:lnSpc>
                <a:spcPct val="100000"/>
              </a:lnSpc>
              <a:spcBef>
                <a:spcPts val="0"/>
              </a:spcBef>
              <a:spcAft>
                <a:spcPts val="0"/>
              </a:spcAft>
              <a:buSzPts val="1000"/>
              <a:buFont typeface="Calibri"/>
              <a:buAutoNum type="alphaLcPeriod"/>
            </a:pPr>
            <a:r>
              <a:rPr lang="en" sz="1000">
                <a:highlight>
                  <a:srgbClr val="FFFFFF"/>
                </a:highlight>
                <a:latin typeface="Calibri"/>
                <a:ea typeface="Calibri"/>
                <a:cs typeface="Calibri"/>
                <a:sym typeface="Calibri"/>
              </a:rPr>
              <a:t>Khi bắt đầu công việc</a:t>
            </a:r>
            <a:endParaRPr sz="1000">
              <a:highlight>
                <a:srgbClr val="FFFFFF"/>
              </a:highlight>
              <a:latin typeface="Calibri"/>
              <a:ea typeface="Calibri"/>
              <a:cs typeface="Calibri"/>
              <a:sym typeface="Calibri"/>
            </a:endParaRPr>
          </a:p>
          <a:p>
            <a:pPr indent="-292100" lvl="1" marL="914400" rtl="0" algn="l">
              <a:lnSpc>
                <a:spcPct val="100000"/>
              </a:lnSpc>
              <a:spcBef>
                <a:spcPts val="0"/>
              </a:spcBef>
              <a:spcAft>
                <a:spcPts val="0"/>
              </a:spcAft>
              <a:buSzPts val="1000"/>
              <a:buFont typeface="Calibri"/>
              <a:buAutoNum type="alphaLcPeriod"/>
            </a:pPr>
            <a:r>
              <a:rPr lang="en" sz="1000">
                <a:highlight>
                  <a:srgbClr val="FFFFFF"/>
                </a:highlight>
                <a:latin typeface="Calibri"/>
                <a:ea typeface="Calibri"/>
                <a:cs typeface="Calibri"/>
                <a:sym typeface="Calibri"/>
              </a:rPr>
              <a:t>Khi đang tiến hành công việc</a:t>
            </a:r>
            <a:endParaRPr sz="1000">
              <a:highlight>
                <a:srgbClr val="FFFFFF"/>
              </a:highlight>
              <a:latin typeface="Calibri"/>
              <a:ea typeface="Calibri"/>
              <a:cs typeface="Calibri"/>
              <a:sym typeface="Calibri"/>
            </a:endParaRPr>
          </a:p>
          <a:p>
            <a:pPr indent="-292100" lvl="1" marL="914400" rtl="0" algn="l">
              <a:lnSpc>
                <a:spcPct val="100000"/>
              </a:lnSpc>
              <a:spcBef>
                <a:spcPts val="0"/>
              </a:spcBef>
              <a:spcAft>
                <a:spcPts val="0"/>
              </a:spcAft>
              <a:buSzPts val="1000"/>
              <a:buFont typeface="Calibri"/>
              <a:buAutoNum type="alphaLcPeriod"/>
            </a:pPr>
            <a:r>
              <a:rPr lang="en" sz="1000">
                <a:highlight>
                  <a:srgbClr val="FFFFFF"/>
                </a:highlight>
                <a:latin typeface="Calibri"/>
                <a:ea typeface="Calibri"/>
                <a:cs typeface="Calibri"/>
                <a:sym typeface="Calibri"/>
              </a:rPr>
              <a:t>Khi cảm thấy có vấn đề</a:t>
            </a:r>
            <a:endParaRPr sz="1000">
              <a:highlight>
                <a:srgbClr val="FFFFFF"/>
              </a:highlight>
              <a:latin typeface="Calibri"/>
              <a:ea typeface="Calibri"/>
              <a:cs typeface="Calibri"/>
              <a:sym typeface="Calibri"/>
            </a:endParaRPr>
          </a:p>
          <a:p>
            <a:pPr indent="-292100" lvl="1" marL="914400" rtl="0" algn="l">
              <a:lnSpc>
                <a:spcPct val="100000"/>
              </a:lnSpc>
              <a:spcBef>
                <a:spcPts val="0"/>
              </a:spcBef>
              <a:spcAft>
                <a:spcPts val="0"/>
              </a:spcAft>
              <a:buSzPts val="1000"/>
              <a:buFont typeface="Calibri"/>
              <a:buAutoNum type="alphaLcPeriod"/>
            </a:pPr>
            <a:r>
              <a:rPr lang="en" sz="1000">
                <a:highlight>
                  <a:srgbClr val="FFFFFF"/>
                </a:highlight>
                <a:latin typeface="Calibri"/>
                <a:ea typeface="Calibri"/>
                <a:cs typeface="Calibri"/>
                <a:sym typeface="Calibri"/>
              </a:rPr>
              <a:t>Khi vấn đề phát sinh</a:t>
            </a:r>
            <a:r>
              <a:rPr b="1" lang="en" sz="1000">
                <a:solidFill>
                  <a:srgbClr val="FF0000"/>
                </a:solidFill>
                <a:highlight>
                  <a:srgbClr val="FFFFFF"/>
                </a:highlight>
                <a:latin typeface="Calibri"/>
                <a:ea typeface="Calibri"/>
                <a:cs typeface="Calibri"/>
                <a:sym typeface="Calibri"/>
              </a:rPr>
              <a:t> ( báo cáo ngay lập tức )</a:t>
            </a:r>
            <a:endParaRPr b="1" sz="1000">
              <a:solidFill>
                <a:srgbClr val="FF0000"/>
              </a:solidFill>
              <a:highlight>
                <a:srgbClr val="FFFFFF"/>
              </a:highlight>
              <a:latin typeface="Calibri"/>
              <a:ea typeface="Calibri"/>
              <a:cs typeface="Calibri"/>
              <a:sym typeface="Calibri"/>
            </a:endParaRPr>
          </a:p>
          <a:p>
            <a:pPr indent="-292100" lvl="1" marL="914400" rtl="0" algn="l">
              <a:lnSpc>
                <a:spcPct val="100000"/>
              </a:lnSpc>
              <a:spcBef>
                <a:spcPts val="0"/>
              </a:spcBef>
              <a:spcAft>
                <a:spcPts val="0"/>
              </a:spcAft>
              <a:buSzPts val="1000"/>
              <a:buFont typeface="Calibri"/>
              <a:buAutoNum type="alphaLcPeriod"/>
            </a:pPr>
            <a:r>
              <a:rPr lang="en" sz="1000">
                <a:highlight>
                  <a:srgbClr val="FFFFFF"/>
                </a:highlight>
                <a:latin typeface="Calibri"/>
                <a:ea typeface="Calibri"/>
                <a:cs typeface="Calibri"/>
                <a:sym typeface="Calibri"/>
              </a:rPr>
              <a:t>Khi hoàn thành công việc</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Keep deadline của báo cáo</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Nội dung báo cáo hãy bắt đầu từ kết luận/kết quả trở đi</a:t>
            </a:r>
            <a:endParaRPr sz="1000">
              <a:latin typeface="Calibri"/>
              <a:ea typeface="Calibri"/>
              <a:cs typeface="Calibri"/>
              <a:sym typeface="Calibri"/>
            </a:endParaRPr>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Tùy từng loại nội dung báo cáo mà hãy thay đổi cách bắt đầu.</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Báo cáo không gấp: </a:t>
            </a:r>
            <a:endParaRPr sz="1000">
              <a:latin typeface="Calibri"/>
              <a:ea typeface="Calibri"/>
              <a:cs typeface="Calibri"/>
              <a:sym typeface="Calibri"/>
            </a:endParaRPr>
          </a:p>
          <a:p>
            <a:pPr indent="-292100" lvl="2" marL="1371600" rtl="0" algn="l">
              <a:spcBef>
                <a:spcPts val="0"/>
              </a:spcBef>
              <a:spcAft>
                <a:spcPts val="0"/>
              </a:spcAft>
              <a:buSzPts val="1000"/>
              <a:buFont typeface="Calibri"/>
              <a:buAutoNum type="romanLcPeriod"/>
            </a:pPr>
            <a:r>
              <a:rPr lang="en" sz="1000"/>
              <a:t>「○○の件でご相談よろしいでしょうか？」</a:t>
            </a:r>
            <a:endParaRPr sz="1000"/>
          </a:p>
          <a:p>
            <a:pPr indent="-292100" lvl="2" marL="1371600" rtl="0" algn="l">
              <a:spcBef>
                <a:spcPts val="0"/>
              </a:spcBef>
              <a:spcAft>
                <a:spcPts val="0"/>
              </a:spcAft>
              <a:buSzPts val="1000"/>
              <a:buAutoNum type="romanLcPeriod"/>
            </a:pPr>
            <a:r>
              <a:rPr lang="en" sz="1000"/>
              <a:t>「今お時間よろしいですか？」</a:t>
            </a:r>
            <a:endParaRPr sz="1000"/>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Báo cáo gấp/ rất gấp: </a:t>
            </a:r>
            <a:endParaRPr sz="1000">
              <a:latin typeface="Calibri"/>
              <a:ea typeface="Calibri"/>
              <a:cs typeface="Calibri"/>
              <a:sym typeface="Calibri"/>
            </a:endParaRPr>
          </a:p>
          <a:p>
            <a:pPr indent="-292100" lvl="2" marL="1371600" rtl="0" algn="l">
              <a:spcBef>
                <a:spcPts val="0"/>
              </a:spcBef>
              <a:spcAft>
                <a:spcPts val="0"/>
              </a:spcAft>
              <a:buSzPts val="1000"/>
              <a:buFont typeface="Calibri"/>
              <a:buAutoNum type="romanLcPeriod"/>
            </a:pPr>
            <a:r>
              <a:rPr lang="en" sz="1000"/>
              <a:t>「トラブルが発生したのですが、今よろしいでしょうか？」</a:t>
            </a:r>
            <a:endParaRPr sz="1000"/>
          </a:p>
          <a:p>
            <a:pPr indent="-292100" lvl="2" marL="1371600" rtl="0" algn="l">
              <a:spcBef>
                <a:spcPts val="0"/>
              </a:spcBef>
              <a:spcAft>
                <a:spcPts val="0"/>
              </a:spcAft>
              <a:buSzPts val="1000"/>
              <a:buFont typeface="Calibri"/>
              <a:buAutoNum type="romanLcPeriod"/>
            </a:pPr>
            <a:r>
              <a:rPr lang="en" sz="1000"/>
              <a:t>「ミス発生のご報告があります」</a:t>
            </a:r>
            <a:endParaRPr sz="1000"/>
          </a:p>
          <a:p>
            <a:pPr indent="-292100" lvl="2" marL="1371600" rtl="0" algn="l">
              <a:spcBef>
                <a:spcPts val="0"/>
              </a:spcBef>
              <a:spcAft>
                <a:spcPts val="0"/>
              </a:spcAft>
              <a:buSzPts val="1000"/>
              <a:buFont typeface="Calibri"/>
              <a:buAutoNum type="romanLcPeriod"/>
            </a:pPr>
            <a:r>
              <a:rPr lang="en" sz="1000"/>
              <a:t>「急ぎの用件で失礼します」</a:t>
            </a:r>
            <a:endParaRPr sz="1000"/>
          </a:p>
          <a:p>
            <a:pPr indent="-292100" lvl="0" marL="457200" rtl="0" algn="l">
              <a:spcBef>
                <a:spcPts val="0"/>
              </a:spcBef>
              <a:spcAft>
                <a:spcPts val="0"/>
              </a:spcAft>
              <a:buSzPts val="1000"/>
              <a:buFont typeface="Calibri"/>
              <a:buAutoNum type="arabicPeriod"/>
            </a:pPr>
            <a:r>
              <a:rPr lang="en" sz="1000">
                <a:latin typeface="Calibri"/>
                <a:ea typeface="Calibri"/>
                <a:cs typeface="Calibri"/>
                <a:sym typeface="Calibri"/>
              </a:rPr>
              <a:t>Nội dung chi tiết báo cáo từ thông tin xấu trước</a:t>
            </a:r>
            <a:endParaRPr sz="1000">
              <a:latin typeface="Calibri"/>
              <a:ea typeface="Calibri"/>
              <a:cs typeface="Calibri"/>
              <a:sym typeface="Calibri"/>
            </a:endParaRPr>
          </a:p>
          <a:p>
            <a:pPr indent="-292100" lvl="1" marL="914400" rtl="0" algn="l">
              <a:spcBef>
                <a:spcPts val="0"/>
              </a:spcBef>
              <a:spcAft>
                <a:spcPts val="0"/>
              </a:spcAft>
              <a:buSzPts val="1000"/>
              <a:buFont typeface="Calibri"/>
              <a:buAutoNum type="alphaLcPeriod"/>
            </a:pPr>
            <a:r>
              <a:rPr lang="en" sz="1000">
                <a:latin typeface="Calibri"/>
                <a:ea typeface="Calibri"/>
                <a:cs typeface="Calibri"/>
                <a:sym typeface="Calibri"/>
              </a:rPr>
              <a:t>Ví dụ: </a:t>
            </a:r>
            <a:endParaRPr sz="1000">
              <a:latin typeface="Calibri"/>
              <a:ea typeface="Calibri"/>
              <a:cs typeface="Calibri"/>
              <a:sym typeface="Calibri"/>
            </a:endParaRPr>
          </a:p>
          <a:p>
            <a:pPr indent="-292100" lvl="2" marL="1371600" rtl="0" algn="l">
              <a:spcBef>
                <a:spcPts val="0"/>
              </a:spcBef>
              <a:spcAft>
                <a:spcPts val="0"/>
              </a:spcAft>
              <a:buSzPts val="1000"/>
              <a:buFont typeface="Calibri"/>
              <a:buAutoNum type="romanLcPeriod"/>
            </a:pPr>
            <a:r>
              <a:rPr lang="en" sz="1000">
                <a:latin typeface="Calibri"/>
                <a:ea typeface="Calibri"/>
                <a:cs typeface="Calibri"/>
                <a:sym typeface="Calibri"/>
              </a:rPr>
              <a:t>取引先からクレームがきた</a:t>
            </a:r>
            <a:r>
              <a:rPr lang="en" sz="1000">
                <a:latin typeface="Calibri"/>
                <a:ea typeface="Calibri"/>
                <a:cs typeface="Calibri"/>
                <a:sym typeface="Calibri"/>
              </a:rPr>
              <a:t> </a:t>
            </a:r>
            <a:endParaRPr sz="1000">
              <a:latin typeface="Calibri"/>
              <a:ea typeface="Calibri"/>
              <a:cs typeface="Calibri"/>
              <a:sym typeface="Calibri"/>
            </a:endParaRPr>
          </a:p>
          <a:p>
            <a:pPr indent="-292100" lvl="2" marL="1371600" rtl="0" algn="l">
              <a:lnSpc>
                <a:spcPct val="153409"/>
              </a:lnSpc>
              <a:spcBef>
                <a:spcPts val="0"/>
              </a:spcBef>
              <a:spcAft>
                <a:spcPts val="0"/>
              </a:spcAft>
              <a:buSzPts val="1000"/>
              <a:buFont typeface="Calibri"/>
              <a:buAutoNum type="romanLcPeriod"/>
            </a:pPr>
            <a:r>
              <a:rPr lang="en" sz="1000">
                <a:highlight>
                  <a:srgbClr val="FFFFFF"/>
                </a:highlight>
                <a:latin typeface="Calibri"/>
                <a:ea typeface="Calibri"/>
                <a:cs typeface="Calibri"/>
                <a:sym typeface="Calibri"/>
              </a:rPr>
              <a:t>パンフレットが出来上がった</a:t>
            </a:r>
            <a:endParaRPr sz="1000">
              <a:highlight>
                <a:srgbClr val="FFFFFF"/>
              </a:highlight>
              <a:latin typeface="Calibri"/>
              <a:ea typeface="Calibri"/>
              <a:cs typeface="Calibri"/>
              <a:sym typeface="Calibri"/>
            </a:endParaRPr>
          </a:p>
          <a:p>
            <a:pPr indent="-292100" lvl="2" marL="1371600" rtl="0" algn="l">
              <a:spcBef>
                <a:spcPts val="0"/>
              </a:spcBef>
              <a:spcAft>
                <a:spcPts val="0"/>
              </a:spcAft>
              <a:buSzPts val="1000"/>
              <a:buFont typeface="Calibri"/>
              <a:buAutoNum type="romanLcPeriod"/>
            </a:pPr>
            <a:r>
              <a:rPr lang="en" sz="1000">
                <a:latin typeface="Calibri"/>
                <a:ea typeface="Calibri"/>
                <a:cs typeface="Calibri"/>
                <a:sym typeface="Calibri"/>
              </a:rPr>
              <a:t>3件契約できた</a:t>
            </a:r>
            <a:endParaRPr sz="1000">
              <a:highlight>
                <a:srgbClr val="FFFFFF"/>
              </a:highlight>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25"/>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39" name="Google Shape;239;p25"/>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Phương thức gửi báo cáo?</a:t>
            </a:r>
            <a:endParaRPr sz="2500">
              <a:latin typeface="Calibri"/>
              <a:ea typeface="Calibri"/>
              <a:cs typeface="Calibri"/>
              <a:sym typeface="Calibri"/>
            </a:endParaRPr>
          </a:p>
        </p:txBody>
      </p:sp>
      <p:cxnSp>
        <p:nvCxnSpPr>
          <p:cNvPr id="240" name="Google Shape;240;p25"/>
          <p:cNvCxnSpPr/>
          <p:nvPr/>
        </p:nvCxnSpPr>
        <p:spPr>
          <a:xfrm>
            <a:off x="10748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241" name="Google Shape;241;p25"/>
          <p:cNvSpPr txBox="1"/>
          <p:nvPr/>
        </p:nvSpPr>
        <p:spPr>
          <a:xfrm>
            <a:off x="338625" y="888375"/>
            <a:ext cx="8143800" cy="3644400"/>
          </a:xfrm>
          <a:prstGeom prst="rect">
            <a:avLst/>
          </a:prstGeom>
          <a:noFill/>
          <a:ln>
            <a:noFill/>
          </a:ln>
        </p:spPr>
        <p:txBody>
          <a:bodyPr anchorCtr="0" anchor="t" bIns="91425" lIns="91425" spcFirstLastPara="1" rIns="91425" wrap="square" tIns="91425">
            <a:spAutoFit/>
          </a:bodyPr>
          <a:lstStyle/>
          <a:p>
            <a:pPr indent="-292100" lvl="0" marL="457200" rtl="0" algn="l">
              <a:lnSpc>
                <a:spcPct val="153409"/>
              </a:lnSpc>
              <a:spcBef>
                <a:spcPts val="1100"/>
              </a:spcBef>
              <a:spcAft>
                <a:spcPts val="0"/>
              </a:spcAft>
              <a:buSzPts val="1000"/>
              <a:buFont typeface="Calibri"/>
              <a:buAutoNum type="arabicPeriod"/>
            </a:pPr>
            <a:r>
              <a:rPr lang="en" sz="1000">
                <a:highlight>
                  <a:srgbClr val="FFFFFF"/>
                </a:highlight>
                <a:latin typeface="Calibri"/>
                <a:ea typeface="Calibri"/>
                <a:cs typeface="Calibri"/>
                <a:sym typeface="Calibri"/>
              </a:rPr>
              <a:t>Hãy chuẩn bị thông tin chính xác để báo cáo</a:t>
            </a:r>
            <a:endParaRPr sz="1000">
              <a:highlight>
                <a:srgbClr val="FFFFFF"/>
              </a:highlight>
              <a:latin typeface="Calibri"/>
              <a:ea typeface="Calibri"/>
              <a:cs typeface="Calibri"/>
              <a:sym typeface="Calibri"/>
            </a:endParaRPr>
          </a:p>
          <a:p>
            <a:pPr indent="-292100" lvl="1" marL="914400" rtl="0" algn="l">
              <a:lnSpc>
                <a:spcPct val="153409"/>
              </a:lnSpc>
              <a:spcBef>
                <a:spcPts val="0"/>
              </a:spcBef>
              <a:spcAft>
                <a:spcPts val="0"/>
              </a:spcAft>
              <a:buSzPts val="1000"/>
              <a:buFont typeface="Calibri"/>
              <a:buAutoNum type="alphaLcPeriod"/>
            </a:pPr>
            <a:r>
              <a:rPr lang="en" sz="1000">
                <a:highlight>
                  <a:srgbClr val="FFFFFF"/>
                </a:highlight>
                <a:latin typeface="Calibri"/>
                <a:ea typeface="Calibri"/>
                <a:cs typeface="Calibri"/>
                <a:sym typeface="Calibri"/>
              </a:rPr>
              <a:t>Ví dụ:</a:t>
            </a:r>
            <a:endParaRPr sz="1000">
              <a:highlight>
                <a:srgbClr val="FFFFFF"/>
              </a:highlight>
              <a:latin typeface="Calibri"/>
              <a:ea typeface="Calibri"/>
              <a:cs typeface="Calibri"/>
              <a:sym typeface="Calibri"/>
            </a:endParaRPr>
          </a:p>
          <a:p>
            <a:pPr indent="-292100" lvl="2" marL="1371600" rtl="0" algn="l">
              <a:lnSpc>
                <a:spcPct val="153409"/>
              </a:lnSpc>
              <a:spcBef>
                <a:spcPts val="0"/>
              </a:spcBef>
              <a:spcAft>
                <a:spcPts val="0"/>
              </a:spcAft>
              <a:buSzPts val="1000"/>
              <a:buFont typeface="Calibri"/>
              <a:buAutoNum type="romanLcPeriod"/>
            </a:pPr>
            <a:r>
              <a:rPr lang="en" sz="1000">
                <a:highlight>
                  <a:srgbClr val="FFFFFF"/>
                </a:highlight>
                <a:latin typeface="Calibri"/>
                <a:ea typeface="Calibri"/>
                <a:cs typeface="Calibri"/>
                <a:sym typeface="Calibri"/>
              </a:rPr>
              <a:t>「間に合うと思います」→</a:t>
            </a:r>
            <a:r>
              <a:rPr b="1" lang="en" sz="1000">
                <a:highlight>
                  <a:srgbClr val="FFFFFF"/>
                </a:highlight>
                <a:latin typeface="Calibri"/>
                <a:ea typeface="Calibri"/>
                <a:cs typeface="Calibri"/>
                <a:sym typeface="Calibri"/>
              </a:rPr>
              <a:t>「11時までに到着します」</a:t>
            </a:r>
            <a:endParaRPr b="1" sz="1000">
              <a:highlight>
                <a:srgbClr val="FFFFFF"/>
              </a:highlight>
              <a:latin typeface="Calibri"/>
              <a:ea typeface="Calibri"/>
              <a:cs typeface="Calibri"/>
              <a:sym typeface="Calibri"/>
            </a:endParaRPr>
          </a:p>
          <a:p>
            <a:pPr indent="-292100" lvl="2" marL="1371600" rtl="0" algn="l">
              <a:lnSpc>
                <a:spcPct val="153409"/>
              </a:lnSpc>
              <a:spcBef>
                <a:spcPts val="0"/>
              </a:spcBef>
              <a:spcAft>
                <a:spcPts val="0"/>
              </a:spcAft>
              <a:buSzPts val="1000"/>
              <a:buFont typeface="Meiryo"/>
              <a:buAutoNum type="romanLcPeriod"/>
            </a:pPr>
            <a:r>
              <a:rPr lang="en" sz="1000">
                <a:highlight>
                  <a:srgbClr val="FFFFFF"/>
                </a:highlight>
                <a:latin typeface="Calibri"/>
                <a:ea typeface="Calibri"/>
                <a:cs typeface="Calibri"/>
                <a:sym typeface="Calibri"/>
              </a:rPr>
              <a:t>「みんなが言っています」→</a:t>
            </a:r>
            <a:r>
              <a:rPr b="1" lang="en" sz="1000">
                <a:highlight>
                  <a:srgbClr val="FFFFFF"/>
                </a:highlight>
                <a:latin typeface="Calibri"/>
                <a:ea typeface="Calibri"/>
                <a:cs typeface="Calibri"/>
                <a:sym typeface="Calibri"/>
              </a:rPr>
              <a:t>「○○さんと○○さんは同意見でした。私の考えは○○です」</a:t>
            </a:r>
            <a:endParaRPr b="1" sz="1000">
              <a:highlight>
                <a:srgbClr val="FFFFFF"/>
              </a:highlight>
              <a:latin typeface="Calibri"/>
              <a:ea typeface="Calibri"/>
              <a:cs typeface="Calibri"/>
              <a:sym typeface="Calibri"/>
            </a:endParaRPr>
          </a:p>
          <a:p>
            <a:pPr indent="-292100" lvl="2" marL="1371600" rtl="0" algn="l">
              <a:lnSpc>
                <a:spcPct val="153409"/>
              </a:lnSpc>
              <a:spcBef>
                <a:spcPts val="0"/>
              </a:spcBef>
              <a:spcAft>
                <a:spcPts val="0"/>
              </a:spcAft>
              <a:buSzPts val="1000"/>
              <a:buFont typeface="Meiryo"/>
              <a:buAutoNum type="romanLcPeriod"/>
            </a:pPr>
            <a:r>
              <a:rPr lang="en" sz="1000">
                <a:highlight>
                  <a:srgbClr val="FFFFFF"/>
                </a:highlight>
                <a:latin typeface="Calibri"/>
                <a:ea typeface="Calibri"/>
                <a:cs typeface="Calibri"/>
                <a:sym typeface="Calibri"/>
              </a:rPr>
              <a:t>「少し先になると思います」→</a:t>
            </a:r>
            <a:r>
              <a:rPr b="1" lang="en" sz="1000">
                <a:highlight>
                  <a:srgbClr val="FFFFFF"/>
                </a:highlight>
                <a:latin typeface="Calibri"/>
                <a:ea typeface="Calibri"/>
                <a:cs typeface="Calibri"/>
                <a:sym typeface="Calibri"/>
              </a:rPr>
              <a:t>「3日後になります」</a:t>
            </a:r>
            <a:endParaRPr b="1" sz="1000">
              <a:highlight>
                <a:srgbClr val="FFFFFF"/>
              </a:highlight>
              <a:latin typeface="Calibri"/>
              <a:ea typeface="Calibri"/>
              <a:cs typeface="Calibri"/>
              <a:sym typeface="Calibri"/>
            </a:endParaRPr>
          </a:p>
          <a:p>
            <a:pPr indent="-292100" lvl="0" marL="457200" rtl="0" algn="l">
              <a:lnSpc>
                <a:spcPct val="153409"/>
              </a:lnSpc>
              <a:spcBef>
                <a:spcPts val="0"/>
              </a:spcBef>
              <a:spcAft>
                <a:spcPts val="0"/>
              </a:spcAft>
              <a:buSzPts val="1000"/>
              <a:buFont typeface="Calibri"/>
              <a:buAutoNum type="arabicPeriod"/>
            </a:pPr>
            <a:r>
              <a:rPr lang="en" sz="1000">
                <a:highlight>
                  <a:srgbClr val="FFFFFF"/>
                </a:highlight>
                <a:latin typeface="Calibri"/>
                <a:ea typeface="Calibri"/>
                <a:cs typeface="Calibri"/>
                <a:sym typeface="Calibri"/>
              </a:rPr>
              <a:t>Cần báo cáo hiện trạng thực tế. Hãy phân biệt rõ ràng giữa Thực tế / sự phỏng đoán cá nhân</a:t>
            </a:r>
            <a:endParaRPr sz="1000">
              <a:highlight>
                <a:srgbClr val="FFFFFF"/>
              </a:highlight>
              <a:latin typeface="Calibri"/>
              <a:ea typeface="Calibri"/>
              <a:cs typeface="Calibri"/>
              <a:sym typeface="Calibri"/>
            </a:endParaRPr>
          </a:p>
          <a:p>
            <a:pPr indent="-292100" lvl="1" marL="914400" rtl="0" algn="l">
              <a:lnSpc>
                <a:spcPct val="153409"/>
              </a:lnSpc>
              <a:spcBef>
                <a:spcPts val="0"/>
              </a:spcBef>
              <a:spcAft>
                <a:spcPts val="0"/>
              </a:spcAft>
              <a:buSzPts val="1000"/>
              <a:buFont typeface="Calibri"/>
              <a:buAutoNum type="alphaLcPeriod"/>
            </a:pPr>
            <a:r>
              <a:rPr lang="en" sz="1000">
                <a:highlight>
                  <a:srgbClr val="FFFFFF"/>
                </a:highlight>
                <a:latin typeface="Calibri"/>
                <a:ea typeface="Calibri"/>
                <a:cs typeface="Calibri"/>
                <a:sym typeface="Calibri"/>
              </a:rPr>
              <a:t>Ví dụ:</a:t>
            </a:r>
            <a:endParaRPr sz="1000">
              <a:highlight>
                <a:srgbClr val="FFFFFF"/>
              </a:highlight>
              <a:latin typeface="Calibri"/>
              <a:ea typeface="Calibri"/>
              <a:cs typeface="Calibri"/>
              <a:sym typeface="Calibri"/>
            </a:endParaRPr>
          </a:p>
          <a:p>
            <a:pPr indent="-292100" lvl="2" marL="1371600" rtl="0" algn="l">
              <a:lnSpc>
                <a:spcPct val="153409"/>
              </a:lnSpc>
              <a:spcBef>
                <a:spcPts val="0"/>
              </a:spcBef>
              <a:spcAft>
                <a:spcPts val="0"/>
              </a:spcAft>
              <a:buSzPts val="1000"/>
              <a:buFont typeface="Calibri"/>
              <a:buAutoNum type="romanLcPeriod"/>
            </a:pPr>
            <a:r>
              <a:rPr lang="en" sz="1000">
                <a:solidFill>
                  <a:srgbClr val="FF0000"/>
                </a:solidFill>
                <a:highlight>
                  <a:srgbClr val="FFFFFF"/>
                </a:highlight>
                <a:latin typeface="Calibri"/>
                <a:ea typeface="Calibri"/>
                <a:cs typeface="Calibri"/>
                <a:sym typeface="Calibri"/>
              </a:rPr>
              <a:t>✘：</a:t>
            </a:r>
            <a:r>
              <a:rPr lang="en" sz="1000">
                <a:highlight>
                  <a:srgbClr val="FFFFFF"/>
                </a:highlight>
                <a:latin typeface="Calibri"/>
                <a:ea typeface="Calibri"/>
                <a:cs typeface="Calibri"/>
                <a:sym typeface="Calibri"/>
              </a:rPr>
              <a:t>「憶測でものを言うな！」</a:t>
            </a:r>
            <a:endParaRPr sz="1000">
              <a:highlight>
                <a:srgbClr val="FFFFFF"/>
              </a:highlight>
              <a:latin typeface="Calibri"/>
              <a:ea typeface="Calibri"/>
              <a:cs typeface="Calibri"/>
              <a:sym typeface="Calibri"/>
            </a:endParaRPr>
          </a:p>
          <a:p>
            <a:pPr indent="-292100" lvl="2" marL="1371600" rtl="0" algn="l">
              <a:lnSpc>
                <a:spcPct val="153409"/>
              </a:lnSpc>
              <a:spcBef>
                <a:spcPts val="0"/>
              </a:spcBef>
              <a:spcAft>
                <a:spcPts val="0"/>
              </a:spcAft>
              <a:buSzPts val="1000"/>
              <a:buFont typeface="Calibri"/>
              <a:buAutoNum type="romanLcPeriod"/>
            </a:pPr>
            <a:r>
              <a:rPr lang="en" sz="1000">
                <a:solidFill>
                  <a:srgbClr val="FF0000"/>
                </a:solidFill>
                <a:highlight>
                  <a:srgbClr val="FFFFFF"/>
                </a:highlight>
                <a:latin typeface="Calibri"/>
                <a:ea typeface="Calibri"/>
                <a:cs typeface="Calibri"/>
                <a:sym typeface="Calibri"/>
              </a:rPr>
              <a:t>✘：</a:t>
            </a:r>
            <a:r>
              <a:rPr lang="en" sz="1000">
                <a:highlight>
                  <a:srgbClr val="FFFFFF"/>
                </a:highlight>
                <a:latin typeface="Calibri"/>
                <a:ea typeface="Calibri"/>
                <a:cs typeface="Calibri"/>
                <a:sym typeface="Calibri"/>
              </a:rPr>
              <a:t>「自分の都合の良い解釈をするな！」</a:t>
            </a:r>
            <a:endParaRPr sz="1000">
              <a:highlight>
                <a:srgbClr val="FFFFFF"/>
              </a:highlight>
              <a:latin typeface="Calibri"/>
              <a:ea typeface="Calibri"/>
              <a:cs typeface="Calibri"/>
              <a:sym typeface="Calibri"/>
            </a:endParaRPr>
          </a:p>
          <a:p>
            <a:pPr indent="-292100" lvl="2" marL="1371600" rtl="0" algn="l">
              <a:lnSpc>
                <a:spcPct val="153409"/>
              </a:lnSpc>
              <a:spcBef>
                <a:spcPts val="0"/>
              </a:spcBef>
              <a:spcAft>
                <a:spcPts val="0"/>
              </a:spcAft>
              <a:buSzPts val="1000"/>
              <a:buFont typeface="Calibri"/>
              <a:buAutoNum type="romanLcPeriod"/>
            </a:pPr>
            <a:r>
              <a:rPr b="1" lang="en" sz="1000">
                <a:solidFill>
                  <a:srgbClr val="6AA84F"/>
                </a:solidFill>
                <a:highlight>
                  <a:srgbClr val="FFFFFF"/>
                </a:highlight>
                <a:latin typeface="Calibri"/>
                <a:ea typeface="Calibri"/>
                <a:cs typeface="Calibri"/>
                <a:sym typeface="Calibri"/>
              </a:rPr>
              <a:t>〇：</a:t>
            </a:r>
            <a:r>
              <a:rPr lang="en" sz="1000"/>
              <a:t>「取引先からキャンセルがありました。値下げすれば大丈夫です」</a:t>
            </a:r>
            <a:endParaRPr sz="1000">
              <a:highlight>
                <a:srgbClr val="FFFFFF"/>
              </a:highlight>
              <a:latin typeface="Calibri"/>
              <a:ea typeface="Calibri"/>
              <a:cs typeface="Calibri"/>
              <a:sym typeface="Calibri"/>
            </a:endParaRPr>
          </a:p>
          <a:p>
            <a:pPr indent="-292100" lvl="0" marL="457200" rtl="0" algn="l">
              <a:lnSpc>
                <a:spcPct val="153409"/>
              </a:lnSpc>
              <a:spcBef>
                <a:spcPts val="0"/>
              </a:spcBef>
              <a:spcAft>
                <a:spcPts val="0"/>
              </a:spcAft>
              <a:buSzPts val="1000"/>
              <a:buFont typeface="Calibri"/>
              <a:buAutoNum type="arabicPeriod"/>
            </a:pPr>
            <a:r>
              <a:rPr lang="en" sz="1000">
                <a:highlight>
                  <a:srgbClr val="FFFFFF"/>
                </a:highlight>
                <a:latin typeface="Calibri"/>
                <a:ea typeface="Calibri"/>
                <a:cs typeface="Calibri"/>
                <a:sym typeface="Calibri"/>
              </a:rPr>
              <a:t>Hãy loại bỏ ngay ý nghĩ không báo cáo</a:t>
            </a:r>
            <a:endParaRPr sz="1000">
              <a:highlight>
                <a:srgbClr val="FFFFFF"/>
              </a:highlight>
              <a:latin typeface="Calibri"/>
              <a:ea typeface="Calibri"/>
              <a:cs typeface="Calibri"/>
              <a:sym typeface="Calibri"/>
            </a:endParaRPr>
          </a:p>
          <a:p>
            <a:pPr indent="-292100" lvl="1" marL="914400" rtl="0" algn="l">
              <a:lnSpc>
                <a:spcPct val="153409"/>
              </a:lnSpc>
              <a:spcBef>
                <a:spcPts val="0"/>
              </a:spcBef>
              <a:spcAft>
                <a:spcPts val="0"/>
              </a:spcAft>
              <a:buSzPts val="1000"/>
              <a:buFont typeface="Calibri"/>
              <a:buAutoNum type="alphaLcPeriod"/>
            </a:pPr>
            <a:r>
              <a:rPr lang="en" sz="1000">
                <a:solidFill>
                  <a:srgbClr val="FF0000"/>
                </a:solidFill>
                <a:highlight>
                  <a:srgbClr val="FFFFFF"/>
                </a:highlight>
                <a:latin typeface="Calibri"/>
                <a:ea typeface="Calibri"/>
                <a:cs typeface="Calibri"/>
                <a:sym typeface="Calibri"/>
              </a:rPr>
              <a:t>✘：</a:t>
            </a:r>
            <a:r>
              <a:rPr lang="en" sz="1000">
                <a:highlight>
                  <a:srgbClr val="FFFFFF"/>
                </a:highlight>
                <a:latin typeface="Calibri"/>
                <a:ea typeface="Calibri"/>
                <a:cs typeface="Calibri"/>
                <a:sym typeface="Calibri"/>
              </a:rPr>
              <a:t>「上司が忙しそうだから後にしよう」「問題点をまとめてからにしよう」</a:t>
            </a:r>
            <a:endParaRPr sz="1000">
              <a:highlight>
                <a:srgbClr val="FFFFFF"/>
              </a:highlight>
              <a:latin typeface="Calibri"/>
              <a:ea typeface="Calibri"/>
              <a:cs typeface="Calibri"/>
              <a:sym typeface="Calibri"/>
            </a:endParaRPr>
          </a:p>
          <a:p>
            <a:pPr indent="-292100" lvl="1" marL="914400" rtl="0" algn="l">
              <a:lnSpc>
                <a:spcPct val="153409"/>
              </a:lnSpc>
              <a:spcBef>
                <a:spcPts val="0"/>
              </a:spcBef>
              <a:spcAft>
                <a:spcPts val="0"/>
              </a:spcAft>
              <a:buSzPts val="1000"/>
              <a:buFont typeface="Calibri"/>
              <a:buAutoNum type="alphaLcPeriod"/>
            </a:pPr>
            <a:r>
              <a:rPr b="1" lang="en" sz="1000">
                <a:solidFill>
                  <a:srgbClr val="6AA84F"/>
                </a:solidFill>
                <a:highlight>
                  <a:srgbClr val="FFFFFF"/>
                </a:highlight>
                <a:latin typeface="Calibri"/>
                <a:ea typeface="Calibri"/>
                <a:cs typeface="Calibri"/>
                <a:sym typeface="Calibri"/>
              </a:rPr>
              <a:t>〇：</a:t>
            </a:r>
            <a:r>
              <a:rPr lang="en" sz="1000"/>
              <a:t>「以前お会いした新規のお客様の件ですが、まだ返事がありません。今日電話をしようと思います。」</a:t>
            </a:r>
            <a:endParaRPr sz="1000"/>
          </a:p>
          <a:p>
            <a:pPr indent="-292100" lvl="0" marL="457200" rtl="0" algn="l">
              <a:lnSpc>
                <a:spcPct val="153409"/>
              </a:lnSpc>
              <a:spcBef>
                <a:spcPts val="0"/>
              </a:spcBef>
              <a:spcAft>
                <a:spcPts val="0"/>
              </a:spcAft>
              <a:buSzPts val="1000"/>
              <a:buFont typeface="Calibri"/>
              <a:buAutoNum type="arabicPeriod"/>
            </a:pPr>
            <a:r>
              <a:rPr lang="en" sz="1000">
                <a:highlight>
                  <a:srgbClr val="FFFFFF"/>
                </a:highlight>
                <a:latin typeface="Calibri"/>
                <a:ea typeface="Calibri"/>
                <a:cs typeface="Calibri"/>
                <a:sym typeface="Calibri"/>
              </a:rPr>
              <a:t>Hãy chuẩn bị phương án đối sách/chiến lược phù hợp khi báo cáo về vấn đề đã xảy ra</a:t>
            </a:r>
            <a:endParaRPr sz="1000">
              <a:highlight>
                <a:srgbClr val="FFFFFF"/>
              </a:highlight>
              <a:latin typeface="Calibri"/>
              <a:ea typeface="Calibri"/>
              <a:cs typeface="Calibri"/>
              <a:sym typeface="Calibri"/>
            </a:endParaRPr>
          </a:p>
          <a:p>
            <a:pPr indent="-292100" lvl="1" marL="914400" rtl="0" algn="l">
              <a:lnSpc>
                <a:spcPct val="153409"/>
              </a:lnSpc>
              <a:spcBef>
                <a:spcPts val="0"/>
              </a:spcBef>
              <a:spcAft>
                <a:spcPts val="0"/>
              </a:spcAft>
              <a:buSzPts val="1000"/>
              <a:buFont typeface="Calibri"/>
              <a:buAutoNum type="alphaLcPeriod"/>
            </a:pPr>
            <a:r>
              <a:rPr b="1" lang="en" sz="1000">
                <a:solidFill>
                  <a:srgbClr val="6AA84F"/>
                </a:solidFill>
                <a:highlight>
                  <a:srgbClr val="FFFFFF"/>
                </a:highlight>
                <a:latin typeface="Calibri"/>
                <a:ea typeface="Calibri"/>
                <a:cs typeface="Calibri"/>
                <a:sym typeface="Calibri"/>
              </a:rPr>
              <a:t>〇：</a:t>
            </a:r>
            <a:r>
              <a:rPr lang="en" sz="1000"/>
              <a:t>「以前お会いした新規のお客様の件ですが、まだ返事がありません。今日電話をしようと思います。」</a:t>
            </a:r>
            <a:endParaRPr sz="1000">
              <a:highlight>
                <a:srgbClr val="FFFFFF"/>
              </a:highlight>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26"/>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47" name="Google Shape;247;p26"/>
          <p:cNvSpPr txBox="1"/>
          <p:nvPr/>
        </p:nvSpPr>
        <p:spPr>
          <a:xfrm>
            <a:off x="422500" y="372325"/>
            <a:ext cx="7752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latin typeface="Calibri"/>
                <a:ea typeface="Calibri"/>
                <a:cs typeface="Calibri"/>
                <a:sym typeface="Calibri"/>
              </a:rPr>
              <a:t>Phương thức gửi báo cáo?</a:t>
            </a:r>
            <a:endParaRPr sz="2500">
              <a:latin typeface="Calibri"/>
              <a:ea typeface="Calibri"/>
              <a:cs typeface="Calibri"/>
              <a:sym typeface="Calibri"/>
            </a:endParaRPr>
          </a:p>
        </p:txBody>
      </p:sp>
      <p:cxnSp>
        <p:nvCxnSpPr>
          <p:cNvPr id="248" name="Google Shape;248;p26"/>
          <p:cNvCxnSpPr/>
          <p:nvPr/>
        </p:nvCxnSpPr>
        <p:spPr>
          <a:xfrm>
            <a:off x="1074825" y="941725"/>
            <a:ext cx="897300" cy="8700"/>
          </a:xfrm>
          <a:prstGeom prst="straightConnector1">
            <a:avLst/>
          </a:prstGeom>
          <a:noFill/>
          <a:ln cap="flat" cmpd="sng" w="19050">
            <a:solidFill>
              <a:srgbClr val="E06666"/>
            </a:solidFill>
            <a:prstDash val="solid"/>
            <a:round/>
            <a:headEnd len="med" w="med" type="none"/>
            <a:tailEnd len="med" w="med" type="none"/>
          </a:ln>
        </p:spPr>
      </p:cxnSp>
      <p:sp>
        <p:nvSpPr>
          <p:cNvPr id="249" name="Google Shape;249;p26"/>
          <p:cNvSpPr txBox="1"/>
          <p:nvPr/>
        </p:nvSpPr>
        <p:spPr>
          <a:xfrm>
            <a:off x="338625" y="888375"/>
            <a:ext cx="8143800" cy="338700"/>
          </a:xfrm>
          <a:prstGeom prst="rect">
            <a:avLst/>
          </a:prstGeom>
          <a:noFill/>
          <a:ln>
            <a:noFill/>
          </a:ln>
        </p:spPr>
        <p:txBody>
          <a:bodyPr anchorCtr="0" anchor="t" bIns="91425" lIns="91425" spcFirstLastPara="1" rIns="91425" wrap="square" tIns="91425">
            <a:spAutoFit/>
          </a:bodyPr>
          <a:lstStyle/>
          <a:p>
            <a:pPr indent="-292100" lvl="0" marL="457200" rtl="0" algn="l">
              <a:lnSpc>
                <a:spcPct val="153409"/>
              </a:lnSpc>
              <a:spcBef>
                <a:spcPts val="1100"/>
              </a:spcBef>
              <a:spcAft>
                <a:spcPts val="0"/>
              </a:spcAft>
              <a:buSzPts val="1000"/>
              <a:buFont typeface="Calibri"/>
              <a:buAutoNum type="arabicPeriod"/>
            </a:pPr>
            <a:r>
              <a:rPr lang="en" sz="1000">
                <a:highlight>
                  <a:srgbClr val="FFFFFF"/>
                </a:highlight>
                <a:latin typeface="Calibri"/>
                <a:ea typeface="Calibri"/>
                <a:cs typeface="Calibri"/>
                <a:sym typeface="Calibri"/>
              </a:rPr>
              <a:t>Để gửi báo cáo bạn có thể gửi theo các hình thức như dưới đây:</a:t>
            </a:r>
            <a:endParaRPr sz="1000">
              <a:highlight>
                <a:srgbClr val="FFFFFF"/>
              </a:highlight>
              <a:latin typeface="Calibri"/>
              <a:ea typeface="Calibri"/>
              <a:cs typeface="Calibri"/>
              <a:sym typeface="Calibri"/>
            </a:endParaRPr>
          </a:p>
        </p:txBody>
      </p:sp>
      <p:pic>
        <p:nvPicPr>
          <p:cNvPr id="250" name="Google Shape;250;p26"/>
          <p:cNvPicPr preferRelativeResize="0"/>
          <p:nvPr/>
        </p:nvPicPr>
        <p:blipFill>
          <a:blip r:embed="rId4">
            <a:alphaModFix/>
          </a:blip>
          <a:stretch>
            <a:fillRect/>
          </a:stretch>
        </p:blipFill>
        <p:spPr>
          <a:xfrm>
            <a:off x="338250" y="1308300"/>
            <a:ext cx="2370449" cy="1332475"/>
          </a:xfrm>
          <a:prstGeom prst="rect">
            <a:avLst/>
          </a:prstGeom>
          <a:noFill/>
          <a:ln>
            <a:noFill/>
          </a:ln>
        </p:spPr>
      </p:pic>
      <p:pic>
        <p:nvPicPr>
          <p:cNvPr id="251" name="Google Shape;251;p26"/>
          <p:cNvPicPr preferRelativeResize="0"/>
          <p:nvPr/>
        </p:nvPicPr>
        <p:blipFill>
          <a:blip r:embed="rId5">
            <a:alphaModFix/>
          </a:blip>
          <a:stretch>
            <a:fillRect/>
          </a:stretch>
        </p:blipFill>
        <p:spPr>
          <a:xfrm>
            <a:off x="5942600" y="1643724"/>
            <a:ext cx="2461275" cy="874500"/>
          </a:xfrm>
          <a:prstGeom prst="rect">
            <a:avLst/>
          </a:prstGeom>
          <a:noFill/>
          <a:ln>
            <a:noFill/>
          </a:ln>
        </p:spPr>
      </p:pic>
      <p:pic>
        <p:nvPicPr>
          <p:cNvPr id="252" name="Google Shape;252;p26"/>
          <p:cNvPicPr preferRelativeResize="0"/>
          <p:nvPr/>
        </p:nvPicPr>
        <p:blipFill>
          <a:blip r:embed="rId6">
            <a:alphaModFix/>
          </a:blip>
          <a:stretch>
            <a:fillRect/>
          </a:stretch>
        </p:blipFill>
        <p:spPr>
          <a:xfrm>
            <a:off x="5236626" y="3475649"/>
            <a:ext cx="1254600" cy="1254600"/>
          </a:xfrm>
          <a:prstGeom prst="rect">
            <a:avLst/>
          </a:prstGeom>
          <a:noFill/>
          <a:ln>
            <a:noFill/>
          </a:ln>
        </p:spPr>
      </p:pic>
      <p:pic>
        <p:nvPicPr>
          <p:cNvPr id="253" name="Google Shape;253;p26"/>
          <p:cNvPicPr preferRelativeResize="0"/>
          <p:nvPr/>
        </p:nvPicPr>
        <p:blipFill>
          <a:blip r:embed="rId7">
            <a:alphaModFix/>
          </a:blip>
          <a:stretch>
            <a:fillRect/>
          </a:stretch>
        </p:blipFill>
        <p:spPr>
          <a:xfrm>
            <a:off x="991000" y="2998650"/>
            <a:ext cx="2756699" cy="1784032"/>
          </a:xfrm>
          <a:prstGeom prst="rect">
            <a:avLst/>
          </a:prstGeom>
          <a:noFill/>
          <a:ln>
            <a:noFill/>
          </a:ln>
        </p:spPr>
      </p:pic>
      <p:pic>
        <p:nvPicPr>
          <p:cNvPr id="254" name="Google Shape;254;p26"/>
          <p:cNvPicPr preferRelativeResize="0"/>
          <p:nvPr/>
        </p:nvPicPr>
        <p:blipFill rotWithShape="1">
          <a:blip r:embed="rId8">
            <a:alphaModFix/>
          </a:blip>
          <a:srcRect b="0" l="0" r="0" t="0"/>
          <a:stretch/>
        </p:blipFill>
        <p:spPr>
          <a:xfrm>
            <a:off x="2935150" y="1274550"/>
            <a:ext cx="2553124" cy="1391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27"/>
          <p:cNvPicPr preferRelativeResize="0"/>
          <p:nvPr/>
        </p:nvPicPr>
        <p:blipFill>
          <a:blip r:embed="rId3">
            <a:alphaModFix/>
          </a:blip>
          <a:stretch>
            <a:fillRect/>
          </a:stretch>
        </p:blipFill>
        <p:spPr>
          <a:xfrm>
            <a:off x="2635175" y="919875"/>
            <a:ext cx="4114312" cy="3399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