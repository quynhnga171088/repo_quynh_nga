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Quattrocento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7" roundtripDataSignature="AMtx7miADz+zp1vzpZIarNpOOhYxPsyY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QuattrocentoSans-bold.fntdata"/><Relationship Id="rId23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boldItalic.fntdata"/><Relationship Id="rId25" Type="http://schemas.openxmlformats.org/officeDocument/2006/relationships/font" Target="fonts/Quattrocento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Với phương châm sống: cố gắng tốt hơn 1% mỗi ngày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1600"/>
              <a:buFont typeface="Noto Sans Symbols"/>
              <a:buChar char="▪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9a34705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9a34705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9a3470552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119a347055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98087c19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1198087c1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9a3470552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119a347055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11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11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1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1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11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11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1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1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11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11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11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11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11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3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6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69" name="Google Shape;69;p16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6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6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" name="Google Shape;72;p16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73" name="Google Shape;73;p16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16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>
            <p:ph type="ctrTitle"/>
          </p:nvPr>
        </p:nvSpPr>
        <p:spPr>
          <a:xfrm>
            <a:off x="1141725" y="1822825"/>
            <a:ext cx="72078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1" i="0" lang="en-US" sz="3600" u="none" strike="noStrike">
                <a:solidFill>
                  <a:srgbClr val="1C6294"/>
                </a:solidFill>
                <a:latin typeface="Arial"/>
                <a:ea typeface="Arial"/>
                <a:cs typeface="Arial"/>
                <a:sym typeface="Arial"/>
              </a:rPr>
              <a:t>Cải tiến &amp; Hoạt động cải tiến trong </a:t>
            </a:r>
            <a:r>
              <a:rPr b="1" lang="en-US" sz="3600">
                <a:solidFill>
                  <a:srgbClr val="1C6294"/>
                </a:solidFill>
                <a:latin typeface="Arial"/>
                <a:ea typeface="Arial"/>
                <a:cs typeface="Arial"/>
                <a:sym typeface="Arial"/>
              </a:rPr>
              <a:t>Solution Team</a:t>
            </a:r>
            <a:br>
              <a:rPr lang="en-US" sz="3600"/>
            </a:br>
            <a:endParaRPr sz="3600"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9971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                                                                       Solution Department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ctrTitle"/>
          </p:nvPr>
        </p:nvSpPr>
        <p:spPr>
          <a:xfrm>
            <a:off x="502093" y="515404"/>
            <a:ext cx="6445848" cy="61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5555"/>
              <a:buNone/>
            </a:pPr>
            <a:r>
              <a:rPr b="1" i="0" lang="en-US" sz="4000" u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Agendar</a:t>
            </a:r>
            <a:endParaRPr>
              <a:solidFill>
                <a:srgbClr val="050505"/>
              </a:solidFill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824382" y="1380928"/>
            <a:ext cx="6625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Khái niệm về 改善 và mục đích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 cần thiết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-US" sz="1600"/>
              <a:t>Nguyên tắc giải quyết tư duy Kaizen</a:t>
            </a:r>
            <a:endParaRPr b="1" sz="1600"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-US" sz="1600"/>
              <a:t>TIP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thực hiện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1" lang="en-US" sz="1600"/>
              <a:t>Áp dụng quy trình PDCA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600">
              <a:solidFill>
                <a:srgbClr val="FF0000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rgbClr val="FF9900"/>
                </a:solidFill>
              </a:rPr>
              <a:t>H</a:t>
            </a:r>
            <a:r>
              <a:rPr b="1" i="0" lang="en-US" sz="16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oạt động cải tiến của Solution Team n</a:t>
            </a:r>
            <a:r>
              <a:rPr b="1" lang="en-US" sz="1600">
                <a:solidFill>
                  <a:srgbClr val="FF9900"/>
                </a:solidFill>
              </a:rPr>
              <a:t>ói chung và Comter nói riêng</a:t>
            </a:r>
            <a:endParaRPr>
              <a:solidFill>
                <a:srgbClr val="FF99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ctrTitle"/>
          </p:nvPr>
        </p:nvSpPr>
        <p:spPr>
          <a:xfrm>
            <a:off x="757002" y="329784"/>
            <a:ext cx="7764906" cy="607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1" lang="en-US" sz="30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Khái niệm và Mục đích của kaizen</a:t>
            </a:r>
            <a:endParaRPr b="1" sz="3000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757002" y="1075999"/>
            <a:ext cx="53289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0" lang="en-US" sz="1400" u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1. Khái niệm:</a:t>
            </a:r>
            <a:endParaRPr b="1" sz="1400">
              <a:solidFill>
                <a:srgbClr val="FF9900"/>
              </a:solidFill>
            </a:endParaRPr>
          </a:p>
          <a:p>
            <a:pPr indent="-2730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400"/>
              <a:buFont typeface="Noto Sans Symbols"/>
              <a:buChar char="▪"/>
            </a:pPr>
            <a:r>
              <a:rPr b="0" i="0" lang="en-US" sz="1400" u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改 ( Kai) có nghĩa là thay đổi , </a:t>
            </a:r>
            <a:endParaRPr b="0" i="0" sz="1400" u="none" strike="noStrike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400"/>
              <a:buFont typeface="Noto Sans Symbols"/>
              <a:buChar char="▪"/>
            </a:pPr>
            <a:r>
              <a:rPr b="0" i="0" lang="en-US" sz="1400" u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善(Zen)có nghĩa là tốt hơn </a:t>
            </a:r>
            <a:endParaRPr b="0" i="0" sz="1400" u="none" strike="noStrike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1400" u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-&gt; 改善: Thay đổi LIÊN TỤC để tốt hơn mỗi ngày, </a:t>
            </a:r>
            <a:r>
              <a:rPr b="0" i="0" lang="en-US" sz="1400">
                <a:solidFill>
                  <a:srgbClr val="05050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là sửa đổi cho tiến bộ hơn trước</a:t>
            </a:r>
            <a:r>
              <a:rPr b="0" i="0" lang="en-US" sz="1400" u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 b="0" i="0" sz="1400" u="none" strike="noStrike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400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400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757000" y="2311700"/>
            <a:ext cx="5403900" cy="21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u="none" cap="none" strike="noStrike">
                <a:solidFill>
                  <a:srgbClr val="FF9900"/>
                </a:solidFill>
              </a:rPr>
              <a:t>2. Mục đích </a:t>
            </a:r>
            <a:endParaRPr b="1">
              <a:solidFill>
                <a:srgbClr val="FF99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400"/>
              <a:buFont typeface="Noto Sans Symbols"/>
              <a:buChar char="▪"/>
            </a:pPr>
            <a:r>
              <a:rPr lang="en-US" u="sng">
                <a:solidFill>
                  <a:srgbClr val="050505"/>
                </a:solidFill>
              </a:rPr>
              <a:t>Tối ưu hóa Process, cải tiến Nghiệp vụ</a:t>
            </a:r>
            <a:r>
              <a:rPr lang="en-US">
                <a:solidFill>
                  <a:srgbClr val="050505"/>
                </a:solidFill>
              </a:rPr>
              <a:t> : Bỏ cái rườm rà, không cần thiết, hoặc do phải thay đổi để phù hợp với tình hình mới </a:t>
            </a:r>
            <a:endParaRPr>
              <a:solidFill>
                <a:srgbClr val="050505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400"/>
              <a:buFont typeface="Noto Sans Symbols"/>
              <a:buChar char="▪"/>
            </a:pPr>
            <a:r>
              <a:rPr lang="en-US" u="sng">
                <a:solidFill>
                  <a:srgbClr val="050505"/>
                </a:solidFill>
              </a:rPr>
              <a:t>Nâng cao năng suất</a:t>
            </a:r>
            <a:r>
              <a:rPr lang="en-US">
                <a:solidFill>
                  <a:srgbClr val="050505"/>
                </a:solidFill>
              </a:rPr>
              <a:t>: </a:t>
            </a:r>
            <a:endParaRPr>
              <a:solidFill>
                <a:srgbClr val="0505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333333"/>
                </a:solidFill>
              </a:rPr>
              <a:t>Với quy tắc 1% tốt hơn mỗi ngày, mỗi cá nhân cần NÂNG CAO TINH THẦN KAIZEN trong mọi công việc hàng ngày của mình nhằm hướng tới mục đích cuối cùng: Nâng cao năng suất, chất lượng + Giảm thiểu tối đa chi phí</a:t>
            </a:r>
            <a:r>
              <a:rPr lang="en-US" sz="1600">
                <a:solidFill>
                  <a:srgbClr val="333333"/>
                </a:solidFill>
              </a:rPr>
              <a:t>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0957" y="1026826"/>
            <a:ext cx="2735704" cy="1282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0956" y="2780675"/>
            <a:ext cx="2735705" cy="1943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ctrTitle"/>
          </p:nvPr>
        </p:nvSpPr>
        <p:spPr>
          <a:xfrm>
            <a:off x="696965" y="489055"/>
            <a:ext cx="6445848" cy="395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1" i="0" lang="en-US" sz="3000" u="none" strike="noStrike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Tính cần thiết</a:t>
            </a:r>
            <a:endParaRPr sz="3000">
              <a:solidFill>
                <a:srgbClr val="050505"/>
              </a:solidFill>
            </a:endParaRPr>
          </a:p>
        </p:txBody>
      </p:sp>
      <p:sp>
        <p:nvSpPr>
          <p:cNvPr id="107" name="Google Shape;107;p4"/>
          <p:cNvSpPr txBox="1"/>
          <p:nvPr>
            <p:ph idx="1" type="subTitle"/>
          </p:nvPr>
        </p:nvSpPr>
        <p:spPr>
          <a:xfrm>
            <a:off x="573675" y="884350"/>
            <a:ext cx="5239200" cy="4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AutoNum type="arabicPeriod"/>
            </a:pPr>
            <a:r>
              <a:rPr b="1" lang="en-US" sz="14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Vì sao cần cải thiện? </a:t>
            </a:r>
            <a:endParaRPr b="1" sz="1400">
              <a:solidFill>
                <a:srgbClr val="FF9900"/>
              </a:solidFill>
            </a:endParaRPr>
          </a:p>
          <a:p>
            <a:pPr indent="-2730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Mọi công việc luôn thay đổi theo hoàn cảnh và thời gian -&gt; chúng ta cũng cần thay đổi cải tiến để phù hợp với sự thay đổi đó.</a:t>
            </a:r>
            <a:endParaRPr sz="1400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Rất khó để ngay từ đầu chúng ta có được cách làm Hoàn hảo -&gt; </a:t>
            </a:r>
            <a:r>
              <a:rPr b="0" i="0" lang="en-US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nên luôn cần cải tiến để </a:t>
            </a:r>
            <a:r>
              <a:rPr lang="en-US" sz="14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tối ưu hiệu quả theo tình hình</a:t>
            </a:r>
            <a:endParaRPr b="0" i="0" sz="1400">
              <a:solidFill>
                <a:srgbClr val="05050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AutoNum type="arabicPeriod" startAt="2"/>
            </a:pPr>
            <a:r>
              <a:rPr b="1" lang="en-US" sz="14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Chuyện gì sẽ xảy ra nếu mỗi cá nhân, doanh nghiệp không cải tiến </a:t>
            </a:r>
            <a:endParaRPr b="1" sz="1400">
              <a:solidFill>
                <a:srgbClr val="FF9900"/>
              </a:solidFill>
            </a:endParaRPr>
          </a:p>
          <a:p>
            <a:pPr indent="-2730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b="0" i="0"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Khi không có sự nỗ lực cải tiến liên tục thì sự xuống cấp là không tránh khỏi.</a:t>
            </a:r>
            <a:endParaRPr b="0" i="0" sz="14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41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AutoNum type="arabicPeriod" startAt="3"/>
            </a:pPr>
            <a:r>
              <a:rPr b="1" lang="en-US" sz="14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Lợi ích của cải tiến </a:t>
            </a:r>
            <a:endParaRPr b="1" sz="1400">
              <a:solidFill>
                <a:srgbClr val="FF9900"/>
              </a:solidFill>
            </a:endParaRPr>
          </a:p>
          <a:p>
            <a:pPr indent="-2730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Nâng cao chất lượng, hiệu suất, giảm chi phí, </a:t>
            </a:r>
            <a:endParaRPr sz="1400"/>
          </a:p>
          <a:p>
            <a:pPr indent="-2730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Tạo động lực thúc đẩy cá nhân phát triển, tạo tinh thần làm việc tập thể đoàn kết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Góp phần xây dựng văn hóa công ty </a:t>
            </a:r>
            <a:endParaRPr sz="1400"/>
          </a:p>
          <a:p>
            <a:pPr indent="-241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41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8373" y="1099963"/>
            <a:ext cx="2221978" cy="1920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19a3470552_0_0"/>
          <p:cNvSpPr txBox="1"/>
          <p:nvPr>
            <p:ph type="ctrTitle"/>
          </p:nvPr>
        </p:nvSpPr>
        <p:spPr>
          <a:xfrm>
            <a:off x="756550" y="388325"/>
            <a:ext cx="8091600" cy="62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 Nguyên tắc giải quyết tư duy Kaizen</a:t>
            </a:r>
            <a:r>
              <a:rPr lang="en-US" sz="3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3000"/>
          </a:p>
        </p:txBody>
      </p:sp>
      <p:sp>
        <p:nvSpPr>
          <p:cNvPr id="114" name="Google Shape;114;g119a3470552_0_0"/>
          <p:cNvSpPr txBox="1"/>
          <p:nvPr>
            <p:ph idx="1" type="subTitle"/>
          </p:nvPr>
        </p:nvSpPr>
        <p:spPr>
          <a:xfrm>
            <a:off x="838175" y="933225"/>
            <a:ext cx="7162800" cy="3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292100" rtl="0" algn="just">
              <a:lnSpc>
                <a:spcPct val="136363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1. Hãy từ bỏ các giả định (Giá mà…) </a:t>
            </a:r>
            <a:endParaRPr sz="4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just">
              <a:lnSpc>
                <a:spcPct val="136363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2. Hãy chủ động giải quyết vấn đề (Không chờ: người khác làm cho, và chờ tình hình tốt hơn)</a:t>
            </a:r>
            <a:endParaRPr sz="4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just">
              <a:lnSpc>
                <a:spcPct val="136363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3. Đừng chấp nhận hiện trạng.</a:t>
            </a:r>
            <a:endParaRPr sz="4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just">
              <a:lnSpc>
                <a:spcPct val="136363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4. Hãy từ bỏ chủ nghĩa hoàn hảo và có thái độ thay đổi lặp đi lặp lại, thích nghi.</a:t>
            </a:r>
            <a:endParaRPr sz="4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just">
              <a:lnSpc>
                <a:spcPct val="136363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5. Tìm kiếm giải pháp khi bạn tìm thấy sai lầm.</a:t>
            </a:r>
            <a:endParaRPr sz="4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just">
              <a:lnSpc>
                <a:spcPct val="136363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6. Tạo một môi trường mà mọi người đều cảm thấy được trao quyền.</a:t>
            </a:r>
            <a:endParaRPr sz="4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just">
              <a:lnSpc>
                <a:spcPct val="136363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7. Đừng chấp nhận vấn đề rõ ràng; thay vào đó, hãy hỏi “tại sao” năm lần để đi đến nguyên nhân gốc rễ.</a:t>
            </a:r>
            <a:endParaRPr sz="4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just">
              <a:lnSpc>
                <a:spcPct val="136363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8. Thông tin và ý kiến từ nhiều người.</a:t>
            </a:r>
            <a:endParaRPr sz="4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292100" rtl="0" algn="just">
              <a:lnSpc>
                <a:spcPct val="136363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9. </a:t>
            </a:r>
            <a:r>
              <a:rPr lang="en-US" sz="4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Không bao giờ ngừng cải thiện.</a:t>
            </a:r>
            <a:endParaRPr sz="48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ctrTitle"/>
          </p:nvPr>
        </p:nvSpPr>
        <p:spPr>
          <a:xfrm>
            <a:off x="731540" y="500605"/>
            <a:ext cx="64458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1" lang="en-US" sz="3000">
                <a:solidFill>
                  <a:srgbClr val="050505"/>
                </a:solidFill>
              </a:rPr>
              <a:t>TIP </a:t>
            </a:r>
            <a:r>
              <a:rPr b="1" lang="en-US" sz="3000">
                <a:solidFill>
                  <a:srgbClr val="050505"/>
                </a:solidFill>
              </a:rPr>
              <a:t>khi thực hiện cải thiện</a:t>
            </a:r>
            <a:endParaRPr b="1" sz="3000">
              <a:solidFill>
                <a:srgbClr val="050505"/>
              </a:solidFill>
            </a:endParaRPr>
          </a:p>
        </p:txBody>
      </p:sp>
      <p:sp>
        <p:nvSpPr>
          <p:cNvPr id="120" name="Google Shape;120;p5"/>
          <p:cNvSpPr txBox="1"/>
          <p:nvPr>
            <p:ph idx="1" type="subTitle"/>
          </p:nvPr>
        </p:nvSpPr>
        <p:spPr>
          <a:xfrm>
            <a:off x="832400" y="1147175"/>
            <a:ext cx="57909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9900"/>
                </a:solidFill>
              </a:rPr>
              <a:t>①TIP: 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9900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ct val="100000"/>
              <a:buFont typeface="Arial"/>
              <a:buChar char="•"/>
            </a:pPr>
            <a:r>
              <a:rPr lang="en-US">
                <a:solidFill>
                  <a:srgbClr val="050505"/>
                </a:solidFill>
              </a:rPr>
              <a:t>Cải tiến không chỉ là trách nhiệm của riêng cá nhân nào mà là của tất cả mn trong tổ chức -&gt; MỖI THÀNH VIÊN cần có ý thức cải tiến </a:t>
            </a:r>
            <a:r>
              <a:rPr lang="en-US">
                <a:solidFill>
                  <a:srgbClr val="050505"/>
                </a:solidFill>
              </a:rPr>
              <a:t> </a:t>
            </a:r>
            <a:endParaRPr>
              <a:solidFill>
                <a:srgbClr val="050505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ct val="100000"/>
              <a:buChar char="•"/>
            </a:pPr>
            <a:r>
              <a:rPr lang="en-US">
                <a:solidFill>
                  <a:srgbClr val="050505"/>
                </a:solidFill>
              </a:rPr>
              <a:t>Theo dõi OUTPUT (không phải INPUT) </a:t>
            </a:r>
            <a:endParaRPr>
              <a:solidFill>
                <a:srgbClr val="050505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ct val="100000"/>
              <a:buFont typeface="Arial"/>
              <a:buChar char="•"/>
            </a:pPr>
            <a:r>
              <a:rPr lang="en-US">
                <a:solidFill>
                  <a:srgbClr val="050505"/>
                </a:solidFill>
              </a:rPr>
              <a:t>Thực hiện theo phương châm Bottom up (Từ việc nhỏ, đơn giản)</a:t>
            </a:r>
            <a:endParaRPr>
              <a:solidFill>
                <a:srgbClr val="050505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50505"/>
                </a:solidFill>
              </a:rPr>
              <a:t> </a:t>
            </a:r>
            <a:endParaRPr>
              <a:solidFill>
                <a:srgbClr val="050505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ct val="100000"/>
              <a:buFont typeface="Arial"/>
              <a:buChar char="•"/>
            </a:pPr>
            <a:r>
              <a:rPr lang="en-US">
                <a:solidFill>
                  <a:srgbClr val="050505"/>
                </a:solidFill>
              </a:rPr>
              <a:t>Thông tin phải được chia sẻ đầy đủ rõ ràng cho các bên liên quan</a:t>
            </a:r>
            <a:endParaRPr>
              <a:solidFill>
                <a:srgbClr val="050505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27813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ct val="100000"/>
              <a:buFont typeface="Arial"/>
              <a:buChar char="•"/>
            </a:pPr>
            <a:r>
              <a:rPr lang="en-US">
                <a:solidFill>
                  <a:srgbClr val="050505"/>
                </a:solidFill>
              </a:rPr>
              <a:t>Các hoạt động cải tiến phải hướng tới cùng một mục tiêu chung của tổ chức</a:t>
            </a:r>
            <a:endParaRPr>
              <a:solidFill>
                <a:srgbClr val="05050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1841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ctrTitle"/>
          </p:nvPr>
        </p:nvSpPr>
        <p:spPr>
          <a:xfrm>
            <a:off x="696965" y="489055"/>
            <a:ext cx="6445848" cy="395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US">
                <a:solidFill>
                  <a:srgbClr val="050505"/>
                </a:solidFill>
              </a:rPr>
              <a:t>Áp dụng quy trình PDCA</a:t>
            </a:r>
            <a:endParaRPr b="1">
              <a:solidFill>
                <a:srgbClr val="050505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subTitle"/>
          </p:nvPr>
        </p:nvSpPr>
        <p:spPr>
          <a:xfrm>
            <a:off x="696975" y="1095250"/>
            <a:ext cx="5528400" cy="3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20"/>
              <a:buAutoNum type="arabicPeriod"/>
            </a:pPr>
            <a:r>
              <a:rPr b="1" lang="en-US" sz="1320">
                <a:solidFill>
                  <a:srgbClr val="FF9900"/>
                </a:solidFill>
              </a:rPr>
              <a:t>PLAN </a:t>
            </a:r>
            <a:endParaRPr b="1" sz="1320">
              <a:solidFill>
                <a:srgbClr val="FF9900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320"/>
              <a:buChar char="-"/>
            </a:pPr>
            <a:r>
              <a:rPr lang="en-US" sz="1320">
                <a:solidFill>
                  <a:srgbClr val="050505"/>
                </a:solidFill>
              </a:rPr>
              <a:t>Xác định rõ mục đích (Đích) và mục tiêu (Thước đo để đạt) </a:t>
            </a:r>
            <a:endParaRPr sz="1320">
              <a:solidFill>
                <a:srgbClr val="050505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320"/>
              <a:buChar char="-"/>
            </a:pPr>
            <a:r>
              <a:rPr lang="en-US" sz="1320">
                <a:solidFill>
                  <a:srgbClr val="050505"/>
                </a:solidFill>
              </a:rPr>
              <a:t>Lập danh sách việc cần làm (sàng lọc việc khả thi + phù hợp với nguồn lực) . Base nguyên tắc 5W1H để lên list</a:t>
            </a:r>
            <a:endParaRPr sz="1320">
              <a:solidFill>
                <a:srgbClr val="050505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20">
              <a:solidFill>
                <a:srgbClr val="050505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20"/>
              <a:buAutoNum type="arabicPeriod"/>
            </a:pPr>
            <a:r>
              <a:rPr b="1" lang="en-US" sz="1320">
                <a:solidFill>
                  <a:srgbClr val="FF9900"/>
                </a:solidFill>
              </a:rPr>
              <a:t>DO</a:t>
            </a:r>
            <a:endParaRPr b="1" sz="1320">
              <a:solidFill>
                <a:srgbClr val="FF9900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320"/>
              <a:buChar char="-"/>
            </a:pPr>
            <a:r>
              <a:rPr lang="en-US" sz="1320">
                <a:solidFill>
                  <a:srgbClr val="050505"/>
                </a:solidFill>
              </a:rPr>
              <a:t>Thực hiện từng việc ở danh sách trên, xem ý tưởng nào thực sự cần thiết, khả thi và giúp hoàn thành được mục tiêu chung</a:t>
            </a:r>
            <a:endParaRPr sz="1320">
              <a:solidFill>
                <a:srgbClr val="050505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320"/>
              <a:buChar char="-"/>
            </a:pPr>
            <a:r>
              <a:rPr lang="en-US" sz="1320">
                <a:solidFill>
                  <a:srgbClr val="050505"/>
                </a:solidFill>
              </a:rPr>
              <a:t>Thường xuyên ghi chú + có công cụ đo lường thì tốt </a:t>
            </a:r>
            <a:endParaRPr sz="1320">
              <a:solidFill>
                <a:srgbClr val="050505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20">
              <a:solidFill>
                <a:srgbClr val="050505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20"/>
              <a:buAutoNum type="arabicPeriod"/>
            </a:pPr>
            <a:r>
              <a:rPr b="1" lang="en-US" sz="1320">
                <a:solidFill>
                  <a:srgbClr val="FF9900"/>
                </a:solidFill>
              </a:rPr>
              <a:t>CHECK</a:t>
            </a:r>
            <a:endParaRPr b="1" sz="1320">
              <a:solidFill>
                <a:srgbClr val="FF9900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320"/>
              <a:buChar char="-"/>
            </a:pPr>
            <a:r>
              <a:rPr lang="en-US" sz="1320">
                <a:solidFill>
                  <a:srgbClr val="050505"/>
                </a:solidFill>
              </a:rPr>
              <a:t>Cần check định kỳ, và sau khi hoàn thành</a:t>
            </a:r>
            <a:endParaRPr sz="1320">
              <a:solidFill>
                <a:srgbClr val="050505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320"/>
              <a:buChar char="-"/>
            </a:pPr>
            <a:r>
              <a:rPr lang="en-US" sz="1320">
                <a:solidFill>
                  <a:srgbClr val="050505"/>
                </a:solidFill>
              </a:rPr>
              <a:t>Check chỉ số kết quả so với kế hoạch ban đầu  </a:t>
            </a:r>
            <a:endParaRPr sz="1320">
              <a:solidFill>
                <a:srgbClr val="050505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20">
              <a:solidFill>
                <a:srgbClr val="050505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320"/>
              <a:buAutoNum type="arabicPeriod"/>
            </a:pPr>
            <a:r>
              <a:rPr b="1" lang="en-US" sz="1320">
                <a:solidFill>
                  <a:srgbClr val="FF9900"/>
                </a:solidFill>
              </a:rPr>
              <a:t>ACT</a:t>
            </a:r>
            <a:endParaRPr b="1" sz="1320">
              <a:solidFill>
                <a:srgbClr val="FF9900"/>
              </a:solidFill>
            </a:endParaRPr>
          </a:p>
          <a:p>
            <a:pPr indent="-31242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320"/>
              <a:buChar char="-"/>
            </a:pPr>
            <a:r>
              <a:rPr lang="en-US" sz="1320">
                <a:solidFill>
                  <a:srgbClr val="050505"/>
                </a:solidFill>
              </a:rPr>
              <a:t>Sau khi thực hiện hoạt động cải tiến, xem ý kiến phản hồi ntn? Tích cực hay không để có action tiếp theo</a:t>
            </a:r>
            <a:endParaRPr sz="1320"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9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515">
              <a:solidFill>
                <a:srgbClr val="050505"/>
              </a:solidFill>
              <a:highlight>
                <a:srgbClr val="F4F4F4"/>
              </a:highlight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</a:pPr>
            <a:r>
              <a:t/>
            </a:r>
            <a:endParaRPr sz="1320"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</a:pPr>
            <a:r>
              <a:t/>
            </a:r>
            <a:endParaRPr sz="1320">
              <a:solidFill>
                <a:srgbClr val="050505"/>
              </a:solidFill>
            </a:endParaRPr>
          </a:p>
        </p:txBody>
      </p:sp>
      <p:pic>
        <p:nvPicPr>
          <p:cNvPr id="127" name="Google Shape;12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200" y="1394625"/>
            <a:ext cx="2490076" cy="222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ctrTitle"/>
          </p:nvPr>
        </p:nvSpPr>
        <p:spPr>
          <a:xfrm>
            <a:off x="696965" y="558255"/>
            <a:ext cx="7165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1" lang="en-US" sz="3000">
                <a:solidFill>
                  <a:srgbClr val="050505"/>
                </a:solidFill>
              </a:rPr>
              <a:t>Hoạt động kaizen của Solution team? </a:t>
            </a:r>
            <a:endParaRPr b="1" sz="3000">
              <a:solidFill>
                <a:srgbClr val="050505"/>
              </a:solidFill>
            </a:endParaRPr>
          </a:p>
        </p:txBody>
      </p:sp>
      <p:sp>
        <p:nvSpPr>
          <p:cNvPr id="133" name="Google Shape;133;p7"/>
          <p:cNvSpPr txBox="1"/>
          <p:nvPr>
            <p:ph idx="1" type="subTitle"/>
          </p:nvPr>
        </p:nvSpPr>
        <p:spPr>
          <a:xfrm>
            <a:off x="894813" y="976692"/>
            <a:ext cx="6131100" cy="3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>
                <a:solidFill>
                  <a:srgbClr val="050505"/>
                </a:solidFill>
              </a:rPr>
              <a:t>Nhờ mn listup những hoạt động kaizen của Solution team hiện đang làm ? </a:t>
            </a:r>
            <a:endParaRPr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241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9a3470552_0_8"/>
          <p:cNvSpPr txBox="1"/>
          <p:nvPr>
            <p:ph type="ctrTitle"/>
          </p:nvPr>
        </p:nvSpPr>
        <p:spPr>
          <a:xfrm>
            <a:off x="696965" y="558255"/>
            <a:ext cx="7165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1" lang="en-US" sz="3000">
                <a:solidFill>
                  <a:srgbClr val="050505"/>
                </a:solidFill>
              </a:rPr>
              <a:t>Hoạt động kaizen của Solution team </a:t>
            </a:r>
            <a:endParaRPr b="1" sz="3000">
              <a:solidFill>
                <a:srgbClr val="050505"/>
              </a:solidFill>
            </a:endParaRPr>
          </a:p>
        </p:txBody>
      </p:sp>
      <p:sp>
        <p:nvSpPr>
          <p:cNvPr id="139" name="Google Shape;139;g119a3470552_0_8"/>
          <p:cNvSpPr txBox="1"/>
          <p:nvPr>
            <p:ph idx="1" type="subTitle"/>
          </p:nvPr>
        </p:nvSpPr>
        <p:spPr>
          <a:xfrm>
            <a:off x="894825" y="976698"/>
            <a:ext cx="6131100" cy="29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AutoNum type="arabicPeriod"/>
            </a:pPr>
            <a:r>
              <a:rPr b="1" lang="en-US">
                <a:solidFill>
                  <a:srgbClr val="FF9900"/>
                </a:solidFill>
              </a:rPr>
              <a:t>Japanese </a:t>
            </a:r>
            <a:endParaRPr b="1">
              <a:solidFill>
                <a:srgbClr val="FF990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Font typeface="Noto Sans Symbols"/>
              <a:buChar char="▪"/>
            </a:pPr>
            <a:r>
              <a:rPr lang="en-US" u="sng">
                <a:solidFill>
                  <a:srgbClr val="050505"/>
                </a:solidFill>
              </a:rPr>
              <a:t>Plan mở khóa học Business Japanese </a:t>
            </a:r>
            <a:endParaRPr u="sng">
              <a:solidFill>
                <a:srgbClr val="050505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Font typeface="Noto Sans Symbols"/>
              <a:buChar char="▪"/>
            </a:pPr>
            <a:r>
              <a:rPr lang="en-US" u="sng">
                <a:solidFill>
                  <a:srgbClr val="050505"/>
                </a:solidFill>
              </a:rPr>
              <a:t>Plan mở khóa ôn luyện thi N1 </a:t>
            </a:r>
            <a:endParaRPr u="sng"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>
                <a:solidFill>
                  <a:srgbClr val="FF9900"/>
                </a:solidFill>
              </a:rPr>
              <a:t>2.    IT knowledge </a:t>
            </a:r>
            <a:endParaRPr b="1">
              <a:solidFill>
                <a:srgbClr val="FF990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rgbClr val="050505"/>
                </a:solidFill>
              </a:rPr>
              <a:t>Tổ chức lớp IT passport </a:t>
            </a:r>
            <a:endParaRPr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AutoNum type="arabicPeriod" startAt="3"/>
            </a:pPr>
            <a:r>
              <a:rPr b="1" lang="en-US">
                <a:solidFill>
                  <a:srgbClr val="FF9900"/>
                </a:solidFill>
              </a:rPr>
              <a:t>Soft skill </a:t>
            </a:r>
            <a:endParaRPr b="1">
              <a:solidFill>
                <a:srgbClr val="FF99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rgbClr val="050505"/>
                </a:solidFill>
              </a:rPr>
              <a:t>Kỹ năng tạo document (Thông qua các buổi workshop) </a:t>
            </a:r>
            <a:endParaRPr>
              <a:solidFill>
                <a:srgbClr val="050505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rgbClr val="050505"/>
                </a:solidFill>
              </a:rPr>
              <a:t>Kỹ năng thuyết trình (Thông qua các buổi workshop) </a:t>
            </a:r>
            <a:endParaRPr>
              <a:solidFill>
                <a:srgbClr val="050505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Char char="▪"/>
            </a:pPr>
            <a:r>
              <a:rPr lang="en-US">
                <a:solidFill>
                  <a:srgbClr val="050505"/>
                </a:solidFill>
              </a:rPr>
              <a:t>Làm việc nhóm</a:t>
            </a:r>
            <a:endParaRPr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241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</p:txBody>
      </p:sp>
      <p:pic>
        <p:nvPicPr>
          <p:cNvPr id="140" name="Google Shape;140;g119a3470552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825" y="1147723"/>
            <a:ext cx="2076700" cy="28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119a3470552_0_8"/>
          <p:cNvSpPr txBox="1"/>
          <p:nvPr>
            <p:ph idx="1" type="subTitle"/>
          </p:nvPr>
        </p:nvSpPr>
        <p:spPr>
          <a:xfrm>
            <a:off x="894825" y="3424276"/>
            <a:ext cx="61311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>
                <a:solidFill>
                  <a:srgbClr val="FF0000"/>
                </a:solidFill>
              </a:rPr>
              <a:t>4.   Theo quan điểm của bạn Solution team nên cải thiện thêm điểm gì?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98087c19f_0_0"/>
          <p:cNvSpPr txBox="1"/>
          <p:nvPr>
            <p:ph type="ctrTitle"/>
          </p:nvPr>
        </p:nvSpPr>
        <p:spPr>
          <a:xfrm>
            <a:off x="696975" y="558250"/>
            <a:ext cx="80682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1" lang="en-US" sz="3000">
                <a:solidFill>
                  <a:srgbClr val="050505"/>
                </a:solidFill>
              </a:rPr>
              <a:t>Hoạt động cải tiến của comter trong dự án</a:t>
            </a:r>
            <a:endParaRPr b="1" sz="3000">
              <a:solidFill>
                <a:srgbClr val="050505"/>
              </a:solidFill>
            </a:endParaRPr>
          </a:p>
        </p:txBody>
      </p:sp>
      <p:sp>
        <p:nvSpPr>
          <p:cNvPr id="147" name="Google Shape;147;g1198087c19f_0_0"/>
          <p:cNvSpPr txBox="1"/>
          <p:nvPr>
            <p:ph idx="1" type="subTitle"/>
          </p:nvPr>
        </p:nvSpPr>
        <p:spPr>
          <a:xfrm>
            <a:off x="894825" y="1144450"/>
            <a:ext cx="74022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Trong dự án hiện tại (hoặc của task comter hoặc của task DEV)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bạn thấy cần cải thiện ở điểm gì? Vì sao?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Bạn dự định sẽ cải tiến ntn?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Với những task cần cải tiến mà nằm ngoài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năng lực của comter thì bạn sẽ làm ntn?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/>
              <a:t>Bạn đã từng có cải tiến gì trong công việc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của mình? làm ntn và thấy kết quả ra sao?</a:t>
            </a:r>
            <a:endParaRPr>
              <a:solidFill>
                <a:srgbClr val="050505"/>
              </a:solidFill>
            </a:endParaRPr>
          </a:p>
          <a:p>
            <a:pPr indent="-241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19a3470552_0_14"/>
          <p:cNvSpPr txBox="1"/>
          <p:nvPr>
            <p:ph type="ctrTitle"/>
          </p:nvPr>
        </p:nvSpPr>
        <p:spPr>
          <a:xfrm>
            <a:off x="696975" y="558250"/>
            <a:ext cx="80682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1" lang="en-US" sz="3000">
                <a:solidFill>
                  <a:srgbClr val="050505"/>
                </a:solidFill>
              </a:rPr>
              <a:t>Hoạt động cải tiến của comter trong dự án</a:t>
            </a:r>
            <a:endParaRPr b="1" sz="3000">
              <a:solidFill>
                <a:srgbClr val="050505"/>
              </a:solidFill>
            </a:endParaRPr>
          </a:p>
        </p:txBody>
      </p:sp>
      <p:sp>
        <p:nvSpPr>
          <p:cNvPr id="153" name="Google Shape;153;g119a3470552_0_14"/>
          <p:cNvSpPr txBox="1"/>
          <p:nvPr>
            <p:ph idx="1" type="subTitle"/>
          </p:nvPr>
        </p:nvSpPr>
        <p:spPr>
          <a:xfrm>
            <a:off x="894825" y="1144450"/>
            <a:ext cx="77184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AutoNum type="arabicPeriod"/>
            </a:pPr>
            <a:r>
              <a:rPr b="1" lang="en-US">
                <a:solidFill>
                  <a:srgbClr val="FF9900"/>
                </a:solidFill>
              </a:rPr>
              <a:t>Japanese skill</a:t>
            </a:r>
            <a:endParaRPr b="1">
              <a:solidFill>
                <a:srgbClr val="FF990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rgbClr val="050505"/>
                </a:solidFill>
              </a:rPr>
              <a:t>Selfstudy mỗi ngày or mỗi tuần (Listenning/speaking skill) </a:t>
            </a:r>
            <a:endParaRPr>
              <a:solidFill>
                <a:srgbClr val="050505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Char char="▪"/>
            </a:pPr>
            <a:r>
              <a:rPr lang="en-US">
                <a:solidFill>
                  <a:srgbClr val="050505"/>
                </a:solidFill>
              </a:rPr>
              <a:t>Ghi nhớ keyword, cách hyougen khi communicate với KH </a:t>
            </a:r>
            <a:endParaRPr>
              <a:solidFill>
                <a:srgbClr val="050505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Char char="▪"/>
            </a:pPr>
            <a:r>
              <a:rPr lang="en-US">
                <a:solidFill>
                  <a:srgbClr val="050505"/>
                </a:solidFill>
              </a:rPr>
              <a:t>Ghi nhớ từ nghiệp vụ trong dự án</a:t>
            </a:r>
            <a:endParaRPr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>
                <a:solidFill>
                  <a:srgbClr val="FF9900"/>
                </a:solidFill>
              </a:rPr>
              <a:t>2.   Communication/Negociation skill</a:t>
            </a:r>
            <a:endParaRPr b="1">
              <a:solidFill>
                <a:srgbClr val="FF990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rgbClr val="050505"/>
                </a:solidFill>
              </a:rPr>
              <a:t>Comunication: </a:t>
            </a:r>
            <a:r>
              <a:rPr lang="en-US">
                <a:solidFill>
                  <a:srgbClr val="050505"/>
                </a:solidFill>
              </a:rPr>
              <a:t>Chú ý, lắng nghe -&gt; Đồng tình trước -&gt; Sau đó nếu có ý kiến khác thì trình bày sau.</a:t>
            </a:r>
            <a:endParaRPr>
              <a:solidFill>
                <a:srgbClr val="050505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Char char="▪"/>
            </a:pPr>
            <a:r>
              <a:rPr lang="en-US">
                <a:solidFill>
                  <a:srgbClr val="050505"/>
                </a:solidFill>
              </a:rPr>
              <a:t>Negociation: Có lý do thuyết phục, làm rõ được cái lợi/hại đối với KH</a:t>
            </a:r>
            <a:endParaRPr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600"/>
              <a:buAutoNum type="arabicPeriod" startAt="3"/>
            </a:pPr>
            <a:r>
              <a:rPr b="1" lang="en-US">
                <a:solidFill>
                  <a:srgbClr val="FF9900"/>
                </a:solidFill>
              </a:rPr>
              <a:t>Report skill </a:t>
            </a:r>
            <a:endParaRPr b="1">
              <a:solidFill>
                <a:srgbClr val="FF99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Char char="▪"/>
            </a:pPr>
            <a:r>
              <a:rPr lang="en-US">
                <a:solidFill>
                  <a:srgbClr val="050505"/>
                </a:solidFill>
              </a:rPr>
              <a:t>Hiểu vai trò của Report và nguyên tắc của tạo bản báo cáo và cách report KH -&gt;   </a:t>
            </a:r>
            <a:endParaRPr>
              <a:solidFill>
                <a:srgbClr val="050505"/>
              </a:solidFill>
            </a:endParaRPr>
          </a:p>
          <a:p>
            <a:pPr indent="-241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>
                <a:solidFill>
                  <a:srgbClr val="FF9900"/>
                </a:solidFill>
              </a:rPr>
              <a:t>4. Business/IT knowledge </a:t>
            </a:r>
            <a:endParaRPr b="1">
              <a:solidFill>
                <a:srgbClr val="FF990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Font typeface="Noto Sans Symbols"/>
              <a:buChar char="▪"/>
            </a:pPr>
            <a:r>
              <a:rPr lang="en-US">
                <a:solidFill>
                  <a:srgbClr val="050505"/>
                </a:solidFill>
              </a:rPr>
              <a:t>Tìm hiểu thêm internet để hiểu hơn về nghiệp vụ tương tự </a:t>
            </a:r>
            <a:endParaRPr>
              <a:solidFill>
                <a:srgbClr val="050505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600"/>
              <a:buChar char="▪"/>
            </a:pPr>
            <a:r>
              <a:rPr lang="en-US">
                <a:solidFill>
                  <a:srgbClr val="050505"/>
                </a:solidFill>
              </a:rPr>
              <a:t>Dựa vào technical keyword trong dự án để tìm hiểu thêm về tech</a:t>
            </a:r>
            <a:endParaRPr>
              <a:solidFill>
                <a:srgbClr val="05050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  <a:p>
            <a:pPr indent="-2413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solidFill>
                <a:srgbClr val="05050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idx="1" type="subTitle"/>
          </p:nvPr>
        </p:nvSpPr>
        <p:spPr>
          <a:xfrm>
            <a:off x="966865" y="599606"/>
            <a:ext cx="7270229" cy="39798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8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9600"/>
              <a:t>Q&amp;A</a:t>
            </a:r>
            <a:endParaRPr sz="9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idx="1" type="subTitle"/>
          </p:nvPr>
        </p:nvSpPr>
        <p:spPr>
          <a:xfrm>
            <a:off x="1558977" y="994035"/>
            <a:ext cx="6026046" cy="31554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4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4000"/>
              <a:t>Thank you for your listening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