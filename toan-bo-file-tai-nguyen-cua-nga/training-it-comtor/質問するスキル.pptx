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uni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bold.fntdata"/><Relationship Id="rId6" Type="http://schemas.openxmlformats.org/officeDocument/2006/relationships/slide" Target="slides/slide1.xml"/><Relationship Id="rId18"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07a4622adb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07a4622adb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0cc71d24b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0cc71d24b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0cc71d24b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0cc71d24b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0cc71d24b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0cc71d24b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090dba31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090dba31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090dba316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090dba316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0cc71d24b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0cc71d24b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0cddd248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0cddd248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090dba316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090dba316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07a4622adb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07a4622adb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07a4622adb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07a4622adb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405275" y="1460375"/>
            <a:ext cx="6309900" cy="1810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900">
                <a:highlight>
                  <a:srgbClr val="FFFFFF"/>
                </a:highlight>
                <a:latin typeface="Arial"/>
                <a:ea typeface="Arial"/>
                <a:cs typeface="Arial"/>
                <a:sym typeface="Arial"/>
              </a:rPr>
              <a:t>質問するスキル</a:t>
            </a:r>
            <a:endParaRPr sz="3900">
              <a:highlight>
                <a:srgbClr val="FFFFFF"/>
              </a:highlight>
              <a:latin typeface="Arial"/>
              <a:ea typeface="Arial"/>
              <a:cs typeface="Arial"/>
              <a:sym typeface="Arial"/>
            </a:endParaRPr>
          </a:p>
          <a:p>
            <a:pPr indent="0" lvl="0" marL="0" rtl="0" algn="ctr">
              <a:spcBef>
                <a:spcPts val="0"/>
              </a:spcBef>
              <a:spcAft>
                <a:spcPts val="0"/>
              </a:spcAft>
              <a:buNone/>
            </a:pPr>
            <a:r>
              <a:rPr lang="en" sz="4600">
                <a:highlight>
                  <a:srgbClr val="FFFFFF"/>
                </a:highlight>
                <a:latin typeface="Arial"/>
                <a:ea typeface="Arial"/>
                <a:cs typeface="Arial"/>
                <a:sym typeface="Arial"/>
              </a:rPr>
              <a:t>Kỹ năng đặt câu hỏi</a:t>
            </a:r>
            <a:endParaRPr sz="4600">
              <a:highlight>
                <a:srgbClr val="FFFFFF"/>
              </a:highlight>
              <a:latin typeface="Arial"/>
              <a:ea typeface="Arial"/>
              <a:cs typeface="Arial"/>
              <a:sym typeface="Arial"/>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latin typeface="Arial"/>
                <a:ea typeface="Arial"/>
                <a:cs typeface="Arial"/>
                <a:sym typeface="Arial"/>
              </a:rPr>
              <a:t>Version 1.0</a:t>
            </a:r>
            <a:endParaRPr>
              <a:latin typeface="Arial"/>
              <a:ea typeface="Arial"/>
              <a:cs typeface="Arial"/>
              <a:sym typeface="Arial"/>
            </a:endParaRPr>
          </a:p>
          <a:p>
            <a:pPr indent="0" lvl="0" marL="0" rtl="0" algn="ctr">
              <a:spcBef>
                <a:spcPts val="0"/>
              </a:spcBef>
              <a:spcAft>
                <a:spcPts val="0"/>
              </a:spcAft>
              <a:buNone/>
            </a:pPr>
            <a:r>
              <a:rPr lang="en">
                <a:latin typeface="Arial"/>
                <a:ea typeface="Arial"/>
                <a:cs typeface="Arial"/>
                <a:sym typeface="Arial"/>
              </a:rPr>
              <a:t>MyNTT</a:t>
            </a:r>
            <a:endParaRPr>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14"/>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35" name="Google Shape;135;p14"/>
          <p:cNvSpPr txBox="1"/>
          <p:nvPr/>
        </p:nvSpPr>
        <p:spPr>
          <a:xfrm>
            <a:off x="1019525" y="523525"/>
            <a:ext cx="5079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rPr>
              <a:t>Mục lục</a:t>
            </a:r>
            <a:endParaRPr b="1" sz="2400">
              <a:solidFill>
                <a:schemeClr val="lt1"/>
              </a:solidFill>
            </a:endParaRPr>
          </a:p>
        </p:txBody>
      </p:sp>
      <p:sp>
        <p:nvSpPr>
          <p:cNvPr id="136" name="Google Shape;136;p14"/>
          <p:cNvSpPr txBox="1"/>
          <p:nvPr/>
        </p:nvSpPr>
        <p:spPr>
          <a:xfrm>
            <a:off x="1074625" y="1230775"/>
            <a:ext cx="7284900" cy="37710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rgbClr val="4D5156"/>
              </a:buClr>
              <a:buSzPts val="1700"/>
              <a:buAutoNum type="arabicPeriod"/>
            </a:pPr>
            <a:r>
              <a:rPr lang="en" sz="1700">
                <a:solidFill>
                  <a:srgbClr val="4D5156"/>
                </a:solidFill>
              </a:rPr>
              <a:t>Tại sao cần đặt câu hỏi?</a:t>
            </a:r>
            <a:endParaRPr sz="1700">
              <a:solidFill>
                <a:srgbClr val="4D5156"/>
              </a:solidFill>
            </a:endParaRPr>
          </a:p>
          <a:p>
            <a:pPr indent="-336550" lvl="0" marL="457200" rtl="0" algn="l">
              <a:lnSpc>
                <a:spcPct val="150000"/>
              </a:lnSpc>
              <a:spcBef>
                <a:spcPts val="0"/>
              </a:spcBef>
              <a:spcAft>
                <a:spcPts val="0"/>
              </a:spcAft>
              <a:buClr>
                <a:srgbClr val="4D5156"/>
              </a:buClr>
              <a:buSzPts val="1700"/>
              <a:buAutoNum type="arabicPeriod"/>
            </a:pPr>
            <a:r>
              <a:rPr lang="en" sz="1700">
                <a:solidFill>
                  <a:srgbClr val="4D5156"/>
                </a:solidFill>
              </a:rPr>
              <a:t>Lợi ích của việc nâng cao kỹ năng đặt câu hỏi</a:t>
            </a:r>
            <a:endParaRPr sz="1700">
              <a:solidFill>
                <a:srgbClr val="4D5156"/>
              </a:solidFill>
            </a:endParaRPr>
          </a:p>
          <a:p>
            <a:pPr indent="-336550" lvl="0" marL="457200" rtl="0" algn="l">
              <a:lnSpc>
                <a:spcPct val="150000"/>
              </a:lnSpc>
              <a:spcBef>
                <a:spcPts val="0"/>
              </a:spcBef>
              <a:spcAft>
                <a:spcPts val="0"/>
              </a:spcAft>
              <a:buClr>
                <a:srgbClr val="4D5156"/>
              </a:buClr>
              <a:buSzPts val="1700"/>
              <a:buAutoNum type="arabicPeriod"/>
            </a:pPr>
            <a:r>
              <a:rPr lang="en" sz="1700">
                <a:solidFill>
                  <a:srgbClr val="4D5156"/>
                </a:solidFill>
              </a:rPr>
              <a:t>Một số loại câu hỏi thông dụng &amp; Cách thức hỏi</a:t>
            </a:r>
            <a:endParaRPr sz="1700">
              <a:solidFill>
                <a:srgbClr val="4D5156"/>
              </a:solidFill>
            </a:endParaRPr>
          </a:p>
          <a:p>
            <a:pPr indent="0" lvl="0" marL="457200" rtl="0" algn="l">
              <a:lnSpc>
                <a:spcPct val="150000"/>
              </a:lnSpc>
              <a:spcBef>
                <a:spcPts val="0"/>
              </a:spcBef>
              <a:spcAft>
                <a:spcPts val="0"/>
              </a:spcAft>
              <a:buNone/>
            </a:pPr>
            <a:r>
              <a:rPr lang="en">
                <a:solidFill>
                  <a:srgbClr val="4D5156"/>
                </a:solidFill>
              </a:rPr>
              <a:t>3.1. Câu hỏi xác nhận </a:t>
            </a:r>
            <a:endParaRPr>
              <a:solidFill>
                <a:srgbClr val="4D5156"/>
              </a:solidFill>
            </a:endParaRPr>
          </a:p>
          <a:p>
            <a:pPr indent="0" lvl="0" marL="457200" rtl="0" algn="l">
              <a:lnSpc>
                <a:spcPct val="150000"/>
              </a:lnSpc>
              <a:spcBef>
                <a:spcPts val="0"/>
              </a:spcBef>
              <a:spcAft>
                <a:spcPts val="0"/>
              </a:spcAft>
              <a:buNone/>
            </a:pPr>
            <a:r>
              <a:rPr lang="en">
                <a:solidFill>
                  <a:srgbClr val="4D5156"/>
                </a:solidFill>
              </a:rPr>
              <a:t>3.2. Câu hỏi tìm hiểu</a:t>
            </a:r>
            <a:endParaRPr>
              <a:solidFill>
                <a:srgbClr val="4D5156"/>
              </a:solidFill>
            </a:endParaRPr>
          </a:p>
          <a:p>
            <a:pPr indent="0" lvl="0" marL="457200" rtl="0" algn="l">
              <a:lnSpc>
                <a:spcPct val="150000"/>
              </a:lnSpc>
              <a:spcBef>
                <a:spcPts val="0"/>
              </a:spcBef>
              <a:spcAft>
                <a:spcPts val="0"/>
              </a:spcAft>
              <a:buNone/>
            </a:pPr>
            <a:r>
              <a:rPr lang="en">
                <a:solidFill>
                  <a:srgbClr val="4D5156"/>
                </a:solidFill>
              </a:rPr>
              <a:t>3.3. Câu hỏi trao đổi</a:t>
            </a:r>
            <a:endParaRPr>
              <a:solidFill>
                <a:srgbClr val="4D5156"/>
              </a:solidFill>
            </a:endParaRPr>
          </a:p>
          <a:p>
            <a:pPr indent="-336550" lvl="0" marL="457200" rtl="0" algn="l">
              <a:lnSpc>
                <a:spcPct val="150000"/>
              </a:lnSpc>
              <a:spcBef>
                <a:spcPts val="0"/>
              </a:spcBef>
              <a:spcAft>
                <a:spcPts val="0"/>
              </a:spcAft>
              <a:buClr>
                <a:srgbClr val="4D5156"/>
              </a:buClr>
              <a:buSzPts val="1700"/>
              <a:buAutoNum type="arabicPeriod"/>
            </a:pPr>
            <a:r>
              <a:rPr lang="en" sz="1700">
                <a:solidFill>
                  <a:srgbClr val="4D5156"/>
                </a:solidFill>
              </a:rPr>
              <a:t>Quy tắc chung khi đặt câu hỏi</a:t>
            </a:r>
            <a:endParaRPr sz="1700">
              <a:solidFill>
                <a:srgbClr val="4D5156"/>
              </a:solidFill>
            </a:endParaRPr>
          </a:p>
          <a:p>
            <a:pPr indent="-336550" lvl="0" marL="457200" rtl="0" algn="l">
              <a:lnSpc>
                <a:spcPct val="150000"/>
              </a:lnSpc>
              <a:spcBef>
                <a:spcPts val="0"/>
              </a:spcBef>
              <a:spcAft>
                <a:spcPts val="0"/>
              </a:spcAft>
              <a:buClr>
                <a:srgbClr val="4D5156"/>
              </a:buClr>
              <a:buSzPts val="1700"/>
              <a:buAutoNum type="arabicPeriod"/>
            </a:pPr>
            <a:r>
              <a:rPr lang="en" sz="1700">
                <a:solidFill>
                  <a:srgbClr val="4D5156"/>
                </a:solidFill>
              </a:rPr>
              <a:t>Tình huống</a:t>
            </a:r>
            <a:endParaRPr sz="1700">
              <a:solidFill>
                <a:srgbClr val="4D5156"/>
              </a:solidFill>
            </a:endParaRPr>
          </a:p>
          <a:p>
            <a:pPr indent="-336550" lvl="0" marL="457200" rtl="0" algn="l">
              <a:lnSpc>
                <a:spcPct val="150000"/>
              </a:lnSpc>
              <a:spcBef>
                <a:spcPts val="0"/>
              </a:spcBef>
              <a:spcAft>
                <a:spcPts val="0"/>
              </a:spcAft>
              <a:buClr>
                <a:srgbClr val="4D5156"/>
              </a:buClr>
              <a:buSzPts val="1700"/>
              <a:buAutoNum type="arabicPeriod"/>
            </a:pPr>
            <a:r>
              <a:rPr lang="en" sz="1700">
                <a:solidFill>
                  <a:srgbClr val="4D5156"/>
                </a:solidFill>
              </a:rPr>
              <a:t>Q&amp;A</a:t>
            </a:r>
            <a:endParaRPr sz="1700">
              <a:solidFill>
                <a:srgbClr val="4D5156"/>
              </a:solidFill>
            </a:endParaRPr>
          </a:p>
          <a:p>
            <a:pPr indent="0" lvl="0" marL="0" rtl="0" algn="l">
              <a:lnSpc>
                <a:spcPct val="150000"/>
              </a:lnSpc>
              <a:spcBef>
                <a:spcPts val="0"/>
              </a:spcBef>
              <a:spcAft>
                <a:spcPts val="0"/>
              </a:spcAft>
              <a:buNone/>
            </a:pPr>
            <a:r>
              <a:t/>
            </a:r>
            <a:endParaRPr sz="1700">
              <a:solidFill>
                <a:srgbClr val="4D515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15"/>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42" name="Google Shape;142;p15"/>
          <p:cNvSpPr txBox="1"/>
          <p:nvPr/>
        </p:nvSpPr>
        <p:spPr>
          <a:xfrm>
            <a:off x="1019525" y="505175"/>
            <a:ext cx="5079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rPr>
              <a:t>Tại sao cần đặt câu hỏi?</a:t>
            </a:r>
            <a:endParaRPr b="1" sz="2400">
              <a:solidFill>
                <a:schemeClr val="lt1"/>
              </a:solidFill>
            </a:endParaRPr>
          </a:p>
        </p:txBody>
      </p:sp>
      <p:sp>
        <p:nvSpPr>
          <p:cNvPr id="143" name="Google Shape;143;p15"/>
          <p:cNvSpPr txBox="1"/>
          <p:nvPr/>
        </p:nvSpPr>
        <p:spPr>
          <a:xfrm>
            <a:off x="716425" y="1166475"/>
            <a:ext cx="5005800" cy="25551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rgbClr val="4D5156"/>
              </a:buClr>
              <a:buSzPts val="2200"/>
              <a:buChar char="●"/>
            </a:pPr>
            <a:r>
              <a:rPr lang="en" sz="2200">
                <a:solidFill>
                  <a:srgbClr val="4D5156"/>
                </a:solidFill>
                <a:highlight>
                  <a:srgbClr val="FFFFFF"/>
                </a:highlight>
              </a:rPr>
              <a:t>Để thu thập thông tin</a:t>
            </a:r>
            <a:endParaRPr sz="2200">
              <a:solidFill>
                <a:srgbClr val="4D5156"/>
              </a:solidFill>
              <a:highlight>
                <a:srgbClr val="FFFFFF"/>
              </a:highlight>
            </a:endParaRPr>
          </a:p>
          <a:p>
            <a:pPr indent="-368300" lvl="0" marL="457200" rtl="0" algn="l">
              <a:spcBef>
                <a:spcPts val="0"/>
              </a:spcBef>
              <a:spcAft>
                <a:spcPts val="0"/>
              </a:spcAft>
              <a:buClr>
                <a:srgbClr val="4D5156"/>
              </a:buClr>
              <a:buSzPts val="2200"/>
              <a:buChar char="●"/>
            </a:pPr>
            <a:r>
              <a:rPr lang="en" sz="2200">
                <a:solidFill>
                  <a:srgbClr val="4D5156"/>
                </a:solidFill>
                <a:highlight>
                  <a:srgbClr val="FFFFFF"/>
                </a:highlight>
              </a:rPr>
              <a:t>Để xác nhận</a:t>
            </a:r>
            <a:endParaRPr sz="2200">
              <a:solidFill>
                <a:srgbClr val="4D5156"/>
              </a:solidFill>
              <a:highlight>
                <a:srgbClr val="FFFFFF"/>
              </a:highlight>
            </a:endParaRPr>
          </a:p>
          <a:p>
            <a:pPr indent="-368300" lvl="0" marL="457200" rtl="0" algn="l">
              <a:spcBef>
                <a:spcPts val="0"/>
              </a:spcBef>
              <a:spcAft>
                <a:spcPts val="0"/>
              </a:spcAft>
              <a:buClr>
                <a:srgbClr val="4D5156"/>
              </a:buClr>
              <a:buSzPts val="2200"/>
              <a:buChar char="●"/>
            </a:pPr>
            <a:r>
              <a:rPr lang="en" sz="2200">
                <a:solidFill>
                  <a:srgbClr val="4D5156"/>
                </a:solidFill>
                <a:highlight>
                  <a:srgbClr val="FFFFFF"/>
                </a:highlight>
              </a:rPr>
              <a:t>Để làm rõ vấn đề</a:t>
            </a:r>
            <a:endParaRPr sz="2200">
              <a:solidFill>
                <a:srgbClr val="4D5156"/>
              </a:solidFill>
              <a:highlight>
                <a:srgbClr val="FFFFFF"/>
              </a:highlight>
            </a:endParaRPr>
          </a:p>
          <a:p>
            <a:pPr indent="-368300" lvl="0" marL="457200" rtl="0" algn="l">
              <a:spcBef>
                <a:spcPts val="0"/>
              </a:spcBef>
              <a:spcAft>
                <a:spcPts val="0"/>
              </a:spcAft>
              <a:buClr>
                <a:srgbClr val="4D5156"/>
              </a:buClr>
              <a:buSzPts val="2200"/>
              <a:buChar char="●"/>
            </a:pPr>
            <a:r>
              <a:rPr lang="en" sz="2200">
                <a:solidFill>
                  <a:srgbClr val="4D5156"/>
                </a:solidFill>
                <a:highlight>
                  <a:srgbClr val="FFFFFF"/>
                </a:highlight>
              </a:rPr>
              <a:t>Khởi xướng và duy trì cuộc trò chuyện</a:t>
            </a:r>
            <a:endParaRPr sz="2200">
              <a:solidFill>
                <a:srgbClr val="4D5156"/>
              </a:solidFill>
              <a:highlight>
                <a:srgbClr val="FFFFFF"/>
              </a:highlight>
            </a:endParaRPr>
          </a:p>
          <a:p>
            <a:pPr indent="-368300" lvl="0" marL="457200" rtl="0" algn="l">
              <a:spcBef>
                <a:spcPts val="0"/>
              </a:spcBef>
              <a:spcAft>
                <a:spcPts val="0"/>
              </a:spcAft>
              <a:buClr>
                <a:srgbClr val="4D5156"/>
              </a:buClr>
              <a:buSzPts val="2200"/>
              <a:buChar char="●"/>
            </a:pPr>
            <a:r>
              <a:rPr lang="en" sz="2200">
                <a:solidFill>
                  <a:srgbClr val="4D5156"/>
                </a:solidFill>
                <a:highlight>
                  <a:srgbClr val="FFFFFF"/>
                </a:highlight>
              </a:rPr>
              <a:t>Khám phá suy nghĩ, ý kiến, tâm tư của đối phương</a:t>
            </a:r>
            <a:endParaRPr sz="2200">
              <a:solidFill>
                <a:srgbClr val="4D5156"/>
              </a:solidFill>
              <a:highlight>
                <a:srgbClr val="FFFFFF"/>
              </a:highlight>
            </a:endParaRPr>
          </a:p>
        </p:txBody>
      </p:sp>
      <p:sp>
        <p:nvSpPr>
          <p:cNvPr id="144" name="Google Shape;144;p15"/>
          <p:cNvSpPr txBox="1"/>
          <p:nvPr/>
        </p:nvSpPr>
        <p:spPr>
          <a:xfrm>
            <a:off x="1019525" y="3936700"/>
            <a:ext cx="7127400" cy="4311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rPr>
              <a:t>Kỹ năng đặt câu hỏi là 1 chìa khóa quan trọng để giao tiếp thành công</a:t>
            </a:r>
            <a:endParaRPr b="1" sz="1600">
              <a:solidFill>
                <a:schemeClr val="dk1"/>
              </a:solidFill>
            </a:endParaRPr>
          </a:p>
        </p:txBody>
      </p:sp>
      <p:pic>
        <p:nvPicPr>
          <p:cNvPr id="145" name="Google Shape;145;p15"/>
          <p:cNvPicPr preferRelativeResize="0"/>
          <p:nvPr/>
        </p:nvPicPr>
        <p:blipFill>
          <a:blip r:embed="rId4">
            <a:alphaModFix/>
          </a:blip>
          <a:stretch>
            <a:fillRect/>
          </a:stretch>
        </p:blipFill>
        <p:spPr>
          <a:xfrm>
            <a:off x="5736775" y="1248400"/>
            <a:ext cx="2851025" cy="1980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16"/>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51" name="Google Shape;151;p16"/>
          <p:cNvSpPr txBox="1"/>
          <p:nvPr/>
        </p:nvSpPr>
        <p:spPr>
          <a:xfrm>
            <a:off x="817450" y="514350"/>
            <a:ext cx="7173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rPr>
              <a:t>Lợi ích của việc nâng cao kỹ năng đặt câu hỏi</a:t>
            </a:r>
            <a:endParaRPr b="1" sz="2400">
              <a:solidFill>
                <a:schemeClr val="lt1"/>
              </a:solidFill>
            </a:endParaRPr>
          </a:p>
        </p:txBody>
      </p:sp>
      <p:sp>
        <p:nvSpPr>
          <p:cNvPr id="152" name="Google Shape;152;p16"/>
          <p:cNvSpPr txBox="1"/>
          <p:nvPr/>
        </p:nvSpPr>
        <p:spPr>
          <a:xfrm>
            <a:off x="1019525" y="1423650"/>
            <a:ext cx="7340100" cy="446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sz="1700">
              <a:solidFill>
                <a:srgbClr val="4D5156"/>
              </a:solidFill>
            </a:endParaRPr>
          </a:p>
        </p:txBody>
      </p:sp>
      <p:sp>
        <p:nvSpPr>
          <p:cNvPr id="153" name="Google Shape;153;p16"/>
          <p:cNvSpPr txBox="1"/>
          <p:nvPr/>
        </p:nvSpPr>
        <p:spPr>
          <a:xfrm>
            <a:off x="2940600" y="1221575"/>
            <a:ext cx="5758200" cy="34017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Clr>
                <a:srgbClr val="4D5156"/>
              </a:buClr>
              <a:buSzPts val="1900"/>
              <a:buChar char="➢"/>
            </a:pPr>
            <a:r>
              <a:rPr lang="en" sz="1900">
                <a:solidFill>
                  <a:srgbClr val="4D5156"/>
                </a:solidFill>
                <a:highlight>
                  <a:srgbClr val="FFFFFF"/>
                </a:highlight>
              </a:rPr>
              <a:t>Giải quyết vấn đề nhanh chóng</a:t>
            </a:r>
            <a:endParaRPr sz="1900">
              <a:solidFill>
                <a:srgbClr val="4D5156"/>
              </a:solidFill>
              <a:highlight>
                <a:srgbClr val="FFFFFF"/>
              </a:highlight>
            </a:endParaRPr>
          </a:p>
          <a:p>
            <a:pPr indent="0" lvl="0" marL="457200" rtl="0" algn="l">
              <a:spcBef>
                <a:spcPts val="0"/>
              </a:spcBef>
              <a:spcAft>
                <a:spcPts val="0"/>
              </a:spcAft>
              <a:buNone/>
            </a:pPr>
            <a:r>
              <a:t/>
            </a:r>
            <a:endParaRPr sz="1900">
              <a:solidFill>
                <a:srgbClr val="4D5156"/>
              </a:solidFill>
              <a:highlight>
                <a:srgbClr val="FFFFFF"/>
              </a:highlight>
            </a:endParaRPr>
          </a:p>
          <a:p>
            <a:pPr indent="-349250" lvl="0" marL="457200" rtl="0" algn="l">
              <a:spcBef>
                <a:spcPts val="0"/>
              </a:spcBef>
              <a:spcAft>
                <a:spcPts val="0"/>
              </a:spcAft>
              <a:buClr>
                <a:srgbClr val="4D5156"/>
              </a:buClr>
              <a:buSzPts val="1900"/>
              <a:buChar char="➢"/>
            </a:pPr>
            <a:r>
              <a:rPr lang="en" sz="1900">
                <a:solidFill>
                  <a:srgbClr val="4D5156"/>
                </a:solidFill>
                <a:highlight>
                  <a:srgbClr val="FFFFFF"/>
                </a:highlight>
              </a:rPr>
              <a:t>Tránh được các sai sót không mong muốn do việc thu thập thông tin không chính xác</a:t>
            </a:r>
            <a:endParaRPr sz="1900">
              <a:solidFill>
                <a:srgbClr val="4D5156"/>
              </a:solidFill>
              <a:highlight>
                <a:srgbClr val="FFFFFF"/>
              </a:highlight>
            </a:endParaRPr>
          </a:p>
          <a:p>
            <a:pPr indent="0" lvl="0" marL="457200" rtl="0" algn="l">
              <a:spcBef>
                <a:spcPts val="0"/>
              </a:spcBef>
              <a:spcAft>
                <a:spcPts val="0"/>
              </a:spcAft>
              <a:buNone/>
            </a:pPr>
            <a:r>
              <a:t/>
            </a:r>
            <a:endParaRPr sz="1900">
              <a:solidFill>
                <a:srgbClr val="4D5156"/>
              </a:solidFill>
              <a:highlight>
                <a:srgbClr val="FFFFFF"/>
              </a:highlight>
            </a:endParaRPr>
          </a:p>
          <a:p>
            <a:pPr indent="-349250" lvl="0" marL="457200" rtl="0" algn="l">
              <a:spcBef>
                <a:spcPts val="0"/>
              </a:spcBef>
              <a:spcAft>
                <a:spcPts val="0"/>
              </a:spcAft>
              <a:buClr>
                <a:srgbClr val="4D5156"/>
              </a:buClr>
              <a:buSzPts val="1900"/>
              <a:buChar char="➢"/>
            </a:pPr>
            <a:r>
              <a:rPr lang="en" sz="1900">
                <a:solidFill>
                  <a:srgbClr val="4D5156"/>
                </a:solidFill>
                <a:highlight>
                  <a:srgbClr val="FFFFFF"/>
                </a:highlight>
              </a:rPr>
              <a:t>Đem lại cảm giác tin tưởng cho đối phương</a:t>
            </a:r>
            <a:endParaRPr sz="1900">
              <a:solidFill>
                <a:srgbClr val="4D5156"/>
              </a:solidFill>
              <a:highlight>
                <a:srgbClr val="FFFFFF"/>
              </a:highlight>
            </a:endParaRPr>
          </a:p>
          <a:p>
            <a:pPr indent="0" lvl="0" marL="457200" rtl="0" algn="l">
              <a:spcBef>
                <a:spcPts val="0"/>
              </a:spcBef>
              <a:spcAft>
                <a:spcPts val="0"/>
              </a:spcAft>
              <a:buNone/>
            </a:pPr>
            <a:r>
              <a:t/>
            </a:r>
            <a:endParaRPr sz="1900">
              <a:solidFill>
                <a:srgbClr val="4D5156"/>
              </a:solidFill>
              <a:highlight>
                <a:srgbClr val="FFFFFF"/>
              </a:highlight>
            </a:endParaRPr>
          </a:p>
          <a:p>
            <a:pPr indent="-349250" lvl="0" marL="457200" rtl="0" algn="l">
              <a:spcBef>
                <a:spcPts val="0"/>
              </a:spcBef>
              <a:spcAft>
                <a:spcPts val="0"/>
              </a:spcAft>
              <a:buClr>
                <a:srgbClr val="4D5156"/>
              </a:buClr>
              <a:buSzPts val="1900"/>
              <a:buChar char="➢"/>
            </a:pPr>
            <a:r>
              <a:rPr lang="en" sz="1900">
                <a:solidFill>
                  <a:srgbClr val="4D5156"/>
                </a:solidFill>
                <a:highlight>
                  <a:srgbClr val="FFFFFF"/>
                </a:highlight>
              </a:rPr>
              <a:t>Củng cố &amp; tích lũy thêm kiến thức cho bản thân</a:t>
            </a:r>
            <a:endParaRPr sz="1900">
              <a:solidFill>
                <a:srgbClr val="4D5156"/>
              </a:solidFill>
              <a:highlight>
                <a:srgbClr val="FFFFFF"/>
              </a:highlight>
            </a:endParaRPr>
          </a:p>
          <a:p>
            <a:pPr indent="0" lvl="0" marL="457200" rtl="0" algn="l">
              <a:spcBef>
                <a:spcPts val="0"/>
              </a:spcBef>
              <a:spcAft>
                <a:spcPts val="0"/>
              </a:spcAft>
              <a:buNone/>
            </a:pPr>
            <a:r>
              <a:t/>
            </a:r>
            <a:endParaRPr sz="1900">
              <a:solidFill>
                <a:srgbClr val="4D5156"/>
              </a:solidFill>
              <a:highlight>
                <a:srgbClr val="FFFFFF"/>
              </a:highlight>
            </a:endParaRPr>
          </a:p>
          <a:p>
            <a:pPr indent="-349250" lvl="0" marL="457200" rtl="0" algn="l">
              <a:spcBef>
                <a:spcPts val="0"/>
              </a:spcBef>
              <a:spcAft>
                <a:spcPts val="0"/>
              </a:spcAft>
              <a:buClr>
                <a:srgbClr val="4D5156"/>
              </a:buClr>
              <a:buSzPts val="1900"/>
              <a:buChar char="➢"/>
            </a:pPr>
            <a:r>
              <a:rPr lang="en" sz="1900">
                <a:solidFill>
                  <a:srgbClr val="4D5156"/>
                </a:solidFill>
                <a:highlight>
                  <a:srgbClr val="FFFFFF"/>
                </a:highlight>
              </a:rPr>
              <a:t>Góp phần xây dựng mối quan hệ thân thiết giữa đôi bên</a:t>
            </a:r>
            <a:endParaRPr sz="1900">
              <a:solidFill>
                <a:srgbClr val="4D5156"/>
              </a:solidFill>
              <a:highlight>
                <a:srgbClr val="FFFFFF"/>
              </a:highlight>
            </a:endParaRPr>
          </a:p>
        </p:txBody>
      </p:sp>
      <p:pic>
        <p:nvPicPr>
          <p:cNvPr id="154" name="Google Shape;154;p16"/>
          <p:cNvPicPr preferRelativeResize="0"/>
          <p:nvPr/>
        </p:nvPicPr>
        <p:blipFill>
          <a:blip r:embed="rId4">
            <a:alphaModFix/>
          </a:blip>
          <a:stretch>
            <a:fillRect/>
          </a:stretch>
        </p:blipFill>
        <p:spPr>
          <a:xfrm>
            <a:off x="532800" y="1150425"/>
            <a:ext cx="2187101" cy="2408195"/>
          </a:xfrm>
          <a:prstGeom prst="rect">
            <a:avLst/>
          </a:prstGeom>
          <a:noFill/>
          <a:ln>
            <a:noFill/>
          </a:ln>
        </p:spPr>
      </p:pic>
      <p:pic>
        <p:nvPicPr>
          <p:cNvPr id="155" name="Google Shape;155;p16"/>
          <p:cNvPicPr preferRelativeResize="0"/>
          <p:nvPr/>
        </p:nvPicPr>
        <p:blipFill>
          <a:blip r:embed="rId5">
            <a:alphaModFix/>
          </a:blip>
          <a:stretch>
            <a:fillRect/>
          </a:stretch>
        </p:blipFill>
        <p:spPr>
          <a:xfrm>
            <a:off x="532800" y="3539750"/>
            <a:ext cx="2187101" cy="1230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17"/>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61" name="Google Shape;161;p17"/>
          <p:cNvSpPr txBox="1"/>
          <p:nvPr/>
        </p:nvSpPr>
        <p:spPr>
          <a:xfrm>
            <a:off x="881750" y="514350"/>
            <a:ext cx="5749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rPr>
              <a:t>Một số loại câu hỏi thông dụng (1)</a:t>
            </a:r>
            <a:endParaRPr b="1" sz="2400">
              <a:solidFill>
                <a:schemeClr val="lt1"/>
              </a:solidFill>
            </a:endParaRPr>
          </a:p>
        </p:txBody>
      </p:sp>
      <p:sp>
        <p:nvSpPr>
          <p:cNvPr id="162" name="Google Shape;162;p17"/>
          <p:cNvSpPr txBox="1"/>
          <p:nvPr/>
        </p:nvSpPr>
        <p:spPr>
          <a:xfrm>
            <a:off x="1019525" y="1423650"/>
            <a:ext cx="7340100" cy="446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sz="1700">
              <a:solidFill>
                <a:srgbClr val="4D5156"/>
              </a:solidFill>
            </a:endParaRPr>
          </a:p>
        </p:txBody>
      </p:sp>
      <p:sp>
        <p:nvSpPr>
          <p:cNvPr id="163" name="Google Shape;163;p17"/>
          <p:cNvSpPr txBox="1"/>
          <p:nvPr/>
        </p:nvSpPr>
        <p:spPr>
          <a:xfrm>
            <a:off x="826625" y="1157300"/>
            <a:ext cx="7459500" cy="3648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4D5156"/>
              </a:buClr>
              <a:buSzPts val="1600"/>
              <a:buAutoNum type="arabicPeriod"/>
            </a:pPr>
            <a:r>
              <a:rPr b="1" lang="en" sz="1600">
                <a:solidFill>
                  <a:srgbClr val="4D5156"/>
                </a:solidFill>
                <a:highlight>
                  <a:srgbClr val="FFFFFF"/>
                </a:highlight>
              </a:rPr>
              <a:t>Câu hỏi xác nhận (tiếp thu thông tin)</a:t>
            </a:r>
            <a:endParaRPr b="1" sz="1600">
              <a:solidFill>
                <a:srgbClr val="4D5156"/>
              </a:solidFill>
              <a:highlight>
                <a:srgbClr val="FFFFFF"/>
              </a:highlight>
            </a:endParaRPr>
          </a:p>
          <a:p>
            <a:pPr indent="0" lvl="0" marL="0" rtl="0" algn="l">
              <a:spcBef>
                <a:spcPts val="0"/>
              </a:spcBef>
              <a:spcAft>
                <a:spcPts val="0"/>
              </a:spcAft>
              <a:buNone/>
            </a:pPr>
            <a:r>
              <a:t/>
            </a:r>
            <a:endParaRPr b="1" sz="1600">
              <a:solidFill>
                <a:srgbClr val="4D5156"/>
              </a:solidFill>
              <a:highlight>
                <a:srgbClr val="FFFFFF"/>
              </a:highlight>
            </a:endParaRPr>
          </a:p>
          <a:p>
            <a:pPr indent="-330200" lvl="0" marL="457200" rtl="0" algn="l">
              <a:spcBef>
                <a:spcPts val="0"/>
              </a:spcBef>
              <a:spcAft>
                <a:spcPts val="0"/>
              </a:spcAft>
              <a:buClr>
                <a:srgbClr val="4D5156"/>
              </a:buClr>
              <a:buSzPts val="1600"/>
              <a:buChar char="➢"/>
            </a:pPr>
            <a:r>
              <a:rPr lang="en" sz="1600">
                <a:solidFill>
                  <a:srgbClr val="4D5156"/>
                </a:solidFill>
                <a:highlight>
                  <a:schemeClr val="dk1"/>
                </a:highlight>
              </a:rPr>
              <a:t>Khi nào cần hỏi?</a:t>
            </a:r>
            <a:endParaRPr sz="1600">
              <a:solidFill>
                <a:srgbClr val="4D5156"/>
              </a:solidFill>
              <a:highlight>
                <a:schemeClr val="dk1"/>
              </a:highlight>
            </a:endParaRPr>
          </a:p>
          <a:p>
            <a:pPr indent="-330200" lvl="1" marL="914400" rtl="0" algn="l">
              <a:spcBef>
                <a:spcPts val="0"/>
              </a:spcBef>
              <a:spcAft>
                <a:spcPts val="0"/>
              </a:spcAft>
              <a:buClr>
                <a:srgbClr val="4D5156"/>
              </a:buClr>
              <a:buSzPts val="1600"/>
              <a:buChar char="○"/>
            </a:pPr>
            <a:r>
              <a:rPr lang="en" sz="1600">
                <a:solidFill>
                  <a:srgbClr val="4D5156"/>
                </a:solidFill>
                <a:highlight>
                  <a:schemeClr val="dk1"/>
                </a:highlight>
              </a:rPr>
              <a:t>Khi chưa nắm rõ 100% những gì đối phương truyền đạt</a:t>
            </a:r>
            <a:endParaRPr sz="1600">
              <a:solidFill>
                <a:srgbClr val="4D5156"/>
              </a:solidFill>
              <a:highlight>
                <a:schemeClr val="dk1"/>
              </a:highlight>
            </a:endParaRPr>
          </a:p>
          <a:p>
            <a:pPr indent="457200" lvl="0" marL="0" rtl="0" algn="l">
              <a:spcBef>
                <a:spcPts val="0"/>
              </a:spcBef>
              <a:spcAft>
                <a:spcPts val="0"/>
              </a:spcAft>
              <a:buNone/>
            </a:pPr>
            <a:r>
              <a:t/>
            </a:r>
            <a:endParaRPr sz="1600">
              <a:solidFill>
                <a:srgbClr val="4D5156"/>
              </a:solidFill>
              <a:highlight>
                <a:schemeClr val="dk1"/>
              </a:highlight>
            </a:endParaRPr>
          </a:p>
          <a:p>
            <a:pPr indent="-330200" lvl="0" marL="457200" rtl="0" algn="l">
              <a:spcBef>
                <a:spcPts val="0"/>
              </a:spcBef>
              <a:spcAft>
                <a:spcPts val="0"/>
              </a:spcAft>
              <a:buClr>
                <a:srgbClr val="4D5156"/>
              </a:buClr>
              <a:buSzPts val="1600"/>
              <a:buChar char="➢"/>
            </a:pPr>
            <a:r>
              <a:rPr lang="en" sz="1600">
                <a:solidFill>
                  <a:srgbClr val="4D5156"/>
                </a:solidFill>
                <a:highlight>
                  <a:srgbClr val="FFFFFF"/>
                </a:highlight>
              </a:rPr>
              <a:t>Point:</a:t>
            </a:r>
            <a:endParaRPr sz="1600">
              <a:solidFill>
                <a:srgbClr val="4D5156"/>
              </a:solidFill>
              <a:highlight>
                <a:srgbClr val="FFFFFF"/>
              </a:highlight>
            </a:endParaRPr>
          </a:p>
          <a:p>
            <a:pPr indent="-330200" lvl="1" marL="914400" rtl="0" algn="l">
              <a:spcBef>
                <a:spcPts val="0"/>
              </a:spcBef>
              <a:spcAft>
                <a:spcPts val="0"/>
              </a:spcAft>
              <a:buClr>
                <a:srgbClr val="4D5156"/>
              </a:buClr>
              <a:buSzPts val="1600"/>
              <a:buChar char="○"/>
            </a:pPr>
            <a:r>
              <a:rPr lang="en" sz="1600">
                <a:solidFill>
                  <a:srgbClr val="4D5156"/>
                </a:solidFill>
                <a:highlight>
                  <a:srgbClr val="FFFFFF"/>
                </a:highlight>
              </a:rPr>
              <a:t>Cần tự tìm hiểu trước khi đặt câu hỏi</a:t>
            </a:r>
            <a:endParaRPr sz="1600">
              <a:solidFill>
                <a:srgbClr val="4D5156"/>
              </a:solidFill>
              <a:highlight>
                <a:srgbClr val="FFFFFF"/>
              </a:highlight>
            </a:endParaRPr>
          </a:p>
          <a:p>
            <a:pPr indent="-330200" lvl="1" marL="914400" rtl="0" algn="l">
              <a:spcBef>
                <a:spcPts val="0"/>
              </a:spcBef>
              <a:spcAft>
                <a:spcPts val="0"/>
              </a:spcAft>
              <a:buClr>
                <a:srgbClr val="4D5156"/>
              </a:buClr>
              <a:buSzPts val="1600"/>
              <a:buChar char="○"/>
            </a:pPr>
            <a:r>
              <a:rPr lang="en" sz="1600">
                <a:solidFill>
                  <a:srgbClr val="4D5156"/>
                </a:solidFill>
                <a:highlight>
                  <a:srgbClr val="FFFFFF"/>
                </a:highlight>
              </a:rPr>
              <a:t>Trình bày ý hiểu của bản thân để xác nhận:</a:t>
            </a:r>
            <a:endParaRPr sz="1600">
              <a:solidFill>
                <a:srgbClr val="4D5156"/>
              </a:solidFill>
              <a:highlight>
                <a:srgbClr val="FFFFFF"/>
              </a:highlight>
            </a:endParaRPr>
          </a:p>
          <a:p>
            <a:pPr indent="0" lvl="0" marL="457200" rtl="0" algn="l">
              <a:spcBef>
                <a:spcPts val="0"/>
              </a:spcBef>
              <a:spcAft>
                <a:spcPts val="0"/>
              </a:spcAft>
              <a:buNone/>
            </a:pPr>
            <a:r>
              <a:rPr lang="en" sz="1600">
                <a:solidFill>
                  <a:srgbClr val="4D5156"/>
                </a:solidFill>
                <a:highlight>
                  <a:srgbClr val="FFFFFF"/>
                </a:highlight>
              </a:rPr>
              <a:t>        </a:t>
            </a:r>
            <a:r>
              <a:rPr lang="en">
                <a:solidFill>
                  <a:srgbClr val="4D5156"/>
                </a:solidFill>
                <a:highlight>
                  <a:srgbClr val="FFFFFF"/>
                </a:highlight>
              </a:rPr>
              <a:t>△△</a:t>
            </a:r>
            <a:r>
              <a:rPr lang="en" sz="1600">
                <a:solidFill>
                  <a:srgbClr val="4D5156"/>
                </a:solidFill>
                <a:highlight>
                  <a:srgbClr val="FFFFFF"/>
                </a:highlight>
              </a:rPr>
              <a:t>という理解で正しいでしょうか。</a:t>
            </a:r>
            <a:endParaRPr sz="1600">
              <a:solidFill>
                <a:srgbClr val="4D5156"/>
              </a:solidFill>
              <a:highlight>
                <a:srgbClr val="FFFFFF"/>
              </a:highlight>
            </a:endParaRPr>
          </a:p>
          <a:p>
            <a:pPr indent="0" lvl="0" marL="457200" rtl="0" algn="l">
              <a:spcBef>
                <a:spcPts val="0"/>
              </a:spcBef>
              <a:spcAft>
                <a:spcPts val="0"/>
              </a:spcAft>
              <a:buNone/>
            </a:pPr>
            <a:r>
              <a:rPr lang="en" sz="1600">
                <a:solidFill>
                  <a:srgbClr val="4D5156"/>
                </a:solidFill>
                <a:highlight>
                  <a:srgbClr val="FFFFFF"/>
                </a:highlight>
              </a:rPr>
              <a:t>        </a:t>
            </a:r>
            <a:r>
              <a:rPr lang="en">
                <a:solidFill>
                  <a:srgbClr val="4D5156"/>
                </a:solidFill>
                <a:highlight>
                  <a:srgbClr val="FFFFFF"/>
                </a:highlight>
              </a:rPr>
              <a:t>△△</a:t>
            </a:r>
            <a:r>
              <a:rPr lang="en" sz="1600">
                <a:solidFill>
                  <a:srgbClr val="4D5156"/>
                </a:solidFill>
                <a:highlight>
                  <a:srgbClr val="FFFFFF"/>
                </a:highlight>
              </a:rPr>
              <a:t>という認識でよろしいでしょうか。</a:t>
            </a:r>
            <a:endParaRPr sz="1600">
              <a:solidFill>
                <a:srgbClr val="4D5156"/>
              </a:solidFill>
              <a:highlight>
                <a:srgbClr val="FFFFFF"/>
              </a:highlight>
            </a:endParaRPr>
          </a:p>
          <a:p>
            <a:pPr indent="-330200" lvl="1" marL="914400" rtl="0" algn="l">
              <a:spcBef>
                <a:spcPts val="0"/>
              </a:spcBef>
              <a:spcAft>
                <a:spcPts val="0"/>
              </a:spcAft>
              <a:buClr>
                <a:srgbClr val="4D5156"/>
              </a:buClr>
              <a:buSzPts val="1600"/>
              <a:buChar char="○"/>
            </a:pPr>
            <a:r>
              <a:rPr lang="en" sz="1600">
                <a:solidFill>
                  <a:srgbClr val="4D5156"/>
                </a:solidFill>
                <a:highlight>
                  <a:srgbClr val="FFFFFF"/>
                </a:highlight>
              </a:rPr>
              <a:t>Tổng hợp các thông tin cần hỏi vào một lần hỏi</a:t>
            </a:r>
            <a:endParaRPr sz="1600">
              <a:solidFill>
                <a:srgbClr val="4D5156"/>
              </a:solidFill>
              <a:highlight>
                <a:srgbClr val="FFFFFF"/>
              </a:highlight>
            </a:endParaRPr>
          </a:p>
          <a:p>
            <a:pPr indent="0" lvl="0" marL="914400" rtl="0" algn="l">
              <a:spcBef>
                <a:spcPts val="0"/>
              </a:spcBef>
              <a:spcAft>
                <a:spcPts val="0"/>
              </a:spcAft>
              <a:buNone/>
            </a:pPr>
            <a:r>
              <a:rPr lang="en" sz="1600">
                <a:solidFill>
                  <a:srgbClr val="4D5156"/>
                </a:solidFill>
                <a:highlight>
                  <a:srgbClr val="FFFFFF"/>
                </a:highlight>
              </a:rPr>
              <a:t>Tránh xác nhận lắt nhắt nhiều lần làm mất thời gian và gây phiền cho đối phương</a:t>
            </a:r>
            <a:endParaRPr sz="1600">
              <a:solidFill>
                <a:srgbClr val="4D5156"/>
              </a:solidFill>
              <a:highlight>
                <a:srgbClr val="FFFFFF"/>
              </a:highlight>
            </a:endParaRPr>
          </a:p>
          <a:p>
            <a:pPr indent="0" lvl="0" marL="0" rtl="0" algn="l">
              <a:spcBef>
                <a:spcPts val="0"/>
              </a:spcBef>
              <a:spcAft>
                <a:spcPts val="0"/>
              </a:spcAft>
              <a:buNone/>
            </a:pPr>
            <a:r>
              <a:t/>
            </a:r>
            <a:endParaRPr sz="1700">
              <a:solidFill>
                <a:srgbClr val="4D5156"/>
              </a:solidFill>
              <a:highlight>
                <a:srgbClr val="FF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18"/>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69" name="Google Shape;169;p18"/>
          <p:cNvSpPr txBox="1"/>
          <p:nvPr/>
        </p:nvSpPr>
        <p:spPr>
          <a:xfrm>
            <a:off x="881750" y="440875"/>
            <a:ext cx="5749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rPr>
              <a:t>Một số loại câu hỏi thông dụng (2)</a:t>
            </a:r>
            <a:endParaRPr b="1" sz="2400">
              <a:solidFill>
                <a:schemeClr val="lt1"/>
              </a:solidFill>
            </a:endParaRPr>
          </a:p>
        </p:txBody>
      </p:sp>
      <p:sp>
        <p:nvSpPr>
          <p:cNvPr id="170" name="Google Shape;170;p18"/>
          <p:cNvSpPr txBox="1"/>
          <p:nvPr/>
        </p:nvSpPr>
        <p:spPr>
          <a:xfrm>
            <a:off x="1019525" y="1423650"/>
            <a:ext cx="7340100" cy="446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sz="1700">
              <a:solidFill>
                <a:srgbClr val="4D5156"/>
              </a:solidFill>
            </a:endParaRPr>
          </a:p>
        </p:txBody>
      </p:sp>
      <p:sp>
        <p:nvSpPr>
          <p:cNvPr id="171" name="Google Shape;171;p18"/>
          <p:cNvSpPr txBox="1"/>
          <p:nvPr/>
        </p:nvSpPr>
        <p:spPr>
          <a:xfrm>
            <a:off x="780700" y="1018825"/>
            <a:ext cx="75051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4D5156"/>
                </a:solidFill>
                <a:highlight>
                  <a:srgbClr val="FFFFFF"/>
                </a:highlight>
              </a:rPr>
              <a:t>2.   </a:t>
            </a:r>
            <a:r>
              <a:rPr b="1" lang="en">
                <a:solidFill>
                  <a:srgbClr val="4D5156"/>
                </a:solidFill>
                <a:highlight>
                  <a:srgbClr val="FFFFFF"/>
                </a:highlight>
              </a:rPr>
              <a:t>Câu hỏi tìm hiểu (thu thập thông tin)</a:t>
            </a:r>
            <a:endParaRPr b="1">
              <a:solidFill>
                <a:srgbClr val="4D5156"/>
              </a:solidFill>
              <a:highlight>
                <a:srgbClr val="FFFFFF"/>
              </a:highlight>
            </a:endParaRPr>
          </a:p>
          <a:p>
            <a:pPr indent="0" lvl="0" marL="457200" rtl="0" algn="l">
              <a:spcBef>
                <a:spcPts val="0"/>
              </a:spcBef>
              <a:spcAft>
                <a:spcPts val="0"/>
              </a:spcAft>
              <a:buNone/>
            </a:pPr>
            <a:r>
              <a:t/>
            </a:r>
            <a:endParaRPr b="1">
              <a:solidFill>
                <a:srgbClr val="4D5156"/>
              </a:solidFill>
              <a:highlight>
                <a:srgbClr val="FFFFFF"/>
              </a:highlight>
            </a:endParaRPr>
          </a:p>
          <a:p>
            <a:pPr indent="-317500" lvl="0" marL="457200" rtl="0" algn="l">
              <a:spcBef>
                <a:spcPts val="0"/>
              </a:spcBef>
              <a:spcAft>
                <a:spcPts val="0"/>
              </a:spcAft>
              <a:buClr>
                <a:srgbClr val="4D5156"/>
              </a:buClr>
              <a:buSzPts val="1400"/>
              <a:buChar char="➢"/>
            </a:pPr>
            <a:r>
              <a:rPr lang="en">
                <a:solidFill>
                  <a:srgbClr val="4D5156"/>
                </a:solidFill>
                <a:highlight>
                  <a:schemeClr val="dk1"/>
                </a:highlight>
              </a:rPr>
              <a:t>Khi nào cần hỏi?</a:t>
            </a:r>
            <a:endParaRPr>
              <a:solidFill>
                <a:srgbClr val="4D5156"/>
              </a:solidFill>
              <a:highlight>
                <a:schemeClr val="dk1"/>
              </a:highlight>
            </a:endParaRPr>
          </a:p>
          <a:p>
            <a:pPr indent="-317500" lvl="1" marL="914400" rtl="0" algn="l">
              <a:spcBef>
                <a:spcPts val="0"/>
              </a:spcBef>
              <a:spcAft>
                <a:spcPts val="0"/>
              </a:spcAft>
              <a:buClr>
                <a:srgbClr val="4D5156"/>
              </a:buClr>
              <a:buSzPts val="1400"/>
              <a:buChar char="○"/>
            </a:pPr>
            <a:r>
              <a:rPr lang="en">
                <a:solidFill>
                  <a:srgbClr val="4D5156"/>
                </a:solidFill>
                <a:highlight>
                  <a:schemeClr val="dk1"/>
                </a:highlight>
              </a:rPr>
              <a:t>Khi cần thông tin để tiến hành 1 công việc nào đó</a:t>
            </a:r>
            <a:endParaRPr>
              <a:solidFill>
                <a:srgbClr val="4D5156"/>
              </a:solidFill>
              <a:highlight>
                <a:schemeClr val="dk1"/>
              </a:highlight>
            </a:endParaRPr>
          </a:p>
          <a:p>
            <a:pPr indent="-317500" lvl="1" marL="914400" rtl="0" algn="l">
              <a:spcBef>
                <a:spcPts val="0"/>
              </a:spcBef>
              <a:spcAft>
                <a:spcPts val="0"/>
              </a:spcAft>
              <a:buClr>
                <a:srgbClr val="4D5156"/>
              </a:buClr>
              <a:buSzPts val="1400"/>
              <a:buChar char="○"/>
            </a:pPr>
            <a:r>
              <a:rPr lang="en">
                <a:solidFill>
                  <a:srgbClr val="4D5156"/>
                </a:solidFill>
                <a:highlight>
                  <a:schemeClr val="dk1"/>
                </a:highlight>
              </a:rPr>
              <a:t>Khi xảy ra vấn đề và cần tham vấn</a:t>
            </a:r>
            <a:endParaRPr>
              <a:solidFill>
                <a:srgbClr val="4D5156"/>
              </a:solidFill>
              <a:highlight>
                <a:schemeClr val="dk1"/>
              </a:highlight>
            </a:endParaRPr>
          </a:p>
          <a:p>
            <a:pPr indent="457200" lvl="0" marL="0" rtl="0" algn="l">
              <a:spcBef>
                <a:spcPts val="0"/>
              </a:spcBef>
              <a:spcAft>
                <a:spcPts val="0"/>
              </a:spcAft>
              <a:buNone/>
            </a:pPr>
            <a:r>
              <a:t/>
            </a:r>
            <a:endParaRPr>
              <a:solidFill>
                <a:srgbClr val="4D5156"/>
              </a:solidFill>
              <a:highlight>
                <a:schemeClr val="dk1"/>
              </a:highlight>
            </a:endParaRPr>
          </a:p>
          <a:p>
            <a:pPr indent="-317500" lvl="0" marL="457200" rtl="0" algn="l">
              <a:spcBef>
                <a:spcPts val="0"/>
              </a:spcBef>
              <a:spcAft>
                <a:spcPts val="0"/>
              </a:spcAft>
              <a:buClr>
                <a:srgbClr val="4D5156"/>
              </a:buClr>
              <a:buSzPts val="1400"/>
              <a:buChar char="➢"/>
            </a:pPr>
            <a:r>
              <a:rPr lang="en">
                <a:solidFill>
                  <a:srgbClr val="4D5156"/>
                </a:solidFill>
                <a:highlight>
                  <a:srgbClr val="FFFFFF"/>
                </a:highlight>
              </a:rPr>
              <a:t>Point :</a:t>
            </a:r>
            <a:endParaRPr>
              <a:solidFill>
                <a:srgbClr val="4D5156"/>
              </a:solidFill>
              <a:highlight>
                <a:srgbClr val="FFFFFF"/>
              </a:highlight>
            </a:endParaRPr>
          </a:p>
          <a:p>
            <a:pPr indent="-317500" lvl="1" marL="914400" rtl="0" algn="l">
              <a:spcBef>
                <a:spcPts val="0"/>
              </a:spcBef>
              <a:spcAft>
                <a:spcPts val="0"/>
              </a:spcAft>
              <a:buClr>
                <a:srgbClr val="4D5156"/>
              </a:buClr>
              <a:buSzPts val="1400"/>
              <a:buChar char="○"/>
            </a:pPr>
            <a:r>
              <a:rPr lang="en">
                <a:solidFill>
                  <a:srgbClr val="4D5156"/>
                </a:solidFill>
                <a:highlight>
                  <a:srgbClr val="FFFFFF"/>
                </a:highlight>
              </a:rPr>
              <a:t>Tìm hiểu, điều tra </a:t>
            </a:r>
            <a:r>
              <a:rPr lang="en" u="sng">
                <a:solidFill>
                  <a:srgbClr val="4D5156"/>
                </a:solidFill>
                <a:highlight>
                  <a:srgbClr val="FFFFFF"/>
                </a:highlight>
              </a:rPr>
              <a:t>tổng thể</a:t>
            </a:r>
            <a:r>
              <a:rPr lang="en">
                <a:solidFill>
                  <a:srgbClr val="4D5156"/>
                </a:solidFill>
                <a:highlight>
                  <a:srgbClr val="FFFFFF"/>
                </a:highlight>
              </a:rPr>
              <a:t> trước khi hỏi (để tránh hỏi lại về những thông tin đã được cung cấp rồi)</a:t>
            </a:r>
            <a:endParaRPr>
              <a:solidFill>
                <a:srgbClr val="4D5156"/>
              </a:solidFill>
              <a:highlight>
                <a:srgbClr val="FFFFFF"/>
              </a:highlight>
            </a:endParaRPr>
          </a:p>
          <a:p>
            <a:pPr indent="-317500" lvl="1" marL="914400" rtl="0" algn="l">
              <a:spcBef>
                <a:spcPts val="0"/>
              </a:spcBef>
              <a:spcAft>
                <a:spcPts val="0"/>
              </a:spcAft>
              <a:buClr>
                <a:srgbClr val="4D5156"/>
              </a:buClr>
              <a:buSzPts val="1400"/>
              <a:buChar char="○"/>
            </a:pPr>
            <a:r>
              <a:rPr lang="en">
                <a:solidFill>
                  <a:srgbClr val="4D5156"/>
                </a:solidFill>
                <a:highlight>
                  <a:srgbClr val="FFFFFF"/>
                </a:highlight>
              </a:rPr>
              <a:t>Trình bày những gì đã tìm hiểu trước khi đi đến câu hỏi</a:t>
            </a:r>
            <a:endParaRPr>
              <a:solidFill>
                <a:srgbClr val="4D5156"/>
              </a:solidFill>
              <a:highlight>
                <a:srgbClr val="FFFFFF"/>
              </a:highlight>
            </a:endParaRPr>
          </a:p>
          <a:p>
            <a:pPr indent="-317500" lvl="1" marL="914400" rtl="0" algn="l">
              <a:spcBef>
                <a:spcPts val="0"/>
              </a:spcBef>
              <a:spcAft>
                <a:spcPts val="0"/>
              </a:spcAft>
              <a:buClr>
                <a:srgbClr val="4D5156"/>
              </a:buClr>
              <a:buSzPts val="1400"/>
              <a:buChar char="○"/>
            </a:pPr>
            <a:r>
              <a:rPr lang="en">
                <a:solidFill>
                  <a:srgbClr val="4D5156"/>
                </a:solidFill>
                <a:highlight>
                  <a:srgbClr val="FFFFFF"/>
                </a:highlight>
              </a:rPr>
              <a:t>Nội dung câu hỏi cần rõ ràng, cụ thể và dễ hình dung.</a:t>
            </a:r>
            <a:endParaRPr>
              <a:solidFill>
                <a:srgbClr val="4D5156"/>
              </a:solidFill>
              <a:highlight>
                <a:srgbClr val="FFFFFF"/>
              </a:highlight>
            </a:endParaRPr>
          </a:p>
          <a:p>
            <a:pPr indent="0" lvl="0" marL="914400" rtl="0" algn="l">
              <a:spcBef>
                <a:spcPts val="0"/>
              </a:spcBef>
              <a:spcAft>
                <a:spcPts val="0"/>
              </a:spcAft>
              <a:buNone/>
            </a:pPr>
            <a:r>
              <a:rPr lang="en">
                <a:solidFill>
                  <a:srgbClr val="4D5156"/>
                </a:solidFill>
                <a:highlight>
                  <a:srgbClr val="FFFFFF"/>
                </a:highlight>
              </a:rPr>
              <a:t>「</a:t>
            </a:r>
            <a:r>
              <a:rPr lang="en">
                <a:solidFill>
                  <a:srgbClr val="4D5156"/>
                </a:solidFill>
              </a:rPr>
              <a:t>どこの</a:t>
            </a:r>
            <a:r>
              <a:rPr lang="en">
                <a:solidFill>
                  <a:srgbClr val="4D5156"/>
                </a:solidFill>
                <a:highlight>
                  <a:srgbClr val="FFFFFF"/>
                </a:highlight>
              </a:rPr>
              <a:t>」+「</a:t>
            </a:r>
            <a:r>
              <a:rPr lang="en">
                <a:solidFill>
                  <a:srgbClr val="4D5156"/>
                </a:solidFill>
              </a:rPr>
              <a:t>なにが</a:t>
            </a:r>
            <a:r>
              <a:rPr lang="en">
                <a:solidFill>
                  <a:srgbClr val="4D5156"/>
                </a:solidFill>
                <a:highlight>
                  <a:srgbClr val="FFFFFF"/>
                </a:highlight>
              </a:rPr>
              <a:t>」+「</a:t>
            </a:r>
            <a:r>
              <a:rPr lang="en">
                <a:solidFill>
                  <a:srgbClr val="4D5156"/>
                </a:solidFill>
              </a:rPr>
              <a:t>どのように分からないのか</a:t>
            </a:r>
            <a:r>
              <a:rPr lang="en">
                <a:solidFill>
                  <a:srgbClr val="4D5156"/>
                </a:solidFill>
                <a:highlight>
                  <a:srgbClr val="FFFFFF"/>
                </a:highlight>
              </a:rPr>
              <a:t>」</a:t>
            </a:r>
            <a:endParaRPr>
              <a:solidFill>
                <a:srgbClr val="4D5156"/>
              </a:solidFill>
              <a:highlight>
                <a:srgbClr val="FFFFFF"/>
              </a:highlight>
            </a:endParaRPr>
          </a:p>
          <a:p>
            <a:pPr indent="0" lvl="0" marL="914400" rtl="0" algn="l">
              <a:spcBef>
                <a:spcPts val="0"/>
              </a:spcBef>
              <a:spcAft>
                <a:spcPts val="0"/>
              </a:spcAft>
              <a:buNone/>
            </a:pPr>
            <a:r>
              <a:rPr lang="en">
                <a:solidFill>
                  <a:srgbClr val="4D5156"/>
                </a:solidFill>
                <a:highlight>
                  <a:srgbClr val="FFFFFF"/>
                </a:highlight>
              </a:rPr>
              <a:t>Ví dụ :</a:t>
            </a:r>
            <a:endParaRPr>
              <a:solidFill>
                <a:srgbClr val="4D5156"/>
              </a:solidFill>
              <a:highlight>
                <a:srgbClr val="FFFFFF"/>
              </a:highlight>
            </a:endParaRPr>
          </a:p>
          <a:p>
            <a:pPr indent="0" lvl="0" marL="457200" rtl="0" algn="l">
              <a:spcBef>
                <a:spcPts val="0"/>
              </a:spcBef>
              <a:spcAft>
                <a:spcPts val="0"/>
              </a:spcAft>
              <a:buNone/>
            </a:pPr>
            <a:r>
              <a:rPr lang="en">
                <a:solidFill>
                  <a:srgbClr val="4D5156"/>
                </a:solidFill>
                <a:highlight>
                  <a:srgbClr val="FFFFFF"/>
                </a:highlight>
              </a:rPr>
              <a:t>      </a:t>
            </a:r>
            <a:r>
              <a:rPr lang="en">
                <a:solidFill>
                  <a:srgbClr val="4D5156"/>
                </a:solidFill>
                <a:highlight>
                  <a:srgbClr val="FFFFFF"/>
                </a:highlight>
              </a:rPr>
              <a:t> </a:t>
            </a:r>
            <a:r>
              <a:rPr lang="en">
                <a:solidFill>
                  <a:srgbClr val="FF0000"/>
                </a:solidFill>
                <a:highlight>
                  <a:srgbClr val="FFFFFF"/>
                </a:highlight>
              </a:rPr>
              <a:t>(X) </a:t>
            </a:r>
            <a:r>
              <a:rPr lang="en">
                <a:solidFill>
                  <a:srgbClr val="4D5156"/>
                </a:solidFill>
                <a:highlight>
                  <a:srgbClr val="FFFFFF"/>
                </a:highlight>
              </a:rPr>
              <a:t>なんか…うまくいきません。</a:t>
            </a:r>
            <a:endParaRPr>
              <a:solidFill>
                <a:srgbClr val="4D5156"/>
              </a:solidFill>
              <a:highlight>
                <a:srgbClr val="FFFFFF"/>
              </a:highlight>
            </a:endParaRPr>
          </a:p>
          <a:p>
            <a:pPr indent="0" lvl="0" marL="457200" rtl="0" algn="l">
              <a:spcBef>
                <a:spcPts val="0"/>
              </a:spcBef>
              <a:spcAft>
                <a:spcPts val="0"/>
              </a:spcAft>
              <a:buNone/>
            </a:pPr>
            <a:r>
              <a:rPr lang="en">
                <a:solidFill>
                  <a:srgbClr val="4D5156"/>
                </a:solidFill>
                <a:highlight>
                  <a:srgbClr val="FFFFFF"/>
                </a:highlight>
              </a:rPr>
              <a:t>       </a:t>
            </a:r>
            <a:r>
              <a:rPr lang="en">
                <a:solidFill>
                  <a:srgbClr val="0000FF"/>
                </a:solidFill>
                <a:highlight>
                  <a:srgbClr val="FFFFFF"/>
                </a:highlight>
              </a:rPr>
              <a:t>(O) </a:t>
            </a:r>
            <a:r>
              <a:rPr lang="en">
                <a:solidFill>
                  <a:srgbClr val="4D5156"/>
                </a:solidFill>
                <a:highlight>
                  <a:srgbClr val="FFFFFF"/>
                </a:highlight>
              </a:rPr>
              <a:t>ここの○○が△△になるはずなのですが、現在、××と表示されてしまいます。   どうしたら、うまく△△と表示されるでしょうか。</a:t>
            </a:r>
            <a:endParaRPr sz="1500">
              <a:solidFill>
                <a:srgbClr val="4D5156"/>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19"/>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77" name="Google Shape;177;p19"/>
          <p:cNvSpPr txBox="1"/>
          <p:nvPr/>
        </p:nvSpPr>
        <p:spPr>
          <a:xfrm>
            <a:off x="881750" y="440875"/>
            <a:ext cx="5749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rPr>
              <a:t>Một số loại câu hỏi thông dụng (3)</a:t>
            </a:r>
            <a:endParaRPr b="1" sz="2400">
              <a:solidFill>
                <a:schemeClr val="lt1"/>
              </a:solidFill>
            </a:endParaRPr>
          </a:p>
        </p:txBody>
      </p:sp>
      <p:sp>
        <p:nvSpPr>
          <p:cNvPr id="178" name="Google Shape;178;p19"/>
          <p:cNvSpPr txBox="1"/>
          <p:nvPr/>
        </p:nvSpPr>
        <p:spPr>
          <a:xfrm>
            <a:off x="1019525" y="1423650"/>
            <a:ext cx="7340100" cy="446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sz="1700">
              <a:solidFill>
                <a:srgbClr val="4D5156"/>
              </a:solidFill>
            </a:endParaRPr>
          </a:p>
        </p:txBody>
      </p:sp>
      <p:sp>
        <p:nvSpPr>
          <p:cNvPr id="179" name="Google Shape;179;p19"/>
          <p:cNvSpPr txBox="1"/>
          <p:nvPr/>
        </p:nvSpPr>
        <p:spPr>
          <a:xfrm>
            <a:off x="780700" y="1056250"/>
            <a:ext cx="75051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4D5156"/>
                </a:solidFill>
                <a:highlight>
                  <a:srgbClr val="FFFFFF"/>
                </a:highlight>
              </a:rPr>
              <a:t>3</a:t>
            </a:r>
            <a:r>
              <a:rPr b="1" lang="en">
                <a:solidFill>
                  <a:srgbClr val="4D5156"/>
                </a:solidFill>
                <a:highlight>
                  <a:srgbClr val="FFFFFF"/>
                </a:highlight>
              </a:rPr>
              <a:t>.   Câu hỏi trao đổi (điều chỉnh thông tin)</a:t>
            </a:r>
            <a:endParaRPr b="1">
              <a:solidFill>
                <a:srgbClr val="4D5156"/>
              </a:solidFill>
              <a:highlight>
                <a:srgbClr val="FFFFFF"/>
              </a:highlight>
            </a:endParaRPr>
          </a:p>
          <a:p>
            <a:pPr indent="0" lvl="0" marL="457200" rtl="0" algn="l">
              <a:spcBef>
                <a:spcPts val="0"/>
              </a:spcBef>
              <a:spcAft>
                <a:spcPts val="0"/>
              </a:spcAft>
              <a:buNone/>
            </a:pPr>
            <a:r>
              <a:t/>
            </a:r>
            <a:endParaRPr b="1">
              <a:solidFill>
                <a:srgbClr val="4D5156"/>
              </a:solidFill>
              <a:highlight>
                <a:srgbClr val="FFFFFF"/>
              </a:highlight>
            </a:endParaRPr>
          </a:p>
          <a:p>
            <a:pPr indent="-317500" lvl="0" marL="457200" rtl="0" algn="l">
              <a:spcBef>
                <a:spcPts val="0"/>
              </a:spcBef>
              <a:spcAft>
                <a:spcPts val="0"/>
              </a:spcAft>
              <a:buClr>
                <a:srgbClr val="4D5156"/>
              </a:buClr>
              <a:buSzPts val="1400"/>
              <a:buChar char="➢"/>
            </a:pPr>
            <a:r>
              <a:rPr lang="en">
                <a:solidFill>
                  <a:srgbClr val="4D5156"/>
                </a:solidFill>
                <a:highlight>
                  <a:schemeClr val="dk1"/>
                </a:highlight>
              </a:rPr>
              <a:t>Khi nào cần hỏi?</a:t>
            </a:r>
            <a:endParaRPr>
              <a:solidFill>
                <a:srgbClr val="4D5156"/>
              </a:solidFill>
              <a:highlight>
                <a:schemeClr val="dk1"/>
              </a:highlight>
            </a:endParaRPr>
          </a:p>
          <a:p>
            <a:pPr indent="-317500" lvl="1" marL="914400" rtl="0" algn="l">
              <a:spcBef>
                <a:spcPts val="0"/>
              </a:spcBef>
              <a:spcAft>
                <a:spcPts val="0"/>
              </a:spcAft>
              <a:buClr>
                <a:srgbClr val="4D5156"/>
              </a:buClr>
              <a:buSzPts val="1400"/>
              <a:buChar char="○"/>
            </a:pPr>
            <a:r>
              <a:rPr lang="en">
                <a:solidFill>
                  <a:srgbClr val="4D5156"/>
                </a:solidFill>
                <a:highlight>
                  <a:schemeClr val="dk1"/>
                </a:highlight>
              </a:rPr>
              <a:t>Khi gặp khó khăn và cần thảo luận để xử lý vấn đề</a:t>
            </a:r>
            <a:endParaRPr>
              <a:solidFill>
                <a:srgbClr val="4D5156"/>
              </a:solidFill>
              <a:highlight>
                <a:schemeClr val="dk1"/>
              </a:highlight>
            </a:endParaRPr>
          </a:p>
          <a:p>
            <a:pPr indent="-317500" lvl="1" marL="914400" rtl="0" algn="l">
              <a:spcBef>
                <a:spcPts val="0"/>
              </a:spcBef>
              <a:spcAft>
                <a:spcPts val="0"/>
              </a:spcAft>
              <a:buClr>
                <a:srgbClr val="4D5156"/>
              </a:buClr>
              <a:buSzPts val="1400"/>
              <a:buChar char="○"/>
            </a:pPr>
            <a:r>
              <a:rPr lang="en">
                <a:solidFill>
                  <a:srgbClr val="4D5156"/>
                </a:solidFill>
                <a:highlight>
                  <a:schemeClr val="dk1"/>
                </a:highlight>
              </a:rPr>
              <a:t>Khi có đề xuất, cải cách để tăng chất lượng công việc, sản phẩm</a:t>
            </a:r>
            <a:endParaRPr>
              <a:solidFill>
                <a:srgbClr val="4D5156"/>
              </a:solidFill>
              <a:highlight>
                <a:schemeClr val="dk1"/>
              </a:highlight>
            </a:endParaRPr>
          </a:p>
          <a:p>
            <a:pPr indent="457200" lvl="0" marL="0" rtl="0" algn="l">
              <a:spcBef>
                <a:spcPts val="0"/>
              </a:spcBef>
              <a:spcAft>
                <a:spcPts val="0"/>
              </a:spcAft>
              <a:buNone/>
            </a:pPr>
            <a:r>
              <a:t/>
            </a:r>
            <a:endParaRPr>
              <a:solidFill>
                <a:srgbClr val="4D5156"/>
              </a:solidFill>
              <a:highlight>
                <a:schemeClr val="dk1"/>
              </a:highlight>
            </a:endParaRPr>
          </a:p>
          <a:p>
            <a:pPr indent="-317500" lvl="0" marL="457200" rtl="0" algn="l">
              <a:spcBef>
                <a:spcPts val="0"/>
              </a:spcBef>
              <a:spcAft>
                <a:spcPts val="0"/>
              </a:spcAft>
              <a:buClr>
                <a:srgbClr val="4D5156"/>
              </a:buClr>
              <a:buSzPts val="1400"/>
              <a:buChar char="➢"/>
            </a:pPr>
            <a:r>
              <a:rPr lang="en">
                <a:solidFill>
                  <a:srgbClr val="4D5156"/>
                </a:solidFill>
                <a:highlight>
                  <a:srgbClr val="FFFFFF"/>
                </a:highlight>
              </a:rPr>
              <a:t>Point :</a:t>
            </a:r>
            <a:endParaRPr>
              <a:solidFill>
                <a:srgbClr val="4D5156"/>
              </a:solidFill>
              <a:highlight>
                <a:srgbClr val="FFFFFF"/>
              </a:highlight>
            </a:endParaRPr>
          </a:p>
          <a:p>
            <a:pPr indent="-317500" lvl="1" marL="914400" rtl="0" algn="l">
              <a:spcBef>
                <a:spcPts val="0"/>
              </a:spcBef>
              <a:spcAft>
                <a:spcPts val="0"/>
              </a:spcAft>
              <a:buClr>
                <a:srgbClr val="4D5156"/>
              </a:buClr>
              <a:buSzPts val="1400"/>
              <a:buChar char="○"/>
            </a:pPr>
            <a:r>
              <a:rPr lang="en">
                <a:solidFill>
                  <a:srgbClr val="4D5156"/>
                </a:solidFill>
                <a:highlight>
                  <a:srgbClr val="FFFFFF"/>
                </a:highlight>
              </a:rPr>
              <a:t>Hiểu rõ bối cảnh, mục đích của yêu cầu trước khi đưa ra đề xuất</a:t>
            </a:r>
            <a:endParaRPr>
              <a:solidFill>
                <a:srgbClr val="4D5156"/>
              </a:solidFill>
              <a:highlight>
                <a:srgbClr val="FFFFFF"/>
              </a:highlight>
            </a:endParaRPr>
          </a:p>
          <a:p>
            <a:pPr indent="-317500" lvl="1" marL="914400" rtl="0" algn="l">
              <a:spcBef>
                <a:spcPts val="0"/>
              </a:spcBef>
              <a:spcAft>
                <a:spcPts val="0"/>
              </a:spcAft>
              <a:buClr>
                <a:srgbClr val="4D5156"/>
              </a:buClr>
              <a:buSzPts val="1400"/>
              <a:buChar char="○"/>
            </a:pPr>
            <a:r>
              <a:rPr lang="en">
                <a:solidFill>
                  <a:srgbClr val="4D5156"/>
                </a:solidFill>
                <a:highlight>
                  <a:srgbClr val="FFFFFF"/>
                </a:highlight>
              </a:rPr>
              <a:t>Nêu lý do &amp; mục đích </a:t>
            </a:r>
            <a:r>
              <a:rPr lang="en" u="sng">
                <a:solidFill>
                  <a:srgbClr val="4D5156"/>
                </a:solidFill>
                <a:highlight>
                  <a:srgbClr val="FFFFFF"/>
                </a:highlight>
              </a:rPr>
              <a:t>khách quan</a:t>
            </a:r>
            <a:endParaRPr u="sng">
              <a:solidFill>
                <a:srgbClr val="4D5156"/>
              </a:solidFill>
              <a:highlight>
                <a:srgbClr val="FFFFFF"/>
              </a:highlight>
            </a:endParaRPr>
          </a:p>
          <a:p>
            <a:pPr indent="-317500" lvl="1" marL="914400" rtl="0" algn="l">
              <a:spcBef>
                <a:spcPts val="0"/>
              </a:spcBef>
              <a:spcAft>
                <a:spcPts val="0"/>
              </a:spcAft>
              <a:buClr>
                <a:srgbClr val="4D5156"/>
              </a:buClr>
              <a:buSzPts val="1400"/>
              <a:buChar char="○"/>
            </a:pPr>
            <a:r>
              <a:rPr lang="en">
                <a:solidFill>
                  <a:srgbClr val="4D5156"/>
                </a:solidFill>
                <a:highlight>
                  <a:srgbClr val="FFFFFF"/>
                </a:highlight>
              </a:rPr>
              <a:t>Không đưa ra đề xuất mang tính chung chung, mà cần có minh chứng cụ thể</a:t>
            </a:r>
            <a:endParaRPr>
              <a:solidFill>
                <a:srgbClr val="4D5156"/>
              </a:solidFill>
              <a:highlight>
                <a:srgbClr val="FFFFFF"/>
              </a:highlight>
            </a:endParaRPr>
          </a:p>
          <a:p>
            <a:pPr indent="0" lvl="0" marL="914400" rtl="0" algn="l">
              <a:spcBef>
                <a:spcPts val="0"/>
              </a:spcBef>
              <a:spcAft>
                <a:spcPts val="0"/>
              </a:spcAft>
              <a:buNone/>
            </a:pPr>
            <a:r>
              <a:rPr lang="en">
                <a:solidFill>
                  <a:srgbClr val="4D5156"/>
                </a:solidFill>
                <a:highlight>
                  <a:srgbClr val="FFFFFF"/>
                </a:highlight>
              </a:rPr>
              <a:t>Ví dụ :</a:t>
            </a:r>
            <a:endParaRPr>
              <a:solidFill>
                <a:srgbClr val="4D5156"/>
              </a:solidFill>
              <a:highlight>
                <a:srgbClr val="FFFFFF"/>
              </a:highlight>
            </a:endParaRPr>
          </a:p>
          <a:p>
            <a:pPr indent="0" lvl="0" marL="457200" rtl="0" algn="l">
              <a:spcBef>
                <a:spcPts val="0"/>
              </a:spcBef>
              <a:spcAft>
                <a:spcPts val="0"/>
              </a:spcAft>
              <a:buNone/>
            </a:pPr>
            <a:r>
              <a:rPr lang="en">
                <a:solidFill>
                  <a:srgbClr val="4D5156"/>
                </a:solidFill>
                <a:highlight>
                  <a:srgbClr val="FFFFFF"/>
                </a:highlight>
              </a:rPr>
              <a:t>       </a:t>
            </a:r>
            <a:r>
              <a:rPr lang="en">
                <a:solidFill>
                  <a:srgbClr val="FF0000"/>
                </a:solidFill>
                <a:highlight>
                  <a:srgbClr val="FFFFFF"/>
                </a:highlight>
              </a:rPr>
              <a:t>(X) </a:t>
            </a:r>
            <a:r>
              <a:rPr lang="en">
                <a:solidFill>
                  <a:srgbClr val="4D5156"/>
                </a:solidFill>
                <a:highlight>
                  <a:srgbClr val="FFFFFF"/>
                </a:highlight>
              </a:rPr>
              <a:t>…</a:t>
            </a:r>
            <a:r>
              <a:rPr lang="en">
                <a:solidFill>
                  <a:srgbClr val="4D5156"/>
                </a:solidFill>
                <a:highlight>
                  <a:srgbClr val="FFFFFF"/>
                </a:highlight>
              </a:rPr>
              <a:t>方が良いと思いますが、どうでしょうか。</a:t>
            </a:r>
            <a:endParaRPr>
              <a:solidFill>
                <a:srgbClr val="4D5156"/>
              </a:solidFill>
              <a:highlight>
                <a:srgbClr val="FFFFFF"/>
              </a:highlight>
            </a:endParaRPr>
          </a:p>
          <a:p>
            <a:pPr indent="0" lvl="0" marL="457200" rtl="0" algn="l">
              <a:spcBef>
                <a:spcPts val="0"/>
              </a:spcBef>
              <a:spcAft>
                <a:spcPts val="0"/>
              </a:spcAft>
              <a:buNone/>
            </a:pPr>
            <a:r>
              <a:rPr lang="en">
                <a:solidFill>
                  <a:srgbClr val="4D5156"/>
                </a:solidFill>
                <a:highlight>
                  <a:srgbClr val="FFFFFF"/>
                </a:highlight>
              </a:rPr>
              <a:t>       </a:t>
            </a:r>
            <a:r>
              <a:rPr lang="en">
                <a:solidFill>
                  <a:srgbClr val="0000FF"/>
                </a:solidFill>
                <a:highlight>
                  <a:srgbClr val="FFFFFF"/>
                </a:highlight>
              </a:rPr>
              <a:t>(O) </a:t>
            </a:r>
            <a:r>
              <a:rPr lang="en">
                <a:solidFill>
                  <a:srgbClr val="4D5156"/>
                </a:solidFill>
                <a:highlight>
                  <a:srgbClr val="FFFFFF"/>
                </a:highlight>
              </a:rPr>
              <a:t>…方が性能の向上ができます。具体的に○○の処理がxx秒速くなります。</a:t>
            </a:r>
            <a:endParaRPr>
              <a:solidFill>
                <a:srgbClr val="4D5156"/>
              </a:solidFill>
              <a:highlight>
                <a:srgbClr val="FFFFFF"/>
              </a:highlight>
            </a:endParaRPr>
          </a:p>
          <a:p>
            <a:pPr indent="0" lvl="0" marL="457200" rtl="0" algn="l">
              <a:spcBef>
                <a:spcPts val="0"/>
              </a:spcBef>
              <a:spcAft>
                <a:spcPts val="0"/>
              </a:spcAft>
              <a:buNone/>
            </a:pPr>
            <a:r>
              <a:rPr lang="en">
                <a:solidFill>
                  <a:srgbClr val="4D5156"/>
                </a:solidFill>
                <a:highlight>
                  <a:srgbClr val="FFFFFF"/>
                </a:highlight>
              </a:rPr>
              <a:t>　　　△△さんはどうお考えどうでしょうか。</a:t>
            </a:r>
            <a:endParaRPr>
              <a:solidFill>
                <a:srgbClr val="4D5156"/>
              </a:solidFill>
              <a:highlight>
                <a:srgbClr val="FFFFFF"/>
              </a:highlight>
            </a:endParaRPr>
          </a:p>
          <a:p>
            <a:pPr indent="-317500" lvl="1" marL="914400" rtl="0" algn="l">
              <a:spcBef>
                <a:spcPts val="0"/>
              </a:spcBef>
              <a:spcAft>
                <a:spcPts val="0"/>
              </a:spcAft>
              <a:buClr>
                <a:srgbClr val="4D5156"/>
              </a:buClr>
              <a:buSzPts val="1400"/>
              <a:buChar char="○"/>
            </a:pPr>
            <a:r>
              <a:rPr lang="en">
                <a:solidFill>
                  <a:srgbClr val="4D5156"/>
                </a:solidFill>
                <a:highlight>
                  <a:srgbClr val="FFFFFF"/>
                </a:highlight>
              </a:rPr>
              <a:t>Chọn thời điểm thích hợp để trao đổi</a:t>
            </a:r>
            <a:endParaRPr>
              <a:solidFill>
                <a:srgbClr val="4D5156"/>
              </a:solidFill>
              <a:highlight>
                <a:srgbClr val="FFFFF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0"/>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85" name="Google Shape;185;p20"/>
          <p:cNvSpPr txBox="1"/>
          <p:nvPr/>
        </p:nvSpPr>
        <p:spPr>
          <a:xfrm>
            <a:off x="881750" y="514350"/>
            <a:ext cx="5749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rPr>
              <a:t>Quy tắc chung khi đặt câu hỏi</a:t>
            </a:r>
            <a:endParaRPr b="1" sz="2400">
              <a:solidFill>
                <a:schemeClr val="lt1"/>
              </a:solidFill>
            </a:endParaRPr>
          </a:p>
        </p:txBody>
      </p:sp>
      <p:sp>
        <p:nvSpPr>
          <p:cNvPr id="186" name="Google Shape;186;p20"/>
          <p:cNvSpPr txBox="1"/>
          <p:nvPr/>
        </p:nvSpPr>
        <p:spPr>
          <a:xfrm>
            <a:off x="1019525" y="1423650"/>
            <a:ext cx="7340100" cy="446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sz="1700">
              <a:solidFill>
                <a:srgbClr val="4D5156"/>
              </a:solidFill>
            </a:endParaRPr>
          </a:p>
        </p:txBody>
      </p:sp>
      <p:sp>
        <p:nvSpPr>
          <p:cNvPr id="187" name="Google Shape;187;p20"/>
          <p:cNvSpPr txBox="1"/>
          <p:nvPr/>
        </p:nvSpPr>
        <p:spPr>
          <a:xfrm>
            <a:off x="817450" y="1276700"/>
            <a:ext cx="7468500" cy="31545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rgbClr val="4D5156"/>
              </a:buClr>
              <a:buSzPts val="1700"/>
              <a:buChar char="●"/>
            </a:pPr>
            <a:r>
              <a:rPr lang="en" sz="1700">
                <a:solidFill>
                  <a:srgbClr val="4D5156"/>
                </a:solidFill>
                <a:highlight>
                  <a:srgbClr val="FFFFFF"/>
                </a:highlight>
              </a:rPr>
              <a:t>Câu hỏi cần mạch lạc, rõ ràng về bối cảnh và nội dung nghi vấn </a:t>
            </a:r>
            <a:endParaRPr sz="1700">
              <a:solidFill>
                <a:srgbClr val="4D5156"/>
              </a:solidFill>
              <a:highlight>
                <a:srgbClr val="FFFFFF"/>
              </a:highlight>
            </a:endParaRPr>
          </a:p>
          <a:p>
            <a:pPr indent="0" lvl="0" marL="457200" rtl="0" algn="l">
              <a:lnSpc>
                <a:spcPct val="115000"/>
              </a:lnSpc>
              <a:spcBef>
                <a:spcPts val="0"/>
              </a:spcBef>
              <a:spcAft>
                <a:spcPts val="0"/>
              </a:spcAft>
              <a:buNone/>
            </a:pPr>
            <a:r>
              <a:rPr lang="en" sz="1700">
                <a:solidFill>
                  <a:srgbClr val="4D5156"/>
                </a:solidFill>
                <a:highlight>
                  <a:srgbClr val="FFFFFF"/>
                </a:highlight>
              </a:rPr>
              <a:t>=&gt; Hỏi theo quy tắc </a:t>
            </a:r>
            <a:r>
              <a:rPr lang="en" sz="1700" u="sng">
                <a:solidFill>
                  <a:srgbClr val="4D5156"/>
                </a:solidFill>
                <a:highlight>
                  <a:srgbClr val="FFFFFF"/>
                </a:highlight>
              </a:rPr>
              <a:t>5W1H</a:t>
            </a:r>
            <a:endParaRPr sz="1700" u="sng">
              <a:solidFill>
                <a:srgbClr val="4D5156"/>
              </a:solidFill>
              <a:highlight>
                <a:srgbClr val="FFFFFF"/>
              </a:highlight>
            </a:endParaRPr>
          </a:p>
          <a:p>
            <a:pPr indent="-336550" lvl="0" marL="457200" rtl="0" algn="l">
              <a:lnSpc>
                <a:spcPct val="115000"/>
              </a:lnSpc>
              <a:spcBef>
                <a:spcPts val="0"/>
              </a:spcBef>
              <a:spcAft>
                <a:spcPts val="0"/>
              </a:spcAft>
              <a:buClr>
                <a:srgbClr val="4D5156"/>
              </a:buClr>
              <a:buSzPts val="1700"/>
              <a:buChar char="●"/>
            </a:pPr>
            <a:r>
              <a:rPr lang="en" sz="1700">
                <a:solidFill>
                  <a:srgbClr val="4D5156"/>
                </a:solidFill>
                <a:highlight>
                  <a:srgbClr val="FFFFFF"/>
                </a:highlight>
              </a:rPr>
              <a:t>Cụ thể hóa câu hỏi nếu có thể (mô tả bằng ảnh, video, sơ đồ,...)</a:t>
            </a:r>
            <a:endParaRPr sz="1700">
              <a:solidFill>
                <a:srgbClr val="4D5156"/>
              </a:solidFill>
              <a:highlight>
                <a:srgbClr val="FFFFFF"/>
              </a:highlight>
            </a:endParaRPr>
          </a:p>
          <a:p>
            <a:pPr indent="-336550" lvl="0" marL="457200" rtl="0" algn="l">
              <a:lnSpc>
                <a:spcPct val="115000"/>
              </a:lnSpc>
              <a:spcBef>
                <a:spcPts val="0"/>
              </a:spcBef>
              <a:spcAft>
                <a:spcPts val="0"/>
              </a:spcAft>
              <a:buClr>
                <a:srgbClr val="4D5156"/>
              </a:buClr>
              <a:buSzPts val="1700"/>
              <a:buChar char="●"/>
            </a:pPr>
            <a:r>
              <a:rPr lang="en" sz="1700">
                <a:solidFill>
                  <a:srgbClr val="4D5156"/>
                </a:solidFill>
                <a:highlight>
                  <a:srgbClr val="FFFFFF"/>
                </a:highlight>
              </a:rPr>
              <a:t>Tránh những câu hỏi mang tính “negative”</a:t>
            </a:r>
            <a:endParaRPr sz="1700">
              <a:solidFill>
                <a:srgbClr val="4D5156"/>
              </a:solidFill>
              <a:highlight>
                <a:srgbClr val="FFFFFF"/>
              </a:highlight>
            </a:endParaRPr>
          </a:p>
          <a:p>
            <a:pPr indent="0" lvl="0" marL="457200" rtl="0" algn="l">
              <a:lnSpc>
                <a:spcPct val="115000"/>
              </a:lnSpc>
              <a:spcBef>
                <a:spcPts val="0"/>
              </a:spcBef>
              <a:spcAft>
                <a:spcPts val="0"/>
              </a:spcAft>
              <a:buNone/>
            </a:pPr>
            <a:r>
              <a:rPr lang="en" sz="1700">
                <a:solidFill>
                  <a:srgbClr val="4D5156"/>
                </a:solidFill>
                <a:highlight>
                  <a:srgbClr val="FFFFFF"/>
                </a:highlight>
              </a:rPr>
              <a:t>Ví dụ: </a:t>
            </a:r>
            <a:r>
              <a:rPr lang="en" sz="1700">
                <a:solidFill>
                  <a:srgbClr val="FF0000"/>
                </a:solidFill>
                <a:highlight>
                  <a:srgbClr val="FFFFFF"/>
                </a:highlight>
              </a:rPr>
              <a:t>(X)</a:t>
            </a:r>
            <a:r>
              <a:rPr lang="en" sz="1700">
                <a:solidFill>
                  <a:srgbClr val="4D5156"/>
                </a:solidFill>
                <a:highlight>
                  <a:srgbClr val="FFFFFF"/>
                </a:highlight>
              </a:rPr>
              <a:t>～がわかりません</a:t>
            </a:r>
            <a:r>
              <a:rPr lang="en" sz="1700">
                <a:solidFill>
                  <a:srgbClr val="4D5156"/>
                </a:solidFill>
                <a:highlight>
                  <a:schemeClr val="dk1"/>
                </a:highlight>
              </a:rPr>
              <a:t>。</a:t>
            </a:r>
            <a:r>
              <a:rPr lang="en" sz="1700">
                <a:solidFill>
                  <a:srgbClr val="4D5156"/>
                </a:solidFill>
                <a:highlight>
                  <a:srgbClr val="FFFFFF"/>
                </a:highlight>
              </a:rPr>
              <a:t>　 </a:t>
            </a:r>
            <a:r>
              <a:rPr lang="en" sz="1700">
                <a:solidFill>
                  <a:srgbClr val="0000FF"/>
                </a:solidFill>
                <a:highlight>
                  <a:srgbClr val="FFFFFF"/>
                </a:highlight>
              </a:rPr>
              <a:t>(O)</a:t>
            </a:r>
            <a:r>
              <a:rPr lang="en" sz="1700">
                <a:solidFill>
                  <a:srgbClr val="4D5156"/>
                </a:solidFill>
                <a:highlight>
                  <a:srgbClr val="FFFFFF"/>
                </a:highlight>
              </a:rPr>
              <a:t>～こういう理解で正しいですか。</a:t>
            </a:r>
            <a:endParaRPr sz="1700">
              <a:solidFill>
                <a:srgbClr val="4D5156"/>
              </a:solidFill>
              <a:highlight>
                <a:srgbClr val="FFFFFF"/>
              </a:highlight>
            </a:endParaRPr>
          </a:p>
          <a:p>
            <a:pPr indent="-336550" lvl="0" marL="457200" rtl="0" algn="l">
              <a:lnSpc>
                <a:spcPct val="115000"/>
              </a:lnSpc>
              <a:spcBef>
                <a:spcPts val="0"/>
              </a:spcBef>
              <a:spcAft>
                <a:spcPts val="0"/>
              </a:spcAft>
              <a:buClr>
                <a:srgbClr val="4D5156"/>
              </a:buClr>
              <a:buSzPts val="1700"/>
              <a:buChar char="●"/>
            </a:pPr>
            <a:r>
              <a:rPr lang="en" sz="1700">
                <a:solidFill>
                  <a:srgbClr val="4D5156"/>
                </a:solidFill>
                <a:highlight>
                  <a:srgbClr val="FFFFFF"/>
                </a:highlight>
              </a:rPr>
              <a:t>Đặt deadline cho câu trả lời (hoặc thời gian mong </a:t>
            </a:r>
            <a:endParaRPr sz="1700">
              <a:solidFill>
                <a:srgbClr val="4D5156"/>
              </a:solidFill>
              <a:highlight>
                <a:srgbClr val="FFFFFF"/>
              </a:highlight>
            </a:endParaRPr>
          </a:p>
          <a:p>
            <a:pPr indent="0" lvl="0" marL="457200" rtl="0" algn="l">
              <a:lnSpc>
                <a:spcPct val="115000"/>
              </a:lnSpc>
              <a:spcBef>
                <a:spcPts val="0"/>
              </a:spcBef>
              <a:spcAft>
                <a:spcPts val="0"/>
              </a:spcAft>
              <a:buNone/>
            </a:pPr>
            <a:r>
              <a:rPr lang="en" sz="1700">
                <a:solidFill>
                  <a:srgbClr val="4D5156"/>
                </a:solidFill>
                <a:highlight>
                  <a:srgbClr val="FFFFFF"/>
                </a:highlight>
              </a:rPr>
              <a:t>muốn có câu trả lời) khi cần thiết</a:t>
            </a:r>
            <a:endParaRPr sz="1700">
              <a:solidFill>
                <a:srgbClr val="4D5156"/>
              </a:solidFill>
              <a:highlight>
                <a:srgbClr val="FFFFFF"/>
              </a:highlight>
            </a:endParaRPr>
          </a:p>
          <a:p>
            <a:pPr indent="-336550" lvl="0" marL="457200" rtl="0" algn="l">
              <a:lnSpc>
                <a:spcPct val="115000"/>
              </a:lnSpc>
              <a:spcBef>
                <a:spcPts val="0"/>
              </a:spcBef>
              <a:spcAft>
                <a:spcPts val="0"/>
              </a:spcAft>
              <a:buClr>
                <a:srgbClr val="4D5156"/>
              </a:buClr>
              <a:buSzPts val="1700"/>
              <a:buChar char="●"/>
            </a:pPr>
            <a:r>
              <a:rPr lang="en" sz="1700">
                <a:solidFill>
                  <a:srgbClr val="4D5156"/>
                </a:solidFill>
                <a:highlight>
                  <a:srgbClr val="FFFFFF"/>
                </a:highlight>
              </a:rPr>
              <a:t>Lưu lại nội dung hỏi - đáp</a:t>
            </a:r>
            <a:endParaRPr sz="1700">
              <a:solidFill>
                <a:srgbClr val="4D5156"/>
              </a:solidFill>
              <a:highlight>
                <a:srgbClr val="FFFFFF"/>
              </a:highlight>
            </a:endParaRPr>
          </a:p>
          <a:p>
            <a:pPr indent="-336550" lvl="0" marL="457200" rtl="0" algn="l">
              <a:lnSpc>
                <a:spcPct val="115000"/>
              </a:lnSpc>
              <a:spcBef>
                <a:spcPts val="0"/>
              </a:spcBef>
              <a:spcAft>
                <a:spcPts val="0"/>
              </a:spcAft>
              <a:buClr>
                <a:srgbClr val="4D5156"/>
              </a:buClr>
              <a:buSzPts val="1700"/>
              <a:buChar char="●"/>
            </a:pPr>
            <a:r>
              <a:rPr lang="en" sz="1700">
                <a:solidFill>
                  <a:srgbClr val="4D5156"/>
                </a:solidFill>
                <a:highlight>
                  <a:srgbClr val="FFFFFF"/>
                </a:highlight>
              </a:rPr>
              <a:t>Tư thế: hướng về người trả lời, tập trung </a:t>
            </a:r>
            <a:endParaRPr sz="1700">
              <a:solidFill>
                <a:srgbClr val="4D5156"/>
              </a:solidFill>
              <a:highlight>
                <a:srgbClr val="FFFFFF"/>
              </a:highlight>
            </a:endParaRPr>
          </a:p>
          <a:p>
            <a:pPr indent="-336550" lvl="0" marL="457200" rtl="0" algn="l">
              <a:lnSpc>
                <a:spcPct val="115000"/>
              </a:lnSpc>
              <a:spcBef>
                <a:spcPts val="0"/>
              </a:spcBef>
              <a:spcAft>
                <a:spcPts val="0"/>
              </a:spcAft>
              <a:buClr>
                <a:srgbClr val="4D5156"/>
              </a:buClr>
              <a:buSzPts val="1700"/>
              <a:buChar char="●"/>
            </a:pPr>
            <a:r>
              <a:rPr lang="en" sz="1700">
                <a:solidFill>
                  <a:srgbClr val="4D5156"/>
                </a:solidFill>
                <a:highlight>
                  <a:srgbClr val="FFFFFF"/>
                </a:highlight>
              </a:rPr>
              <a:t>Tôn trọng câu trả lời đã nhận được</a:t>
            </a:r>
            <a:endParaRPr b="1" sz="1700">
              <a:solidFill>
                <a:srgbClr val="4D5156"/>
              </a:solidFill>
              <a:highlight>
                <a:srgbClr val="FFFFFF"/>
              </a:highlight>
            </a:endParaRPr>
          </a:p>
        </p:txBody>
      </p:sp>
      <p:pic>
        <p:nvPicPr>
          <p:cNvPr id="188" name="Google Shape;188;p20"/>
          <p:cNvPicPr preferRelativeResize="0"/>
          <p:nvPr/>
        </p:nvPicPr>
        <p:blipFill>
          <a:blip r:embed="rId4">
            <a:alphaModFix/>
          </a:blip>
          <a:stretch>
            <a:fillRect/>
          </a:stretch>
        </p:blipFill>
        <p:spPr>
          <a:xfrm>
            <a:off x="6420000" y="3047600"/>
            <a:ext cx="1865950" cy="1756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21"/>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194" name="Google Shape;194;p21"/>
          <p:cNvSpPr txBox="1"/>
          <p:nvPr/>
        </p:nvSpPr>
        <p:spPr>
          <a:xfrm>
            <a:off x="881750" y="477600"/>
            <a:ext cx="5749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lt1"/>
                </a:solidFill>
              </a:rPr>
              <a:t>Tình huống</a:t>
            </a:r>
            <a:endParaRPr b="1" sz="2400">
              <a:solidFill>
                <a:schemeClr val="lt1"/>
              </a:solidFill>
            </a:endParaRPr>
          </a:p>
        </p:txBody>
      </p:sp>
      <p:sp>
        <p:nvSpPr>
          <p:cNvPr id="195" name="Google Shape;195;p21"/>
          <p:cNvSpPr txBox="1"/>
          <p:nvPr/>
        </p:nvSpPr>
        <p:spPr>
          <a:xfrm>
            <a:off x="1019525" y="1423650"/>
            <a:ext cx="7340100" cy="446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sz="1700">
              <a:solidFill>
                <a:srgbClr val="4D5156"/>
              </a:solidFill>
            </a:endParaRPr>
          </a:p>
        </p:txBody>
      </p:sp>
      <p:sp>
        <p:nvSpPr>
          <p:cNvPr id="196" name="Google Shape;196;p21"/>
          <p:cNvSpPr txBox="1"/>
          <p:nvPr/>
        </p:nvSpPr>
        <p:spPr>
          <a:xfrm>
            <a:off x="762350" y="1111375"/>
            <a:ext cx="76695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4D5156"/>
                </a:solidFill>
                <a:highlight>
                  <a:srgbClr val="FFFFFF"/>
                </a:highlight>
              </a:rPr>
              <a:t>Trong các tình huống sau anh/chị sẽ hỏi như thế nào?</a:t>
            </a:r>
            <a:endParaRPr b="1" sz="1600">
              <a:solidFill>
                <a:srgbClr val="4D5156"/>
              </a:solidFill>
              <a:highlight>
                <a:srgbClr val="FFFFFF"/>
              </a:highlight>
            </a:endParaRPr>
          </a:p>
          <a:p>
            <a:pPr indent="0" lvl="0" marL="0" rtl="0" algn="l">
              <a:spcBef>
                <a:spcPts val="0"/>
              </a:spcBef>
              <a:spcAft>
                <a:spcPts val="0"/>
              </a:spcAft>
              <a:buNone/>
            </a:pPr>
            <a:r>
              <a:t/>
            </a:r>
            <a:endParaRPr b="1" sz="1600">
              <a:solidFill>
                <a:srgbClr val="4D5156"/>
              </a:solidFill>
              <a:highlight>
                <a:srgbClr val="FFFFFF"/>
              </a:highlight>
            </a:endParaRPr>
          </a:p>
          <a:p>
            <a:pPr indent="-330200" lvl="0" marL="457200" rtl="0" algn="l">
              <a:spcBef>
                <a:spcPts val="0"/>
              </a:spcBef>
              <a:spcAft>
                <a:spcPts val="0"/>
              </a:spcAft>
              <a:buClr>
                <a:srgbClr val="4D5156"/>
              </a:buClr>
              <a:buSzPts val="1600"/>
              <a:buAutoNum type="arabicPeriod"/>
            </a:pPr>
            <a:r>
              <a:rPr lang="en" sz="1600">
                <a:solidFill>
                  <a:srgbClr val="4D5156"/>
                </a:solidFill>
                <a:highlight>
                  <a:srgbClr val="FFFFFF"/>
                </a:highlight>
              </a:rPr>
              <a:t>Khách hàng thông báo về nội dung bug như sau:</a:t>
            </a:r>
            <a:endParaRPr sz="1600">
              <a:solidFill>
                <a:srgbClr val="4D5156"/>
              </a:solidFill>
              <a:highlight>
                <a:srgbClr val="FFFFFF"/>
              </a:highlight>
            </a:endParaRPr>
          </a:p>
          <a:p>
            <a:pPr indent="0" lvl="0" marL="457200" rtl="0" algn="l">
              <a:spcBef>
                <a:spcPts val="0"/>
              </a:spcBef>
              <a:spcAft>
                <a:spcPts val="0"/>
              </a:spcAft>
              <a:buNone/>
            </a:pPr>
            <a:r>
              <a:rPr lang="en" sz="1600">
                <a:solidFill>
                  <a:srgbClr val="4D5156"/>
                </a:solidFill>
                <a:highlight>
                  <a:srgbClr val="FFFFFF"/>
                </a:highlight>
              </a:rPr>
              <a:t>“Trên mobile app, khi ấn chuyển tab liên tục thì màn hình bị đơ”</a:t>
            </a:r>
            <a:endParaRPr sz="1600">
              <a:solidFill>
                <a:srgbClr val="4D5156"/>
              </a:solidFill>
              <a:highlight>
                <a:srgbClr val="FFFFFF"/>
              </a:highlight>
            </a:endParaRPr>
          </a:p>
          <a:p>
            <a:pPr indent="0" lvl="0" marL="457200" rtl="0" algn="l">
              <a:spcBef>
                <a:spcPts val="0"/>
              </a:spcBef>
              <a:spcAft>
                <a:spcPts val="0"/>
              </a:spcAft>
              <a:buNone/>
            </a:pPr>
            <a:r>
              <a:rPr lang="en" sz="1600">
                <a:solidFill>
                  <a:srgbClr val="4D5156"/>
                </a:solidFill>
                <a:highlight>
                  <a:srgbClr val="FFFFFF"/>
                </a:highlight>
              </a:rPr>
              <a:t>Nhưng bên VN không tái hiện được bug.</a:t>
            </a:r>
            <a:endParaRPr sz="1600">
              <a:solidFill>
                <a:srgbClr val="4D5156"/>
              </a:solidFill>
              <a:highlight>
                <a:srgbClr val="FFFFFF"/>
              </a:highlight>
            </a:endParaRPr>
          </a:p>
          <a:p>
            <a:pPr indent="0" lvl="0" marL="457200" rtl="0" algn="l">
              <a:spcBef>
                <a:spcPts val="0"/>
              </a:spcBef>
              <a:spcAft>
                <a:spcPts val="0"/>
              </a:spcAft>
              <a:buNone/>
            </a:pPr>
            <a:r>
              <a:t/>
            </a:r>
            <a:endParaRPr sz="1600">
              <a:solidFill>
                <a:srgbClr val="4D5156"/>
              </a:solidFill>
              <a:highlight>
                <a:srgbClr val="FFFFFF"/>
              </a:highlight>
            </a:endParaRPr>
          </a:p>
          <a:p>
            <a:pPr indent="-330200" lvl="0" marL="457200" rtl="0" algn="l">
              <a:spcBef>
                <a:spcPts val="0"/>
              </a:spcBef>
              <a:spcAft>
                <a:spcPts val="0"/>
              </a:spcAft>
              <a:buClr>
                <a:srgbClr val="4D5156"/>
              </a:buClr>
              <a:buSzPts val="1600"/>
              <a:buAutoNum type="arabicPeriod"/>
            </a:pPr>
            <a:r>
              <a:rPr lang="en" sz="1600">
                <a:solidFill>
                  <a:srgbClr val="4D5156"/>
                </a:solidFill>
                <a:highlight>
                  <a:srgbClr val="FFFFFF"/>
                </a:highlight>
              </a:rPr>
              <a:t>Khách hàng thiết kế spec như sau:</a:t>
            </a:r>
            <a:endParaRPr sz="1600">
              <a:solidFill>
                <a:srgbClr val="4D5156"/>
              </a:solidFill>
              <a:highlight>
                <a:srgbClr val="FFFFFF"/>
              </a:highlight>
            </a:endParaRPr>
          </a:p>
          <a:p>
            <a:pPr indent="0" lvl="0" marL="457200" rtl="0" algn="l">
              <a:spcBef>
                <a:spcPts val="0"/>
              </a:spcBef>
              <a:spcAft>
                <a:spcPts val="0"/>
              </a:spcAft>
              <a:buNone/>
            </a:pPr>
            <a:r>
              <a:rPr lang="en" sz="1600">
                <a:solidFill>
                  <a:srgbClr val="4D5156"/>
                </a:solidFill>
                <a:highlight>
                  <a:srgbClr val="FFFFFF"/>
                </a:highlight>
              </a:rPr>
              <a:t>1-A, 1-B, 2-C, 2-D, 2-E, 3-F,...</a:t>
            </a:r>
            <a:endParaRPr sz="1600">
              <a:solidFill>
                <a:srgbClr val="4D5156"/>
              </a:solidFill>
              <a:highlight>
                <a:srgbClr val="FFFFFF"/>
              </a:highlight>
            </a:endParaRPr>
          </a:p>
          <a:p>
            <a:pPr indent="0" lvl="0" marL="457200" rtl="0" algn="l">
              <a:spcBef>
                <a:spcPts val="0"/>
              </a:spcBef>
              <a:spcAft>
                <a:spcPts val="0"/>
              </a:spcAft>
              <a:buNone/>
            </a:pPr>
            <a:r>
              <a:rPr lang="en" sz="1600">
                <a:solidFill>
                  <a:srgbClr val="4D5156"/>
                </a:solidFill>
                <a:highlight>
                  <a:srgbClr val="FFFFFF"/>
                </a:highlight>
              </a:rPr>
              <a:t>Nhưng dev muốn hỏi khách xem làm như sau cho dễ code có được không:</a:t>
            </a:r>
            <a:endParaRPr sz="1600">
              <a:solidFill>
                <a:srgbClr val="4D5156"/>
              </a:solidFill>
              <a:highlight>
                <a:srgbClr val="FFFFFF"/>
              </a:highlight>
            </a:endParaRPr>
          </a:p>
          <a:p>
            <a:pPr indent="0" lvl="0" marL="457200" rtl="0" algn="l">
              <a:spcBef>
                <a:spcPts val="0"/>
              </a:spcBef>
              <a:spcAft>
                <a:spcPts val="0"/>
              </a:spcAft>
              <a:buNone/>
            </a:pPr>
            <a:r>
              <a:rPr lang="en" sz="1600">
                <a:solidFill>
                  <a:srgbClr val="4D5156"/>
                </a:solidFill>
                <a:highlight>
                  <a:srgbClr val="FFFFFF"/>
                </a:highlight>
              </a:rPr>
              <a:t>1-A,B; 2-C,D,E; 3-F;...</a:t>
            </a:r>
            <a:endParaRPr sz="1600">
              <a:solidFill>
                <a:srgbClr val="4D5156"/>
              </a:solidFill>
              <a:highlight>
                <a:srgbClr val="FFFFFF"/>
              </a:highlight>
            </a:endParaRPr>
          </a:p>
          <a:p>
            <a:pPr indent="0" lvl="0" marL="457200" rtl="0" algn="l">
              <a:spcBef>
                <a:spcPts val="0"/>
              </a:spcBef>
              <a:spcAft>
                <a:spcPts val="0"/>
              </a:spcAft>
              <a:buNone/>
            </a:pPr>
            <a:r>
              <a:t/>
            </a:r>
            <a:endParaRPr sz="1600">
              <a:solidFill>
                <a:srgbClr val="4D5156"/>
              </a:solidFill>
              <a:highlight>
                <a:srgbClr val="FFFFFF"/>
              </a:highlight>
            </a:endParaRPr>
          </a:p>
          <a:p>
            <a:pPr indent="-330200" lvl="0" marL="457200" rtl="0" algn="l">
              <a:spcBef>
                <a:spcPts val="0"/>
              </a:spcBef>
              <a:spcAft>
                <a:spcPts val="0"/>
              </a:spcAft>
              <a:buClr>
                <a:srgbClr val="4D5156"/>
              </a:buClr>
              <a:buSzPts val="1600"/>
              <a:buAutoNum type="arabicPeriod"/>
            </a:pPr>
            <a:r>
              <a:rPr lang="en" sz="1600">
                <a:solidFill>
                  <a:srgbClr val="4D5156"/>
                </a:solidFill>
                <a:highlight>
                  <a:srgbClr val="FFFFFF"/>
                </a:highlight>
              </a:rPr>
              <a:t>Khách hàng nhắn cho anh/chị là: “Bạn hãy làm tài liệu User manual giúp tôi nhé”. Nhưng anh/chị chưa làm tài liệu đó bao giờ.</a:t>
            </a:r>
            <a:endParaRPr sz="1600">
              <a:solidFill>
                <a:srgbClr val="4D5156"/>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22"/>
          <p:cNvPicPr preferRelativeResize="0"/>
          <p:nvPr/>
        </p:nvPicPr>
        <p:blipFill>
          <a:blip r:embed="rId3">
            <a:alphaModFix/>
          </a:blip>
          <a:stretch>
            <a:fillRect/>
          </a:stretch>
        </p:blipFill>
        <p:spPr>
          <a:xfrm>
            <a:off x="8285850" y="272725"/>
            <a:ext cx="553350" cy="746090"/>
          </a:xfrm>
          <a:prstGeom prst="rect">
            <a:avLst/>
          </a:prstGeom>
          <a:noFill/>
          <a:ln>
            <a:noFill/>
          </a:ln>
        </p:spPr>
      </p:pic>
      <p:sp>
        <p:nvSpPr>
          <p:cNvPr id="202" name="Google Shape;202;p22"/>
          <p:cNvSpPr txBox="1"/>
          <p:nvPr/>
        </p:nvSpPr>
        <p:spPr>
          <a:xfrm>
            <a:off x="1019525" y="1423650"/>
            <a:ext cx="7340100" cy="446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sz="1700">
              <a:solidFill>
                <a:srgbClr val="4D5156"/>
              </a:solidFill>
            </a:endParaRPr>
          </a:p>
        </p:txBody>
      </p:sp>
      <p:sp>
        <p:nvSpPr>
          <p:cNvPr id="203" name="Google Shape;203;p22"/>
          <p:cNvSpPr txBox="1"/>
          <p:nvPr/>
        </p:nvSpPr>
        <p:spPr>
          <a:xfrm>
            <a:off x="762350" y="587825"/>
            <a:ext cx="7476300" cy="410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4D5156"/>
                </a:solidFill>
                <a:highlight>
                  <a:srgbClr val="FFFFFF"/>
                </a:highlight>
              </a:rPr>
              <a:t>Cách xử lý tình huống (tham khảo)</a:t>
            </a:r>
            <a:endParaRPr b="1" sz="1500">
              <a:solidFill>
                <a:srgbClr val="4D5156"/>
              </a:solidFill>
              <a:highlight>
                <a:srgbClr val="FFFFFF"/>
              </a:highlight>
            </a:endParaRPr>
          </a:p>
          <a:p>
            <a:pPr indent="0" lvl="0" marL="0" rtl="0" algn="l">
              <a:spcBef>
                <a:spcPts val="0"/>
              </a:spcBef>
              <a:spcAft>
                <a:spcPts val="0"/>
              </a:spcAft>
              <a:buNone/>
            </a:pPr>
            <a:r>
              <a:t/>
            </a:r>
            <a:endParaRPr b="1" sz="1500">
              <a:solidFill>
                <a:srgbClr val="4D5156"/>
              </a:solidFill>
              <a:highlight>
                <a:srgbClr val="FFFFFF"/>
              </a:highlight>
            </a:endParaRPr>
          </a:p>
          <a:p>
            <a:pPr indent="-323850" lvl="0" marL="457200" rtl="0" algn="l">
              <a:spcBef>
                <a:spcPts val="0"/>
              </a:spcBef>
              <a:spcAft>
                <a:spcPts val="0"/>
              </a:spcAft>
              <a:buClr>
                <a:srgbClr val="4D5156"/>
              </a:buClr>
              <a:buSzPts val="1500"/>
              <a:buAutoNum type="arabicPeriod"/>
            </a:pPr>
            <a:r>
              <a:rPr lang="en" sz="1500">
                <a:solidFill>
                  <a:srgbClr val="4D5156"/>
                </a:solidFill>
                <a:highlight>
                  <a:srgbClr val="FFFFFF"/>
                </a:highlight>
              </a:rPr>
              <a:t>Thông báo với khách là bên VN đã test trên thiết bị xxx, môi trường xxx, version xxx,...và không tái hiện được =&gt; xin thêm các thông tin cần thiết như: step tái hiện cụ thể, thiết bị, môi trường, version app, tỉ lệ tái hiện (nếu có),...</a:t>
            </a:r>
            <a:endParaRPr sz="1500">
              <a:solidFill>
                <a:srgbClr val="4D5156"/>
              </a:solidFill>
              <a:highlight>
                <a:srgbClr val="FFFFFF"/>
              </a:highlight>
            </a:endParaRPr>
          </a:p>
          <a:p>
            <a:pPr indent="0" lvl="0" marL="457200" rtl="0" algn="l">
              <a:spcBef>
                <a:spcPts val="0"/>
              </a:spcBef>
              <a:spcAft>
                <a:spcPts val="0"/>
              </a:spcAft>
              <a:buNone/>
            </a:pPr>
            <a:r>
              <a:rPr lang="en" sz="1500">
                <a:solidFill>
                  <a:srgbClr val="4D5156"/>
                </a:solidFill>
                <a:highlight>
                  <a:srgbClr val="FFFFFF"/>
                </a:highlight>
              </a:rPr>
              <a:t> </a:t>
            </a:r>
            <a:endParaRPr sz="1500">
              <a:solidFill>
                <a:srgbClr val="4D5156"/>
              </a:solidFill>
              <a:highlight>
                <a:srgbClr val="FFFFFF"/>
              </a:highlight>
            </a:endParaRPr>
          </a:p>
          <a:p>
            <a:pPr indent="-323850" lvl="0" marL="457200" rtl="0" algn="l">
              <a:spcBef>
                <a:spcPts val="0"/>
              </a:spcBef>
              <a:spcAft>
                <a:spcPts val="0"/>
              </a:spcAft>
              <a:buClr>
                <a:srgbClr val="4D5156"/>
              </a:buClr>
              <a:buSzPts val="1500"/>
              <a:buAutoNum type="arabicPeriod"/>
            </a:pPr>
            <a:r>
              <a:rPr lang="en" sz="1500">
                <a:solidFill>
                  <a:srgbClr val="4D5156"/>
                </a:solidFill>
                <a:highlight>
                  <a:srgbClr val="FFFFFF"/>
                </a:highlight>
              </a:rPr>
              <a:t>“Dễ code” không phải là 1 lý do hợp lý. Cần làm việc với developer để đưa ra các lý do mà bên khách hàng sẽ cân nhắc như:</a:t>
            </a:r>
            <a:endParaRPr sz="1500">
              <a:solidFill>
                <a:srgbClr val="4D5156"/>
              </a:solidFill>
              <a:highlight>
                <a:srgbClr val="FFFFFF"/>
              </a:highlight>
            </a:endParaRPr>
          </a:p>
          <a:p>
            <a:pPr indent="-323850" lvl="0" marL="457200" rtl="0" algn="l">
              <a:spcBef>
                <a:spcPts val="0"/>
              </a:spcBef>
              <a:spcAft>
                <a:spcPts val="0"/>
              </a:spcAft>
              <a:buClr>
                <a:srgbClr val="4D5156"/>
              </a:buClr>
              <a:buSzPts val="1500"/>
              <a:buChar char="-"/>
            </a:pPr>
            <a:r>
              <a:rPr lang="en" sz="1500">
                <a:solidFill>
                  <a:srgbClr val="4D5156"/>
                </a:solidFill>
                <a:highlight>
                  <a:srgbClr val="FFFFFF"/>
                </a:highlight>
              </a:rPr>
              <a:t>Xử lý nhanh hơn, tăng performance</a:t>
            </a:r>
            <a:endParaRPr sz="1500">
              <a:solidFill>
                <a:srgbClr val="4D5156"/>
              </a:solidFill>
              <a:highlight>
                <a:srgbClr val="FFFFFF"/>
              </a:highlight>
            </a:endParaRPr>
          </a:p>
          <a:p>
            <a:pPr indent="-323850" lvl="0" marL="457200" rtl="0" algn="l">
              <a:spcBef>
                <a:spcPts val="0"/>
              </a:spcBef>
              <a:spcAft>
                <a:spcPts val="0"/>
              </a:spcAft>
              <a:buClr>
                <a:srgbClr val="4D5156"/>
              </a:buClr>
              <a:buSzPts val="1500"/>
              <a:buChar char="-"/>
            </a:pPr>
            <a:r>
              <a:rPr lang="en" sz="1500">
                <a:solidFill>
                  <a:srgbClr val="4D5156"/>
                </a:solidFill>
                <a:highlight>
                  <a:srgbClr val="FFFFFF"/>
                </a:highlight>
              </a:rPr>
              <a:t>Giảm mức độ thao tác cho người dùng</a:t>
            </a:r>
            <a:endParaRPr sz="1500">
              <a:solidFill>
                <a:srgbClr val="4D5156"/>
              </a:solidFill>
              <a:highlight>
                <a:srgbClr val="FFFFFF"/>
              </a:highlight>
            </a:endParaRPr>
          </a:p>
          <a:p>
            <a:pPr indent="-323850" lvl="0" marL="457200" rtl="0" algn="l">
              <a:spcBef>
                <a:spcPts val="0"/>
              </a:spcBef>
              <a:spcAft>
                <a:spcPts val="0"/>
              </a:spcAft>
              <a:buClr>
                <a:srgbClr val="4D5156"/>
              </a:buClr>
              <a:buSzPts val="1500"/>
              <a:buChar char="-"/>
            </a:pPr>
            <a:r>
              <a:rPr lang="en" sz="1500">
                <a:solidFill>
                  <a:srgbClr val="4D5156"/>
                </a:solidFill>
                <a:highlight>
                  <a:srgbClr val="FFFFFF"/>
                </a:highlight>
              </a:rPr>
              <a:t>Dễ update, tránh bị nhầm lẫn dữ liệu</a:t>
            </a:r>
            <a:endParaRPr sz="1500">
              <a:solidFill>
                <a:srgbClr val="4D5156"/>
              </a:solidFill>
              <a:highlight>
                <a:srgbClr val="FFFFFF"/>
              </a:highlight>
            </a:endParaRPr>
          </a:p>
          <a:p>
            <a:pPr indent="-323850" lvl="0" marL="457200" rtl="0" algn="l">
              <a:spcBef>
                <a:spcPts val="0"/>
              </a:spcBef>
              <a:spcAft>
                <a:spcPts val="0"/>
              </a:spcAft>
              <a:buClr>
                <a:srgbClr val="4D5156"/>
              </a:buClr>
              <a:buSzPts val="1500"/>
              <a:buChar char="-"/>
            </a:pPr>
            <a:r>
              <a:rPr lang="en" sz="1500">
                <a:solidFill>
                  <a:srgbClr val="4D5156"/>
                </a:solidFill>
                <a:highlight>
                  <a:srgbClr val="FFFFFF"/>
                </a:highlight>
              </a:rPr>
              <a:t>…v…v</a:t>
            </a:r>
            <a:endParaRPr sz="1500">
              <a:solidFill>
                <a:srgbClr val="4D5156"/>
              </a:solidFill>
              <a:highlight>
                <a:srgbClr val="FFFFFF"/>
              </a:highlight>
            </a:endParaRPr>
          </a:p>
          <a:p>
            <a:pPr indent="0" lvl="0" marL="0" rtl="0" algn="l">
              <a:spcBef>
                <a:spcPts val="0"/>
              </a:spcBef>
              <a:spcAft>
                <a:spcPts val="0"/>
              </a:spcAft>
              <a:buNone/>
            </a:pPr>
            <a:r>
              <a:rPr lang="en" sz="1500">
                <a:solidFill>
                  <a:srgbClr val="4D5156"/>
                </a:solidFill>
                <a:highlight>
                  <a:srgbClr val="FFFFFF"/>
                </a:highlight>
              </a:rPr>
              <a:t>         =&gt; đưa ra kèm số liệu, ví dụ cụ thể để tăng tính thuyết phục.</a:t>
            </a:r>
            <a:endParaRPr sz="1500">
              <a:solidFill>
                <a:srgbClr val="4D5156"/>
              </a:solidFill>
              <a:highlight>
                <a:srgbClr val="FFFFFF"/>
              </a:highlight>
            </a:endParaRPr>
          </a:p>
          <a:p>
            <a:pPr indent="0" lvl="0" marL="457200" rtl="0" algn="l">
              <a:spcBef>
                <a:spcPts val="0"/>
              </a:spcBef>
              <a:spcAft>
                <a:spcPts val="0"/>
              </a:spcAft>
              <a:buNone/>
            </a:pPr>
            <a:r>
              <a:t/>
            </a:r>
            <a:endParaRPr sz="1500">
              <a:solidFill>
                <a:srgbClr val="4D5156"/>
              </a:solidFill>
              <a:highlight>
                <a:srgbClr val="FFFFFF"/>
              </a:highlight>
            </a:endParaRPr>
          </a:p>
          <a:p>
            <a:pPr indent="-323850" lvl="0" marL="457200" rtl="0" algn="l">
              <a:spcBef>
                <a:spcPts val="0"/>
              </a:spcBef>
              <a:spcAft>
                <a:spcPts val="0"/>
              </a:spcAft>
              <a:buClr>
                <a:srgbClr val="4D5156"/>
              </a:buClr>
              <a:buSzPts val="1500"/>
              <a:buAutoNum type="arabicPeriod"/>
            </a:pPr>
            <a:r>
              <a:rPr lang="en" sz="1500">
                <a:solidFill>
                  <a:srgbClr val="4D5156"/>
                </a:solidFill>
                <a:highlight>
                  <a:srgbClr val="FFFFFF"/>
                </a:highlight>
              </a:rPr>
              <a:t>Tìm hiểu user manual là gì trước. Hỏi khách hàng xem có format quy định không. Nếu không thì xác nhận những mục cần thiết và tự làm template đưa khách hàng duyệt trước. Hỏi về deadline.</a:t>
            </a:r>
            <a:endParaRPr sz="1500">
              <a:solidFill>
                <a:srgbClr val="4D5156"/>
              </a:solidFill>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23"/>
          <p:cNvPicPr preferRelativeResize="0"/>
          <p:nvPr/>
        </p:nvPicPr>
        <p:blipFill>
          <a:blip r:embed="rId3">
            <a:alphaModFix/>
          </a:blip>
          <a:stretch>
            <a:fillRect/>
          </a:stretch>
        </p:blipFill>
        <p:spPr>
          <a:xfrm>
            <a:off x="2635175" y="919875"/>
            <a:ext cx="4114312" cy="3399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4"/>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