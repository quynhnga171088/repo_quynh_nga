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RjK6JFnzZAvcKVMOgUUuiJ/YHQ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rive.google.com/drive/u/1/folders/1ezr7mIJry3kQ7EQZn2XravGtFS81q1ZC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https://drive.google.com/drive/u/1/folders/1ezr7mIJry3kQ7EQZn2XravGtFS81q1ZC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Ngoài ra còn rất nhiều loại báo cáo khác: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Quality Report, Retrospective Report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0" i="0" lang="en-US" sz="1800" u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Analytical report, Proposal report, external/internal report, Vertical Report, Lateral report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17278af55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g117278af55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17278af554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117278af55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1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1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1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1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12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1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12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1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1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12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1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1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1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5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3" name="Google Shape;53;p15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54" name="Google Shape;54;p15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5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5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" name="Google Shape;57;p1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5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59" name="Google Shape;59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" name="Google Shape;62;p15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63" name="Google Shape;63;p1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15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16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71" name="Google Shape;71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" name="Google Shape;74;p16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75" name="Google Shape;75;p16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6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6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" name="Google Shape;78;p16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1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2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21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2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2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2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21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2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2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2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2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2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type="ctrTitle"/>
          </p:nvPr>
        </p:nvSpPr>
        <p:spPr>
          <a:xfrm>
            <a:off x="1656336" y="81849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b="1" lang="en-US" sz="6600">
                <a:latin typeface="Arial"/>
                <a:ea typeface="Arial"/>
                <a:cs typeface="Arial"/>
                <a:sym typeface="Arial"/>
              </a:rPr>
              <a:t>Report rule</a:t>
            </a:r>
            <a:endParaRPr sz="6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>
            <p:ph idx="1" type="subTitle"/>
          </p:nvPr>
        </p:nvSpPr>
        <p:spPr>
          <a:xfrm>
            <a:off x="3440163" y="2476455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/>
              <a:t>Solution Department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"/>
          <p:cNvSpPr txBox="1"/>
          <p:nvPr>
            <p:ph type="title"/>
          </p:nvPr>
        </p:nvSpPr>
        <p:spPr>
          <a:xfrm>
            <a:off x="409176" y="272725"/>
            <a:ext cx="6561931" cy="5292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Main content </a:t>
            </a:r>
            <a:endParaRPr/>
          </a:p>
        </p:txBody>
      </p:sp>
      <p:sp>
        <p:nvSpPr>
          <p:cNvPr id="136" name="Google Shape;136;p2"/>
          <p:cNvSpPr txBox="1"/>
          <p:nvPr/>
        </p:nvSpPr>
        <p:spPr>
          <a:xfrm>
            <a:off x="506528" y="1257624"/>
            <a:ext cx="5112600" cy="16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Nguyên tắc TẠO báo cáo</a:t>
            </a:r>
            <a:endParaRPr b="0" i="0" sz="20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Nguyên tắc GỬI báo cáo</a:t>
            </a:r>
            <a:endParaRPr b="0" i="0" sz="20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33333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Các loại báo cáo thường dùng trong dự án</a:t>
            </a:r>
            <a:endParaRPr b="0" i="0" sz="20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US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 b="0" i="0" sz="2000" u="none" cap="none" strike="noStrike">
              <a:solidFill>
                <a:srgbClr val="33333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7200" y="1018815"/>
            <a:ext cx="2888650" cy="30801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624278" y="333204"/>
            <a:ext cx="8144584" cy="7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Nguyên tắc tạo báo cáo (1)</a:t>
            </a:r>
            <a:endParaRPr b="1"/>
          </a:p>
        </p:txBody>
      </p:sp>
      <p:sp>
        <p:nvSpPr>
          <p:cNvPr id="143" name="Google Shape;143;p3"/>
          <p:cNvSpPr txBox="1"/>
          <p:nvPr>
            <p:ph idx="1" type="body"/>
          </p:nvPr>
        </p:nvSpPr>
        <p:spPr>
          <a:xfrm>
            <a:off x="624275" y="1001649"/>
            <a:ext cx="7652100" cy="21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1. Nội dung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Làm rõ mục đích của báo cáo, đối tượng báo cáo hướng tới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Đúng sự thật, thông tin có căn cứ rõ ràng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Đầy đủ thông tin l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iên quan/cần thiết và quan trọng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đối với người nhận báo cáo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Lưu ý: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T/h phát sinh vấn đề: Nêu vấn đề + Giải pháp (Option 1,2..)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          -&gt; Nhờ KH confirm và lựa chọn giải pháp</a:t>
            </a:r>
            <a:endParaRPr sz="1400"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750" y="1634124"/>
            <a:ext cx="7894501" cy="328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624278" y="333204"/>
            <a:ext cx="7505700" cy="7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Nguyên tắc tạo báo cáo (2) </a:t>
            </a:r>
            <a:endParaRPr b="1"/>
          </a:p>
        </p:txBody>
      </p:sp>
      <p:sp>
        <p:nvSpPr>
          <p:cNvPr id="150" name="Google Shape;150;p4"/>
          <p:cNvSpPr txBox="1"/>
          <p:nvPr>
            <p:ph idx="1" type="body"/>
          </p:nvPr>
        </p:nvSpPr>
        <p:spPr>
          <a:xfrm>
            <a:off x="624279" y="1091552"/>
            <a:ext cx="3119290" cy="362894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2. Format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Đơn giản, rõ ràng, dễ hiểu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Viết theo lối Đề mục, tránh viết văn dài dòng 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Tạo template cho từng loại báo cáo để có tính thống nhất trong dự án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Chia rõ hạng mục cho rõ ràng dễ nắm bắt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43569" y="1091552"/>
            <a:ext cx="5059944" cy="328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"/>
          <p:cNvSpPr txBox="1"/>
          <p:nvPr>
            <p:ph type="title"/>
          </p:nvPr>
        </p:nvSpPr>
        <p:spPr>
          <a:xfrm>
            <a:off x="624278" y="333204"/>
            <a:ext cx="75057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/>
              <a:t>Nguyên tắc tạo báo cáo (3)</a:t>
            </a:r>
            <a:endParaRPr b="1"/>
          </a:p>
        </p:txBody>
      </p:sp>
      <p:sp>
        <p:nvSpPr>
          <p:cNvPr id="157" name="Google Shape;157;p5"/>
          <p:cNvSpPr txBox="1"/>
          <p:nvPr>
            <p:ph idx="1" type="body"/>
          </p:nvPr>
        </p:nvSpPr>
        <p:spPr>
          <a:xfrm>
            <a:off x="624278" y="1279025"/>
            <a:ext cx="3572584" cy="353127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3. Timing tạo báo cáo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Đúng thời hạn: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đối với những báo cáo định kỳ như: Daily meeting, Weekly meeting </a:t>
            </a:r>
            <a:endParaRPr sz="14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Kịp thời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(Càng sớm càng tốt): đối với những Issue report, Risk report, Resource Report </a:t>
            </a:r>
            <a:endParaRPr sz="1400"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6035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8" name="Google Shape;15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2677" y="1154821"/>
            <a:ext cx="3572584" cy="20759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>
            <p:ph type="title"/>
          </p:nvPr>
        </p:nvSpPr>
        <p:spPr>
          <a:xfrm>
            <a:off x="624278" y="333204"/>
            <a:ext cx="7505700" cy="6280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Nguyên tắc tạo báo cáo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 (4)</a:t>
            </a:r>
            <a:endParaRPr/>
          </a:p>
        </p:txBody>
      </p:sp>
      <p:sp>
        <p:nvSpPr>
          <p:cNvPr id="164" name="Google Shape;164;p6"/>
          <p:cNvSpPr txBox="1"/>
          <p:nvPr>
            <p:ph idx="1" type="body"/>
          </p:nvPr>
        </p:nvSpPr>
        <p:spPr>
          <a:xfrm>
            <a:off x="624275" y="961300"/>
            <a:ext cx="3681900" cy="41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4. Ngôn ngữ sử dụng trong báo cáo: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i="1" lang="en-US" sz="1400" u="sng">
                <a:latin typeface="Arial"/>
                <a:ea typeface="Arial"/>
                <a:cs typeface="Arial"/>
                <a:sym typeface="Arial"/>
              </a:rPr>
              <a:t>Dùng sơ đồ, biểu đồ, lược đồ, con số</a:t>
            </a:r>
            <a:r>
              <a:rPr i="1" lang="en-US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giúp người đọc dễ nắm bắt </a:t>
            </a:r>
            <a:endParaRPr sz="14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Rõ ràng, dễ hiểu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 (Tránh ngôn ngữ mơ hồ gây khó hiểu)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▪"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Dùng đúng thuật ngữ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chuyên môn và từ nghiệp vụ của dự án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Noto Sans Symbols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 u="sng">
                <a:latin typeface="Arial"/>
                <a:ea typeface="Arial"/>
                <a:cs typeface="Arial"/>
                <a:sym typeface="Arial"/>
              </a:rPr>
              <a:t>Đảm bảo tính thống nhất: </a:t>
            </a:r>
            <a:r>
              <a:rPr lang="en-US" sz="1400">
                <a:latin typeface="Arial"/>
                <a:ea typeface="Arial"/>
                <a:cs typeface="Arial"/>
                <a:sym typeface="Arial"/>
              </a:rPr>
              <a:t>Thể động từ, thuật ngữ (thường dùng thể lịch sự)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Thể lịch sự + Kính ngữ (Báo cáo trực tiếp trong meeting)</a:t>
            </a:r>
            <a:endParaRPr sz="1400"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260350" lvl="0" marL="488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8741" y="2836984"/>
            <a:ext cx="2954133" cy="1973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48750" y="1035062"/>
            <a:ext cx="2883876" cy="1742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/>
          <p:nvPr>
            <p:ph type="title"/>
          </p:nvPr>
        </p:nvSpPr>
        <p:spPr>
          <a:xfrm>
            <a:off x="537796" y="537629"/>
            <a:ext cx="7505700" cy="61594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Nguyên tắc gửi báo cáo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7"/>
          <p:cNvSpPr txBox="1"/>
          <p:nvPr>
            <p:ph idx="1" type="body"/>
          </p:nvPr>
        </p:nvSpPr>
        <p:spPr>
          <a:xfrm>
            <a:off x="615950" y="1356987"/>
            <a:ext cx="4802161" cy="348073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1. Timing báo cáo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Đúng thời hạn: đối với những báo cáo định kỳ như: Daily meeting, Weekly meeting …</a:t>
            </a:r>
            <a:endParaRPr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Kịp thời (Càng sớm càng tốt): đối với những Issue report</a:t>
            </a:r>
            <a:endParaRPr sz="1400"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2. Đúng đối tượng được báo cáo </a:t>
            </a:r>
            <a:endParaRPr b="1" sz="1400"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Xác định đúng đối tượng: To, CC (Cả báo cáo trực tiếp lẫn hình thức gửi mail) </a:t>
            </a:r>
            <a:endParaRPr sz="1400"/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460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3. Tạo sẵn template mail cho mỗi loại báo cáo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Để đảm bảo tính thống nhất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Dễ theo dõi đối với người đọc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Noto Sans Symbols"/>
              <a:buChar char="▪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Người tạo chuẩn bị đủ thông tin</a:t>
            </a:r>
            <a:endParaRPr sz="1400"/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2861" y="845599"/>
            <a:ext cx="3141970" cy="33143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5850" y="272725"/>
            <a:ext cx="553350" cy="74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8"/>
          <p:cNvSpPr txBox="1"/>
          <p:nvPr>
            <p:ph type="title"/>
          </p:nvPr>
        </p:nvSpPr>
        <p:spPr>
          <a:xfrm>
            <a:off x="232313" y="226107"/>
            <a:ext cx="8911687" cy="7927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Các loại report</a:t>
            </a:r>
            <a:endParaRPr b="1"/>
          </a:p>
        </p:txBody>
      </p:sp>
      <p:pic>
        <p:nvPicPr>
          <p:cNvPr id="180" name="Google Shape;18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4574" y="1018815"/>
            <a:ext cx="6063457" cy="3530107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8"/>
          <p:cNvSpPr txBox="1"/>
          <p:nvPr/>
        </p:nvSpPr>
        <p:spPr>
          <a:xfrm>
            <a:off x="2248525" y="2420673"/>
            <a:ext cx="46469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8"/>
          <p:cNvSpPr txBox="1"/>
          <p:nvPr/>
        </p:nvSpPr>
        <p:spPr>
          <a:xfrm>
            <a:off x="2248525" y="2420673"/>
            <a:ext cx="46469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17278af554_0_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t/>
            </a:r>
            <a:endParaRPr/>
          </a:p>
        </p:txBody>
      </p:sp>
      <p:pic>
        <p:nvPicPr>
          <p:cNvPr id="188" name="Google Shape;188;g117278af55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700" y="530500"/>
            <a:ext cx="7454074" cy="2387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117278af55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8150" y="3093200"/>
            <a:ext cx="7311625" cy="189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g117278af554_0_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5175" y="919875"/>
            <a:ext cx="4114312" cy="339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